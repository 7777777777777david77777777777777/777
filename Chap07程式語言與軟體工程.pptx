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310" r:id="rId10"/>
    <p:sldId id="311" r:id="rId11"/>
    <p:sldId id="312" r:id="rId12"/>
    <p:sldId id="313" r:id="rId13"/>
    <p:sldId id="314" r:id="rId14"/>
    <p:sldId id="265" r:id="rId15"/>
    <p:sldId id="266" r:id="rId16"/>
    <p:sldId id="267" r:id="rId17"/>
    <p:sldId id="268" r:id="rId18"/>
    <p:sldId id="315" r:id="rId19"/>
    <p:sldId id="269" r:id="rId20"/>
    <p:sldId id="305" r:id="rId21"/>
    <p:sldId id="270" r:id="rId22"/>
    <p:sldId id="316" r:id="rId23"/>
    <p:sldId id="271" r:id="rId24"/>
    <p:sldId id="272" r:id="rId25"/>
    <p:sldId id="273" r:id="rId26"/>
    <p:sldId id="274" r:id="rId27"/>
    <p:sldId id="275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17" r:id="rId37"/>
    <p:sldId id="300" r:id="rId38"/>
    <p:sldId id="318" r:id="rId39"/>
    <p:sldId id="319" r:id="rId40"/>
    <p:sldId id="320" r:id="rId41"/>
    <p:sldId id="321" r:id="rId42"/>
    <p:sldId id="30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322" r:id="rId51"/>
    <p:sldId id="324" r:id="rId52"/>
    <p:sldId id="323" r:id="rId53"/>
    <p:sldId id="290" r:id="rId54"/>
    <p:sldId id="325" r:id="rId55"/>
    <p:sldId id="327" r:id="rId56"/>
    <p:sldId id="326" r:id="rId57"/>
    <p:sldId id="306" r:id="rId58"/>
    <p:sldId id="307" r:id="rId59"/>
    <p:sldId id="308" r:id="rId60"/>
    <p:sldId id="277" r:id="rId61"/>
    <p:sldId id="278" r:id="rId62"/>
    <p:sldId id="279" r:id="rId63"/>
    <p:sldId id="280" r:id="rId64"/>
    <p:sldId id="281" r:id="rId65"/>
    <p:sldId id="328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071">
          <p15:clr>
            <a:srgbClr val="A4A3A4"/>
          </p15:clr>
        </p15:guide>
        <p15:guide id="4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88006E-7E2A-4C31-BA25-AE3A84AF548A}" v="1" dt="2025-12-21T16:12:14.77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810" y="58"/>
      </p:cViewPr>
      <p:guideLst>
        <p:guide orient="horz" pos="2160"/>
        <p:guide pos="2880"/>
        <p:guide orient="horz" pos="1071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大維 程" userId="f3e32c81fef265eb" providerId="LiveId" clId="{9159AABB-1C12-465C-A5E4-3E4C8554923A}"/>
    <pc:docChg chg="custSel modSld">
      <pc:chgData name="大維 程" userId="f3e32c81fef265eb" providerId="LiveId" clId="{9159AABB-1C12-465C-A5E4-3E4C8554923A}" dt="2025-12-21T16:12:54.752" v="1" actId="478"/>
      <pc:docMkLst>
        <pc:docMk/>
      </pc:docMkLst>
      <pc:sldChg chg="delSp modSp mod delAnim">
        <pc:chgData name="大維 程" userId="f3e32c81fef265eb" providerId="LiveId" clId="{9159AABB-1C12-465C-A5E4-3E4C8554923A}" dt="2025-12-21T16:12:54.752" v="1" actId="478"/>
        <pc:sldMkLst>
          <pc:docMk/>
          <pc:sldMk cId="2804646562" sldId="316"/>
        </pc:sldMkLst>
        <pc:spChg chg="del">
          <ac:chgData name="大維 程" userId="f3e32c81fef265eb" providerId="LiveId" clId="{9159AABB-1C12-465C-A5E4-3E4C8554923A}" dt="2025-12-21T16:12:54.752" v="1" actId="478"/>
          <ac:spMkLst>
            <pc:docMk/>
            <pc:sldMk cId="2804646562" sldId="316"/>
            <ac:spMk id="5" creationId="{00000000-0000-0000-0000-000000000000}"/>
          </ac:spMkLst>
        </pc:spChg>
        <pc:picChg chg="mod">
          <ac:chgData name="大維 程" userId="f3e32c81fef265eb" providerId="LiveId" clId="{9159AABB-1C12-465C-A5E4-3E4C8554923A}" dt="2025-12-21T16:12:14.774" v="0" actId="1076"/>
          <ac:picMkLst>
            <pc:docMk/>
            <pc:sldMk cId="2804646562" sldId="316"/>
            <ac:picMk id="10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D1D87-676D-41F2-AC15-9F5D7637A5A2}" type="datetimeFigureOut">
              <a:rPr lang="zh-TW" altLang="en-US" smtClean="0"/>
              <a:pPr/>
              <a:t>2025/12/21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3C2D0-1201-4E06-8787-2B5081952C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15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 sz="1600" dirty="0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4000" y="1224000"/>
            <a:ext cx="8568480" cy="5157328"/>
          </a:xfrm>
        </p:spPr>
        <p:txBody>
          <a:bodyPr>
            <a:normAutofit/>
          </a:bodyPr>
          <a:lstStyle>
            <a:lvl1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lvl2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2pPr>
            <a:lvl3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3pPr>
            <a:lvl4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4pPr>
            <a:lvl5pPr>
              <a:lnSpc>
                <a:spcPts val="3200"/>
              </a:lnSpc>
              <a:spcBef>
                <a:spcPts val="500"/>
              </a:spcBef>
              <a:spcAft>
                <a:spcPts val="0"/>
              </a:spcAft>
              <a:defRPr sz="24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 rtlCol="0">
            <a:normAutofit/>
          </a:bodyPr>
          <a:lstStyle>
            <a:lvl1pPr>
              <a:defRPr sz="3600">
                <a:latin typeface="Times New Roman" pitchFamily="18" charset="0"/>
                <a:ea typeface="標楷體" pitchFamily="65" charset="-120"/>
                <a:cs typeface="Times New Roman" pitchFamily="18" charset="0"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6325050"/>
            <a:ext cx="4940624" cy="54096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6324233"/>
            <a:ext cx="3690451" cy="54822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6237311"/>
            <a:ext cx="3402314" cy="634809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>
            <a:stCxn id="14" idx="0"/>
          </p:cNvCxnSpPr>
          <p:nvPr/>
        </p:nvCxnSpPr>
        <p:spPr>
          <a:xfrm>
            <a:off x="-6042" y="6237311"/>
            <a:ext cx="3402314" cy="634810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pic>
        <p:nvPicPr>
          <p:cNvPr id="11" name="Picture 2" descr="E:\LOGO.pn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92280" y="6561384"/>
            <a:ext cx="2066560" cy="324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148064" y="1340768"/>
            <a:ext cx="2950096" cy="2313602"/>
          </a:xfrm>
        </p:spPr>
        <p:txBody>
          <a:bodyPr>
            <a:normAutofit fontScale="90000"/>
          </a:bodyPr>
          <a:lstStyle/>
          <a:p>
            <a:pPr algn="ctr">
              <a:lnSpc>
                <a:spcPts val="5600"/>
              </a:lnSpc>
              <a:spcBef>
                <a:spcPts val="0"/>
              </a:spcBef>
            </a:pPr>
            <a:r>
              <a:rPr lang="en-US" altLang="zh-TW" sz="4400" dirty="0" err="1"/>
              <a:t>Ch</a:t>
            </a:r>
            <a:r>
              <a:rPr lang="en-US" altLang="zh-TW" sz="4400" dirty="0"/>
              <a:t> 07</a:t>
            </a:r>
            <a:br>
              <a:rPr lang="en-US" altLang="zh-TW" dirty="0"/>
            </a:br>
            <a:r>
              <a:rPr lang="zh-TW" altLang="zh-TW" dirty="0">
                <a:solidFill>
                  <a:srgbClr val="0070C0"/>
                </a:solidFill>
              </a:rPr>
              <a:t>程式語言</a:t>
            </a:r>
            <a:br>
              <a:rPr lang="en-US" altLang="zh-TW" dirty="0">
                <a:solidFill>
                  <a:srgbClr val="0070C0"/>
                </a:solidFill>
              </a:rPr>
            </a:br>
            <a:r>
              <a:rPr lang="zh-TW" altLang="en-US" dirty="0">
                <a:solidFill>
                  <a:srgbClr val="0070C0"/>
                </a:solidFill>
              </a:rPr>
              <a:t>與軟體工程</a:t>
            </a:r>
            <a:endParaRPr lang="zh-TW" altLang="zh-TW" dirty="0">
              <a:solidFill>
                <a:srgbClr val="0070C0"/>
              </a:solidFill>
            </a:endParaRPr>
          </a:p>
        </p:txBody>
      </p:sp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630616" cy="1199704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zh-TW" altLang="en-US" b="1" dirty="0">
                <a:solidFill>
                  <a:schemeClr val="tx1"/>
                </a:solidFill>
              </a:rPr>
              <a:t>李官陵 彭勝龍 羅壽之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90602"/>
            <a:ext cx="3816424" cy="5186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電腦世界中，需要一種能與電腦溝通的語言</a:t>
            </a:r>
            <a:r>
              <a:rPr lang="zh-TW" altLang="en-US" dirty="0"/>
              <a:t>：</a:t>
            </a:r>
            <a:r>
              <a:rPr lang="zh-TW" altLang="zh-TW" dirty="0"/>
              <a:t>「程式語言」</a:t>
            </a:r>
            <a:r>
              <a:rPr lang="zh-TW" altLang="en-US" dirty="0"/>
              <a:t> </a:t>
            </a:r>
            <a:r>
              <a:rPr lang="en-US" altLang="zh-TW" dirty="0"/>
              <a:t>(programming language)</a:t>
            </a:r>
          </a:p>
          <a:p>
            <a:r>
              <a:rPr lang="zh-TW" altLang="zh-TW" dirty="0"/>
              <a:t>透過程式語言，將工作內容描述於程式</a:t>
            </a:r>
            <a:r>
              <a:rPr lang="zh-TW" altLang="en-US" dirty="0"/>
              <a:t> </a:t>
            </a:r>
            <a:r>
              <a:rPr lang="en-US" altLang="zh-TW" dirty="0"/>
              <a:t>(program) </a:t>
            </a:r>
            <a:r>
              <a:rPr lang="zh-TW" altLang="zh-TW" dirty="0"/>
              <a:t>中，讓電腦執行</a:t>
            </a:r>
            <a:endParaRPr lang="en-US" altLang="zh-TW" dirty="0"/>
          </a:p>
          <a:p>
            <a:r>
              <a:rPr lang="zh-TW" altLang="zh-TW" dirty="0"/>
              <a:t>不同時空背景與需求，程式語言演進出許多種類</a:t>
            </a:r>
            <a:endParaRPr lang="en-US" altLang="zh-TW" dirty="0"/>
          </a:p>
          <a:p>
            <a:r>
              <a:rPr lang="zh-TW" altLang="zh-TW" dirty="0"/>
              <a:t>說明程式語言的分類與應用領域、電腦如何執行程式、如何撰寫程式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7" y="4509121"/>
            <a:ext cx="4968552" cy="201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70C0"/>
                </a:solidFill>
              </a:rPr>
              <a:t>機器語言</a:t>
            </a:r>
            <a:r>
              <a:rPr lang="zh-TW" altLang="en-US" dirty="0"/>
              <a:t> </a:t>
            </a:r>
            <a:r>
              <a:rPr lang="en-US" altLang="zh-TW" dirty="0"/>
              <a:t>(machine language)</a:t>
            </a:r>
          </a:p>
          <a:p>
            <a:pPr lvl="1"/>
            <a:r>
              <a:rPr lang="zh-TW" altLang="zh-TW" dirty="0"/>
              <a:t>電腦硬體內部處理對象為</a:t>
            </a:r>
            <a:r>
              <a:rPr lang="en-US" altLang="zh-TW" dirty="0"/>
              <a:t>0</a:t>
            </a:r>
            <a:r>
              <a:rPr lang="zh-TW" altLang="zh-TW" dirty="0"/>
              <a:t>與</a:t>
            </a:r>
            <a:r>
              <a:rPr lang="en-US" altLang="zh-TW" dirty="0"/>
              <a:t>1</a:t>
            </a:r>
            <a:r>
              <a:rPr lang="zh-TW" altLang="zh-TW" dirty="0"/>
              <a:t>所組成的數字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所有執行指令用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數字表示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程式也是用數字描述，不容易直接理解</a:t>
            </a:r>
            <a:endParaRPr lang="zh-TW" altLang="zh-TW" dirty="0">
              <a:uFill>
                <a:solidFill>
                  <a:srgbClr val="0000CC"/>
                </a:solidFill>
              </a:uFill>
            </a:endParaRPr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7.1</a:t>
            </a:r>
            <a:r>
              <a:rPr lang="zh-TW" altLang="zh-TW" dirty="0"/>
              <a:t>程式語言的演進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 l="9485" t="6824" r="29852"/>
          <a:stretch>
            <a:fillRect/>
          </a:stretch>
        </p:blipFill>
        <p:spPr bwMode="auto">
          <a:xfrm>
            <a:off x="2771800" y="3284984"/>
            <a:ext cx="3240360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600959"/>
            <a:ext cx="1944216" cy="1564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2483768" y="6300028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</a:t>
            </a:r>
            <a:r>
              <a:rPr lang="zh-TW" altLang="zh-TW" dirty="0"/>
              <a:t>計算</a:t>
            </a:r>
            <a:r>
              <a:rPr lang="en-US" altLang="zh-TW" dirty="0"/>
              <a:t>100+20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的機器語言程式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70C0"/>
                </a:solidFill>
              </a:rPr>
              <a:t>組合語言</a:t>
            </a:r>
            <a:r>
              <a:rPr lang="zh-TW" altLang="en-US" dirty="0"/>
              <a:t> </a:t>
            </a:r>
            <a:r>
              <a:rPr lang="en-US" altLang="zh-TW" dirty="0"/>
              <a:t>(assembly language)</a:t>
            </a:r>
          </a:p>
          <a:p>
            <a:pPr lvl="1"/>
            <a:r>
              <a:rPr lang="zh-TW" altLang="zh-TW" dirty="0"/>
              <a:t>利用英文縮寫字代替數字</a:t>
            </a:r>
            <a:r>
              <a:rPr lang="zh-TW" altLang="en-US" dirty="0"/>
              <a:t>的</a:t>
            </a:r>
            <a:r>
              <a:rPr lang="zh-TW" altLang="zh-TW" dirty="0"/>
              <a:t>編碼指令</a:t>
            </a:r>
            <a:endParaRPr lang="en-US" altLang="zh-TW" dirty="0"/>
          </a:p>
          <a:p>
            <a:pPr lvl="1"/>
            <a:r>
              <a:rPr lang="zh-TW" altLang="zh-TW" dirty="0"/>
              <a:t>加法與減法的指令用</a:t>
            </a:r>
            <a:r>
              <a:rPr lang="en-US" altLang="zh-TW" dirty="0"/>
              <a:t>add</a:t>
            </a:r>
            <a:r>
              <a:rPr lang="zh-TW" altLang="zh-TW" dirty="0"/>
              <a:t>與</a:t>
            </a:r>
            <a:r>
              <a:rPr lang="en-US" altLang="zh-TW" dirty="0"/>
              <a:t>sub</a:t>
            </a:r>
            <a:r>
              <a:rPr lang="zh-TW" altLang="zh-TW" dirty="0"/>
              <a:t>表示</a:t>
            </a:r>
            <a:endParaRPr lang="en-US" altLang="zh-TW" dirty="0"/>
          </a:p>
          <a:p>
            <a:pPr lvl="1"/>
            <a:r>
              <a:rPr lang="zh-TW" altLang="zh-TW" dirty="0"/>
              <a:t>將組合語言翻譯成機器語言，</a:t>
            </a:r>
            <a:r>
              <a:rPr lang="zh-TW" altLang="en-US" dirty="0"/>
              <a:t>需要</a:t>
            </a:r>
            <a:r>
              <a:rPr lang="zh-TW" altLang="zh-TW" dirty="0"/>
              <a:t>組譯器</a:t>
            </a:r>
            <a:r>
              <a:rPr lang="zh-TW" altLang="en-US" dirty="0"/>
              <a:t> </a:t>
            </a:r>
            <a:r>
              <a:rPr lang="en-US" altLang="zh-TW" dirty="0"/>
              <a:t>(assembler) </a:t>
            </a:r>
            <a:r>
              <a:rPr lang="zh-TW" altLang="zh-TW" dirty="0"/>
              <a:t>的軟體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7.1</a:t>
            </a:r>
            <a:r>
              <a:rPr lang="zh-TW" altLang="zh-TW" dirty="0"/>
              <a:t>程式語言的演進</a:t>
            </a:r>
            <a:endParaRPr lang="zh-TW" altLang="en-US" dirty="0"/>
          </a:p>
        </p:txBody>
      </p:sp>
      <p:pic>
        <p:nvPicPr>
          <p:cNvPr id="2049" name="圖片 4" descr="pc-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5373216"/>
            <a:ext cx="1227138" cy="1066800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183" y="3212976"/>
            <a:ext cx="4646065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0070C0"/>
                </a:solidFill>
              </a:rPr>
              <a:t>高階語言</a:t>
            </a:r>
            <a:r>
              <a:rPr lang="zh-TW" altLang="en-US" dirty="0"/>
              <a:t> </a:t>
            </a:r>
            <a:r>
              <a:rPr lang="en-US" altLang="zh-TW" dirty="0"/>
              <a:t>(high-level language)</a:t>
            </a:r>
          </a:p>
          <a:p>
            <a:pPr lvl="1"/>
            <a:r>
              <a:rPr lang="zh-TW" altLang="zh-TW" dirty="0"/>
              <a:t>表達方式接近人類使用的自然語言</a:t>
            </a:r>
            <a:r>
              <a:rPr lang="zh-TW" altLang="en-US" dirty="0"/>
              <a:t> </a:t>
            </a:r>
            <a:r>
              <a:rPr lang="en-US" altLang="zh-TW" dirty="0"/>
              <a:t>(natural language)</a:t>
            </a:r>
          </a:p>
          <a:p>
            <a:pPr lvl="1"/>
            <a:r>
              <a:rPr lang="zh-TW" altLang="zh-TW" dirty="0"/>
              <a:t>透過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en-US" altLang="zh-TW" dirty="0"/>
              <a:t>+ </a:t>
            </a:r>
            <a:r>
              <a:rPr lang="en-US" altLang="zh-TW" i="1" dirty="0"/>
              <a:t>y </a:t>
            </a:r>
            <a:r>
              <a:rPr lang="en-US" altLang="zh-TW" dirty="0"/>
              <a:t>* (</a:t>
            </a:r>
            <a:r>
              <a:rPr lang="en-US" altLang="zh-TW" i="1" dirty="0"/>
              <a:t>x</a:t>
            </a:r>
            <a:r>
              <a:rPr lang="en-US" altLang="zh-TW" dirty="0"/>
              <a:t> – 10) </a:t>
            </a:r>
            <a:r>
              <a:rPr lang="zh-TW" altLang="zh-TW" dirty="0"/>
              <a:t>直覺的數學運算式</a:t>
            </a:r>
            <a:endParaRPr lang="en-US" altLang="zh-TW" dirty="0"/>
          </a:p>
          <a:p>
            <a:pPr lvl="1"/>
            <a:r>
              <a:rPr lang="zh-TW" altLang="zh-TW" dirty="0"/>
              <a:t>利用</a:t>
            </a:r>
            <a:r>
              <a:rPr lang="en-US" altLang="zh-TW" dirty="0"/>
              <a:t>if-else</a:t>
            </a:r>
            <a:r>
              <a:rPr lang="zh-TW" altLang="zh-TW" dirty="0"/>
              <a:t>的句子，</a:t>
            </a:r>
            <a:r>
              <a:rPr lang="zh-TW" altLang="en-US" dirty="0"/>
              <a:t>表示當某個條件成立時，執行指定的工作，否則執行另一個工作</a:t>
            </a:r>
            <a:endParaRPr lang="en-US" altLang="zh-TW" dirty="0"/>
          </a:p>
          <a:p>
            <a:pPr lvl="1"/>
            <a:r>
              <a:rPr lang="zh-TW" altLang="zh-TW" dirty="0"/>
              <a:t>需要更聰明與更複雜的轉譯程序，將程式翻譯成機器語言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7.1</a:t>
            </a:r>
            <a:r>
              <a:rPr lang="zh-TW" altLang="zh-TW" dirty="0"/>
              <a:t>程式語言的演進</a:t>
            </a:r>
            <a:endParaRPr lang="zh-TW" altLang="en-US" dirty="0"/>
          </a:p>
        </p:txBody>
      </p:sp>
      <p:pic>
        <p:nvPicPr>
          <p:cNvPr id="11" name="圖片 10" descr="D:\計概出書\pc-08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5157192"/>
            <a:ext cx="1152128" cy="1184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4" name="AutoShape 4"/>
          <p:cNvSpPr>
            <a:spLocks noChangeArrowheads="1"/>
          </p:cNvSpPr>
          <p:nvPr/>
        </p:nvSpPr>
        <p:spPr bwMode="auto">
          <a:xfrm>
            <a:off x="7164288" y="4797152"/>
            <a:ext cx="1512168" cy="463104"/>
          </a:xfrm>
          <a:prstGeom prst="wedgeEllipseCallout">
            <a:avLst>
              <a:gd name="adj1" fmla="val -22608"/>
              <a:gd name="adj2" fmla="val 9316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標楷體" pitchFamily="65" charset="-120"/>
                <a:ea typeface="標楷體" pitchFamily="65" charset="-120"/>
                <a:cs typeface="新細明體" pitchFamily="18" charset="-120"/>
              </a:rPr>
              <a:t>精簡多了！</a:t>
            </a:r>
            <a:endParaRPr kumimoji="1" lang="zh-TW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4896544" cy="260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7.1</a:t>
            </a:r>
            <a:r>
              <a:rPr lang="zh-TW" altLang="zh-TW" dirty="0"/>
              <a:t>程式語言的演進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7263325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處理</a:t>
            </a:r>
            <a:r>
              <a:rPr lang="zh-TW" altLang="zh-TW" dirty="0"/>
              <a:t>工程科學問題</a:t>
            </a:r>
            <a:endParaRPr lang="en-US" altLang="zh-TW" dirty="0"/>
          </a:p>
          <a:p>
            <a:pPr lvl="1"/>
            <a:r>
              <a:rPr lang="zh-TW" altLang="zh-TW" dirty="0"/>
              <a:t>計算複雜的數學運算，推估飛彈的路線，或是進行飛機的模擬飛行控制等</a:t>
            </a:r>
            <a:endParaRPr lang="en-US" altLang="zh-TW" dirty="0"/>
          </a:p>
          <a:p>
            <a:pPr lvl="1"/>
            <a:r>
              <a:rPr lang="en-US" altLang="zh-TW" dirty="0"/>
              <a:t>1957</a:t>
            </a:r>
            <a:r>
              <a:rPr lang="zh-TW" altLang="zh-TW" dirty="0"/>
              <a:t>年誕生的</a:t>
            </a:r>
            <a:r>
              <a:rPr lang="en-US" altLang="zh-TW" dirty="0"/>
              <a:t>Fortran</a:t>
            </a:r>
            <a:r>
              <a:rPr lang="zh-TW" altLang="zh-TW" dirty="0"/>
              <a:t>語言</a:t>
            </a:r>
            <a:r>
              <a:rPr lang="zh-TW" altLang="en-US" dirty="0"/>
              <a:t>，</a:t>
            </a:r>
            <a:r>
              <a:rPr lang="zh-TW" altLang="zh-TW" dirty="0"/>
              <a:t>提供方便</a:t>
            </a:r>
            <a:r>
              <a:rPr lang="zh-TW" altLang="en-US" dirty="0"/>
              <a:t>的</a:t>
            </a:r>
            <a:r>
              <a:rPr lang="zh-TW" altLang="zh-TW" dirty="0"/>
              <a:t>矩陣與三角函數等多種的數學運算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457" y="3631437"/>
            <a:ext cx="4387775" cy="2533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實現</a:t>
            </a:r>
            <a:r>
              <a:rPr lang="zh-TW" altLang="en-US" dirty="0">
                <a:solidFill>
                  <a:srgbClr val="0070C0"/>
                </a:solidFill>
              </a:rPr>
              <a:t>人工智慧</a:t>
            </a:r>
            <a:r>
              <a:rPr lang="zh-TW" altLang="en-US" dirty="0"/>
              <a:t> </a:t>
            </a:r>
            <a:r>
              <a:rPr lang="en-US" altLang="zh-TW" dirty="0"/>
              <a:t>(artificial intelligence)</a:t>
            </a:r>
          </a:p>
          <a:p>
            <a:pPr lvl="1"/>
            <a:r>
              <a:rPr lang="zh-TW" altLang="zh-TW" dirty="0"/>
              <a:t>讓電腦更聰明能學習人類的思考模式</a:t>
            </a:r>
            <a:endParaRPr lang="en-US" altLang="zh-TW" dirty="0"/>
          </a:p>
          <a:p>
            <a:pPr lvl="1"/>
            <a:r>
              <a:rPr lang="zh-TW" altLang="zh-TW" dirty="0"/>
              <a:t>程式語言</a:t>
            </a:r>
            <a:r>
              <a:rPr lang="zh-TW" altLang="en-US" dirty="0"/>
              <a:t>能</a:t>
            </a:r>
            <a:r>
              <a:rPr lang="zh-TW" altLang="zh-TW" dirty="0"/>
              <a:t>方便表達邏輯觀念與推理思考</a:t>
            </a:r>
            <a:endParaRPr lang="en-US" altLang="zh-TW" dirty="0"/>
          </a:p>
          <a:p>
            <a:pPr lvl="1"/>
            <a:r>
              <a:rPr lang="en-US" altLang="zh-TW" dirty="0"/>
              <a:t>1958</a:t>
            </a:r>
            <a:r>
              <a:rPr lang="zh-TW" altLang="zh-TW" dirty="0"/>
              <a:t>年誕生的</a:t>
            </a:r>
            <a:r>
              <a:rPr lang="en-US" altLang="zh-TW" dirty="0"/>
              <a:t>Lisp</a:t>
            </a:r>
            <a:r>
              <a:rPr lang="zh-TW" altLang="zh-TW" dirty="0"/>
              <a:t>語言與</a:t>
            </a:r>
            <a:r>
              <a:rPr lang="en-US" altLang="zh-TW" dirty="0"/>
              <a:t>1972</a:t>
            </a:r>
            <a:r>
              <a:rPr lang="zh-TW" altLang="zh-TW" dirty="0"/>
              <a:t>年出現的</a:t>
            </a:r>
            <a:r>
              <a:rPr lang="en-US" altLang="zh-TW" dirty="0"/>
              <a:t>Prolog</a:t>
            </a:r>
            <a:r>
              <a:rPr lang="zh-TW" altLang="zh-TW" dirty="0"/>
              <a:t>語言</a:t>
            </a:r>
            <a:endParaRPr lang="en-US" altLang="zh-TW" dirty="0"/>
          </a:p>
          <a:p>
            <a:r>
              <a:rPr lang="zh-TW" altLang="en-US" dirty="0"/>
              <a:t>協助財金資料管理</a:t>
            </a:r>
            <a:endParaRPr lang="en-US" altLang="zh-TW" dirty="0"/>
          </a:p>
          <a:p>
            <a:pPr lvl="1"/>
            <a:r>
              <a:rPr lang="zh-TW" altLang="en-US" dirty="0"/>
              <a:t>利用</a:t>
            </a:r>
            <a:r>
              <a:rPr lang="zh-TW" altLang="zh-TW" dirty="0"/>
              <a:t>電腦儲存與管理客戶資料</a:t>
            </a:r>
            <a:endParaRPr lang="en-US" altLang="zh-TW" dirty="0"/>
          </a:p>
          <a:p>
            <a:pPr lvl="1"/>
            <a:r>
              <a:rPr lang="zh-TW" altLang="zh-TW" dirty="0"/>
              <a:t>記錄與計算每筆金錢交易後的帳戶餘額</a:t>
            </a:r>
            <a:endParaRPr lang="en-US" altLang="zh-TW" dirty="0"/>
          </a:p>
          <a:p>
            <a:pPr lvl="1"/>
            <a:r>
              <a:rPr lang="en-US" altLang="zh-TW" dirty="0"/>
              <a:t>1959</a:t>
            </a:r>
            <a:r>
              <a:rPr lang="zh-TW" altLang="zh-TW" dirty="0"/>
              <a:t>年出現的</a:t>
            </a:r>
            <a:r>
              <a:rPr lang="en-US" altLang="zh-TW" dirty="0"/>
              <a:t>COBOL</a:t>
            </a:r>
            <a:r>
              <a:rPr lang="zh-TW" altLang="zh-TW" dirty="0"/>
              <a:t>語言，提供方便的指令，製作財務報表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電腦軟體系統開發</a:t>
            </a:r>
            <a:endParaRPr lang="en-US" altLang="zh-TW" dirty="0"/>
          </a:p>
          <a:p>
            <a:pPr lvl="1"/>
            <a:r>
              <a:rPr lang="zh-TW" altLang="zh-TW" dirty="0"/>
              <a:t>電腦運作需要軟體的配合</a:t>
            </a:r>
            <a:r>
              <a:rPr lang="zh-TW" altLang="en-US" dirty="0"/>
              <a:t>做為</a:t>
            </a:r>
            <a:r>
              <a:rPr lang="zh-TW" altLang="zh-TW" dirty="0"/>
              <a:t>系統管理</a:t>
            </a:r>
            <a:endParaRPr lang="en-US" altLang="zh-TW" dirty="0"/>
          </a:p>
          <a:p>
            <a:pPr lvl="1"/>
            <a:r>
              <a:rPr lang="zh-TW" altLang="en-US" dirty="0"/>
              <a:t>軟體執行</a:t>
            </a:r>
            <a:r>
              <a:rPr lang="zh-TW" altLang="zh-TW" dirty="0"/>
              <a:t>要求高的執行效率與對硬體元件直接的控制</a:t>
            </a:r>
            <a:endParaRPr lang="en-US" altLang="zh-TW" dirty="0"/>
          </a:p>
          <a:p>
            <a:pPr lvl="1"/>
            <a:r>
              <a:rPr lang="en-US" altLang="zh-TW" dirty="0"/>
              <a:t>1972</a:t>
            </a:r>
            <a:r>
              <a:rPr lang="zh-TW" altLang="zh-TW" dirty="0"/>
              <a:t>年出現的</a:t>
            </a:r>
            <a:r>
              <a:rPr lang="en-US" altLang="zh-TW" dirty="0"/>
              <a:t>C</a:t>
            </a:r>
            <a:r>
              <a:rPr lang="zh-TW" altLang="zh-TW" dirty="0"/>
              <a:t>語言，允許在高階程式中，直接嵌入組合語言，方便存取電腦的硬體設備</a:t>
            </a: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809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5841241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798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134" y="1556792"/>
            <a:ext cx="674926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13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7200800" cy="4610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13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7.2</a:t>
            </a:r>
            <a:r>
              <a:rPr lang="zh-TW" altLang="zh-TW" dirty="0"/>
              <a:t>程式語言的應用領域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28" y="1916832"/>
            <a:ext cx="6804756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229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224000"/>
            <a:ext cx="4608040" cy="5157328"/>
          </a:xfrm>
        </p:spPr>
        <p:txBody>
          <a:bodyPr>
            <a:normAutofit/>
          </a:bodyPr>
          <a:lstStyle/>
          <a:p>
            <a:r>
              <a:rPr lang="zh-TW" altLang="zh-TW" b="1" dirty="0"/>
              <a:t>命令式語言</a:t>
            </a:r>
            <a:r>
              <a:rPr lang="zh-TW" altLang="en-US" b="1" dirty="0"/>
              <a:t> </a:t>
            </a:r>
            <a:r>
              <a:rPr lang="en-US" altLang="zh-TW" dirty="0"/>
              <a:t>(imperative language)</a:t>
            </a:r>
          </a:p>
          <a:p>
            <a:pPr lvl="1"/>
            <a:r>
              <a:rPr lang="zh-TW" altLang="zh-TW" dirty="0"/>
              <a:t>利用</a:t>
            </a:r>
            <a:r>
              <a:rPr lang="zh-TW" altLang="zh-TW" dirty="0">
                <a:solidFill>
                  <a:srgbClr val="0070C0"/>
                </a:solidFill>
              </a:rPr>
              <a:t>變數</a:t>
            </a:r>
            <a:r>
              <a:rPr lang="zh-TW" altLang="en-US" dirty="0"/>
              <a:t> </a:t>
            </a:r>
            <a:r>
              <a:rPr lang="en-US" altLang="zh-TW" dirty="0"/>
              <a:t>(variable) </a:t>
            </a:r>
            <a:r>
              <a:rPr lang="zh-TW" altLang="zh-TW" dirty="0"/>
              <a:t>表示一個可</a:t>
            </a:r>
            <a:r>
              <a:rPr lang="zh-TW" altLang="en-US" dirty="0"/>
              <a:t>變更資料內容的記憶體儲存區域</a:t>
            </a:r>
            <a:endParaRPr lang="en-US" altLang="zh-TW" dirty="0"/>
          </a:p>
          <a:p>
            <a:pPr lvl="1"/>
            <a:r>
              <a:rPr lang="zh-TW" altLang="zh-TW" dirty="0"/>
              <a:t>透過</a:t>
            </a:r>
            <a:r>
              <a:rPr lang="zh-TW" altLang="zh-TW" dirty="0">
                <a:solidFill>
                  <a:srgbClr val="0070C0"/>
                </a:solidFill>
              </a:rPr>
              <a:t>設定</a:t>
            </a:r>
            <a:r>
              <a:rPr lang="zh-TW" altLang="en-US" dirty="0"/>
              <a:t> </a:t>
            </a:r>
            <a:r>
              <a:rPr lang="en-US" altLang="zh-TW" dirty="0"/>
              <a:t>(assignment) </a:t>
            </a:r>
            <a:r>
              <a:rPr lang="zh-TW" altLang="zh-TW" dirty="0"/>
              <a:t>的指令，變更變數的內容</a:t>
            </a:r>
            <a:endParaRPr lang="en-US" altLang="zh-TW" dirty="0"/>
          </a:p>
          <a:p>
            <a:pPr lvl="1"/>
            <a:r>
              <a:rPr lang="en-US" altLang="zh-TW" i="1" dirty="0"/>
              <a:t>x </a:t>
            </a:r>
            <a:r>
              <a:rPr lang="en-US" altLang="zh-TW" dirty="0"/>
              <a:t>= </a:t>
            </a:r>
            <a:r>
              <a:rPr lang="en-US" altLang="zh-TW" i="1" dirty="0"/>
              <a:t>x </a:t>
            </a:r>
            <a:r>
              <a:rPr lang="en-US" altLang="zh-TW" dirty="0"/>
              <a:t>+ 1</a:t>
            </a:r>
            <a:r>
              <a:rPr lang="zh-TW" altLang="en-US" dirty="0"/>
              <a:t>表示</a:t>
            </a:r>
            <a:r>
              <a:rPr lang="zh-TW" altLang="zh-TW" dirty="0"/>
              <a:t>取出變數</a:t>
            </a:r>
            <a:r>
              <a:rPr lang="en-US" altLang="zh-TW" i="1" dirty="0"/>
              <a:t>x</a:t>
            </a:r>
            <a:r>
              <a:rPr lang="zh-TW" altLang="zh-TW" dirty="0"/>
              <a:t>的儲存內容，再加上</a:t>
            </a:r>
            <a:r>
              <a:rPr lang="en-US" altLang="zh-TW" dirty="0"/>
              <a:t>1</a:t>
            </a:r>
            <a:r>
              <a:rPr lang="zh-TW" altLang="zh-TW" dirty="0"/>
              <a:t>，</a:t>
            </a:r>
            <a:r>
              <a:rPr lang="zh-TW" altLang="en-US" dirty="0"/>
              <a:t>接著</a:t>
            </a:r>
            <a:r>
              <a:rPr lang="zh-TW" altLang="zh-TW" dirty="0"/>
              <a:t>儲存回變數</a:t>
            </a:r>
            <a:r>
              <a:rPr lang="en-US" altLang="zh-TW" dirty="0"/>
              <a:t> </a:t>
            </a:r>
            <a:r>
              <a:rPr lang="en-US" altLang="zh-TW" i="1" dirty="0"/>
              <a:t>x </a:t>
            </a:r>
            <a:r>
              <a:rPr lang="zh-TW" altLang="zh-TW" dirty="0"/>
              <a:t>的儲存區域</a:t>
            </a:r>
            <a:endParaRPr lang="en-US" altLang="zh-TW" dirty="0"/>
          </a:p>
          <a:p>
            <a:pPr lvl="1"/>
            <a:r>
              <a:rPr lang="en-US" altLang="zh-TW" dirty="0"/>
              <a:t>Fortran</a:t>
            </a:r>
            <a:r>
              <a:rPr lang="zh-TW" altLang="zh-TW" dirty="0"/>
              <a:t>、</a:t>
            </a:r>
            <a:r>
              <a:rPr lang="en-US" altLang="zh-TW" dirty="0"/>
              <a:t>COBOL</a:t>
            </a:r>
            <a:r>
              <a:rPr lang="zh-TW" altLang="zh-TW" dirty="0"/>
              <a:t>與</a:t>
            </a:r>
            <a:r>
              <a:rPr lang="en-US" altLang="zh-TW" dirty="0"/>
              <a:t>C</a:t>
            </a:r>
            <a:r>
              <a:rPr lang="zh-TW" altLang="zh-TW" dirty="0"/>
              <a:t>語言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24604"/>
            <a:ext cx="3831906" cy="3160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函數式語言</a:t>
            </a:r>
            <a:r>
              <a:rPr lang="zh-TW" altLang="en-US" b="1" dirty="0"/>
              <a:t> </a:t>
            </a:r>
            <a:r>
              <a:rPr lang="en-US" altLang="zh-TW" dirty="0"/>
              <a:t>(functional language)</a:t>
            </a:r>
          </a:p>
          <a:p>
            <a:pPr lvl="1"/>
            <a:r>
              <a:rPr lang="zh-TW" altLang="zh-TW" dirty="0"/>
              <a:t>函數可將輸入的資料，經過某種運算輸出</a:t>
            </a:r>
            <a:r>
              <a:rPr lang="zh-TW" altLang="en-US" dirty="0"/>
              <a:t>結果</a:t>
            </a:r>
            <a:endParaRPr lang="en-US" altLang="zh-TW" dirty="0"/>
          </a:p>
          <a:p>
            <a:pPr lvl="1"/>
            <a:r>
              <a:rPr lang="zh-TW" altLang="zh-TW" dirty="0"/>
              <a:t>這種程式語言需要定義許多函數來完成工作的任務</a:t>
            </a:r>
            <a:endParaRPr lang="en-US" altLang="zh-TW" dirty="0"/>
          </a:p>
          <a:p>
            <a:pPr lvl="1"/>
            <a:r>
              <a:rPr lang="zh-TW" altLang="zh-TW" dirty="0"/>
              <a:t>例如定義函數</a:t>
            </a:r>
            <a:r>
              <a:rPr lang="en-US" altLang="zh-TW" dirty="0"/>
              <a:t> </a:t>
            </a:r>
            <a:r>
              <a:rPr lang="en-US" altLang="zh-TW" i="1" dirty="0"/>
              <a:t>f</a:t>
            </a:r>
            <a:r>
              <a:rPr lang="en-US" altLang="zh-TW" dirty="0"/>
              <a:t> (</a:t>
            </a:r>
            <a:r>
              <a:rPr lang="en-US" altLang="zh-TW" i="1" dirty="0"/>
              <a:t>x</a:t>
            </a:r>
            <a:r>
              <a:rPr lang="en-US" altLang="zh-TW" dirty="0"/>
              <a:t>) = </a:t>
            </a:r>
            <a:r>
              <a:rPr lang="en-US" altLang="zh-TW" i="1" dirty="0"/>
              <a:t>x </a:t>
            </a:r>
            <a:r>
              <a:rPr lang="en-US" altLang="zh-TW" dirty="0"/>
              <a:t>+ 1</a:t>
            </a:r>
            <a:r>
              <a:rPr lang="zh-TW" altLang="zh-TW" dirty="0"/>
              <a:t>，函數</a:t>
            </a:r>
            <a:r>
              <a:rPr lang="en-US" altLang="zh-TW" dirty="0"/>
              <a:t> </a:t>
            </a:r>
            <a:r>
              <a:rPr lang="en-US" altLang="zh-TW" i="1" dirty="0"/>
              <a:t>g</a:t>
            </a:r>
            <a:r>
              <a:rPr lang="en-US" altLang="zh-TW" dirty="0"/>
              <a:t> (x) = </a:t>
            </a:r>
            <a:r>
              <a:rPr lang="en-US" altLang="zh-TW" i="1" dirty="0"/>
              <a:t>x</a:t>
            </a:r>
            <a:r>
              <a:rPr lang="en-US" altLang="zh-TW" baseline="30000" dirty="0"/>
              <a:t>2</a:t>
            </a:r>
          </a:p>
          <a:p>
            <a:pPr lvl="1"/>
            <a:r>
              <a:rPr lang="en-US" altLang="zh-TW" dirty="0"/>
              <a:t>Lisp</a:t>
            </a:r>
            <a:r>
              <a:rPr lang="zh-TW" altLang="en-US" dirty="0"/>
              <a:t>語言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779912" y="3861048"/>
            <a:ext cx="1512168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 (x)=x+1</a:t>
            </a:r>
            <a:endParaRPr lang="zh-TW" altLang="en-US" dirty="0"/>
          </a:p>
        </p:txBody>
      </p:sp>
      <p:sp>
        <p:nvSpPr>
          <p:cNvPr id="7" name="向右箭號 6"/>
          <p:cNvSpPr/>
          <p:nvPr/>
        </p:nvSpPr>
        <p:spPr>
          <a:xfrm>
            <a:off x="3131840" y="4005064"/>
            <a:ext cx="504056" cy="3600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193763" y="406778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082195" y="407707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</a:t>
            </a:r>
            <a:r>
              <a:rPr lang="en-US" altLang="zh-TW" dirty="0"/>
              <a:t>11</a:t>
            </a:r>
            <a:endParaRPr lang="zh-TW" altLang="en-US" dirty="0"/>
          </a:p>
        </p:txBody>
      </p:sp>
      <p:sp>
        <p:nvSpPr>
          <p:cNvPr id="10" name="向右箭號 9"/>
          <p:cNvSpPr/>
          <p:nvPr/>
        </p:nvSpPr>
        <p:spPr>
          <a:xfrm>
            <a:off x="5364088" y="4005064"/>
            <a:ext cx="504056" cy="3600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699792" y="5157192"/>
            <a:ext cx="1512168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 (x)=x+1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788024" y="5157192"/>
            <a:ext cx="1512168" cy="5760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 (x)=x</a:t>
            </a:r>
            <a:r>
              <a:rPr lang="en-US" altLang="zh-TW" baseline="30000" dirty="0"/>
              <a:t>2</a:t>
            </a:r>
            <a:endParaRPr lang="zh-TW" altLang="en-US" baseline="30000" dirty="0"/>
          </a:p>
        </p:txBody>
      </p:sp>
      <p:sp>
        <p:nvSpPr>
          <p:cNvPr id="13" name="向右箭號 12"/>
          <p:cNvSpPr/>
          <p:nvPr/>
        </p:nvSpPr>
        <p:spPr>
          <a:xfrm>
            <a:off x="4283968" y="5229200"/>
            <a:ext cx="504056" cy="3600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6372200" y="5229200"/>
            <a:ext cx="504056" cy="3600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2051720" y="5229200"/>
            <a:ext cx="504056" cy="3600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971600" y="5229200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輸入</a:t>
            </a:r>
            <a:r>
              <a:rPr lang="en-US" altLang="zh-TW" dirty="0"/>
              <a:t>10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6874283" y="522920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輸出</a:t>
            </a:r>
            <a:r>
              <a:rPr lang="en-US" altLang="zh-TW" dirty="0"/>
              <a:t>121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b="1" dirty="0"/>
              <a:t>邏輯式語言</a:t>
            </a:r>
            <a:r>
              <a:rPr lang="zh-TW" altLang="en-US" b="1" dirty="0"/>
              <a:t> </a:t>
            </a:r>
            <a:r>
              <a:rPr lang="en-US" altLang="zh-TW" dirty="0"/>
              <a:t>(logical language)</a:t>
            </a:r>
          </a:p>
          <a:p>
            <a:pPr lvl="1"/>
            <a:r>
              <a:rPr lang="zh-TW" altLang="zh-TW" dirty="0"/>
              <a:t>處理邏輯條件的判斷與推論</a:t>
            </a:r>
            <a:endParaRPr lang="en-US" altLang="zh-TW" dirty="0"/>
          </a:p>
          <a:p>
            <a:pPr lvl="1"/>
            <a:r>
              <a:rPr lang="zh-TW" altLang="zh-TW" dirty="0"/>
              <a:t>適合開發專家系統軟體</a:t>
            </a:r>
            <a:r>
              <a:rPr lang="zh-TW" altLang="en-US" dirty="0"/>
              <a:t>：電腦圍棋、醫生診斷</a:t>
            </a:r>
            <a:endParaRPr lang="en-US" altLang="zh-TW" dirty="0"/>
          </a:p>
          <a:p>
            <a:pPr lvl="1"/>
            <a:r>
              <a:rPr lang="en-US" altLang="zh-TW" dirty="0"/>
              <a:t>Prolog</a:t>
            </a:r>
            <a:r>
              <a:rPr lang="zh-TW" altLang="zh-TW" dirty="0"/>
              <a:t>語言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771800" y="4077072"/>
            <a:ext cx="3024336" cy="648072"/>
            <a:chOff x="2771800" y="4077072"/>
            <a:chExt cx="3024336" cy="648072"/>
          </a:xfrm>
        </p:grpSpPr>
        <p:sp>
          <p:nvSpPr>
            <p:cNvPr id="6" name="矩形 5"/>
            <p:cNvSpPr/>
            <p:nvPr/>
          </p:nvSpPr>
          <p:spPr>
            <a:xfrm>
              <a:off x="3491880" y="4077072"/>
              <a:ext cx="1584176" cy="6480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邏輯推理</a:t>
              </a:r>
            </a:p>
          </p:txBody>
        </p:sp>
        <p:sp>
          <p:nvSpPr>
            <p:cNvPr id="7" name="向右箭號 6"/>
            <p:cNvSpPr/>
            <p:nvPr/>
          </p:nvSpPr>
          <p:spPr>
            <a:xfrm>
              <a:off x="2771800" y="4221088"/>
              <a:ext cx="504056" cy="36004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向右箭號 7"/>
            <p:cNvSpPr/>
            <p:nvPr/>
          </p:nvSpPr>
          <p:spPr>
            <a:xfrm>
              <a:off x="5292080" y="4221088"/>
              <a:ext cx="504056" cy="36004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937771" y="4077072"/>
            <a:ext cx="17620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Carfield</a:t>
            </a:r>
            <a:r>
              <a:rPr lang="zh-TW" altLang="zh-TW" dirty="0"/>
              <a:t>喜歡魚</a:t>
            </a:r>
            <a:endParaRPr lang="en-US" altLang="zh-TW" dirty="0"/>
          </a:p>
          <a:p>
            <a:r>
              <a:rPr lang="en-US" altLang="zh-TW" dirty="0" err="1"/>
              <a:t>Nemo</a:t>
            </a:r>
            <a:r>
              <a:rPr lang="zh-TW" altLang="zh-TW" dirty="0"/>
              <a:t>是一隻魚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834315" y="4211796"/>
            <a:ext cx="2177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/>
              <a:t>Carfield</a:t>
            </a:r>
            <a:r>
              <a:rPr lang="zh-TW" altLang="zh-TW" dirty="0"/>
              <a:t>喜歡</a:t>
            </a:r>
            <a:r>
              <a:rPr lang="en-US" altLang="zh-TW" dirty="0" err="1"/>
              <a:t>Nemo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24000" y="1224000"/>
            <a:ext cx="8568480" cy="5157328"/>
          </a:xfrm>
        </p:spPr>
        <p:txBody>
          <a:bodyPr>
            <a:normAutofit/>
          </a:bodyPr>
          <a:lstStyle/>
          <a:p>
            <a:r>
              <a:rPr lang="zh-TW" altLang="zh-TW" b="1" dirty="0"/>
              <a:t>物件導向式語言</a:t>
            </a:r>
            <a:r>
              <a:rPr lang="zh-TW" altLang="en-US" b="1" dirty="0"/>
              <a:t> </a:t>
            </a:r>
            <a:r>
              <a:rPr lang="en-US" altLang="zh-TW" dirty="0"/>
              <a:t>(object-oriented language)</a:t>
            </a:r>
          </a:p>
          <a:p>
            <a:pPr lvl="1"/>
            <a:r>
              <a:rPr lang="zh-TW" altLang="zh-TW" dirty="0"/>
              <a:t>將產品開發的想法應用於軟體開發</a:t>
            </a:r>
            <a:endParaRPr lang="en-US" altLang="zh-TW" dirty="0"/>
          </a:p>
          <a:p>
            <a:pPr lvl="1"/>
            <a:r>
              <a:rPr lang="zh-TW" altLang="zh-TW" dirty="0"/>
              <a:t>軟體也可以由軟體元件所建構，這個軟體元件就是物件</a:t>
            </a:r>
            <a:endParaRPr lang="en-US" altLang="zh-TW" dirty="0"/>
          </a:p>
          <a:p>
            <a:pPr lvl="1"/>
            <a:r>
              <a:rPr lang="zh-TW" altLang="zh-TW" dirty="0"/>
              <a:t>物件除了儲存資料外，還提供資料處理的方法</a:t>
            </a:r>
            <a:endParaRPr lang="en-US" altLang="zh-TW" dirty="0"/>
          </a:p>
          <a:p>
            <a:pPr lvl="1"/>
            <a:r>
              <a:rPr lang="zh-TW" altLang="zh-TW" dirty="0"/>
              <a:t>物件</a:t>
            </a:r>
            <a:r>
              <a:rPr lang="zh-TW" altLang="en-US" dirty="0"/>
              <a:t>可</a:t>
            </a:r>
            <a:r>
              <a:rPr lang="zh-TW" altLang="zh-TW" dirty="0"/>
              <a:t>重複</a:t>
            </a:r>
            <a:r>
              <a:rPr lang="zh-TW" altLang="en-US" dirty="0"/>
              <a:t>利用</a:t>
            </a:r>
            <a:r>
              <a:rPr lang="zh-TW" altLang="zh-TW" dirty="0"/>
              <a:t>，降低類似程式開發的成本</a:t>
            </a:r>
            <a:endParaRPr lang="en-US" altLang="zh-TW" dirty="0"/>
          </a:p>
          <a:p>
            <a:pPr lvl="1"/>
            <a:r>
              <a:rPr lang="en-US" altLang="zh-TW" dirty="0"/>
              <a:t>C++</a:t>
            </a:r>
            <a:r>
              <a:rPr lang="zh-TW" altLang="zh-TW" dirty="0"/>
              <a:t>與</a:t>
            </a:r>
            <a:r>
              <a:rPr lang="en-US" altLang="zh-TW" dirty="0"/>
              <a:t>Java</a:t>
            </a:r>
            <a:r>
              <a:rPr lang="zh-TW" altLang="zh-TW" dirty="0"/>
              <a:t>語言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2267744" y="4869160"/>
            <a:ext cx="2232248" cy="129614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zh-TW" altLang="zh-TW" dirty="0"/>
              <a:t>儲存多筆數值資料</a:t>
            </a:r>
            <a:endParaRPr lang="en-US" altLang="zh-TW" dirty="0"/>
          </a:p>
          <a:p>
            <a:pPr algn="ctr">
              <a:buFont typeface="Arial" pitchFamily="34" charset="0"/>
              <a:buChar char="•"/>
            </a:pPr>
            <a:r>
              <a:rPr lang="zh-TW" altLang="en-US" dirty="0"/>
              <a:t>計算平均值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3059832" y="44371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物件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5436096" y="4509120"/>
            <a:ext cx="1512168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應用於體重記錄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5436096" y="5733256"/>
            <a:ext cx="1512168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應用於單科成績記錄</a:t>
            </a:r>
          </a:p>
        </p:txBody>
      </p:sp>
      <p:cxnSp>
        <p:nvCxnSpPr>
          <p:cNvPr id="11" name="直線單箭頭接點 10"/>
          <p:cNvCxnSpPr>
            <a:stCxn id="6" idx="7"/>
            <a:endCxn id="8" idx="1"/>
          </p:cNvCxnSpPr>
          <p:nvPr/>
        </p:nvCxnSpPr>
        <p:spPr>
          <a:xfrm flipV="1">
            <a:off x="4173087" y="4833156"/>
            <a:ext cx="1263009" cy="22582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6" idx="5"/>
            <a:endCxn id="9" idx="1"/>
          </p:cNvCxnSpPr>
          <p:nvPr/>
        </p:nvCxnSpPr>
        <p:spPr>
          <a:xfrm>
            <a:off x="4173087" y="5975488"/>
            <a:ext cx="1263009" cy="8180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506163"/>
            <a:ext cx="4398813" cy="4875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93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其他命令式語言</a:t>
            </a:r>
            <a:endParaRPr lang="en-US" altLang="zh-TW" dirty="0"/>
          </a:p>
          <a:p>
            <a:pPr lvl="1"/>
            <a:r>
              <a:rPr lang="zh-TW" altLang="zh-TW" b="1" dirty="0"/>
              <a:t>視覺化語言</a:t>
            </a:r>
            <a:r>
              <a:rPr lang="zh-TW" altLang="en-US" dirty="0"/>
              <a:t> </a:t>
            </a:r>
            <a:r>
              <a:rPr lang="en-US" altLang="zh-TW" dirty="0"/>
              <a:t>(visual language)</a:t>
            </a:r>
            <a:r>
              <a:rPr lang="zh-TW" altLang="en-US" dirty="0"/>
              <a:t>：</a:t>
            </a:r>
            <a:r>
              <a:rPr lang="zh-TW" altLang="zh-TW" dirty="0"/>
              <a:t>提供快速方式建構視窗應用程式</a:t>
            </a:r>
            <a:r>
              <a:rPr lang="zh-TW" altLang="en-US" dirty="0"/>
              <a:t>，如</a:t>
            </a:r>
            <a:r>
              <a:rPr lang="en-US" altLang="zh-TW" dirty="0"/>
              <a:t>Visual Basic</a:t>
            </a:r>
            <a:r>
              <a:rPr lang="zh-TW" altLang="zh-TW" dirty="0"/>
              <a:t>、</a:t>
            </a:r>
            <a:r>
              <a:rPr lang="en-US" altLang="zh-TW" dirty="0"/>
              <a:t>Visual C++</a:t>
            </a:r>
            <a:r>
              <a:rPr lang="zh-TW" altLang="zh-TW" dirty="0"/>
              <a:t>與</a:t>
            </a:r>
            <a:r>
              <a:rPr lang="en-US" altLang="zh-TW" dirty="0"/>
              <a:t>Visual C#</a:t>
            </a:r>
            <a:r>
              <a:rPr lang="zh-TW" altLang="zh-TW" dirty="0"/>
              <a:t>等</a:t>
            </a:r>
            <a:endParaRPr lang="en-US" altLang="zh-TW" dirty="0"/>
          </a:p>
          <a:p>
            <a:pPr lvl="1"/>
            <a:r>
              <a:rPr lang="zh-TW" altLang="zh-TW" b="1" dirty="0"/>
              <a:t>腳本語言</a:t>
            </a:r>
            <a:r>
              <a:rPr lang="zh-TW" altLang="en-US" b="1" dirty="0"/>
              <a:t> </a:t>
            </a:r>
            <a:r>
              <a:rPr lang="en-US" altLang="zh-TW" dirty="0"/>
              <a:t>(scripting language)</a:t>
            </a:r>
            <a:r>
              <a:rPr lang="zh-TW" altLang="en-US" dirty="0"/>
              <a:t>：</a:t>
            </a:r>
            <a:r>
              <a:rPr lang="zh-TW" altLang="zh-TW" dirty="0"/>
              <a:t>電腦開機的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檢查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程序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與環境設定、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網頁的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執行檢查</a:t>
            </a:r>
            <a:r>
              <a:rPr lang="zh-TW" altLang="en-US" dirty="0"/>
              <a:t>，如</a:t>
            </a:r>
            <a:r>
              <a:rPr lang="en-US" altLang="zh-TW" dirty="0"/>
              <a:t>JavaScript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7.3</a:t>
            </a:r>
            <a:r>
              <a:rPr lang="zh-TW" altLang="zh-TW" dirty="0"/>
              <a:t>程式語言的分類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3573016"/>
            <a:ext cx="5616624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971600" y="6084004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7.12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Visual Basic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視覺化語言可輕易地自工具箱拖曳視窗元件至表單視窗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目前熱門的程式語言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3707904" y="6372970"/>
            <a:ext cx="20489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/>
              <a:t>https://www.tiobe.com/tiobe-index/</a:t>
            </a:r>
            <a:endParaRPr lang="zh-TW" altLang="en-US" sz="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C74C4C7-C586-4A9D-B288-C3C3CCD3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748883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34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英翻中的處理</a:t>
            </a:r>
            <a:endParaRPr lang="en-US" altLang="zh-TW" dirty="0"/>
          </a:p>
          <a:p>
            <a:pPr lvl="1"/>
            <a:r>
              <a:rPr lang="zh-TW" altLang="en-US" dirty="0"/>
              <a:t>檢查</a:t>
            </a:r>
            <a:r>
              <a:rPr lang="zh-TW" altLang="zh-TW" dirty="0"/>
              <a:t>單字對不對</a:t>
            </a:r>
            <a:r>
              <a:rPr lang="zh-TW" altLang="en-US" dirty="0"/>
              <a:t>、</a:t>
            </a:r>
            <a:r>
              <a:rPr lang="zh-TW" altLang="zh-TW" dirty="0"/>
              <a:t>句子文法對不對</a:t>
            </a:r>
            <a:r>
              <a:rPr lang="zh-TW" altLang="en-US" dirty="0"/>
              <a:t>、了</a:t>
            </a:r>
            <a:r>
              <a:rPr lang="zh-TW" altLang="zh-TW" dirty="0"/>
              <a:t>解意思後將句子轉成中文</a:t>
            </a:r>
            <a:endParaRPr lang="en-US" altLang="zh-TW" dirty="0"/>
          </a:p>
          <a:p>
            <a:r>
              <a:rPr lang="zh-TW" altLang="en-US" dirty="0"/>
              <a:t>程式轉譯的步驟</a:t>
            </a:r>
            <a:endParaRPr lang="en-US" altLang="zh-TW" dirty="0"/>
          </a:p>
          <a:p>
            <a:pPr lvl="1"/>
            <a:r>
              <a:rPr lang="zh-TW" altLang="zh-TW" b="1" dirty="0">
                <a:solidFill>
                  <a:srgbClr val="0070C0"/>
                </a:solidFill>
              </a:rPr>
              <a:t>字彙分析</a:t>
            </a:r>
            <a:r>
              <a:rPr lang="zh-TW" altLang="en-US" b="1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(lexical analysis)</a:t>
            </a:r>
            <a:r>
              <a:rPr lang="zh-TW" altLang="en-US" dirty="0"/>
              <a:t>：</a:t>
            </a:r>
            <a:r>
              <a:rPr lang="zh-TW" altLang="zh-TW" dirty="0"/>
              <a:t>檢查是否使用不合法的字彙</a:t>
            </a:r>
            <a:endParaRPr lang="en-US" altLang="zh-TW" dirty="0"/>
          </a:p>
          <a:p>
            <a:pPr lvl="1"/>
            <a:r>
              <a:rPr lang="zh-TW" altLang="zh-TW" b="1" dirty="0">
                <a:solidFill>
                  <a:srgbClr val="0070C0"/>
                </a:solidFill>
              </a:rPr>
              <a:t>語法分析</a:t>
            </a:r>
            <a:r>
              <a:rPr lang="zh-TW" altLang="en-US" b="1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(syntax analysis)</a:t>
            </a:r>
            <a:r>
              <a:rPr lang="zh-TW" altLang="en-US" dirty="0"/>
              <a:t>：</a:t>
            </a:r>
            <a:r>
              <a:rPr lang="zh-TW" altLang="zh-TW" dirty="0"/>
              <a:t>檢查是否使用不合法的敘述結構</a:t>
            </a:r>
            <a:endParaRPr lang="en-US" altLang="zh-TW" dirty="0"/>
          </a:p>
          <a:p>
            <a:pPr lvl="1"/>
            <a:r>
              <a:rPr lang="zh-TW" altLang="zh-TW" b="1" dirty="0">
                <a:solidFill>
                  <a:srgbClr val="0070C0"/>
                </a:solidFill>
              </a:rPr>
              <a:t>執行碼產生</a:t>
            </a:r>
            <a:r>
              <a:rPr lang="zh-TW" altLang="en-US" b="1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(code generation)</a:t>
            </a:r>
            <a:r>
              <a:rPr lang="zh-TW" altLang="en-US" dirty="0"/>
              <a:t>：</a:t>
            </a:r>
            <a:r>
              <a:rPr lang="zh-TW" altLang="zh-TW" dirty="0"/>
              <a:t>將程式內容轉譯成機器語言碼</a:t>
            </a:r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29003"/>
            <a:ext cx="7563893" cy="4831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464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實現程式轉譯的方式主要有兩種：編譯</a:t>
            </a:r>
            <a:r>
              <a:rPr lang="zh-TW" altLang="en-US" dirty="0"/>
              <a:t> </a:t>
            </a:r>
            <a:r>
              <a:rPr lang="en-US" altLang="zh-TW" dirty="0"/>
              <a:t>(compilation) </a:t>
            </a:r>
            <a:r>
              <a:rPr lang="zh-TW" altLang="zh-TW" dirty="0"/>
              <a:t>與直譯</a:t>
            </a:r>
            <a:r>
              <a:rPr lang="zh-TW" altLang="en-US" dirty="0"/>
              <a:t> </a:t>
            </a:r>
            <a:r>
              <a:rPr lang="en-US" altLang="zh-TW" dirty="0"/>
              <a:t>(interpretation)</a:t>
            </a:r>
          </a:p>
          <a:p>
            <a:r>
              <a:rPr lang="zh-TW" altLang="zh-TW" dirty="0"/>
              <a:t>編譯器</a:t>
            </a:r>
            <a:r>
              <a:rPr lang="zh-TW" altLang="en-US" dirty="0"/>
              <a:t> </a:t>
            </a:r>
            <a:r>
              <a:rPr lang="en-US" altLang="zh-TW" dirty="0"/>
              <a:t>(compiler) </a:t>
            </a:r>
            <a:r>
              <a:rPr lang="zh-TW" altLang="en-US" dirty="0"/>
              <a:t>的處理程序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2708920"/>
            <a:ext cx="6408712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 descr="pc-1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48264" y="4941168"/>
            <a:ext cx="1452085" cy="1186674"/>
          </a:xfrm>
          <a:prstGeom prst="rect">
            <a:avLst/>
          </a:prstGeom>
        </p:spPr>
      </p:pic>
      <p:sp>
        <p:nvSpPr>
          <p:cNvPr id="8" name="向右箭號 7"/>
          <p:cNvSpPr/>
          <p:nvPr/>
        </p:nvSpPr>
        <p:spPr>
          <a:xfrm rot="10800000">
            <a:off x="3491880" y="4437112"/>
            <a:ext cx="576064" cy="288032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爆炸 1 8"/>
          <p:cNvSpPr/>
          <p:nvPr/>
        </p:nvSpPr>
        <p:spPr>
          <a:xfrm>
            <a:off x="1115616" y="3573016"/>
            <a:ext cx="2160240" cy="180020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Windows</a:t>
            </a:r>
            <a:r>
              <a:rPr lang="zh-TW" altLang="en-US" dirty="0"/>
              <a:t>系統的</a:t>
            </a:r>
            <a:r>
              <a:rPr lang="en-US" altLang="zh-TW" dirty="0"/>
              <a:t>exe</a:t>
            </a:r>
            <a:r>
              <a:rPr lang="zh-TW" altLang="en-US" dirty="0"/>
              <a:t>檔案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699792" y="609329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7.13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編譯器的運作過程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直譯器</a:t>
            </a:r>
            <a:r>
              <a:rPr lang="zh-TW" altLang="en-US" dirty="0"/>
              <a:t> </a:t>
            </a:r>
            <a:r>
              <a:rPr lang="en-US" altLang="zh-TW" dirty="0"/>
              <a:t>(interpreter) </a:t>
            </a:r>
            <a:r>
              <a:rPr lang="zh-TW" altLang="en-US" dirty="0"/>
              <a:t>處理程序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420888"/>
            <a:ext cx="417646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圖片 6" descr="pc-0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12160" y="4509120"/>
            <a:ext cx="1440160" cy="1440160"/>
          </a:xfrm>
          <a:prstGeom prst="rect">
            <a:avLst/>
          </a:prstGeom>
        </p:spPr>
      </p:pic>
      <p:sp>
        <p:nvSpPr>
          <p:cNvPr id="8" name="爆炸 1 7"/>
          <p:cNvSpPr/>
          <p:nvPr/>
        </p:nvSpPr>
        <p:spPr>
          <a:xfrm>
            <a:off x="1043608" y="2924944"/>
            <a:ext cx="2808312" cy="2232248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翻譯一行程式執行一行程式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2195736" y="580526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7.14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直譯器的運作過程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編譯方法的優缺點</a:t>
            </a:r>
            <a:endParaRPr lang="en-US" altLang="zh-TW" dirty="0"/>
          </a:p>
          <a:p>
            <a:pPr lvl="1"/>
            <a:r>
              <a:rPr lang="zh-TW" altLang="zh-TW" dirty="0"/>
              <a:t>轉譯與執行切割開來</a:t>
            </a:r>
            <a:r>
              <a:rPr lang="zh-TW" altLang="en-US" dirty="0"/>
              <a:t>，</a:t>
            </a:r>
            <a:r>
              <a:rPr lang="zh-TW" altLang="zh-TW" dirty="0"/>
              <a:t>程式執行效率較高</a:t>
            </a:r>
            <a:endParaRPr lang="en-US" altLang="zh-TW" dirty="0"/>
          </a:p>
          <a:p>
            <a:pPr lvl="1"/>
            <a:r>
              <a:rPr lang="zh-TW" altLang="zh-TW" dirty="0"/>
              <a:t>程式開發者必須排除所有的錯誤後，才能執行程式</a:t>
            </a:r>
            <a:endParaRPr lang="en-US" altLang="zh-TW" dirty="0"/>
          </a:p>
          <a:p>
            <a:r>
              <a:rPr lang="zh-TW" altLang="en-US" dirty="0"/>
              <a:t>直譯方法的優缺點</a:t>
            </a:r>
          </a:p>
          <a:p>
            <a:pPr lvl="1"/>
            <a:r>
              <a:rPr lang="zh-TW" altLang="zh-TW" dirty="0"/>
              <a:t>轉譯與執行綁在一起，程式執行效率較低</a:t>
            </a:r>
            <a:endParaRPr lang="en-US" altLang="zh-TW" dirty="0"/>
          </a:p>
          <a:p>
            <a:pPr lvl="1"/>
            <a:r>
              <a:rPr lang="zh-TW" altLang="zh-TW" dirty="0"/>
              <a:t>程式開發者可以陸陸續續看見執行的結果，屬於邊改邊執行的運作模式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結合編譯與直譯的混合</a:t>
            </a:r>
            <a:r>
              <a:rPr lang="zh-TW" altLang="en-US" dirty="0"/>
              <a:t> </a:t>
            </a:r>
            <a:r>
              <a:rPr lang="en-US" altLang="zh-TW" dirty="0"/>
              <a:t>(hybrid) </a:t>
            </a:r>
            <a:r>
              <a:rPr lang="zh-TW" altLang="zh-TW" dirty="0"/>
              <a:t>模式</a:t>
            </a:r>
            <a:endParaRPr lang="en-US" altLang="zh-TW" dirty="0"/>
          </a:p>
          <a:p>
            <a:pPr lvl="1"/>
            <a:r>
              <a:rPr lang="zh-TW" altLang="zh-TW" dirty="0"/>
              <a:t>產生另一種中間程式碼</a:t>
            </a:r>
            <a:r>
              <a:rPr lang="zh-TW" altLang="en-US" dirty="0"/>
              <a:t>，</a:t>
            </a:r>
            <a:r>
              <a:rPr lang="en-US" altLang="zh-TW" dirty="0"/>
              <a:t> Java</a:t>
            </a:r>
            <a:r>
              <a:rPr lang="zh-TW" altLang="zh-TW" dirty="0"/>
              <a:t>程式稱為</a:t>
            </a:r>
            <a:r>
              <a:rPr lang="en-US" altLang="zh-TW" dirty="0" err="1"/>
              <a:t>bytecode</a:t>
            </a:r>
            <a:endParaRPr lang="en-US" altLang="zh-TW" dirty="0"/>
          </a:p>
          <a:p>
            <a:pPr lvl="1"/>
            <a:r>
              <a:rPr lang="en-US" altLang="zh-TW" dirty="0"/>
              <a:t>Java</a:t>
            </a:r>
            <a:r>
              <a:rPr lang="zh-TW" altLang="zh-TW" dirty="0"/>
              <a:t>的直譯器稱為</a:t>
            </a:r>
            <a:r>
              <a:rPr lang="en-US" altLang="zh-TW" dirty="0"/>
              <a:t>Java</a:t>
            </a:r>
            <a:r>
              <a:rPr lang="zh-TW" altLang="zh-TW" dirty="0"/>
              <a:t>虛擬機器</a:t>
            </a:r>
            <a:r>
              <a:rPr lang="zh-TW" altLang="en-US" dirty="0"/>
              <a:t> </a:t>
            </a:r>
            <a:r>
              <a:rPr lang="en-US" altLang="zh-TW" dirty="0"/>
              <a:t>(Java Virtual Machine, JVM)</a:t>
            </a:r>
          </a:p>
          <a:p>
            <a:pPr lvl="1"/>
            <a:r>
              <a:rPr lang="zh-TW" altLang="zh-TW" dirty="0"/>
              <a:t>提升程式使用的可攜性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7.4</a:t>
            </a:r>
            <a:r>
              <a:rPr lang="zh-TW" altLang="zh-TW" dirty="0"/>
              <a:t>程式的轉譯與執行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3212976"/>
            <a:ext cx="7416824" cy="339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5280720" y="6237312"/>
            <a:ext cx="353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7.15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混合式編譯器的運作過程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判斷</a:t>
            </a:r>
            <a:r>
              <a:rPr lang="zh-TW" altLang="zh-TW" dirty="0"/>
              <a:t>產生</a:t>
            </a:r>
            <a:r>
              <a:rPr lang="zh-TW" altLang="en-US" dirty="0"/>
              <a:t>的</a:t>
            </a:r>
            <a:r>
              <a:rPr lang="zh-TW" altLang="zh-TW" dirty="0"/>
              <a:t>任意整數是奇數或是偶數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C</a:t>
            </a:r>
            <a:r>
              <a:rPr lang="zh-TW" altLang="en-US" dirty="0"/>
              <a:t>語言為例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6912768" cy="4693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產生任意整數這件事不用自己撰寫，而是直接引用事先開發好的程式碼。這段程式碼會放在一個稱為</a:t>
            </a:r>
            <a:r>
              <a:rPr lang="zh-TW" altLang="en-US" dirty="0">
                <a:solidFill>
                  <a:srgbClr val="0070C0"/>
                </a:solidFill>
              </a:rPr>
              <a:t>函數庫</a:t>
            </a:r>
            <a:r>
              <a:rPr lang="zh-TW" altLang="en-US" dirty="0"/>
              <a:t> </a:t>
            </a:r>
            <a:r>
              <a:rPr lang="en-US" altLang="zh-TW" dirty="0"/>
              <a:t>(function library) </a:t>
            </a:r>
            <a:r>
              <a:rPr lang="zh-TW" altLang="en-US" dirty="0"/>
              <a:t>的檔案，以函數的形式存在。</a:t>
            </a:r>
            <a:endParaRPr lang="en-US" altLang="zh-TW" dirty="0"/>
          </a:p>
          <a:p>
            <a:r>
              <a:rPr lang="zh-TW" altLang="en-US" dirty="0"/>
              <a:t>程式一開始的 </a:t>
            </a:r>
            <a:r>
              <a:rPr lang="en-US" altLang="zh-TW" dirty="0"/>
              <a:t>#include </a:t>
            </a:r>
            <a:r>
              <a:rPr lang="zh-TW" altLang="en-US" dirty="0"/>
              <a:t>就是指出程式內部所呼叫的所有函數，可以在哪個檔案找到對應的正確呼叫格式，讓編譯器能判斷呼叫的語法是否正確。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0" y="4365104"/>
            <a:ext cx="7884368" cy="78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呼叫函數的方法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例如：產生任意一個正整數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rand</a:t>
            </a:r>
            <a:r>
              <a:rPr lang="zh-TW" altLang="zh-TW" dirty="0"/>
              <a:t>後面的圓括弧內無任何內容，表示這個函數不需要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輸入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參數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(parameter)</a:t>
            </a:r>
            <a:r>
              <a:rPr lang="zh-TW" altLang="en-US" dirty="0"/>
              <a:t>。有些函數需要參數，如取</a:t>
            </a:r>
            <a:r>
              <a:rPr lang="zh-TW" altLang="zh-TW" dirty="0"/>
              <a:t>絕對值</a:t>
            </a:r>
            <a:r>
              <a:rPr lang="zh-TW" altLang="en-US" dirty="0"/>
              <a:t>：</a:t>
            </a:r>
            <a:r>
              <a:rPr lang="en-US" altLang="zh-TW" dirty="0"/>
              <a:t>abs (</a:t>
            </a:r>
            <a:r>
              <a:rPr lang="en-US" altLang="zh-TW" dirty="0">
                <a:latin typeface="Symbol" pitchFamily="18" charset="2"/>
              </a:rPr>
              <a:t>-</a:t>
            </a:r>
            <a:r>
              <a:rPr lang="en-US" altLang="zh-TW" dirty="0"/>
              <a:t>10)</a:t>
            </a:r>
          </a:p>
          <a:p>
            <a:pPr lvl="1"/>
            <a:r>
              <a:rPr lang="en-US" altLang="zh-TW" dirty="0"/>
              <a:t>number</a:t>
            </a:r>
            <a:r>
              <a:rPr lang="zh-TW" altLang="en-US" dirty="0"/>
              <a:t>是變數，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儲存函數的回傳值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(return value)</a:t>
            </a: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雙斜線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//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是程式註解，</a:t>
            </a:r>
            <a:r>
              <a:rPr lang="zh-TW" altLang="en-US" dirty="0"/>
              <a:t>編譯器不會處理，用途是讓別人容易了解程式碼的內容。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分號表示一行敘述的結束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58" y="2348880"/>
            <a:ext cx="8050290" cy="48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使用變數需要事先宣告</a:t>
            </a:r>
            <a:endParaRPr lang="en-US" altLang="zh-TW" dirty="0"/>
          </a:p>
          <a:p>
            <a:pPr lvl="1"/>
            <a:r>
              <a:rPr lang="zh-TW" altLang="zh-TW" dirty="0"/>
              <a:t>電腦需要知道變數會儲存何種資料內容，大小大概多</a:t>
            </a:r>
            <a:r>
              <a:rPr lang="zh-TW" altLang="en-US" dirty="0"/>
              <a:t>少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int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是</a:t>
            </a:r>
            <a:r>
              <a:rPr lang="zh-TW" altLang="zh-TW" dirty="0">
                <a:uFill>
                  <a:solidFill>
                    <a:srgbClr val="0000CC"/>
                  </a:solidFill>
                </a:uFill>
              </a:rPr>
              <a:t>資料型別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整數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(integer) 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的意思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en-US" altLang="zh-TW" dirty="0"/>
              <a:t>C</a:t>
            </a:r>
            <a:r>
              <a:rPr lang="zh-TW" altLang="zh-TW" dirty="0"/>
              <a:t>語言變數名稱可以是混合數字與大小寫英文字母的任何組合字，但字首不得為數字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zh-TW" dirty="0"/>
              <a:t>語言</a:t>
            </a:r>
            <a:r>
              <a:rPr lang="zh-TW" altLang="en-US" dirty="0"/>
              <a:t>中變數</a:t>
            </a:r>
            <a:r>
              <a:rPr lang="zh-TW" altLang="zh-TW" dirty="0"/>
              <a:t>名稱相同但大小寫不同，仍視為不同的變數</a:t>
            </a:r>
            <a:endParaRPr lang="en-US" altLang="zh-TW" dirty="0"/>
          </a:p>
          <a:p>
            <a:pPr lvl="2"/>
            <a:r>
              <a:rPr lang="en-US" altLang="zh-TW" dirty="0"/>
              <a:t>number VS. Number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67397"/>
            <a:ext cx="8496944" cy="485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善加利用運算符號</a:t>
            </a:r>
            <a:endParaRPr lang="en-US" altLang="zh-TW" dirty="0"/>
          </a:p>
          <a:p>
            <a:pPr lvl="1"/>
            <a:r>
              <a:rPr lang="zh-TW" altLang="en-US" dirty="0"/>
              <a:t>例如：加法 </a:t>
            </a:r>
            <a:r>
              <a:rPr lang="en-US" altLang="zh-TW" dirty="0"/>
              <a:t>(+)</a:t>
            </a:r>
            <a:r>
              <a:rPr lang="zh-TW" altLang="en-US" dirty="0"/>
              <a:t>、減法 </a:t>
            </a:r>
            <a:r>
              <a:rPr lang="en-US" altLang="zh-TW" dirty="0"/>
              <a:t>(-)</a:t>
            </a:r>
            <a:r>
              <a:rPr lang="zh-TW" altLang="en-US" dirty="0"/>
              <a:t>、乘法 </a:t>
            </a:r>
            <a:r>
              <a:rPr lang="en-US" altLang="zh-TW" dirty="0"/>
              <a:t>(*)</a:t>
            </a:r>
            <a:r>
              <a:rPr lang="zh-TW" altLang="en-US" dirty="0"/>
              <a:t>與除法 </a:t>
            </a:r>
            <a:r>
              <a:rPr lang="en-US" altLang="zh-TW" dirty="0"/>
              <a:t>(/)</a:t>
            </a:r>
          </a:p>
          <a:p>
            <a:pPr lvl="1"/>
            <a:r>
              <a:rPr lang="zh-TW" altLang="en-US" dirty="0"/>
              <a:t>例如：取餘數 </a:t>
            </a:r>
            <a:r>
              <a:rPr lang="en-US" altLang="zh-TW" dirty="0"/>
              <a:t>(%)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%</a:t>
            </a:r>
            <a:r>
              <a:rPr lang="zh-TW" altLang="en-US" dirty="0"/>
              <a:t>是運算子，</a:t>
            </a:r>
            <a:r>
              <a:rPr lang="en-US" altLang="zh-TW" dirty="0"/>
              <a:t>number</a:t>
            </a:r>
            <a:r>
              <a:rPr lang="zh-TW" altLang="en-US" dirty="0"/>
              <a:t>與</a:t>
            </a:r>
            <a:r>
              <a:rPr lang="en-US" altLang="zh-TW" dirty="0"/>
              <a:t>2</a:t>
            </a:r>
            <a:r>
              <a:rPr lang="zh-TW" altLang="en-US" dirty="0"/>
              <a:t>是運算元</a:t>
            </a:r>
            <a:endParaRPr lang="en-US" altLang="zh-TW" dirty="0"/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組合出複雜的算術運算式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：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 (</a:t>
            </a:r>
            <a:r>
              <a:rPr lang="en-US" altLang="zh-TW" i="1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x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+ 2) *  (</a:t>
            </a:r>
            <a:r>
              <a:rPr lang="en-US" altLang="zh-TW" i="1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y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  <a:sym typeface="Wingdings" pitchFamily="2" charset="2"/>
              </a:rPr>
              <a:t> – 3) – 4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69690"/>
            <a:ext cx="8100392" cy="487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條件判斷需要邏輯運算式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flag == 0</a:t>
            </a:r>
            <a:r>
              <a:rPr lang="zh-TW" altLang="en-US" dirty="0"/>
              <a:t>判斷</a:t>
            </a:r>
            <a:r>
              <a:rPr lang="en-US" altLang="zh-TW" dirty="0"/>
              <a:t>flag</a:t>
            </a:r>
            <a:r>
              <a:rPr lang="zh-TW" altLang="en-US" dirty="0"/>
              <a:t>變數是否等於</a:t>
            </a:r>
            <a:r>
              <a:rPr lang="en-US" altLang="zh-TW" dirty="0"/>
              <a:t>0</a:t>
            </a:r>
          </a:p>
          <a:p>
            <a:pPr lvl="1"/>
            <a:r>
              <a:rPr lang="zh-TW" altLang="en-US" dirty="0"/>
              <a:t>其他的邏輯運算子：</a:t>
            </a:r>
            <a:r>
              <a:rPr lang="zh-TW" altLang="zh-TW" dirty="0"/>
              <a:t>大於</a:t>
            </a:r>
            <a:r>
              <a:rPr lang="zh-TW" altLang="en-US" dirty="0"/>
              <a:t> </a:t>
            </a:r>
            <a:r>
              <a:rPr lang="en-US" altLang="zh-TW" dirty="0"/>
              <a:t>(&gt;)</a:t>
            </a:r>
            <a:r>
              <a:rPr lang="zh-TW" altLang="zh-TW" dirty="0"/>
              <a:t>、小於</a:t>
            </a:r>
            <a:r>
              <a:rPr lang="zh-TW" altLang="en-US" dirty="0"/>
              <a:t> </a:t>
            </a:r>
            <a:r>
              <a:rPr lang="en-US" altLang="zh-TW" dirty="0"/>
              <a:t>(&lt;)</a:t>
            </a:r>
            <a:r>
              <a:rPr lang="zh-TW" altLang="zh-TW" dirty="0"/>
              <a:t>、不大於</a:t>
            </a:r>
            <a:r>
              <a:rPr lang="zh-TW" altLang="en-US" dirty="0"/>
              <a:t> </a:t>
            </a:r>
            <a:r>
              <a:rPr lang="en-US" altLang="zh-TW" dirty="0"/>
              <a:t>(&lt;=)</a:t>
            </a:r>
            <a:r>
              <a:rPr lang="zh-TW" altLang="zh-TW" dirty="0"/>
              <a:t>、不小於</a:t>
            </a:r>
            <a:r>
              <a:rPr lang="zh-TW" altLang="en-US" dirty="0"/>
              <a:t> </a:t>
            </a:r>
            <a:r>
              <a:rPr lang="en-US" altLang="zh-TW" dirty="0"/>
              <a:t>(&gt;=)</a:t>
            </a:r>
            <a:r>
              <a:rPr lang="zh-TW" altLang="zh-TW" dirty="0"/>
              <a:t>、不等於</a:t>
            </a:r>
            <a:r>
              <a:rPr lang="zh-TW" altLang="en-US" dirty="0"/>
              <a:t> </a:t>
            </a:r>
            <a:r>
              <a:rPr lang="en-US" altLang="zh-TW" dirty="0"/>
              <a:t>(!=)</a:t>
            </a:r>
          </a:p>
          <a:p>
            <a:pPr lvl="1"/>
            <a:r>
              <a:rPr lang="en-US" altLang="zh-TW" dirty="0"/>
              <a:t>if-else</a:t>
            </a:r>
            <a:r>
              <a:rPr lang="zh-TW" altLang="zh-TW" dirty="0"/>
              <a:t>控制敘述會依據邏輯運算式的判斷結果</a:t>
            </a:r>
            <a:r>
              <a:rPr lang="zh-TW" altLang="en-US" dirty="0"/>
              <a:t>：</a:t>
            </a:r>
            <a:r>
              <a:rPr lang="zh-TW" altLang="zh-TW" dirty="0"/>
              <a:t>當結果為真時，執行</a:t>
            </a:r>
            <a:r>
              <a:rPr lang="en-US" altLang="zh-TW" dirty="0"/>
              <a:t>if</a:t>
            </a:r>
            <a:r>
              <a:rPr lang="zh-TW" altLang="zh-TW" dirty="0"/>
              <a:t>後面的敘述，不然執行</a:t>
            </a:r>
            <a:r>
              <a:rPr lang="en-US" altLang="zh-TW" dirty="0"/>
              <a:t>else</a:t>
            </a:r>
            <a:r>
              <a:rPr lang="zh-TW" altLang="zh-TW" dirty="0"/>
              <a:t>後面的敘述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16832"/>
            <a:ext cx="8424936" cy="1294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螢幕輸出答案使用</a:t>
            </a:r>
            <a:r>
              <a:rPr lang="en-US" altLang="zh-TW" dirty="0" err="1"/>
              <a:t>printf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zh-TW" dirty="0"/>
              <a:t>呼叫時傳入兩個參數</a:t>
            </a:r>
            <a:endParaRPr lang="en-US" altLang="zh-TW" dirty="0"/>
          </a:p>
          <a:p>
            <a:pPr lvl="2"/>
            <a:r>
              <a:rPr lang="zh-TW" altLang="zh-TW" dirty="0"/>
              <a:t>第一個參數為雙引號標示的一段文字，用途是標示訊息顯示的樣版</a:t>
            </a:r>
            <a:endParaRPr lang="en-US" altLang="zh-TW" dirty="0"/>
          </a:p>
          <a:p>
            <a:pPr lvl="2"/>
            <a:r>
              <a:rPr lang="en-US" altLang="zh-TW" dirty="0"/>
              <a:t>%d </a:t>
            </a:r>
            <a:r>
              <a:rPr lang="zh-TW" altLang="zh-TW" dirty="0"/>
              <a:t>的部分會由第二</a:t>
            </a:r>
            <a:r>
              <a:rPr lang="zh-TW" altLang="en-US" dirty="0"/>
              <a:t>個</a:t>
            </a:r>
            <a:r>
              <a:rPr lang="zh-TW" altLang="zh-TW" dirty="0"/>
              <a:t>參數</a:t>
            </a:r>
            <a:r>
              <a:rPr lang="en-US" altLang="zh-TW" dirty="0"/>
              <a:t>number</a:t>
            </a:r>
            <a:r>
              <a:rPr lang="zh-TW" altLang="zh-TW" dirty="0"/>
              <a:t>儲存的數值所取代</a:t>
            </a:r>
            <a:endParaRPr lang="en-US" altLang="zh-TW" dirty="0"/>
          </a:p>
          <a:p>
            <a:pPr lvl="1"/>
            <a:r>
              <a:rPr lang="en-US" altLang="zh-TW" dirty="0"/>
              <a:t>\n </a:t>
            </a:r>
            <a:r>
              <a:rPr lang="zh-TW" altLang="zh-TW" dirty="0"/>
              <a:t>表示輸出完訊息後會換至新的一行</a:t>
            </a:r>
            <a:endParaRPr lang="en-US" altLang="zh-TW" dirty="0"/>
          </a:p>
          <a:p>
            <a:pPr lvl="1"/>
            <a:r>
              <a:rPr lang="zh-TW" altLang="zh-TW" dirty="0"/>
              <a:t>雙引號標示的文字又稱字串</a:t>
            </a:r>
            <a:r>
              <a:rPr lang="zh-TW" altLang="en-US" dirty="0"/>
              <a:t> </a:t>
            </a:r>
            <a:r>
              <a:rPr lang="en-US" altLang="zh-TW" dirty="0"/>
              <a:t>(string)</a:t>
            </a:r>
            <a:r>
              <a:rPr lang="zh-TW" altLang="zh-TW" dirty="0"/>
              <a:t>，指一串的字元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4" y="1916832"/>
            <a:ext cx="8460432" cy="53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程式的執行從主函數開始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main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是程式開發者寫的主要執行函數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說明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main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不需要參數</a:t>
            </a:r>
            <a:r>
              <a:rPr lang="zh-TW" altLang="en-US" dirty="0"/>
              <a:t>，傳回值是整數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main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執行結束回傳數字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0</a:t>
            </a:r>
            <a:endParaRPr lang="zh-TW" altLang="en-US" dirty="0">
              <a:uFill>
                <a:solidFill>
                  <a:srgbClr val="0000CC"/>
                </a:solidFill>
              </a:uFill>
            </a:endParaRP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300541"/>
              </p:ext>
            </p:extLst>
          </p:nvPr>
        </p:nvGraphicFramePr>
        <p:xfrm>
          <a:off x="1043608" y="2060848"/>
          <a:ext cx="5309870" cy="304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0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 err="1"/>
                        <a:t>int</a:t>
                      </a:r>
                      <a:r>
                        <a:rPr lang="en-US" sz="2000" kern="100" dirty="0"/>
                        <a:t> main()</a:t>
                      </a:r>
                      <a:endParaRPr lang="zh-TW" sz="2000" kern="100" dirty="0"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68" y="3861048"/>
            <a:ext cx="8748463" cy="51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96752"/>
            <a:ext cx="7488832" cy="517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48" y="1916832"/>
            <a:ext cx="827631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8018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迴圈控制伴隨邏輯運算式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 err="1"/>
              <a:t>i</a:t>
            </a:r>
            <a:r>
              <a:rPr lang="en-US" altLang="zh-TW" dirty="0"/>
              <a:t> &lt; 5</a:t>
            </a:r>
            <a:r>
              <a:rPr lang="zh-TW" altLang="en-US" dirty="0"/>
              <a:t>是判斷小於的邏輯運算式</a:t>
            </a:r>
            <a:endParaRPr lang="en-US" altLang="zh-TW" dirty="0"/>
          </a:p>
          <a:p>
            <a:pPr lvl="1"/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while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是控制迴圈的敘述，當邏輯運算式成立時，繼續迴圈的執行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pPr lvl="1"/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i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 = </a:t>
            </a:r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i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 + 1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讓變數</a:t>
            </a:r>
            <a:r>
              <a:rPr lang="en-US" altLang="zh-TW" dirty="0" err="1">
                <a:uFill>
                  <a:solidFill>
                    <a:srgbClr val="0000CC"/>
                  </a:solidFill>
                </a:uFill>
              </a:rPr>
              <a:t>i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有大於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5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的機會，迴圈得以停止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70" y="1916832"/>
            <a:ext cx="8812330" cy="1148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52736"/>
            <a:ext cx="5676510" cy="5647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405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91" y="2029396"/>
            <a:ext cx="8159165" cy="2158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4528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自行定義的函數</a:t>
            </a:r>
            <a:r>
              <a:rPr lang="en-US" altLang="zh-TW" dirty="0"/>
              <a:t>repeat </a:t>
            </a:r>
            <a:r>
              <a:rPr lang="zh-TW" altLang="en-US" dirty="0"/>
              <a:t>的格式如下：</a:t>
            </a:r>
            <a:r>
              <a:rPr lang="en-US" altLang="zh-TW" dirty="0"/>
              <a:t>void </a:t>
            </a:r>
            <a:r>
              <a:rPr lang="zh-TW" altLang="en-US" dirty="0"/>
              <a:t>標示這個函數沒有傳回值，括號內的</a:t>
            </a:r>
            <a:r>
              <a:rPr lang="en-US" altLang="zh-TW" dirty="0"/>
              <a:t>round </a:t>
            </a:r>
            <a:r>
              <a:rPr lang="zh-TW" altLang="en-US" dirty="0"/>
              <a:t>為參數，資料型態為整數。</a:t>
            </a:r>
            <a:endParaRPr lang="en-US" altLang="zh-TW" dirty="0"/>
          </a:p>
          <a:p>
            <a:r>
              <a:rPr lang="zh-TW" altLang="en-US" dirty="0"/>
              <a:t>這個函數的程式內容與範例程式二的主要函數內容相似，差異在重複執行次數用</a:t>
            </a:r>
            <a:r>
              <a:rPr lang="en-US" altLang="zh-TW" dirty="0"/>
              <a:t>round </a:t>
            </a:r>
            <a:r>
              <a:rPr lang="zh-TW" altLang="en-US" dirty="0"/>
              <a:t>參數控制。</a:t>
            </a:r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10" y="3645024"/>
            <a:ext cx="8849594" cy="70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2122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主要函數</a:t>
            </a:r>
            <a:r>
              <a:rPr lang="en-US" altLang="zh-TW" dirty="0"/>
              <a:t>main </a:t>
            </a:r>
            <a:r>
              <a:rPr lang="zh-TW" altLang="en-US" dirty="0"/>
              <a:t>宣告一個名為</a:t>
            </a:r>
            <a:r>
              <a:rPr lang="en-US" altLang="zh-TW" dirty="0"/>
              <a:t>times </a:t>
            </a:r>
            <a:r>
              <a:rPr lang="zh-TW" altLang="en-US" dirty="0"/>
              <a:t>的變數，接著利用</a:t>
            </a:r>
            <a:r>
              <a:rPr lang="en-US" altLang="zh-TW" dirty="0" err="1"/>
              <a:t>printf</a:t>
            </a:r>
            <a:r>
              <a:rPr lang="en-US" altLang="zh-TW" dirty="0"/>
              <a:t> </a:t>
            </a:r>
            <a:r>
              <a:rPr lang="zh-TW" altLang="en-US" dirty="0"/>
              <a:t>函數於螢幕輸出一行文字，提示用戶輸入一個數字。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從鍵盤讀取數字的方式是透過呼叫</a:t>
            </a:r>
            <a:r>
              <a:rPr lang="en-US" altLang="zh-TW" dirty="0" err="1"/>
              <a:t>scanf</a:t>
            </a:r>
            <a:r>
              <a:rPr lang="en-US" altLang="zh-TW" dirty="0"/>
              <a:t> </a:t>
            </a:r>
            <a:r>
              <a:rPr lang="zh-TW" altLang="en-US" dirty="0"/>
              <a:t>函數實現。這裡使用兩個參數：第一個參數說明輸入為整數數字，第二個參數指出輸入的數值會存放於變數</a:t>
            </a:r>
            <a:r>
              <a:rPr lang="en-US" altLang="zh-TW" dirty="0"/>
              <a:t>times </a:t>
            </a:r>
            <a:r>
              <a:rPr lang="zh-TW" altLang="en-US" dirty="0"/>
              <a:t>在記憶體的儲存區域中。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39183"/>
            <a:ext cx="7920880" cy="545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34" y="4725144"/>
            <a:ext cx="7766498" cy="55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425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在學習新的程式語言時，試著找出以下的答案，能協助你快速學習。</a:t>
            </a:r>
            <a:endParaRPr lang="en-US" altLang="zh-TW" dirty="0"/>
          </a:p>
          <a:p>
            <a:pPr lvl="1">
              <a:buFont typeface="Wingdings" pitchFamily="2" charset="2"/>
              <a:buChar char="ü"/>
            </a:pPr>
            <a:r>
              <a:rPr lang="zh-TW" altLang="zh-TW" dirty="0"/>
              <a:t>儲存資料支援的資料型別有哪些？除了整數、浮點數與字元外，還有其他的嗎？</a:t>
            </a:r>
          </a:p>
          <a:p>
            <a:pPr lvl="1">
              <a:buFont typeface="Wingdings" pitchFamily="2" charset="2"/>
              <a:buChar char="ü"/>
            </a:pPr>
            <a:r>
              <a:rPr lang="zh-TW" altLang="zh-TW" dirty="0"/>
              <a:t>如何表示某種資料型別的資料內容？例如浮點數的表達方式除了</a:t>
            </a:r>
            <a:r>
              <a:rPr lang="en-US" altLang="zh-TW" dirty="0"/>
              <a:t>125.2</a:t>
            </a:r>
            <a:r>
              <a:rPr lang="zh-TW" altLang="zh-TW" dirty="0"/>
              <a:t>外，利用指數的方式</a:t>
            </a:r>
            <a:r>
              <a:rPr lang="en-US" altLang="zh-TW" dirty="0"/>
              <a:t>1.252E2</a:t>
            </a:r>
            <a:r>
              <a:rPr lang="zh-TW" altLang="zh-TW" dirty="0"/>
              <a:t>也可以嗎？</a:t>
            </a:r>
          </a:p>
          <a:p>
            <a:pPr lvl="1">
              <a:buFont typeface="Wingdings" pitchFamily="2" charset="2"/>
              <a:buChar char="ü"/>
            </a:pPr>
            <a:r>
              <a:rPr lang="zh-TW" altLang="zh-TW" dirty="0"/>
              <a:t>支援的運算子有哪些？表示的符號為何？</a:t>
            </a:r>
          </a:p>
          <a:p>
            <a:pPr lvl="1">
              <a:buFont typeface="Wingdings" pitchFamily="2" charset="2"/>
              <a:buChar char="ü"/>
            </a:pPr>
            <a:r>
              <a:rPr lang="zh-TW" altLang="zh-TW" dirty="0"/>
              <a:t>提供哪些程式執行的控制結構？撰寫的語法為何？</a:t>
            </a:r>
          </a:p>
          <a:p>
            <a:pPr lvl="1">
              <a:buFont typeface="Wingdings" pitchFamily="2" charset="2"/>
              <a:buChar char="ü"/>
            </a:pPr>
            <a:r>
              <a:rPr lang="zh-TW" altLang="zh-TW" dirty="0"/>
              <a:t>如何撰寫自己的函數？如何呼叫函數庫現成的函數？</a:t>
            </a:r>
          </a:p>
          <a:p>
            <a:pPr>
              <a:buFont typeface="Wingdings" pitchFamily="2" charset="2"/>
              <a:buChar char="ü"/>
            </a:pP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7.5</a:t>
            </a:r>
            <a:r>
              <a:rPr lang="zh-TW" altLang="zh-TW" dirty="0"/>
              <a:t>程式的撰寫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基本上程式的執行是依據內容的敘述，從頭至尾逐行依序進行</a:t>
            </a:r>
            <a:endParaRPr lang="en-US" altLang="zh-TW" dirty="0"/>
          </a:p>
          <a:p>
            <a:r>
              <a:rPr lang="zh-TW" altLang="zh-TW" dirty="0"/>
              <a:t>程式的執行流程，可以利用流程圖</a:t>
            </a:r>
            <a:r>
              <a:rPr lang="zh-TW" altLang="en-US" dirty="0"/>
              <a:t> </a:t>
            </a:r>
            <a:r>
              <a:rPr lang="en-US" altLang="zh-TW" dirty="0"/>
              <a:t>(flowchart) </a:t>
            </a:r>
            <a:r>
              <a:rPr lang="zh-TW" altLang="en-US" dirty="0"/>
              <a:t>表示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501008"/>
            <a:ext cx="5112568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915816" y="580526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7.16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流程圖之常用圖示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三種常見的執行次序：順序執行、條件執行與重複執行</a:t>
            </a:r>
            <a:endParaRPr lang="en-US" altLang="zh-TW" dirty="0"/>
          </a:p>
          <a:p>
            <a:r>
              <a:rPr lang="zh-TW" altLang="zh-TW" dirty="0"/>
              <a:t>順序執行</a:t>
            </a:r>
            <a:r>
              <a:rPr lang="zh-TW" altLang="en-US" dirty="0"/>
              <a:t>：</a:t>
            </a:r>
            <a:r>
              <a:rPr lang="zh-TW" altLang="zh-TW" dirty="0"/>
              <a:t>執行的敘述用單一程序處理表示，</a:t>
            </a:r>
            <a:r>
              <a:rPr lang="zh-TW" altLang="en-US" dirty="0"/>
              <a:t>或是</a:t>
            </a:r>
            <a:r>
              <a:rPr lang="zh-TW" altLang="zh-TW" dirty="0"/>
              <a:t>用一個程序處理內含多個敘述也可以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996952"/>
            <a:ext cx="5256584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419872" y="609329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7.17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順序執行之流程圖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條件執行</a:t>
            </a:r>
            <a:r>
              <a:rPr lang="zh-TW" altLang="en-US" dirty="0"/>
              <a:t>：</a:t>
            </a:r>
            <a:r>
              <a:rPr lang="zh-TW" altLang="zh-TW" dirty="0"/>
              <a:t>利用條件判斷成立與否，決定那個敘述該被執行</a:t>
            </a:r>
            <a:endParaRPr lang="en-US" altLang="zh-TW" dirty="0"/>
          </a:p>
          <a:p>
            <a:pPr lvl="1"/>
            <a:r>
              <a:rPr lang="en-US" altLang="zh-TW" dirty="0"/>
              <a:t>if-else</a:t>
            </a:r>
            <a:r>
              <a:rPr lang="zh-TW" altLang="zh-TW" dirty="0"/>
              <a:t>雙向選擇</a:t>
            </a:r>
            <a:r>
              <a:rPr lang="zh-TW" altLang="en-US" dirty="0"/>
              <a:t> </a:t>
            </a:r>
            <a:r>
              <a:rPr lang="en-US" altLang="zh-TW" dirty="0"/>
              <a:t>(two-way selection) </a:t>
            </a:r>
            <a:r>
              <a:rPr lang="zh-TW" altLang="en-US" dirty="0"/>
              <a:t>的使用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907704" y="2564904"/>
            <a:ext cx="504056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419872" y="602128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條件執行之流程圖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重複執行</a:t>
            </a:r>
            <a:r>
              <a:rPr lang="zh-TW" altLang="en-US" dirty="0"/>
              <a:t>：</a:t>
            </a:r>
            <a:r>
              <a:rPr lang="zh-TW" altLang="zh-TW" dirty="0"/>
              <a:t>利用條件判斷成立與否，決定是否重複執行某個敘述</a:t>
            </a:r>
            <a:endParaRPr lang="en-US" altLang="zh-TW" dirty="0"/>
          </a:p>
          <a:p>
            <a:pPr lvl="1"/>
            <a:r>
              <a:rPr lang="en-US" altLang="zh-TW" dirty="0"/>
              <a:t>while</a:t>
            </a:r>
            <a:r>
              <a:rPr lang="zh-TW" altLang="zh-TW" dirty="0"/>
              <a:t>敘述</a:t>
            </a:r>
            <a:r>
              <a:rPr lang="zh-TW" altLang="en-US" dirty="0"/>
              <a:t>的使用：</a:t>
            </a:r>
            <a:r>
              <a:rPr lang="en-US" altLang="zh-TW" dirty="0"/>
              <a:t>”</a:t>
            </a:r>
            <a:r>
              <a:rPr lang="zh-TW" altLang="zh-TW" dirty="0"/>
              <a:t>當</a:t>
            </a:r>
            <a:r>
              <a:rPr lang="en-US" altLang="zh-TW" dirty="0"/>
              <a:t>”</a:t>
            </a:r>
            <a:r>
              <a:rPr lang="zh-TW" altLang="zh-TW" dirty="0"/>
              <a:t>條件成立時繼續執行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8" name="圖片 7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483768" y="2924944"/>
            <a:ext cx="4896544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635896" y="615601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7.19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重複執行之流程圖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其他執行次序的變形</a:t>
            </a:r>
            <a:endParaRPr lang="en-US" altLang="zh-TW" dirty="0"/>
          </a:p>
          <a:p>
            <a:pPr lvl="1"/>
            <a:r>
              <a:rPr lang="en-US" altLang="zh-TW" dirty="0"/>
              <a:t>if</a:t>
            </a:r>
            <a:r>
              <a:rPr lang="zh-TW" altLang="zh-TW" dirty="0"/>
              <a:t>敘述</a:t>
            </a:r>
            <a:r>
              <a:rPr lang="zh-TW" altLang="en-US" dirty="0"/>
              <a:t>的</a:t>
            </a:r>
            <a:r>
              <a:rPr lang="zh-TW" altLang="zh-TW" dirty="0"/>
              <a:t>單向選擇</a:t>
            </a:r>
            <a:endParaRPr lang="en-US" altLang="zh-TW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564904"/>
            <a:ext cx="482453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917540" y="5733256"/>
            <a:ext cx="3308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單向條件執行之流程圖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其他執行次序的變形</a:t>
            </a:r>
            <a:endParaRPr lang="en-US" altLang="zh-TW" dirty="0"/>
          </a:p>
          <a:p>
            <a:pPr lvl="1"/>
            <a:r>
              <a:rPr lang="zh-TW" altLang="zh-TW" dirty="0"/>
              <a:t>巢狀條件敘述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8" name="圖片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276872"/>
            <a:ext cx="5976664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707904" y="6165304"/>
            <a:ext cx="3308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7.21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巢狀條件執行之流程圖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其他執行次序的變形</a:t>
            </a:r>
            <a:endParaRPr lang="en-US" altLang="zh-TW" dirty="0"/>
          </a:p>
          <a:p>
            <a:pPr lvl="1"/>
            <a:r>
              <a:rPr lang="zh-TW" altLang="zh-TW" dirty="0"/>
              <a:t>複合敘述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7" name="圖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420888"/>
            <a:ext cx="554461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225043" y="5661248"/>
            <a:ext cx="469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7.22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條件執行配合使用複合敘述之流程圖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8258486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34333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71"/>
          <a:stretch/>
        </p:blipFill>
        <p:spPr bwMode="auto">
          <a:xfrm>
            <a:off x="1187624" y="1076758"/>
            <a:ext cx="6624736" cy="5520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2114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79"/>
          <a:stretch/>
        </p:blipFill>
        <p:spPr bwMode="auto">
          <a:xfrm>
            <a:off x="1043608" y="1268760"/>
            <a:ext cx="7056784" cy="521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154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組合三種執行次序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844824"/>
            <a:ext cx="6048672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2627784" y="6237312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7.23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綜合不同執行敘述類型之流程圖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7.6</a:t>
            </a:r>
            <a:r>
              <a:rPr lang="zh-TW" altLang="zh-TW" dirty="0"/>
              <a:t>程式的執行流程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146"/>
          <a:stretch/>
        </p:blipFill>
        <p:spPr bwMode="auto">
          <a:xfrm>
            <a:off x="827584" y="1700808"/>
            <a:ext cx="7462127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8286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93" b="9848"/>
          <a:stretch/>
        </p:blipFill>
        <p:spPr bwMode="auto">
          <a:xfrm>
            <a:off x="1403648" y="188640"/>
            <a:ext cx="5975536" cy="6288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4461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8439"/>
            <a:ext cx="7173219" cy="108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22830"/>
            <a:ext cx="5858822" cy="503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6535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Apple Swift Playgrounds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系列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限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Apple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設備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)</a:t>
            </a:r>
          </a:p>
          <a:p>
            <a:r>
              <a:rPr lang="zh-TW" altLang="zh-TW" dirty="0"/>
              <a:t>美國麻省理工學院開發的</a:t>
            </a:r>
            <a:r>
              <a:rPr lang="en-US" altLang="zh-TW" dirty="0"/>
              <a:t>Scratch</a:t>
            </a:r>
            <a:r>
              <a:rPr lang="zh-TW" altLang="zh-TW" dirty="0"/>
              <a:t>程式學習平台</a:t>
            </a:r>
            <a:r>
              <a:rPr lang="en-US" altLang="zh-TW" dirty="0"/>
              <a:t>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瀏覽器即可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)</a:t>
            </a:r>
          </a:p>
          <a:p>
            <a:r>
              <a:rPr lang="zh-TW" altLang="zh-TW" dirty="0"/>
              <a:t>美國麻省理工學院維護營運可開發手機應用程式的</a:t>
            </a:r>
            <a:r>
              <a:rPr lang="en-US" altLang="zh-TW" dirty="0"/>
              <a:t>App Inventor</a:t>
            </a:r>
            <a:r>
              <a:rPr lang="zh-TW" altLang="en-US" dirty="0"/>
              <a:t> 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(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瀏覽器即可</a:t>
            </a:r>
            <a:r>
              <a:rPr lang="en-US" altLang="zh-TW" dirty="0">
                <a:uFill>
                  <a:solidFill>
                    <a:srgbClr val="0000CC"/>
                  </a:solidFill>
                </a:uFill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7.7</a:t>
            </a:r>
            <a:r>
              <a:rPr lang="zh-TW" altLang="en-US" dirty="0"/>
              <a:t>積木式程式撰寫</a:t>
            </a:r>
          </a:p>
        </p:txBody>
      </p:sp>
      <p:pic>
        <p:nvPicPr>
          <p:cNvPr id="5" name="圖片 4" descr="ãswift playgroundsãçåçæå°çµæ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212976"/>
            <a:ext cx="2795310" cy="252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91046" y="2708920"/>
            <a:ext cx="3541394" cy="2656056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51520" y="5733256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7.24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Apple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公司推出的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Playgrounds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程式學習遊戲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Apple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官網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932040" y="5517232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7.25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麻省理工媒體實驗室開發的程式學習平台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Scratch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執行畫面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274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7.7</a:t>
            </a:r>
            <a:r>
              <a:rPr lang="zh-TW" altLang="en-US" dirty="0"/>
              <a:t>積木式程式撰寫</a:t>
            </a:r>
          </a:p>
        </p:txBody>
      </p:sp>
      <p:pic>
        <p:nvPicPr>
          <p:cNvPr id="5" name="圖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24744"/>
            <a:ext cx="7560840" cy="46085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827584" y="5733256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7.26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 Inventor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設計者畫面，進行程式介面設計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 Inventor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執行畫面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4732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7.7</a:t>
            </a:r>
            <a:r>
              <a:rPr lang="zh-TW" altLang="en-US" dirty="0"/>
              <a:t>積木式程式撰寫</a:t>
            </a:r>
          </a:p>
        </p:txBody>
      </p:sp>
      <p:pic>
        <p:nvPicPr>
          <p:cNvPr id="6" name="圖片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272808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1436642" y="5805264"/>
            <a:ext cx="6519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7.27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 Inventor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區塊畫面，進行程式堆積組合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圖片來源：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 Inventor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執行畫面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41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軟體品質太差</a:t>
            </a:r>
            <a:r>
              <a:rPr lang="zh-TW" altLang="en-US" dirty="0"/>
              <a:t>，</a:t>
            </a:r>
            <a:r>
              <a:rPr lang="zh-TW" altLang="en-US" dirty="0">
                <a:uFill>
                  <a:solidFill>
                    <a:srgbClr val="0000CC"/>
                  </a:solidFill>
                </a:uFill>
              </a:rPr>
              <a:t>執行容易出錯，甚至當機</a:t>
            </a:r>
            <a:endParaRPr lang="en-US" altLang="zh-TW" dirty="0">
              <a:uFill>
                <a:solidFill>
                  <a:srgbClr val="0000CC"/>
                </a:solidFill>
              </a:uFill>
            </a:endParaRPr>
          </a:p>
          <a:p>
            <a:r>
              <a:rPr lang="zh-TW" altLang="zh-TW" dirty="0"/>
              <a:t>提升軟體品質就必須將軟體視為工程的建造，採用一套嚴謹的生產模式，這衍生了「軟體工程」</a:t>
            </a:r>
            <a:r>
              <a:rPr lang="zh-TW" altLang="en-US" dirty="0"/>
              <a:t> </a:t>
            </a:r>
            <a:r>
              <a:rPr lang="en-US" altLang="zh-TW" dirty="0"/>
              <a:t>(software engineering) </a:t>
            </a:r>
            <a:r>
              <a:rPr lang="zh-TW" altLang="zh-TW" dirty="0"/>
              <a:t>的觀念</a:t>
            </a:r>
            <a:endParaRPr lang="en-US" altLang="zh-TW" dirty="0"/>
          </a:p>
          <a:p>
            <a:r>
              <a:rPr lang="zh-TW" altLang="zh-TW" dirty="0"/>
              <a:t>瀑布式模型</a:t>
            </a:r>
            <a:r>
              <a:rPr lang="zh-TW" altLang="en-US" dirty="0"/>
              <a:t> </a:t>
            </a:r>
            <a:r>
              <a:rPr lang="en-US" altLang="zh-TW" dirty="0"/>
              <a:t>(waterfall model)</a:t>
            </a:r>
            <a:r>
              <a:rPr lang="zh-TW" altLang="zh-TW" dirty="0"/>
              <a:t>，將整個</a:t>
            </a:r>
            <a:r>
              <a:rPr lang="zh-TW" altLang="en-US" dirty="0"/>
              <a:t>軟體</a:t>
            </a:r>
            <a:r>
              <a:rPr lang="zh-TW" altLang="zh-TW" dirty="0"/>
              <a:t>開發過程區分為五個階段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7.8</a:t>
            </a:r>
            <a:r>
              <a:rPr lang="zh-TW" altLang="zh-TW" dirty="0"/>
              <a:t>程式的開發與維護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3861048"/>
            <a:ext cx="489654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032956" y="630932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7.28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瀑布式軟體開發模型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需求：</a:t>
            </a:r>
            <a:r>
              <a:rPr lang="zh-TW" altLang="en-US" dirty="0"/>
              <a:t>了</a:t>
            </a:r>
            <a:r>
              <a:rPr lang="zh-TW" altLang="zh-TW" dirty="0"/>
              <a:t>解與分析客戶的需求，例如：需要處理的問題與達成的目標，需要哪些功能、介面如何呈現等</a:t>
            </a:r>
          </a:p>
          <a:p>
            <a:r>
              <a:rPr lang="zh-TW" altLang="zh-TW" dirty="0"/>
              <a:t>設計：依據需求開始規劃軟體架構，構思用哪種設計的方式，整個工作內容可做切割</a:t>
            </a:r>
            <a:r>
              <a:rPr lang="zh-TW" altLang="en-US" dirty="0"/>
              <a:t>，</a:t>
            </a:r>
            <a:r>
              <a:rPr lang="zh-TW" altLang="zh-TW" dirty="0"/>
              <a:t>允許分工進行</a:t>
            </a:r>
          </a:p>
          <a:p>
            <a:r>
              <a:rPr lang="zh-TW" altLang="zh-TW" dirty="0"/>
              <a:t>撰寫：依據設計的規格說明開始撰寫程式，去除程式可能的執行錯誤</a:t>
            </a:r>
          </a:p>
          <a:p>
            <a:r>
              <a:rPr lang="zh-TW" altLang="zh-TW" dirty="0"/>
              <a:t>測試：整合各部分開發的程式做完整的測試，客戶可參與並確認是否滿足需求</a:t>
            </a:r>
          </a:p>
          <a:p>
            <a:r>
              <a:rPr lang="zh-TW" altLang="zh-TW" dirty="0"/>
              <a:t>維護：隨時依據客戶使用的經驗回報，修正程式排除可能的缺失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7.8</a:t>
            </a:r>
            <a:r>
              <a:rPr lang="zh-TW" altLang="zh-TW" dirty="0"/>
              <a:t>程式的開發與維護</a:t>
            </a:r>
            <a:endParaRPr lang="zh-TW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物件導向式語言</a:t>
            </a:r>
            <a:r>
              <a:rPr lang="zh-TW" altLang="en-US" dirty="0"/>
              <a:t>簡化程式的開發與維護成本</a:t>
            </a:r>
            <a:endParaRPr lang="en-US" altLang="zh-TW" dirty="0"/>
          </a:p>
          <a:p>
            <a:pPr lvl="1"/>
            <a:r>
              <a:rPr lang="zh-TW" altLang="zh-TW" dirty="0"/>
              <a:t>支援軟體重複利用</a:t>
            </a:r>
            <a:r>
              <a:rPr lang="zh-TW" altLang="en-US" dirty="0"/>
              <a:t> </a:t>
            </a:r>
            <a:r>
              <a:rPr lang="en-US" altLang="zh-TW" dirty="0"/>
              <a:t>(reusability)</a:t>
            </a:r>
          </a:p>
          <a:p>
            <a:r>
              <a:rPr lang="zh-TW" altLang="en-US" dirty="0"/>
              <a:t>物件實現</a:t>
            </a:r>
            <a:r>
              <a:rPr lang="zh-TW" altLang="zh-TW" dirty="0"/>
              <a:t>軟體元件的規格與功能</a:t>
            </a:r>
            <a:endParaRPr lang="en-US" altLang="zh-TW" dirty="0"/>
          </a:p>
          <a:p>
            <a:pPr lvl="1"/>
            <a:r>
              <a:rPr lang="zh-TW" altLang="zh-TW" dirty="0"/>
              <a:t>成員資料</a:t>
            </a:r>
            <a:r>
              <a:rPr lang="zh-TW" altLang="en-US" dirty="0"/>
              <a:t> </a:t>
            </a:r>
            <a:r>
              <a:rPr lang="en-US" altLang="zh-TW" dirty="0"/>
              <a:t>(member data)</a:t>
            </a:r>
          </a:p>
          <a:p>
            <a:pPr lvl="1"/>
            <a:r>
              <a:rPr lang="zh-TW" altLang="zh-TW" dirty="0"/>
              <a:t>成員函數</a:t>
            </a:r>
            <a:r>
              <a:rPr lang="zh-TW" altLang="en-US" dirty="0"/>
              <a:t> </a:t>
            </a:r>
            <a:r>
              <a:rPr lang="en-US" altLang="zh-TW" dirty="0"/>
              <a:t>(member function)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7.8</a:t>
            </a:r>
            <a:r>
              <a:rPr lang="zh-TW" altLang="zh-TW" dirty="0"/>
              <a:t>程式的開發與維護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3717032"/>
            <a:ext cx="2808312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094672" y="637203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7.29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物件內部包含的成員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軟體元件是將成員資料與成員函數封裝</a:t>
            </a:r>
            <a:r>
              <a:rPr lang="zh-TW" altLang="en-US" dirty="0"/>
              <a:t> </a:t>
            </a:r>
            <a:r>
              <a:rPr lang="en-US" altLang="zh-TW" dirty="0"/>
              <a:t>(encapsulate) </a:t>
            </a:r>
            <a:r>
              <a:rPr lang="zh-TW" altLang="zh-TW" dirty="0"/>
              <a:t>在一起</a:t>
            </a:r>
            <a:endParaRPr lang="en-US" altLang="zh-TW" dirty="0"/>
          </a:p>
          <a:p>
            <a:r>
              <a:rPr lang="zh-TW" altLang="zh-TW" dirty="0"/>
              <a:t>軟體元件的框架或模型用類別</a:t>
            </a:r>
            <a:r>
              <a:rPr lang="zh-TW" altLang="en-US" dirty="0"/>
              <a:t> </a:t>
            </a:r>
            <a:r>
              <a:rPr lang="en-US" altLang="zh-TW" dirty="0"/>
              <a:t>(class) </a:t>
            </a:r>
            <a:r>
              <a:rPr lang="zh-TW" altLang="zh-TW" dirty="0"/>
              <a:t>的形式定義</a:t>
            </a:r>
            <a:endParaRPr lang="en-US" altLang="zh-TW" dirty="0"/>
          </a:p>
          <a:p>
            <a:r>
              <a:rPr lang="zh-TW" altLang="zh-TW" dirty="0"/>
              <a:t>透過類別可以產生規格相同、運作形式相同的許多物件</a:t>
            </a:r>
            <a:r>
              <a:rPr lang="zh-TW" altLang="en-US" dirty="0"/>
              <a:t> </a:t>
            </a:r>
            <a:r>
              <a:rPr lang="en-US" altLang="zh-TW" dirty="0"/>
              <a:t>(object)</a:t>
            </a:r>
          </a:p>
          <a:p>
            <a:r>
              <a:rPr lang="zh-TW" altLang="zh-TW" dirty="0"/>
              <a:t>程式在執行時就是透過不同物件的驅動與互動來完成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7.8</a:t>
            </a:r>
            <a:r>
              <a:rPr lang="zh-TW" altLang="zh-TW" dirty="0"/>
              <a:t>程式的開發與維護</a:t>
            </a:r>
            <a:endParaRPr lang="zh-TW" altLang="en-US" dirty="0"/>
          </a:p>
        </p:txBody>
      </p:sp>
      <p:pic>
        <p:nvPicPr>
          <p:cNvPr id="6" name="圖片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3717032"/>
            <a:ext cx="2808312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字方塊 2"/>
          <p:cNvSpPr txBox="1"/>
          <p:nvPr/>
        </p:nvSpPr>
        <p:spPr>
          <a:xfrm>
            <a:off x="3032956" y="5877272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7.30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物件導向式程式透過</a:t>
            </a:r>
          </a:p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不同的物件驅動程式的進行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物件導向式語言的重複利用來自類別</a:t>
            </a:r>
            <a:r>
              <a:rPr lang="zh-TW" altLang="en-US" dirty="0"/>
              <a:t>的</a:t>
            </a:r>
            <a:r>
              <a:rPr lang="zh-TW" altLang="zh-TW" dirty="0"/>
              <a:t>繼承</a:t>
            </a:r>
            <a:r>
              <a:rPr lang="zh-TW" altLang="en-US" dirty="0"/>
              <a:t> </a:t>
            </a:r>
            <a:r>
              <a:rPr lang="en-US" altLang="zh-TW" dirty="0"/>
              <a:t>(inheritance)</a:t>
            </a:r>
          </a:p>
          <a:p>
            <a:pPr lvl="1"/>
            <a:r>
              <a:rPr lang="zh-TW" altLang="zh-TW" dirty="0"/>
              <a:t>父類別</a:t>
            </a:r>
            <a:r>
              <a:rPr lang="zh-TW" altLang="en-US" dirty="0"/>
              <a:t> </a:t>
            </a:r>
            <a:r>
              <a:rPr lang="en-US" altLang="zh-TW" dirty="0"/>
              <a:t>(super-class) VS. </a:t>
            </a:r>
            <a:r>
              <a:rPr lang="zh-TW" altLang="zh-TW" dirty="0"/>
              <a:t>子類別</a:t>
            </a:r>
            <a:r>
              <a:rPr lang="zh-TW" altLang="en-US" dirty="0"/>
              <a:t> </a:t>
            </a:r>
            <a:r>
              <a:rPr lang="en-US" altLang="zh-TW" dirty="0"/>
              <a:t>(sub-class)</a:t>
            </a:r>
          </a:p>
          <a:p>
            <a:pPr lvl="1"/>
            <a:r>
              <a:rPr lang="zh-TW" altLang="zh-TW" dirty="0"/>
              <a:t>單一繼承</a:t>
            </a:r>
            <a:r>
              <a:rPr lang="zh-TW" altLang="en-US" dirty="0"/>
              <a:t> </a:t>
            </a:r>
            <a:r>
              <a:rPr lang="en-US" altLang="zh-TW" dirty="0"/>
              <a:t>(single inheritance) VS.</a:t>
            </a:r>
            <a:r>
              <a:rPr lang="zh-TW" altLang="zh-TW" dirty="0"/>
              <a:t>多重繼承</a:t>
            </a:r>
            <a:r>
              <a:rPr lang="zh-TW" altLang="en-US" dirty="0"/>
              <a:t> </a:t>
            </a:r>
            <a:r>
              <a:rPr lang="en-US" altLang="zh-TW" dirty="0"/>
              <a:t>(multiple inheritance)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7.8</a:t>
            </a:r>
            <a:r>
              <a:rPr lang="zh-TW" altLang="zh-TW" dirty="0"/>
              <a:t>程式的開發與維護</a:t>
            </a:r>
            <a:endParaRPr lang="zh-TW" altLang="en-US" dirty="0"/>
          </a:p>
        </p:txBody>
      </p:sp>
      <p:sp>
        <p:nvSpPr>
          <p:cNvPr id="62" name="圓角矩形 2">
            <a:extLst>
              <a:ext uri="{FF2B5EF4-FFF2-40B4-BE49-F238E27FC236}">
                <a16:creationId xmlns:a16="http://schemas.microsoft.com/office/drawing/2014/main" id="{CFF8A5C1-80AA-45B1-B4D3-1DDCE38C7044}"/>
              </a:ext>
            </a:extLst>
          </p:cNvPr>
          <p:cNvSpPr/>
          <p:nvPr/>
        </p:nvSpPr>
        <p:spPr>
          <a:xfrm>
            <a:off x="4211960" y="3068638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3" name="圓角矩形 3">
            <a:extLst>
              <a:ext uri="{FF2B5EF4-FFF2-40B4-BE49-F238E27FC236}">
                <a16:creationId xmlns:a16="http://schemas.microsoft.com/office/drawing/2014/main" id="{C9EBDD0D-7755-4F1D-902E-D517E94EA7E6}"/>
              </a:ext>
            </a:extLst>
          </p:cNvPr>
          <p:cNvSpPr/>
          <p:nvPr/>
        </p:nvSpPr>
        <p:spPr>
          <a:xfrm>
            <a:off x="2195736" y="4004742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4" name="圓角矩形 4">
            <a:extLst>
              <a:ext uri="{FF2B5EF4-FFF2-40B4-BE49-F238E27FC236}">
                <a16:creationId xmlns:a16="http://schemas.microsoft.com/office/drawing/2014/main" id="{C011C2FE-F79A-41E8-9B00-B68DA68EA4CE}"/>
              </a:ext>
            </a:extLst>
          </p:cNvPr>
          <p:cNvSpPr/>
          <p:nvPr/>
        </p:nvSpPr>
        <p:spPr>
          <a:xfrm>
            <a:off x="4211960" y="4004742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5" name="圓角矩形 5">
            <a:extLst>
              <a:ext uri="{FF2B5EF4-FFF2-40B4-BE49-F238E27FC236}">
                <a16:creationId xmlns:a16="http://schemas.microsoft.com/office/drawing/2014/main" id="{009E742C-B485-489E-9FE7-5E5108E1A941}"/>
              </a:ext>
            </a:extLst>
          </p:cNvPr>
          <p:cNvSpPr/>
          <p:nvPr/>
        </p:nvSpPr>
        <p:spPr>
          <a:xfrm>
            <a:off x="1547664" y="5012854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6" name="圓角矩形 6">
            <a:extLst>
              <a:ext uri="{FF2B5EF4-FFF2-40B4-BE49-F238E27FC236}">
                <a16:creationId xmlns:a16="http://schemas.microsoft.com/office/drawing/2014/main" id="{1361B049-CF74-466A-8B8B-0E833649F3DD}"/>
              </a:ext>
            </a:extLst>
          </p:cNvPr>
          <p:cNvSpPr/>
          <p:nvPr/>
        </p:nvSpPr>
        <p:spPr>
          <a:xfrm>
            <a:off x="2771800" y="5012854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7" name="圓角矩形 7">
            <a:extLst>
              <a:ext uri="{FF2B5EF4-FFF2-40B4-BE49-F238E27FC236}">
                <a16:creationId xmlns:a16="http://schemas.microsoft.com/office/drawing/2014/main" id="{08BFA091-90DB-4C10-96D2-3AD0E6020349}"/>
              </a:ext>
            </a:extLst>
          </p:cNvPr>
          <p:cNvSpPr/>
          <p:nvPr/>
        </p:nvSpPr>
        <p:spPr>
          <a:xfrm>
            <a:off x="4211960" y="5012854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8" name="圓角矩形 8">
            <a:extLst>
              <a:ext uri="{FF2B5EF4-FFF2-40B4-BE49-F238E27FC236}">
                <a16:creationId xmlns:a16="http://schemas.microsoft.com/office/drawing/2014/main" id="{07E40CF1-51DD-4BBF-805D-99A1B9792B32}"/>
              </a:ext>
            </a:extLst>
          </p:cNvPr>
          <p:cNvSpPr/>
          <p:nvPr/>
        </p:nvSpPr>
        <p:spPr>
          <a:xfrm>
            <a:off x="6156176" y="4004742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69" name="圓角矩形 9">
            <a:extLst>
              <a:ext uri="{FF2B5EF4-FFF2-40B4-BE49-F238E27FC236}">
                <a16:creationId xmlns:a16="http://schemas.microsoft.com/office/drawing/2014/main" id="{A2E647C8-0034-4A32-8BA5-E4E396E8A059}"/>
              </a:ext>
            </a:extLst>
          </p:cNvPr>
          <p:cNvSpPr/>
          <p:nvPr/>
        </p:nvSpPr>
        <p:spPr>
          <a:xfrm>
            <a:off x="5580112" y="5012854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sp>
        <p:nvSpPr>
          <p:cNvPr id="70" name="圓角矩形 10">
            <a:extLst>
              <a:ext uri="{FF2B5EF4-FFF2-40B4-BE49-F238E27FC236}">
                <a16:creationId xmlns:a16="http://schemas.microsoft.com/office/drawing/2014/main" id="{C927FD20-A605-4E09-A0C5-E46D942D9C21}"/>
              </a:ext>
            </a:extLst>
          </p:cNvPr>
          <p:cNvSpPr/>
          <p:nvPr/>
        </p:nvSpPr>
        <p:spPr>
          <a:xfrm>
            <a:off x="6804248" y="5012854"/>
            <a:ext cx="936104" cy="5760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類別</a:t>
            </a:r>
          </a:p>
        </p:txBody>
      </p: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C3C51D15-BE1E-4F25-87DF-C2B83BAC6699}"/>
              </a:ext>
            </a:extLst>
          </p:cNvPr>
          <p:cNvCxnSpPr>
            <a:stCxn id="62" idx="2"/>
            <a:endCxn id="63" idx="0"/>
          </p:cNvCxnSpPr>
          <p:nvPr/>
        </p:nvCxnSpPr>
        <p:spPr>
          <a:xfrm flipH="1">
            <a:off x="2663788" y="3644702"/>
            <a:ext cx="20162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627B715D-FEB1-4C31-937B-BAAFD0635407}"/>
              </a:ext>
            </a:extLst>
          </p:cNvPr>
          <p:cNvCxnSpPr>
            <a:stCxn id="62" idx="2"/>
            <a:endCxn id="64" idx="0"/>
          </p:cNvCxnSpPr>
          <p:nvPr/>
        </p:nvCxnSpPr>
        <p:spPr>
          <a:xfrm>
            <a:off x="4680012" y="364470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F76F9D17-F03C-44B7-B9DD-EEDD3139A7C7}"/>
              </a:ext>
            </a:extLst>
          </p:cNvPr>
          <p:cNvCxnSpPr>
            <a:stCxn id="62" idx="2"/>
            <a:endCxn id="68" idx="0"/>
          </p:cNvCxnSpPr>
          <p:nvPr/>
        </p:nvCxnSpPr>
        <p:spPr>
          <a:xfrm>
            <a:off x="4680012" y="3644702"/>
            <a:ext cx="194421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6C21B69F-1B9E-4431-A3F7-25D6345441BD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>
            <a:off x="6624228" y="4580806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6B4B5B73-0BBA-4B64-8340-DCAC3E8CF034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 flipH="1">
            <a:off x="6048164" y="4580806"/>
            <a:ext cx="57606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E084F011-7EF7-4476-812D-4A80091C7EFB}"/>
              </a:ext>
            </a:extLst>
          </p:cNvPr>
          <p:cNvCxnSpPr>
            <a:stCxn id="64" idx="2"/>
            <a:endCxn id="67" idx="0"/>
          </p:cNvCxnSpPr>
          <p:nvPr/>
        </p:nvCxnSpPr>
        <p:spPr>
          <a:xfrm>
            <a:off x="4680012" y="458080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A1E9076E-606A-4E96-A563-62EBC471526E}"/>
              </a:ext>
            </a:extLst>
          </p:cNvPr>
          <p:cNvCxnSpPr>
            <a:stCxn id="63" idx="2"/>
            <a:endCxn id="66" idx="0"/>
          </p:cNvCxnSpPr>
          <p:nvPr/>
        </p:nvCxnSpPr>
        <p:spPr>
          <a:xfrm>
            <a:off x="2663788" y="4580806"/>
            <a:ext cx="57606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E37388AF-F8A6-4011-9301-6C9DD78B1F3B}"/>
              </a:ext>
            </a:extLst>
          </p:cNvPr>
          <p:cNvCxnSpPr>
            <a:stCxn id="63" idx="2"/>
            <a:endCxn id="65" idx="0"/>
          </p:cNvCxnSpPr>
          <p:nvPr/>
        </p:nvCxnSpPr>
        <p:spPr>
          <a:xfrm flipH="1">
            <a:off x="2015716" y="4580806"/>
            <a:ext cx="648072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7345663B-C18B-4E66-BEA7-66676D68A71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flipH="1">
            <a:off x="3239852" y="4580806"/>
            <a:ext cx="144016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2411760" y="5877272"/>
            <a:ext cx="4924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圖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7.31 </a:t>
            </a:r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>利用接連的繼承方式形成類別階層關係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204864"/>
            <a:ext cx="4293761" cy="2807717"/>
          </a:xfrm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END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3166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1687</TotalTime>
  <Words>2750</Words>
  <Application>Microsoft Office PowerPoint</Application>
  <PresentationFormat>如螢幕大小 (4:3)</PresentationFormat>
  <Paragraphs>302</Paragraphs>
  <Slides>65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65</vt:i4>
      </vt:variant>
    </vt:vector>
  </HeadingPairs>
  <TitlesOfParts>
    <vt:vector size="76" baseType="lpstr">
      <vt:lpstr>標楷體</vt:lpstr>
      <vt:lpstr>Arial</vt:lpstr>
      <vt:lpstr>Calibri</vt:lpstr>
      <vt:lpstr>Lucida Sans Unicode</vt:lpstr>
      <vt:lpstr>Symbol</vt:lpstr>
      <vt:lpstr>Times New Roman</vt:lpstr>
      <vt:lpstr>Verdana</vt:lpstr>
      <vt:lpstr>Wingdings</vt:lpstr>
      <vt:lpstr>Wingdings 2</vt:lpstr>
      <vt:lpstr>Wingdings 3</vt:lpstr>
      <vt:lpstr>匯合</vt:lpstr>
      <vt:lpstr>Ch 07 程式語言 與軟體工程</vt:lpstr>
      <vt:lpstr>PowerPoint 簡報</vt:lpstr>
      <vt:lpstr>7.1程式語言的演進</vt:lpstr>
      <vt:lpstr>7.1程式語言的演進</vt:lpstr>
      <vt:lpstr>7.1程式語言的演進</vt:lpstr>
      <vt:lpstr>7.1程式語言的演進</vt:lpstr>
      <vt:lpstr>7.2程式語言的應用領域</vt:lpstr>
      <vt:lpstr>7.2程式語言的應用領域</vt:lpstr>
      <vt:lpstr>7.2程式語言的應用領域</vt:lpstr>
      <vt:lpstr>7.2程式語言的應用領域</vt:lpstr>
      <vt:lpstr>7.2程式語言的應用領域</vt:lpstr>
      <vt:lpstr>7.2程式語言的應用領域</vt:lpstr>
      <vt:lpstr>7.2程式語言的應用領域</vt:lpstr>
      <vt:lpstr>7.3程式語言的分類</vt:lpstr>
      <vt:lpstr>7.3程式語言的分類</vt:lpstr>
      <vt:lpstr>7.3程式語言的分類</vt:lpstr>
      <vt:lpstr>7.3程式語言的分類</vt:lpstr>
      <vt:lpstr>7.3程式語言的分類</vt:lpstr>
      <vt:lpstr>7.3程式語言的分類</vt:lpstr>
      <vt:lpstr>目前熱門的程式語言</vt:lpstr>
      <vt:lpstr>7.4程式的轉譯與執行</vt:lpstr>
      <vt:lpstr>7.4程式的轉譯與執行</vt:lpstr>
      <vt:lpstr>7.4程式的轉譯與執行</vt:lpstr>
      <vt:lpstr>7.4程式的轉譯與執行</vt:lpstr>
      <vt:lpstr>7.4程式的轉譯與執行</vt:lpstr>
      <vt:lpstr>7.4程式的轉譯與執行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7.5程式的撰寫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7.6程式的執行流程</vt:lpstr>
      <vt:lpstr>PowerPoint 簡報</vt:lpstr>
      <vt:lpstr>PowerPoint 簡報</vt:lpstr>
      <vt:lpstr>7.7積木式程式撰寫</vt:lpstr>
      <vt:lpstr>7.7積木式程式撰寫</vt:lpstr>
      <vt:lpstr>7.7積木式程式撰寫</vt:lpstr>
      <vt:lpstr>7.8程式的開發與維護</vt:lpstr>
      <vt:lpstr>7.8程式的開發與維護</vt:lpstr>
      <vt:lpstr>7.8程式的開發與維護</vt:lpstr>
      <vt:lpstr>7.8程式的開發與維護</vt:lpstr>
      <vt:lpstr>7.8程式的開發與維護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電腦簡介</dc:title>
  <dc:creator>lobird</dc:creator>
  <cp:lastModifiedBy>大維 程</cp:lastModifiedBy>
  <cp:revision>198</cp:revision>
  <dcterms:created xsi:type="dcterms:W3CDTF">2014-07-06T07:33:00Z</dcterms:created>
  <dcterms:modified xsi:type="dcterms:W3CDTF">2025-12-21T16:13:03Z</dcterms:modified>
</cp:coreProperties>
</file>