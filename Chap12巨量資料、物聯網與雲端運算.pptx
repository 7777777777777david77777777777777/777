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5"/>
  </p:notesMasterIdLst>
  <p:sldIdLst>
    <p:sldId id="256" r:id="rId2"/>
    <p:sldId id="298" r:id="rId3"/>
    <p:sldId id="299" r:id="rId4"/>
    <p:sldId id="334" r:id="rId5"/>
    <p:sldId id="300" r:id="rId6"/>
    <p:sldId id="301" r:id="rId7"/>
    <p:sldId id="302" r:id="rId8"/>
    <p:sldId id="303" r:id="rId9"/>
    <p:sldId id="304" r:id="rId10"/>
    <p:sldId id="305" r:id="rId11"/>
    <p:sldId id="323" r:id="rId12"/>
    <p:sldId id="331" r:id="rId13"/>
    <p:sldId id="324" r:id="rId14"/>
    <p:sldId id="330" r:id="rId15"/>
    <p:sldId id="327" r:id="rId16"/>
    <p:sldId id="328" r:id="rId17"/>
    <p:sldId id="329" r:id="rId18"/>
    <p:sldId id="335" r:id="rId19"/>
    <p:sldId id="336" r:id="rId20"/>
    <p:sldId id="337" r:id="rId21"/>
    <p:sldId id="338" r:id="rId22"/>
    <p:sldId id="339" r:id="rId23"/>
    <p:sldId id="332" r:id="rId24"/>
    <p:sldId id="333" r:id="rId25"/>
    <p:sldId id="317" r:id="rId26"/>
    <p:sldId id="318" r:id="rId27"/>
    <p:sldId id="341" r:id="rId28"/>
    <p:sldId id="320" r:id="rId29"/>
    <p:sldId id="321" r:id="rId30"/>
    <p:sldId id="322" r:id="rId31"/>
    <p:sldId id="342" r:id="rId32"/>
    <p:sldId id="343" r:id="rId33"/>
    <p:sldId id="344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5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>
        <p:scale>
          <a:sx n="70" d="100"/>
          <a:sy n="70" d="100"/>
        </p:scale>
        <p:origin x="-1302" y="-72"/>
      </p:cViewPr>
      <p:guideLst>
        <p:guide orient="horz" pos="2160"/>
        <p:guide orient="horz" pos="256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9D1D87-676D-41F2-AC15-9F5D7637A5A2}" type="datetimeFigureOut">
              <a:rPr lang="zh-TW" altLang="en-US" smtClean="0"/>
              <a:pPr/>
              <a:t>2022/6/28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B3C2D0-1201-4E06-8787-2B5081952CC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0704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標題 8"/>
          <p:cNvSpPr>
            <a:spLocks noGrp="1"/>
          </p:cNvSpPr>
          <p:nvPr>
            <p:ph type="ctrTitle"/>
          </p:nvPr>
        </p:nvSpPr>
        <p:spPr>
          <a:xfrm>
            <a:off x="688032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7" name="副標題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grpSp>
        <p:nvGrpSpPr>
          <p:cNvPr id="2" name="群組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手繪多邊形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手繪多邊形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手繪多邊形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直線接點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日期版面配置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endParaRPr lang="en-US" sz="1600" dirty="0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980728"/>
            <a:ext cx="8568952" cy="5328592"/>
          </a:xfrm>
        </p:spPr>
        <p:txBody>
          <a:bodyPr>
            <a:normAutofit/>
          </a:bodyPr>
          <a:lstStyle>
            <a:lvl1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1pPr>
            <a:lvl2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2pPr>
            <a:lvl3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3pPr>
            <a:lvl4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4pPr>
            <a:lvl5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7" name="標題 6"/>
          <p:cNvSpPr>
            <a:spLocks noGrp="1"/>
          </p:cNvSpPr>
          <p:nvPr>
            <p:ph type="title"/>
          </p:nvPr>
        </p:nvSpPr>
        <p:spPr>
          <a:xfrm>
            <a:off x="457200" y="130622"/>
            <a:ext cx="8229600" cy="778098"/>
          </a:xfrm>
        </p:spPr>
        <p:txBody>
          <a:bodyPr rtlCol="0">
            <a:normAutofit/>
          </a:bodyPr>
          <a:lstStyle>
            <a:lvl1pPr>
              <a:defRPr sz="36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＞形箭號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＞形箭號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8" name="手繪多邊形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手繪多邊形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角三角形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直線接點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＞形箭號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＞形箭號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手繪多邊形 12"/>
          <p:cNvSpPr>
            <a:spLocks/>
          </p:cNvSpPr>
          <p:nvPr/>
        </p:nvSpPr>
        <p:spPr bwMode="auto">
          <a:xfrm>
            <a:off x="499273" y="6325050"/>
            <a:ext cx="4940624" cy="54096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手繪多邊形 11"/>
          <p:cNvSpPr>
            <a:spLocks/>
          </p:cNvSpPr>
          <p:nvPr/>
        </p:nvSpPr>
        <p:spPr bwMode="auto">
          <a:xfrm>
            <a:off x="485717" y="6324233"/>
            <a:ext cx="3690451" cy="54822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直角三角形 13"/>
          <p:cNvSpPr>
            <a:spLocks/>
          </p:cNvSpPr>
          <p:nvPr/>
        </p:nvSpPr>
        <p:spPr bwMode="auto">
          <a:xfrm>
            <a:off x="-6042" y="6237311"/>
            <a:ext cx="3402314" cy="634809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直線接點 14"/>
          <p:cNvCxnSpPr>
            <a:stCxn id="14" idx="0"/>
          </p:cNvCxnSpPr>
          <p:nvPr/>
        </p:nvCxnSpPr>
        <p:spPr>
          <a:xfrm>
            <a:off x="-6042" y="6237311"/>
            <a:ext cx="3402314" cy="634810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標題版面配置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0" name="文字版面配置區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smtClean="0"/>
              <a:t>第二層</a:t>
            </a:r>
          </a:p>
          <a:p>
            <a:pPr lvl="2" eaLnBrk="1" latinLnBrk="0" hangingPunct="1"/>
            <a:r>
              <a:rPr kumimoji="0" lang="zh-TW" altLang="en-US" smtClean="0"/>
              <a:t>第三層</a:t>
            </a:r>
          </a:p>
          <a:p>
            <a:pPr lvl="3" eaLnBrk="1" latinLnBrk="0" hangingPunct="1"/>
            <a:r>
              <a:rPr kumimoji="0" lang="zh-TW" altLang="en-US" smtClean="0"/>
              <a:t>第四層</a:t>
            </a:r>
          </a:p>
          <a:p>
            <a:pPr lvl="4" eaLnBrk="1" latinLnBrk="0" hangingPunct="1"/>
            <a:r>
              <a:rPr kumimoji="0" lang="zh-TW" altLang="en-US" smtClean="0"/>
              <a:t>第五層</a:t>
            </a:r>
            <a:endParaRPr kumimoji="0" lang="en-US"/>
          </a:p>
        </p:txBody>
      </p:sp>
      <p:sp>
        <p:nvSpPr>
          <p:cNvPr id="10" name="日期版面配置區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8" name="投影片編號版面配置區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pic>
        <p:nvPicPr>
          <p:cNvPr id="11" name="Picture 2" descr="E:\LOGO.png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092280" y="6561384"/>
            <a:ext cx="2066560" cy="324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427984" y="827366"/>
            <a:ext cx="4176464" cy="2889666"/>
          </a:xfrm>
        </p:spPr>
        <p:txBody>
          <a:bodyPr>
            <a:normAutofit fontScale="90000"/>
          </a:bodyPr>
          <a:lstStyle/>
          <a:p>
            <a:r>
              <a:rPr lang="en-US" altLang="zh-TW" sz="4000" dirty="0" smtClean="0"/>
              <a:t>Ch12 </a:t>
            </a:r>
            <a:br>
              <a:rPr lang="en-US" altLang="zh-TW" sz="4000" dirty="0" smtClean="0"/>
            </a:br>
            <a:r>
              <a:rPr lang="zh-TW" altLang="en-US" dirty="0" smtClean="0">
                <a:solidFill>
                  <a:srgbClr val="0070C0"/>
                </a:solidFill>
              </a:rPr>
              <a:t>巨量資料、物聯網與雲端運算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630616" cy="1199704"/>
          </a:xfrm>
        </p:spPr>
        <p:txBody>
          <a:bodyPr>
            <a:normAutofit/>
          </a:bodyPr>
          <a:lstStyle/>
          <a:p>
            <a:endParaRPr lang="en-US" altLang="zh-TW" dirty="0" smtClean="0"/>
          </a:p>
          <a:p>
            <a:r>
              <a:rPr lang="zh-TW" altLang="en-US" b="1" dirty="0" smtClean="0">
                <a:solidFill>
                  <a:schemeClr val="tx1"/>
                </a:solidFill>
              </a:rPr>
              <a:t>李官陵 彭勝龍 羅壽之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706751"/>
            <a:ext cx="3816424" cy="51866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隨著全球資料數位化的腳步、行動裝置的普及、大量感測器的</a:t>
            </a:r>
            <a:r>
              <a:rPr lang="zh-TW" altLang="en-US" dirty="0" smtClean="0"/>
              <a:t>布建</a:t>
            </a:r>
            <a:r>
              <a:rPr lang="zh-TW" altLang="en-US" dirty="0"/>
              <a:t>、雲端服務的進步以及社群網站的盛行，使得數位資料量以驚人</a:t>
            </a:r>
            <a:r>
              <a:rPr lang="zh-TW" altLang="en-US" dirty="0" smtClean="0"/>
              <a:t>的速度</a:t>
            </a:r>
            <a:r>
              <a:rPr lang="zh-TW" altLang="en-US" dirty="0"/>
              <a:t>被產生，這也讓全球進入了巨量資料或稱</a:t>
            </a:r>
            <a:r>
              <a:rPr lang="zh-TW" altLang="en-US" dirty="0">
                <a:solidFill>
                  <a:srgbClr val="0070C0"/>
                </a:solidFill>
              </a:rPr>
              <a:t>大數據 </a:t>
            </a:r>
            <a:r>
              <a:rPr lang="en-US" altLang="zh-TW" dirty="0">
                <a:solidFill>
                  <a:srgbClr val="0070C0"/>
                </a:solidFill>
              </a:rPr>
              <a:t>(Big data)</a:t>
            </a:r>
            <a:r>
              <a:rPr lang="en-US" altLang="zh-TW" dirty="0"/>
              <a:t> </a:t>
            </a:r>
            <a:r>
              <a:rPr lang="zh-TW" altLang="en-US" dirty="0"/>
              <a:t>的</a:t>
            </a:r>
            <a:r>
              <a:rPr lang="zh-TW" altLang="en-US" dirty="0" smtClean="0"/>
              <a:t>時代。</a:t>
            </a:r>
            <a:endParaRPr lang="en-US" altLang="zh-TW" dirty="0" smtClean="0"/>
          </a:p>
          <a:p>
            <a:r>
              <a:rPr lang="zh-TW" altLang="en-US" dirty="0"/>
              <a:t>這些資料量的規模巨大到無法透過目前主流的軟體工具，在合理的時間內達到管理、搜尋、處理與分析等目的的資料，我們稱之為巨量</a:t>
            </a:r>
            <a:r>
              <a:rPr lang="zh-TW" altLang="en-US" dirty="0" smtClean="0"/>
              <a:t>資料</a:t>
            </a:r>
            <a:r>
              <a:rPr lang="zh-TW" altLang="en-US" dirty="0"/>
              <a:t>。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2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25620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3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980728"/>
            <a:ext cx="6326665" cy="54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931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巨量資料是成長快速的資料群，</a:t>
            </a:r>
            <a:r>
              <a:rPr lang="zh-TW" altLang="en-US" dirty="0" smtClean="0"/>
              <a:t>必</a:t>
            </a:r>
            <a:r>
              <a:rPr lang="zh-TW" altLang="en-US" dirty="0"/>
              <a:t>須加以分析萃取，以了解其中蘊藏的重要資訊，否則只是無人能</a:t>
            </a:r>
            <a:r>
              <a:rPr lang="zh-TW" altLang="en-US" dirty="0" smtClean="0"/>
              <a:t>理解</a:t>
            </a:r>
            <a:r>
              <a:rPr lang="zh-TW" altLang="en-US" dirty="0"/>
              <a:t>、沒用的龐大數據，例如：在使用搜尋引擎時，還沒打完查詢的</a:t>
            </a:r>
            <a:r>
              <a:rPr lang="zh-TW" altLang="en-US" dirty="0" smtClean="0"/>
              <a:t>關鍵字</a:t>
            </a:r>
            <a:r>
              <a:rPr lang="zh-TW" altLang="en-US" dirty="0"/>
              <a:t>，</a:t>
            </a:r>
            <a:r>
              <a:rPr lang="en-US" altLang="zh-TW" dirty="0"/>
              <a:t>Google </a:t>
            </a:r>
            <a:r>
              <a:rPr lang="zh-TW" altLang="en-US" dirty="0"/>
              <a:t>即可推薦使用者一些熱門相關的關鍵字詞；又或者在</a:t>
            </a:r>
            <a:r>
              <a:rPr lang="zh-TW" altLang="en-US" dirty="0" smtClean="0"/>
              <a:t>博客</a:t>
            </a:r>
            <a:r>
              <a:rPr lang="zh-TW" altLang="en-US" dirty="0"/>
              <a:t>來購物網站瀏覽某本書時，網站會一併告訴你購買這本書的人也</a:t>
            </a:r>
            <a:r>
              <a:rPr lang="zh-TW" altLang="en-US" dirty="0" smtClean="0"/>
              <a:t>購買</a:t>
            </a:r>
            <a:r>
              <a:rPr lang="zh-TW" altLang="en-US" dirty="0"/>
              <a:t>了哪些書籍以及瀏覽了這本書的人也瀏覽的書名清單，以方便</a:t>
            </a:r>
            <a:r>
              <a:rPr lang="zh-TW" altLang="en-US" dirty="0" smtClean="0"/>
              <a:t>使用者</a:t>
            </a:r>
            <a:r>
              <a:rPr lang="zh-TW" altLang="en-US" dirty="0"/>
              <a:t>選購並增加購買</a:t>
            </a:r>
            <a:r>
              <a:rPr lang="zh-TW" altLang="en-US" dirty="0" smtClean="0"/>
              <a:t>效益。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056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5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412776"/>
            <a:ext cx="7681622" cy="446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1378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6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980728"/>
            <a:ext cx="6854254" cy="5256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8785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巨量資料具有三項主要特性</a:t>
            </a:r>
            <a:r>
              <a:rPr lang="zh-TW" altLang="en-US" dirty="0" smtClean="0"/>
              <a:t>：</a:t>
            </a:r>
            <a:endParaRPr lang="en-US" altLang="zh-TW" dirty="0" smtClean="0"/>
          </a:p>
          <a:p>
            <a:pPr lvl="1"/>
            <a:r>
              <a:rPr lang="zh-TW" altLang="en-US" dirty="0" smtClean="0">
                <a:solidFill>
                  <a:srgbClr val="0070C0"/>
                </a:solidFill>
              </a:rPr>
              <a:t>資料量 </a:t>
            </a:r>
            <a:r>
              <a:rPr lang="en-US" altLang="zh-TW" dirty="0">
                <a:solidFill>
                  <a:srgbClr val="0070C0"/>
                </a:solidFill>
              </a:rPr>
              <a:t>(</a:t>
            </a:r>
            <a:r>
              <a:rPr lang="en-US" altLang="zh-TW" dirty="0" smtClean="0">
                <a:solidFill>
                  <a:srgbClr val="0070C0"/>
                </a:solidFill>
              </a:rPr>
              <a:t>amount of </a:t>
            </a:r>
            <a:r>
              <a:rPr lang="en-US" altLang="zh-TW" dirty="0">
                <a:solidFill>
                  <a:srgbClr val="0070C0"/>
                </a:solidFill>
              </a:rPr>
              <a:t>data</a:t>
            </a:r>
            <a:r>
              <a:rPr lang="en-US" altLang="zh-TW" dirty="0" smtClean="0">
                <a:solidFill>
                  <a:srgbClr val="0070C0"/>
                </a:solidFill>
              </a:rPr>
              <a:t>)</a:t>
            </a:r>
            <a:r>
              <a:rPr lang="en-US" altLang="zh-TW" dirty="0" smtClean="0"/>
              <a:t> :</a:t>
            </a:r>
            <a:r>
              <a:rPr lang="zh-TW" altLang="en-US" dirty="0" smtClean="0"/>
              <a:t>非常大</a:t>
            </a:r>
            <a:endParaRPr lang="en-US" altLang="zh-TW" dirty="0"/>
          </a:p>
          <a:p>
            <a:pPr lvl="1"/>
            <a:r>
              <a:rPr lang="zh-TW" altLang="en-US" dirty="0" smtClean="0">
                <a:solidFill>
                  <a:srgbClr val="0070C0"/>
                </a:solidFill>
              </a:rPr>
              <a:t>資料</a:t>
            </a:r>
            <a:r>
              <a:rPr lang="zh-TW" altLang="en-US" dirty="0">
                <a:solidFill>
                  <a:srgbClr val="0070C0"/>
                </a:solidFill>
              </a:rPr>
              <a:t>增加的</a:t>
            </a:r>
            <a:r>
              <a:rPr lang="zh-TW" altLang="en-US" dirty="0" smtClean="0">
                <a:solidFill>
                  <a:srgbClr val="0070C0"/>
                </a:solidFill>
              </a:rPr>
              <a:t>速度 </a:t>
            </a:r>
            <a:r>
              <a:rPr lang="en-US" altLang="zh-TW" dirty="0">
                <a:solidFill>
                  <a:srgbClr val="0070C0"/>
                </a:solidFill>
              </a:rPr>
              <a:t>(</a:t>
            </a:r>
            <a:r>
              <a:rPr lang="en-US" altLang="zh-TW" dirty="0" smtClean="0">
                <a:solidFill>
                  <a:srgbClr val="0070C0"/>
                </a:solidFill>
              </a:rPr>
              <a:t>speed of </a:t>
            </a:r>
            <a:r>
              <a:rPr lang="en-US" altLang="zh-TW" dirty="0">
                <a:solidFill>
                  <a:srgbClr val="0070C0"/>
                </a:solidFill>
              </a:rPr>
              <a:t>data</a:t>
            </a:r>
            <a:r>
              <a:rPr lang="en-US" altLang="zh-TW" dirty="0" smtClean="0">
                <a:solidFill>
                  <a:srgbClr val="0070C0"/>
                </a:solidFill>
              </a:rPr>
              <a:t>) :</a:t>
            </a:r>
            <a:r>
              <a:rPr lang="zh-TW" altLang="en-US" dirty="0" smtClean="0"/>
              <a:t>非常快</a:t>
            </a:r>
            <a:endParaRPr lang="en-US" altLang="zh-TW" dirty="0" smtClean="0"/>
          </a:p>
          <a:p>
            <a:pPr lvl="1"/>
            <a:r>
              <a:rPr lang="zh-TW" altLang="en-US" dirty="0" smtClean="0">
                <a:solidFill>
                  <a:srgbClr val="0070C0"/>
                </a:solidFill>
              </a:rPr>
              <a:t>資料</a:t>
            </a:r>
            <a:r>
              <a:rPr lang="zh-TW" altLang="en-US" dirty="0">
                <a:solidFill>
                  <a:srgbClr val="0070C0"/>
                </a:solidFill>
              </a:rPr>
              <a:t>形式</a:t>
            </a:r>
            <a:r>
              <a:rPr lang="zh-TW" altLang="en-US" dirty="0" smtClean="0">
                <a:solidFill>
                  <a:srgbClr val="0070C0"/>
                </a:solidFill>
              </a:rPr>
              <a:t>的多樣性 </a:t>
            </a:r>
            <a:r>
              <a:rPr lang="en-US" altLang="zh-TW" dirty="0">
                <a:solidFill>
                  <a:srgbClr val="0070C0"/>
                </a:solidFill>
              </a:rPr>
              <a:t>(range of data type</a:t>
            </a:r>
            <a:r>
              <a:rPr lang="en-US" altLang="zh-TW" dirty="0" smtClean="0">
                <a:solidFill>
                  <a:srgbClr val="0070C0"/>
                </a:solidFill>
              </a:rPr>
              <a:t>)</a:t>
            </a:r>
            <a:endParaRPr lang="en-US" altLang="zh-TW" dirty="0" smtClean="0"/>
          </a:p>
          <a:p>
            <a:r>
              <a:rPr lang="zh-TW" altLang="en-US" dirty="0" smtClean="0"/>
              <a:t>這些大量</a:t>
            </a:r>
            <a:r>
              <a:rPr lang="zh-TW" altLang="en-US" dirty="0"/>
              <a:t>資料背後蘊藏著豐富的價值，若能適當地挖掘並好好的運用，</a:t>
            </a:r>
            <a:r>
              <a:rPr lang="zh-TW" altLang="en-US" dirty="0" smtClean="0"/>
              <a:t>可以</a:t>
            </a:r>
            <a:r>
              <a:rPr lang="zh-TW" altLang="en-US" dirty="0"/>
              <a:t>帶給使用者更好的資訊服務，亦可為服務提供者帶來巨大的商</a:t>
            </a:r>
            <a:r>
              <a:rPr lang="zh-TW" altLang="en-US" dirty="0" smtClean="0"/>
              <a:t>機。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7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12.1</a:t>
            </a:r>
            <a:r>
              <a:rPr lang="zh-TW" altLang="en-US" dirty="0" smtClean="0"/>
              <a:t>巨</a:t>
            </a:r>
            <a:r>
              <a:rPr lang="zh-TW" altLang="en-US" dirty="0"/>
              <a:t>量</a:t>
            </a:r>
            <a:r>
              <a:rPr lang="zh-TW" altLang="en-US" dirty="0" smtClean="0"/>
              <a:t>資料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21691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大量的資料</a:t>
            </a:r>
            <a:endParaRPr lang="en-US" altLang="zh-TW" b="1" dirty="0" smtClean="0">
              <a:solidFill>
                <a:schemeClr val="accent3"/>
              </a:solidFill>
            </a:endParaRPr>
          </a:p>
          <a:p>
            <a:r>
              <a:rPr lang="zh-TW" altLang="en-US" dirty="0" smtClean="0"/>
              <a:t>龐大</a:t>
            </a:r>
            <a:r>
              <a:rPr lang="zh-TW" altLang="en-US" dirty="0"/>
              <a:t>的資料量是巨量資料最基本的特性。而在這裡所說的龐大</a:t>
            </a:r>
            <a:r>
              <a:rPr lang="zh-TW" altLang="en-US" dirty="0" smtClean="0"/>
              <a:t>的量</a:t>
            </a:r>
            <a:r>
              <a:rPr lang="zh-TW" altLang="en-US" dirty="0"/>
              <a:t>，不是分散在數台電腦上就可以儲存下來的量，而是需要</a:t>
            </a:r>
            <a:r>
              <a:rPr lang="zh-TW" altLang="en-US" dirty="0" smtClean="0"/>
              <a:t>成百上千台</a:t>
            </a:r>
            <a:r>
              <a:rPr lang="zh-TW" altLang="en-US" dirty="0"/>
              <a:t>的電腦才能</a:t>
            </a:r>
            <a:r>
              <a:rPr lang="zh-TW" altLang="en-US" dirty="0" smtClean="0"/>
              <a:t>存放。</a:t>
            </a:r>
            <a:endParaRPr lang="en-US" altLang="zh-TW" dirty="0" smtClean="0"/>
          </a:p>
          <a:p>
            <a:r>
              <a:rPr lang="zh-TW" altLang="en-US" dirty="0" smtClean="0"/>
              <a:t>當</a:t>
            </a:r>
            <a:r>
              <a:rPr lang="zh-TW" altLang="en-US" dirty="0"/>
              <a:t>資料分散在數百台甚至數千台機器上時，</a:t>
            </a:r>
            <a:r>
              <a:rPr lang="zh-TW" altLang="en-US" dirty="0" smtClean="0"/>
              <a:t>如何</a:t>
            </a:r>
            <a:r>
              <a:rPr lang="zh-TW" altLang="en-US" dirty="0"/>
              <a:t>有效率的管理與儲存這些資料就是一個重要的問題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/>
              <a:t>能夠同時處理分散在各處的資料的運算，我們稱之</a:t>
            </a:r>
            <a:r>
              <a:rPr lang="zh-TW" altLang="en-US" dirty="0" smtClean="0"/>
              <a:t>為</a:t>
            </a:r>
            <a:r>
              <a:rPr lang="zh-TW" altLang="en-US" dirty="0" smtClean="0">
                <a:solidFill>
                  <a:srgbClr val="0070C0"/>
                </a:solidFill>
              </a:rPr>
              <a:t>平行計算 </a:t>
            </a:r>
            <a:r>
              <a:rPr lang="en-US" altLang="zh-TW" dirty="0">
                <a:solidFill>
                  <a:srgbClr val="0070C0"/>
                </a:solidFill>
              </a:rPr>
              <a:t>(parallel computing)</a:t>
            </a:r>
            <a:r>
              <a:rPr lang="en-US" altLang="zh-TW" dirty="0"/>
              <a:t> </a:t>
            </a:r>
            <a:r>
              <a:rPr lang="zh-TW" altLang="en-US" dirty="0"/>
              <a:t>與</a:t>
            </a:r>
            <a:r>
              <a:rPr lang="zh-TW" altLang="en-US" dirty="0">
                <a:solidFill>
                  <a:srgbClr val="0070C0"/>
                </a:solidFill>
              </a:rPr>
              <a:t>分散式處理 </a:t>
            </a:r>
            <a:r>
              <a:rPr lang="en-US" altLang="zh-TW" dirty="0">
                <a:solidFill>
                  <a:srgbClr val="0070C0"/>
                </a:solidFill>
              </a:rPr>
              <a:t>(distributed processing)</a:t>
            </a:r>
            <a:r>
              <a:rPr lang="zh-TW" altLang="en-US" dirty="0"/>
              <a:t>。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8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12.1</a:t>
            </a:r>
            <a:r>
              <a:rPr lang="zh-TW" altLang="en-US" dirty="0"/>
              <a:t>巨量資料</a:t>
            </a:r>
          </a:p>
        </p:txBody>
      </p:sp>
    </p:spTree>
    <p:extLst>
      <p:ext uri="{BB962C8B-B14F-4D97-AF65-F5344CB8AC3E}">
        <p14:creationId xmlns:p14="http://schemas.microsoft.com/office/powerpoint/2010/main" val="2620993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資料的快速增加</a:t>
            </a:r>
            <a:endParaRPr lang="en-US" altLang="zh-TW" b="1" dirty="0" smtClean="0">
              <a:solidFill>
                <a:schemeClr val="accent3"/>
              </a:solidFill>
            </a:endParaRPr>
          </a:p>
          <a:p>
            <a:r>
              <a:rPr lang="zh-TW" altLang="en-US" dirty="0" smtClean="0"/>
              <a:t>增加速度</a:t>
            </a:r>
            <a:r>
              <a:rPr lang="zh-TW" altLang="en-US" dirty="0"/>
              <a:t>非常快速的資料大幅地增加了資料處理與分析的困難度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/>
              <a:t>如果我們處理資料的速度無法</a:t>
            </a:r>
            <a:r>
              <a:rPr lang="zh-TW" altLang="en-US" dirty="0" smtClean="0"/>
              <a:t>趕上</a:t>
            </a:r>
            <a:r>
              <a:rPr lang="zh-TW" altLang="en-US" dirty="0"/>
              <a:t>資料產生的速度，則對於某些有即時需求的應用</a:t>
            </a:r>
            <a:r>
              <a:rPr lang="zh-TW" altLang="en-US" dirty="0" smtClean="0"/>
              <a:t>而言 </a:t>
            </a:r>
            <a:r>
              <a:rPr lang="en-US" altLang="zh-TW" dirty="0" smtClean="0"/>
              <a:t>( </a:t>
            </a:r>
            <a:r>
              <a:rPr lang="zh-TW" altLang="en-US" dirty="0"/>
              <a:t>如網路</a:t>
            </a:r>
            <a:r>
              <a:rPr lang="zh-TW" altLang="en-US" dirty="0" smtClean="0"/>
              <a:t>攻擊偵測</a:t>
            </a:r>
            <a:r>
              <a:rPr lang="zh-TW" altLang="en-US" dirty="0"/>
              <a:t>、災害偵測</a:t>
            </a:r>
            <a:r>
              <a:rPr lang="zh-TW" altLang="en-US" dirty="0" smtClean="0"/>
              <a:t>等 </a:t>
            </a:r>
            <a:r>
              <a:rPr lang="en-US" altLang="zh-TW" dirty="0"/>
              <a:t>)</a:t>
            </a:r>
            <a:r>
              <a:rPr lang="zh-TW" altLang="en-US" dirty="0"/>
              <a:t>，分析的結果就無法立即反應當下的狀況。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9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12.1</a:t>
            </a:r>
            <a:r>
              <a:rPr lang="zh-TW" altLang="en-US" dirty="0"/>
              <a:t>巨量資料</a:t>
            </a:r>
          </a:p>
        </p:txBody>
      </p:sp>
    </p:spTree>
    <p:extLst>
      <p:ext uri="{BB962C8B-B14F-4D97-AF65-F5344CB8AC3E}">
        <p14:creationId xmlns:p14="http://schemas.microsoft.com/office/powerpoint/2010/main" val="2135583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zh-TW" altLang="en-US" b="1" dirty="0">
                <a:solidFill>
                  <a:schemeClr val="accent3"/>
                </a:solidFill>
              </a:rPr>
              <a:t>資料形式的多樣性</a:t>
            </a:r>
            <a:endParaRPr lang="en-US" altLang="zh-TW" b="1" dirty="0" smtClean="0">
              <a:solidFill>
                <a:schemeClr val="accent3"/>
              </a:solidFill>
            </a:endParaRPr>
          </a:p>
          <a:p>
            <a:r>
              <a:rPr lang="zh-TW" altLang="en-US" dirty="0" smtClean="0"/>
              <a:t>社</a:t>
            </a:r>
            <a:r>
              <a:rPr lang="zh-TW" altLang="en-US" dirty="0"/>
              <a:t>群網路上被分享或傳送的文字、圖片、</a:t>
            </a:r>
            <a:r>
              <a:rPr lang="zh-TW" altLang="en-US" dirty="0" smtClean="0"/>
              <a:t>影像等等</a:t>
            </a:r>
            <a:r>
              <a:rPr lang="zh-TW" altLang="en-US" dirty="0"/>
              <a:t>，或者是各式各樣的感測器，用來收集天氣狀態、空氣品質、</a:t>
            </a:r>
            <a:r>
              <a:rPr lang="zh-TW" altLang="en-US" dirty="0" smtClean="0"/>
              <a:t>水質</a:t>
            </a:r>
            <a:r>
              <a:rPr lang="zh-TW" altLang="en-US" dirty="0"/>
              <a:t>狀態、交通流量等資料，都是具有多樣性的巨量資料來源，這些</a:t>
            </a:r>
            <a:r>
              <a:rPr lang="zh-TW" altLang="en-US" dirty="0" smtClean="0"/>
              <a:t>資料</a:t>
            </a:r>
            <a:r>
              <a:rPr lang="zh-TW" altLang="en-US" dirty="0"/>
              <a:t>沒有固定的格式，因此被稱為</a:t>
            </a:r>
            <a:r>
              <a:rPr lang="zh-TW" altLang="en-US" dirty="0">
                <a:solidFill>
                  <a:srgbClr val="0070C0"/>
                </a:solidFill>
              </a:rPr>
              <a:t>非結構 </a:t>
            </a:r>
            <a:r>
              <a:rPr lang="en-US" altLang="zh-TW" dirty="0">
                <a:solidFill>
                  <a:srgbClr val="0070C0"/>
                </a:solidFill>
              </a:rPr>
              <a:t>(unstructured) </a:t>
            </a:r>
            <a:r>
              <a:rPr lang="zh-TW" altLang="en-US" dirty="0"/>
              <a:t>性資料；非</a:t>
            </a:r>
            <a:r>
              <a:rPr lang="zh-TW" altLang="en-US" dirty="0" smtClean="0"/>
              <a:t>結構</a:t>
            </a:r>
            <a:r>
              <a:rPr lang="zh-TW" altLang="en-US" dirty="0"/>
              <a:t>性資料是巨量資料的重要</a:t>
            </a:r>
            <a:r>
              <a:rPr lang="zh-TW" altLang="en-US" dirty="0" smtClean="0"/>
              <a:t>特性。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10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12.1</a:t>
            </a:r>
            <a:r>
              <a:rPr lang="zh-TW" altLang="en-US" dirty="0"/>
              <a:t>巨量資料</a:t>
            </a:r>
          </a:p>
        </p:txBody>
      </p:sp>
    </p:spTree>
    <p:extLst>
      <p:ext uri="{BB962C8B-B14F-4D97-AF65-F5344CB8AC3E}">
        <p14:creationId xmlns:p14="http://schemas.microsoft.com/office/powerpoint/2010/main" val="736538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智慧型手機可視為整合</a:t>
            </a:r>
            <a:r>
              <a:rPr lang="zh-TW" altLang="en-US" dirty="0">
                <a:solidFill>
                  <a:srgbClr val="0070C0"/>
                </a:solidFill>
              </a:rPr>
              <a:t>行動</a:t>
            </a:r>
            <a:r>
              <a:rPr lang="zh-TW" altLang="en-US" dirty="0" smtClean="0">
                <a:solidFill>
                  <a:srgbClr val="0070C0"/>
                </a:solidFill>
              </a:rPr>
              <a:t>手機 </a:t>
            </a:r>
            <a:r>
              <a:rPr lang="en-US" altLang="zh-TW" dirty="0">
                <a:solidFill>
                  <a:srgbClr val="0070C0"/>
                </a:solidFill>
              </a:rPr>
              <a:t>(</a:t>
            </a:r>
            <a:r>
              <a:rPr lang="en-US" altLang="zh-TW" dirty="0" smtClean="0">
                <a:solidFill>
                  <a:srgbClr val="0070C0"/>
                </a:solidFill>
              </a:rPr>
              <a:t>mobile </a:t>
            </a:r>
            <a:r>
              <a:rPr lang="en-US" altLang="zh-TW" dirty="0">
                <a:solidFill>
                  <a:srgbClr val="0070C0"/>
                </a:solidFill>
              </a:rPr>
              <a:t>phone</a:t>
            </a:r>
            <a:r>
              <a:rPr lang="en-US" altLang="zh-TW" dirty="0" smtClean="0">
                <a:solidFill>
                  <a:srgbClr val="0070C0"/>
                </a:solidFill>
              </a:rPr>
              <a:t>)</a:t>
            </a:r>
            <a:r>
              <a:rPr lang="en-US" altLang="zh-TW" dirty="0" smtClean="0"/>
              <a:t> </a:t>
            </a:r>
            <a:r>
              <a:rPr lang="zh-TW" altLang="en-US" dirty="0" smtClean="0"/>
              <a:t>與</a:t>
            </a:r>
            <a:r>
              <a:rPr lang="en-US" altLang="zh-TW" dirty="0" smtClean="0">
                <a:solidFill>
                  <a:srgbClr val="0070C0"/>
                </a:solidFill>
              </a:rPr>
              <a:t>PDA </a:t>
            </a:r>
            <a:r>
              <a:rPr lang="zh-TW" altLang="en-US" dirty="0"/>
              <a:t>功能的設備，具有作業系統的管理平台，可以安裝各種</a:t>
            </a:r>
            <a:r>
              <a:rPr lang="zh-TW" altLang="en-US" dirty="0" smtClean="0"/>
              <a:t>應用軟體</a:t>
            </a:r>
            <a:r>
              <a:rPr lang="zh-TW" altLang="en-US" dirty="0"/>
              <a:t>。現在更多的智慧型攜帶裝置，如智慧手錶與智慧手環亦相繼</a:t>
            </a:r>
            <a:r>
              <a:rPr lang="zh-TW" altLang="en-US" dirty="0" smtClean="0"/>
              <a:t>出現</a:t>
            </a:r>
            <a:r>
              <a:rPr lang="zh-TW" altLang="en-US" dirty="0"/>
              <a:t>，這些方便攜帶又提供資料處理能力的設備，統稱穿戴式計算 </a:t>
            </a:r>
            <a:r>
              <a:rPr lang="en-US" altLang="zh-TW" dirty="0" smtClean="0"/>
              <a:t>(</a:t>
            </a:r>
            <a:r>
              <a:rPr lang="en-US" altLang="zh-TW" dirty="0"/>
              <a:t>wearable computing)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/>
              <a:t>智慧型手機的平台系統</a:t>
            </a:r>
            <a:r>
              <a:rPr lang="zh-TW" altLang="en-US" dirty="0" smtClean="0"/>
              <a:t>主要</a:t>
            </a:r>
            <a:r>
              <a:rPr lang="zh-TW" altLang="en-US" dirty="0"/>
              <a:t>有二大陣營：</a:t>
            </a:r>
            <a:r>
              <a:rPr lang="en-US" altLang="zh-TW" b="1" dirty="0" err="1"/>
              <a:t>iOS</a:t>
            </a:r>
            <a:r>
              <a:rPr lang="en-US" altLang="zh-TW" b="1" dirty="0"/>
              <a:t> </a:t>
            </a:r>
            <a:r>
              <a:rPr lang="zh-TW" altLang="en-US" dirty="0"/>
              <a:t>與</a:t>
            </a:r>
            <a:r>
              <a:rPr lang="en-US" altLang="zh-TW" b="1" dirty="0" smtClean="0"/>
              <a:t>Android</a:t>
            </a:r>
            <a:r>
              <a:rPr lang="zh-TW" altLang="en-US" dirty="0" smtClean="0"/>
              <a:t>。</a:t>
            </a:r>
            <a:r>
              <a:rPr lang="en-US" altLang="zh-TW" dirty="0" smtClean="0"/>
              <a:t>Google</a:t>
            </a:r>
            <a:r>
              <a:rPr lang="zh-TW" altLang="en-US" dirty="0" smtClean="0"/>
              <a:t>發行</a:t>
            </a:r>
            <a:r>
              <a:rPr lang="zh-TW" altLang="en-US" dirty="0"/>
              <a:t>的 </a:t>
            </a:r>
            <a:r>
              <a:rPr lang="en-US" altLang="zh-TW" dirty="0"/>
              <a:t>Android </a:t>
            </a:r>
            <a:r>
              <a:rPr lang="zh-TW" altLang="en-US" dirty="0"/>
              <a:t>作業系統，目前擁有最多的</a:t>
            </a:r>
            <a:r>
              <a:rPr lang="zh-TW" altLang="en-US" dirty="0" smtClean="0"/>
              <a:t>廠商加入，市占率也是最高。執行</a:t>
            </a:r>
            <a:r>
              <a:rPr lang="zh-TW" altLang="en-US" dirty="0"/>
              <a:t>於</a:t>
            </a:r>
            <a:r>
              <a:rPr lang="zh-TW" altLang="en-US" dirty="0" smtClean="0"/>
              <a:t>智慧型手機的應用軟體稱為 </a:t>
            </a:r>
            <a:r>
              <a:rPr lang="en-US" altLang="zh-TW" dirty="0" smtClean="0"/>
              <a:t>APP</a:t>
            </a:r>
            <a:r>
              <a:rPr lang="zh-TW" altLang="en-US" dirty="0"/>
              <a:t>，一般是由作業系統廠商</a:t>
            </a:r>
            <a:r>
              <a:rPr lang="zh-TW" altLang="en-US" dirty="0" smtClean="0"/>
              <a:t>提供開發工具與平台</a:t>
            </a:r>
            <a:r>
              <a:rPr lang="zh-TW" altLang="en-US" dirty="0"/>
              <a:t>，讓</a:t>
            </a:r>
            <a:r>
              <a:rPr lang="zh-TW" altLang="en-US" dirty="0" smtClean="0"/>
              <a:t>程式設計人員開發</a:t>
            </a:r>
            <a:r>
              <a:rPr lang="zh-TW" altLang="en-US" dirty="0"/>
              <a:t>與銷售 </a:t>
            </a:r>
            <a:r>
              <a:rPr lang="en-US" altLang="zh-TW" dirty="0"/>
              <a:t>APP</a:t>
            </a:r>
            <a:r>
              <a:rPr lang="zh-TW" altLang="en-US" dirty="0"/>
              <a:t>。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11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12.2</a:t>
            </a:r>
            <a:r>
              <a:rPr lang="zh-TW" altLang="en-US" dirty="0" smtClean="0"/>
              <a:t>穿戴式計算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86221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12.2</a:t>
            </a:r>
            <a:r>
              <a:rPr lang="zh-TW" altLang="en-US" dirty="0"/>
              <a:t>穿戴式計算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412776"/>
            <a:ext cx="5688632" cy="4582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14155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3528" y="980728"/>
            <a:ext cx="8568952" cy="5256584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zh-TW" altLang="en-US" dirty="0"/>
              <a:t>智慧型手機具備多項軟硬體功能，通訊部分可以使用</a:t>
            </a:r>
            <a:r>
              <a:rPr lang="en-US" altLang="zh-TW" dirty="0"/>
              <a:t>3G/4G/5G </a:t>
            </a:r>
            <a:r>
              <a:rPr lang="zh-TW" altLang="en-US" dirty="0" smtClean="0"/>
              <a:t>等行動</a:t>
            </a:r>
            <a:r>
              <a:rPr lang="zh-TW" altLang="en-US" dirty="0"/>
              <a:t>通訊網路，網際網路的連線也可以使用</a:t>
            </a:r>
            <a:r>
              <a:rPr lang="en-US" altLang="zh-TW" dirty="0"/>
              <a:t>Wi-Fi </a:t>
            </a:r>
            <a:r>
              <a:rPr lang="zh-TW" altLang="en-US" dirty="0"/>
              <a:t>無線網路。耳機與</a:t>
            </a:r>
            <a:r>
              <a:rPr lang="zh-TW" altLang="en-US" dirty="0" smtClean="0"/>
              <a:t>喇</a:t>
            </a:r>
            <a:r>
              <a:rPr lang="zh-TW" altLang="en-US" dirty="0"/>
              <a:t>叭等個人周邊設備則可以使用藍牙通訊與手機配對，</a:t>
            </a:r>
            <a:r>
              <a:rPr lang="zh-TW" altLang="en-US" dirty="0">
                <a:solidFill>
                  <a:srgbClr val="0070C0"/>
                </a:solidFill>
              </a:rPr>
              <a:t>近場通訊 </a:t>
            </a:r>
            <a:r>
              <a:rPr lang="en-US" altLang="zh-TW" dirty="0">
                <a:solidFill>
                  <a:srgbClr val="0070C0"/>
                </a:solidFill>
              </a:rPr>
              <a:t>(</a:t>
            </a:r>
            <a:r>
              <a:rPr lang="en-US" altLang="zh-TW" dirty="0" smtClean="0">
                <a:solidFill>
                  <a:srgbClr val="0070C0"/>
                </a:solidFill>
              </a:rPr>
              <a:t>Near-Field </a:t>
            </a:r>
            <a:r>
              <a:rPr lang="en-US" altLang="zh-TW" dirty="0">
                <a:solidFill>
                  <a:srgbClr val="0070C0"/>
                </a:solidFill>
              </a:rPr>
              <a:t>Communication, NFC) </a:t>
            </a:r>
            <a:r>
              <a:rPr lang="zh-TW" altLang="en-US" dirty="0"/>
              <a:t>技術則讓手機可以讀取晶片卡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/>
              <a:t>基本的相機功能讓手機可以拍照與攝影，透過相機的鏡頭在觀看實物時，甚至可以套用</a:t>
            </a:r>
            <a:r>
              <a:rPr lang="zh-TW" altLang="en-US" dirty="0">
                <a:solidFill>
                  <a:srgbClr val="0070C0"/>
                </a:solidFill>
              </a:rPr>
              <a:t>擴增實境 </a:t>
            </a:r>
            <a:r>
              <a:rPr lang="en-US" altLang="zh-TW" dirty="0">
                <a:solidFill>
                  <a:srgbClr val="0070C0"/>
                </a:solidFill>
              </a:rPr>
              <a:t>(Augmented Reality, AR) </a:t>
            </a:r>
            <a:r>
              <a:rPr lang="zh-TW" altLang="en-US" dirty="0"/>
              <a:t>的技術，在畫面上輔助顯示其他的圖像與文字。手機內建的</a:t>
            </a:r>
            <a:r>
              <a:rPr lang="zh-TW" altLang="en-US" dirty="0">
                <a:solidFill>
                  <a:srgbClr val="0070C0"/>
                </a:solidFill>
              </a:rPr>
              <a:t>衛星定位系統 </a:t>
            </a:r>
            <a:r>
              <a:rPr lang="en-US" altLang="zh-TW" dirty="0">
                <a:solidFill>
                  <a:srgbClr val="0070C0"/>
                </a:solidFill>
              </a:rPr>
              <a:t>(Global Positioning System, GPS) </a:t>
            </a:r>
            <a:r>
              <a:rPr lang="zh-TW" altLang="en-US" dirty="0"/>
              <a:t>接收器，讓用戶隨時掌握目前的位置，並可結合提供位置服務的</a:t>
            </a:r>
            <a:r>
              <a:rPr lang="en-US" altLang="zh-TW" dirty="0"/>
              <a:t>APP</a:t>
            </a:r>
            <a:r>
              <a:rPr lang="zh-TW" altLang="en-US" dirty="0"/>
              <a:t>，查詢附近的街道圖，以及提供路徑導引至目的地等。</a:t>
            </a:r>
            <a:endParaRPr lang="en-US" altLang="zh-TW" dirty="0"/>
          </a:p>
          <a:p>
            <a:endParaRPr lang="en-US" altLang="zh-TW" dirty="0" smtClean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13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12.2</a:t>
            </a:r>
            <a:r>
              <a:rPr lang="zh-TW" altLang="en-US" dirty="0"/>
              <a:t>穿戴式計算</a:t>
            </a:r>
          </a:p>
        </p:txBody>
      </p:sp>
    </p:spTree>
    <p:extLst>
      <p:ext uri="{BB962C8B-B14F-4D97-AF65-F5344CB8AC3E}">
        <p14:creationId xmlns:p14="http://schemas.microsoft.com/office/powerpoint/2010/main" val="1622381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3528" y="980728"/>
            <a:ext cx="8568952" cy="5616624"/>
          </a:xfrm>
        </p:spPr>
        <p:txBody>
          <a:bodyPr>
            <a:normAutofit/>
          </a:bodyPr>
          <a:lstStyle/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>
              <a:lnSpc>
                <a:spcPts val="2000"/>
              </a:lnSpc>
            </a:pPr>
            <a:endParaRPr lang="en-US" altLang="zh-TW" dirty="0"/>
          </a:p>
          <a:p>
            <a:r>
              <a:rPr lang="zh-TW" altLang="en-US" dirty="0" smtClean="0"/>
              <a:t>智慧型</a:t>
            </a:r>
            <a:r>
              <a:rPr lang="zh-TW" altLang="en-US" dirty="0"/>
              <a:t>手機的另一個特色是內建多種</a:t>
            </a:r>
            <a:r>
              <a:rPr lang="zh-TW" altLang="en-US" dirty="0">
                <a:solidFill>
                  <a:srgbClr val="0070C0"/>
                </a:solidFill>
              </a:rPr>
              <a:t>感測器 </a:t>
            </a:r>
            <a:r>
              <a:rPr lang="en-US" altLang="zh-TW" dirty="0">
                <a:solidFill>
                  <a:srgbClr val="0070C0"/>
                </a:solidFill>
              </a:rPr>
              <a:t>(sensors)</a:t>
            </a:r>
            <a:r>
              <a:rPr lang="zh-TW" altLang="en-US" dirty="0"/>
              <a:t>，如</a:t>
            </a:r>
            <a:r>
              <a:rPr lang="zh-TW" altLang="en-US" dirty="0" smtClean="0"/>
              <a:t>加速度感</a:t>
            </a:r>
            <a:r>
              <a:rPr lang="zh-TW" altLang="en-US" dirty="0"/>
              <a:t>測器、方向感測器、陀螺儀感測器、光線感測器及接近感測器等。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12.2</a:t>
            </a:r>
            <a:r>
              <a:rPr lang="zh-TW" altLang="en-US" dirty="0"/>
              <a:t>穿戴式計算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052735"/>
            <a:ext cx="5760640" cy="3832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7033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除了</a:t>
            </a:r>
            <a:r>
              <a:rPr lang="zh-TW" altLang="en-US" dirty="0"/>
              <a:t>以上與手機使用者動作相關的感測器之外</a:t>
            </a:r>
            <a:r>
              <a:rPr lang="zh-TW" altLang="en-US" dirty="0" smtClean="0"/>
              <a:t>，可</a:t>
            </a:r>
            <a:r>
              <a:rPr lang="zh-TW" altLang="en-US" dirty="0"/>
              <a:t>作為</a:t>
            </a:r>
            <a:r>
              <a:rPr lang="zh-TW" altLang="en-US" dirty="0" smtClean="0"/>
              <a:t>身體健康</a:t>
            </a:r>
            <a:r>
              <a:rPr lang="zh-TW" altLang="en-US" dirty="0"/>
              <a:t>狀況測量的感測器。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15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12.2</a:t>
            </a:r>
            <a:r>
              <a:rPr lang="zh-TW" altLang="en-US" dirty="0"/>
              <a:t>穿戴式計算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060848"/>
            <a:ext cx="5717152" cy="3816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3385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感測器的種類與應用相當多，可以測量個人健康狀況外，也</a:t>
            </a:r>
            <a:r>
              <a:rPr lang="zh-TW" altLang="en-US" dirty="0" smtClean="0"/>
              <a:t>可以測量</a:t>
            </a:r>
            <a:r>
              <a:rPr lang="zh-TW" altLang="en-US" dirty="0"/>
              <a:t>環境如溫度與溼度的變化。如果感測器也兼具通訊的能力，能</a:t>
            </a:r>
            <a:r>
              <a:rPr lang="zh-TW" altLang="en-US" dirty="0" smtClean="0"/>
              <a:t>相互</a:t>
            </a:r>
            <a:r>
              <a:rPr lang="zh-TW" altLang="en-US" dirty="0"/>
              <a:t>傳遞訊息，甚至連至網際網路，就可以在居家或戶外環境中大量</a:t>
            </a:r>
            <a:r>
              <a:rPr lang="zh-TW" altLang="en-US" dirty="0" smtClean="0"/>
              <a:t>布建，</a:t>
            </a:r>
            <a:r>
              <a:rPr lang="zh-TW" altLang="en-US" dirty="0"/>
              <a:t>形成一個智慧</a:t>
            </a:r>
            <a:r>
              <a:rPr lang="zh-TW" altLang="en-US" dirty="0" smtClean="0"/>
              <a:t>空間 </a:t>
            </a:r>
            <a:r>
              <a:rPr lang="en-US" altLang="zh-TW" dirty="0"/>
              <a:t>(</a:t>
            </a:r>
            <a:r>
              <a:rPr lang="en-US" altLang="zh-TW" dirty="0" smtClean="0"/>
              <a:t>smart </a:t>
            </a:r>
            <a:r>
              <a:rPr lang="en-US" altLang="zh-TW" dirty="0"/>
              <a:t>space)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/>
              <a:t>當感測器越做越小、價格越來越便宜時，所有的物品</a:t>
            </a:r>
            <a:r>
              <a:rPr lang="zh-TW" altLang="en-US" dirty="0" smtClean="0"/>
              <a:t>都可以</a:t>
            </a:r>
            <a:r>
              <a:rPr lang="zh-TW" altLang="en-US" dirty="0"/>
              <a:t>嵌入感測器，讓物品間可以交換訊息。在網際網路上查看這些</a:t>
            </a:r>
            <a:r>
              <a:rPr lang="zh-TW" altLang="en-US" dirty="0" smtClean="0"/>
              <a:t>物品</a:t>
            </a:r>
            <a:r>
              <a:rPr lang="zh-TW" altLang="en-US" dirty="0"/>
              <a:t>，形成一種</a:t>
            </a:r>
            <a:r>
              <a:rPr lang="zh-TW" altLang="en-US" dirty="0">
                <a:solidFill>
                  <a:srgbClr val="0070C0"/>
                </a:solidFill>
              </a:rPr>
              <a:t>物聯</a:t>
            </a:r>
            <a:r>
              <a:rPr lang="zh-TW" altLang="en-US" dirty="0" smtClean="0">
                <a:solidFill>
                  <a:srgbClr val="0070C0"/>
                </a:solidFill>
              </a:rPr>
              <a:t>網 </a:t>
            </a:r>
            <a:r>
              <a:rPr lang="en-US" altLang="zh-TW" dirty="0">
                <a:solidFill>
                  <a:srgbClr val="0070C0"/>
                </a:solidFill>
              </a:rPr>
              <a:t>(Internet of Things, </a:t>
            </a:r>
            <a:r>
              <a:rPr lang="en-US" altLang="zh-TW" dirty="0" err="1">
                <a:solidFill>
                  <a:srgbClr val="0070C0"/>
                </a:solidFill>
              </a:rPr>
              <a:t>IoT</a:t>
            </a:r>
            <a:r>
              <a:rPr lang="en-US" altLang="zh-TW" dirty="0">
                <a:solidFill>
                  <a:srgbClr val="0070C0"/>
                </a:solidFill>
              </a:rPr>
              <a:t>)</a:t>
            </a:r>
            <a:r>
              <a:rPr lang="zh-TW" altLang="en-US" dirty="0"/>
              <a:t>。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16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12.3</a:t>
            </a:r>
            <a:r>
              <a:rPr lang="zh-TW" altLang="en-US" dirty="0" smtClean="0"/>
              <a:t>物聯網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74960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想像未來生活的一種</a:t>
            </a:r>
            <a:r>
              <a:rPr lang="zh-TW" altLang="en-US" dirty="0" smtClean="0"/>
              <a:t>情境</a:t>
            </a:r>
            <a:r>
              <a:rPr lang="zh-TW" altLang="en-US" dirty="0"/>
              <a:t>，家裡的冰箱自動得知牛奶快過期了，主動發送手機訊息給主人</a:t>
            </a:r>
            <a:r>
              <a:rPr lang="zh-TW" altLang="en-US" dirty="0" smtClean="0"/>
              <a:t>，並</a:t>
            </a:r>
            <a:r>
              <a:rPr lang="zh-TW" altLang="en-US" dirty="0"/>
              <a:t>提示是否自動進行網路購買的處理；家裡的床墊感測主人已經</a:t>
            </a:r>
            <a:r>
              <a:rPr lang="zh-TW" altLang="en-US" dirty="0" smtClean="0"/>
              <a:t>起床</a:t>
            </a:r>
            <a:r>
              <a:rPr lang="zh-TW" altLang="en-US" dirty="0"/>
              <a:t>，聯繫廚房的咖啡機自動沖泡一杯咖啡等。科技的進步，讓未來</a:t>
            </a:r>
            <a:r>
              <a:rPr lang="zh-TW" altLang="en-US" dirty="0" smtClean="0"/>
              <a:t>的生活</a:t>
            </a:r>
            <a:r>
              <a:rPr lang="zh-TW" altLang="en-US" dirty="0"/>
              <a:t>似乎更加便利與舒適。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17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12.3</a:t>
            </a:r>
            <a:r>
              <a:rPr lang="zh-TW" altLang="en-US" dirty="0"/>
              <a:t>物聯網</a:t>
            </a:r>
          </a:p>
        </p:txBody>
      </p:sp>
    </p:spTree>
    <p:extLst>
      <p:ext uri="{BB962C8B-B14F-4D97-AF65-F5344CB8AC3E}">
        <p14:creationId xmlns:p14="http://schemas.microsoft.com/office/powerpoint/2010/main" val="3711274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物聯網的基本架構包含三個層面</a:t>
            </a:r>
            <a:r>
              <a:rPr lang="zh-TW" altLang="en-US" dirty="0" smtClean="0"/>
              <a:t>：</a:t>
            </a:r>
            <a:endParaRPr lang="en-US" altLang="zh-TW" dirty="0" smtClean="0"/>
          </a:p>
          <a:p>
            <a:pPr lvl="1"/>
            <a:r>
              <a:rPr lang="zh-TW" altLang="en-US" dirty="0" smtClean="0">
                <a:solidFill>
                  <a:srgbClr val="0070C0"/>
                </a:solidFill>
              </a:rPr>
              <a:t>感知</a:t>
            </a:r>
            <a:r>
              <a:rPr lang="zh-TW" altLang="en-US" dirty="0">
                <a:solidFill>
                  <a:srgbClr val="0070C0"/>
                </a:solidFill>
              </a:rPr>
              <a:t>層 </a:t>
            </a:r>
            <a:r>
              <a:rPr lang="en-US" altLang="zh-TW" dirty="0">
                <a:solidFill>
                  <a:srgbClr val="0070C0"/>
                </a:solidFill>
              </a:rPr>
              <a:t>(sensing layer</a:t>
            </a:r>
            <a:r>
              <a:rPr lang="en-US" altLang="zh-TW" dirty="0" smtClean="0">
                <a:solidFill>
                  <a:srgbClr val="0070C0"/>
                </a:solidFill>
              </a:rPr>
              <a:t>):</a:t>
            </a:r>
            <a:r>
              <a:rPr lang="zh-TW" altLang="en-US" dirty="0"/>
              <a:t>層由大量具有</a:t>
            </a:r>
            <a:r>
              <a:rPr lang="zh-TW" altLang="en-US" dirty="0" smtClean="0"/>
              <a:t>感測</a:t>
            </a:r>
            <a:r>
              <a:rPr lang="zh-TW" altLang="en-US" dirty="0"/>
              <a:t>、通訊能力的感測器所</a:t>
            </a:r>
            <a:r>
              <a:rPr lang="zh-TW" altLang="en-US" dirty="0" smtClean="0"/>
              <a:t>組成。</a:t>
            </a:r>
            <a:endParaRPr lang="en-US" altLang="zh-TW" dirty="0"/>
          </a:p>
          <a:p>
            <a:pPr lvl="1"/>
            <a:r>
              <a:rPr lang="zh-TW" altLang="en-US" dirty="0" smtClean="0">
                <a:solidFill>
                  <a:srgbClr val="0070C0"/>
                </a:solidFill>
              </a:rPr>
              <a:t>網路層 </a:t>
            </a:r>
            <a:r>
              <a:rPr lang="en-US" altLang="zh-TW" dirty="0">
                <a:solidFill>
                  <a:srgbClr val="0070C0"/>
                </a:solidFill>
              </a:rPr>
              <a:t>(network layer) </a:t>
            </a:r>
            <a:r>
              <a:rPr lang="en-US" altLang="zh-TW" dirty="0" smtClean="0"/>
              <a:t>:</a:t>
            </a:r>
            <a:r>
              <a:rPr lang="zh-TW" altLang="en-US" dirty="0"/>
              <a:t>介於感知層及應用層之間的</a:t>
            </a:r>
            <a:r>
              <a:rPr lang="zh-TW" altLang="en-US" dirty="0" smtClean="0"/>
              <a:t>橋樑。</a:t>
            </a:r>
            <a:endParaRPr lang="en-US" altLang="zh-TW" dirty="0"/>
          </a:p>
          <a:p>
            <a:pPr lvl="1"/>
            <a:r>
              <a:rPr lang="zh-TW" altLang="en-US" dirty="0" smtClean="0">
                <a:solidFill>
                  <a:srgbClr val="0070C0"/>
                </a:solidFill>
              </a:rPr>
              <a:t>應用</a:t>
            </a:r>
            <a:r>
              <a:rPr lang="zh-TW" altLang="en-US" dirty="0">
                <a:solidFill>
                  <a:srgbClr val="0070C0"/>
                </a:solidFill>
              </a:rPr>
              <a:t>層 </a:t>
            </a:r>
            <a:r>
              <a:rPr lang="en-US" altLang="zh-TW" dirty="0">
                <a:solidFill>
                  <a:srgbClr val="0070C0"/>
                </a:solidFill>
              </a:rPr>
              <a:t>(application layer</a:t>
            </a:r>
            <a:r>
              <a:rPr lang="en-US" altLang="zh-TW" dirty="0" smtClean="0">
                <a:solidFill>
                  <a:srgbClr val="0070C0"/>
                </a:solidFill>
              </a:rPr>
              <a:t>)</a:t>
            </a:r>
            <a:r>
              <a:rPr lang="en-US" altLang="zh-TW" dirty="0">
                <a:solidFill>
                  <a:srgbClr val="0070C0"/>
                </a:solidFill>
              </a:rPr>
              <a:t>:</a:t>
            </a:r>
            <a:r>
              <a:rPr lang="zh-TW" altLang="en-US" dirty="0" smtClean="0"/>
              <a:t>提供</a:t>
            </a:r>
            <a:r>
              <a:rPr lang="zh-TW" altLang="en-US" dirty="0"/>
              <a:t>各種應用及</a:t>
            </a:r>
            <a:r>
              <a:rPr lang="zh-TW" altLang="en-US" dirty="0" smtClean="0"/>
              <a:t>服務，如</a:t>
            </a:r>
            <a:r>
              <a:rPr lang="zh-TW" altLang="en-US" dirty="0"/>
              <a:t>資料過濾、分析與預測</a:t>
            </a:r>
            <a:r>
              <a:rPr lang="zh-TW" altLang="en-US" dirty="0" smtClean="0"/>
              <a:t>等。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12.3</a:t>
            </a:r>
            <a:r>
              <a:rPr lang="zh-TW" altLang="en-US" dirty="0"/>
              <a:t>物聯網</a:t>
            </a:r>
          </a:p>
        </p:txBody>
      </p:sp>
    </p:spTree>
    <p:extLst>
      <p:ext uri="{BB962C8B-B14F-4D97-AF65-F5344CB8AC3E}">
        <p14:creationId xmlns:p14="http://schemas.microsoft.com/office/powerpoint/2010/main" val="3295076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感測器雖然大多以電池驅動，仍然訴求長時間運作，以減少</a:t>
            </a:r>
            <a:r>
              <a:rPr lang="zh-TW" altLang="en-US" dirty="0" smtClean="0"/>
              <a:t>維護成本</a:t>
            </a:r>
            <a:r>
              <a:rPr lang="zh-TW" altLang="en-US" dirty="0"/>
              <a:t>。感測器傳輸資料所耗的電力遠高於感測時的運作，低功耗的</a:t>
            </a:r>
            <a:r>
              <a:rPr lang="zh-TW" altLang="en-US" dirty="0" smtClean="0"/>
              <a:t>無線</a:t>
            </a:r>
            <a:r>
              <a:rPr lang="zh-TW" altLang="en-US" dirty="0"/>
              <a:t>通訊技術成為首選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r>
              <a:rPr lang="zh-TW" altLang="en-US" dirty="0"/>
              <a:t>低功耗</a:t>
            </a:r>
            <a:r>
              <a:rPr lang="zh-TW" altLang="en-US" dirty="0" smtClean="0"/>
              <a:t>藍牙 </a:t>
            </a:r>
            <a:r>
              <a:rPr lang="en-US" altLang="zh-TW" dirty="0"/>
              <a:t>(Bluetooth Low Energy, BLE) </a:t>
            </a:r>
            <a:r>
              <a:rPr lang="zh-TW" altLang="en-US" dirty="0"/>
              <a:t>與</a:t>
            </a:r>
            <a:r>
              <a:rPr lang="en-US" altLang="zh-TW" dirty="0" smtClean="0"/>
              <a:t>ZigBee</a:t>
            </a:r>
          </a:p>
          <a:p>
            <a:r>
              <a:rPr lang="zh-TW" altLang="en-US" dirty="0"/>
              <a:t>在智慧城市與智慧農業的大範圍應用中，感測器需要</a:t>
            </a:r>
            <a:r>
              <a:rPr lang="zh-TW" altLang="en-US" dirty="0" smtClean="0"/>
              <a:t>長距離</a:t>
            </a:r>
            <a:r>
              <a:rPr lang="zh-TW" altLang="en-US" dirty="0"/>
              <a:t>的通訊，這時需要新的通訊</a:t>
            </a:r>
            <a:r>
              <a:rPr lang="zh-TW" altLang="en-US" dirty="0" smtClean="0"/>
              <a:t>技術</a:t>
            </a:r>
            <a:r>
              <a:rPr lang="zh-TW" altLang="en-US" dirty="0"/>
              <a:t>。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如</a:t>
            </a:r>
            <a:r>
              <a:rPr lang="en-US" altLang="zh-TW" dirty="0"/>
              <a:t>NB-</a:t>
            </a:r>
            <a:r>
              <a:rPr lang="en-US" altLang="zh-TW" dirty="0" err="1"/>
              <a:t>IoT</a:t>
            </a:r>
            <a:r>
              <a:rPr lang="zh-TW" altLang="en-US" dirty="0"/>
              <a:t>、</a:t>
            </a:r>
            <a:r>
              <a:rPr lang="en-US" altLang="zh-TW" dirty="0"/>
              <a:t>LTE-M</a:t>
            </a:r>
            <a:r>
              <a:rPr lang="zh-TW" altLang="en-US" dirty="0"/>
              <a:t>、</a:t>
            </a:r>
            <a:r>
              <a:rPr lang="en-US" altLang="zh-TW" dirty="0" err="1"/>
              <a:t>LoRa</a:t>
            </a:r>
            <a:r>
              <a:rPr lang="en-US" altLang="zh-TW" dirty="0"/>
              <a:t> </a:t>
            </a:r>
            <a:r>
              <a:rPr lang="zh-TW" altLang="en-US" dirty="0" smtClean="0"/>
              <a:t>與</a:t>
            </a:r>
            <a:r>
              <a:rPr lang="en-US" altLang="zh-TW" dirty="0" err="1" smtClean="0"/>
              <a:t>Sigfox</a:t>
            </a:r>
            <a:r>
              <a:rPr lang="en-US" altLang="zh-TW" dirty="0" smtClean="0"/>
              <a:t> </a:t>
            </a:r>
            <a:r>
              <a:rPr lang="zh-TW" altLang="en-US" dirty="0"/>
              <a:t>等。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12.3</a:t>
            </a:r>
            <a:r>
              <a:rPr lang="zh-TW" altLang="en-US" dirty="0"/>
              <a:t>物聯網</a:t>
            </a:r>
          </a:p>
        </p:txBody>
      </p:sp>
    </p:spTree>
    <p:extLst>
      <p:ext uri="{BB962C8B-B14F-4D97-AF65-F5344CB8AC3E}">
        <p14:creationId xmlns:p14="http://schemas.microsoft.com/office/powerpoint/2010/main" val="1585012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為了能讓不同物聯網裝置彼此的資料可以互通，達到機器對機器</a:t>
            </a:r>
            <a:r>
              <a:rPr lang="zh-TW" altLang="en-US" dirty="0" smtClean="0"/>
              <a:t>的溝通</a:t>
            </a:r>
            <a:r>
              <a:rPr lang="zh-TW" altLang="en-US" dirty="0"/>
              <a:t>，就必須採用相同的訊息溝通格式</a:t>
            </a:r>
            <a:r>
              <a:rPr lang="zh-TW" altLang="en-US" dirty="0" smtClean="0"/>
              <a:t>。典型</a:t>
            </a:r>
            <a:r>
              <a:rPr lang="zh-TW" altLang="en-US" dirty="0"/>
              <a:t>的作法是採用</a:t>
            </a:r>
            <a:r>
              <a:rPr lang="en-US" altLang="zh-TW" dirty="0" smtClean="0"/>
              <a:t>HTTP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/>
              <a:t>替代</a:t>
            </a:r>
            <a:r>
              <a:rPr lang="en-US" altLang="zh-TW" dirty="0"/>
              <a:t>HTTP </a:t>
            </a:r>
            <a:r>
              <a:rPr lang="zh-TW" altLang="en-US" dirty="0"/>
              <a:t>的應用層傳輸協定包含訴求輕量化的</a:t>
            </a:r>
            <a:r>
              <a:rPr lang="en-US" altLang="zh-TW" b="1" dirty="0"/>
              <a:t>MQTT</a:t>
            </a:r>
            <a:r>
              <a:rPr lang="en-US" altLang="zh-TW" dirty="0"/>
              <a:t> </a:t>
            </a:r>
            <a:r>
              <a:rPr lang="zh-TW" altLang="en-US" dirty="0" smtClean="0"/>
              <a:t>與</a:t>
            </a:r>
            <a:r>
              <a:rPr lang="en-US" altLang="zh-TW" b="1" dirty="0" err="1" smtClean="0"/>
              <a:t>CoAP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r>
              <a:rPr lang="en-US" altLang="zh-TW" dirty="0" smtClean="0">
                <a:solidFill>
                  <a:srgbClr val="0070C0"/>
                </a:solidFill>
              </a:rPr>
              <a:t>MQTT </a:t>
            </a:r>
            <a:r>
              <a:rPr lang="en-US" altLang="zh-TW" dirty="0">
                <a:solidFill>
                  <a:srgbClr val="0070C0"/>
                </a:solidFill>
              </a:rPr>
              <a:t>(Message Queuing Telemetry Transport) </a:t>
            </a:r>
            <a:r>
              <a:rPr lang="zh-TW" altLang="en-US" dirty="0"/>
              <a:t>是一個基於</a:t>
            </a:r>
            <a:r>
              <a:rPr lang="en-US" altLang="zh-TW" dirty="0" smtClean="0"/>
              <a:t>TCP</a:t>
            </a:r>
            <a:r>
              <a:rPr lang="zh-TW" altLang="en-US" dirty="0" smtClean="0"/>
              <a:t>協定</a:t>
            </a:r>
            <a:r>
              <a:rPr lang="zh-TW" altLang="en-US" dirty="0"/>
              <a:t>，支援</a:t>
            </a:r>
            <a:r>
              <a:rPr lang="zh-TW" altLang="en-US" dirty="0" smtClean="0"/>
              <a:t>訂閱</a:t>
            </a:r>
            <a:r>
              <a:rPr lang="zh-TW" altLang="en-US" dirty="0"/>
              <a:t>發佈服務的傳輸方式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r>
              <a:rPr lang="en-US" altLang="zh-TW" dirty="0" err="1" smtClean="0">
                <a:solidFill>
                  <a:srgbClr val="0070C0"/>
                </a:solidFill>
              </a:rPr>
              <a:t>CoAP</a:t>
            </a:r>
            <a:r>
              <a:rPr lang="en-US" altLang="zh-TW" dirty="0" smtClean="0">
                <a:solidFill>
                  <a:srgbClr val="0070C0"/>
                </a:solidFill>
              </a:rPr>
              <a:t> </a:t>
            </a:r>
            <a:r>
              <a:rPr lang="en-US" altLang="zh-TW" dirty="0">
                <a:solidFill>
                  <a:srgbClr val="0070C0"/>
                </a:solidFill>
              </a:rPr>
              <a:t>(Constrained </a:t>
            </a:r>
            <a:r>
              <a:rPr lang="en-US" altLang="zh-TW" dirty="0" smtClean="0">
                <a:solidFill>
                  <a:srgbClr val="0070C0"/>
                </a:solidFill>
              </a:rPr>
              <a:t>Application</a:t>
            </a:r>
            <a:r>
              <a:rPr lang="zh-TW" altLang="en-US" dirty="0" smtClean="0">
                <a:solidFill>
                  <a:srgbClr val="0070C0"/>
                </a:solidFill>
              </a:rPr>
              <a:t> </a:t>
            </a:r>
            <a:r>
              <a:rPr lang="en-US" altLang="zh-TW" dirty="0" smtClean="0">
                <a:solidFill>
                  <a:srgbClr val="0070C0"/>
                </a:solidFill>
              </a:rPr>
              <a:t>Protocol</a:t>
            </a:r>
            <a:r>
              <a:rPr lang="en-US" altLang="zh-TW" dirty="0">
                <a:solidFill>
                  <a:srgbClr val="0070C0"/>
                </a:solidFill>
              </a:rPr>
              <a:t>) </a:t>
            </a:r>
            <a:r>
              <a:rPr lang="zh-TW" altLang="en-US" dirty="0"/>
              <a:t>則是基於</a:t>
            </a:r>
            <a:r>
              <a:rPr lang="en-US" altLang="zh-TW" dirty="0"/>
              <a:t>UDP </a:t>
            </a:r>
            <a:r>
              <a:rPr lang="zh-TW" altLang="en-US" dirty="0"/>
              <a:t>協定，採用</a:t>
            </a:r>
            <a:r>
              <a:rPr lang="en-US" altLang="zh-TW" dirty="0"/>
              <a:t>HTTP </a:t>
            </a:r>
            <a:r>
              <a:rPr lang="zh-TW" altLang="en-US" dirty="0"/>
              <a:t>相同的請求回應服務模式</a:t>
            </a:r>
            <a:r>
              <a:rPr lang="zh-TW" altLang="en-US" dirty="0" smtClean="0"/>
              <a:t>。</a:t>
            </a:r>
            <a:r>
              <a:rPr lang="en-US" altLang="zh-TW" dirty="0" err="1"/>
              <a:t>CoAP</a:t>
            </a:r>
            <a:r>
              <a:rPr lang="en-US" altLang="zh-TW" dirty="0"/>
              <a:t> </a:t>
            </a:r>
            <a:r>
              <a:rPr lang="zh-TW" altLang="en-US" dirty="0"/>
              <a:t>必須透過詢問的方式，</a:t>
            </a:r>
            <a:r>
              <a:rPr lang="zh-TW" altLang="en-US" dirty="0" smtClean="0"/>
              <a:t>要求</a:t>
            </a:r>
            <a:r>
              <a:rPr lang="zh-TW" altLang="en-US" dirty="0"/>
              <a:t>對方回傳資料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en-US" altLang="zh-TW" dirty="0" err="1"/>
              <a:t>CoAP</a:t>
            </a:r>
            <a:r>
              <a:rPr lang="en-US" altLang="zh-TW" dirty="0"/>
              <a:t> </a:t>
            </a:r>
            <a:r>
              <a:rPr lang="zh-TW" altLang="en-US" dirty="0"/>
              <a:t>比</a:t>
            </a:r>
            <a:r>
              <a:rPr lang="en-US" altLang="zh-TW" dirty="0"/>
              <a:t>MQTT </a:t>
            </a:r>
            <a:r>
              <a:rPr lang="zh-TW" altLang="en-US" dirty="0"/>
              <a:t>更適合</a:t>
            </a:r>
            <a:r>
              <a:rPr lang="zh-TW" altLang="en-US" dirty="0" smtClean="0"/>
              <a:t>傳遞即時</a:t>
            </a:r>
            <a:r>
              <a:rPr lang="zh-TW" altLang="en-US" dirty="0"/>
              <a:t>的控制命令，在智慧家電控制上極為方便。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12.3</a:t>
            </a:r>
            <a:r>
              <a:rPr lang="zh-TW" altLang="en-US" dirty="0"/>
              <a:t>物聯網</a:t>
            </a:r>
          </a:p>
        </p:txBody>
      </p:sp>
    </p:spTree>
    <p:extLst>
      <p:ext uri="{BB962C8B-B14F-4D97-AF65-F5344CB8AC3E}">
        <p14:creationId xmlns:p14="http://schemas.microsoft.com/office/powerpoint/2010/main" val="4173499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70C0"/>
                </a:solidFill>
              </a:rPr>
              <a:t>開源 </a:t>
            </a:r>
            <a:r>
              <a:rPr lang="en-US" altLang="zh-TW" dirty="0">
                <a:solidFill>
                  <a:srgbClr val="0070C0"/>
                </a:solidFill>
              </a:rPr>
              <a:t>(open-source)</a:t>
            </a:r>
            <a:r>
              <a:rPr lang="en-US" altLang="zh-TW" dirty="0"/>
              <a:t> </a:t>
            </a:r>
            <a:r>
              <a:rPr lang="zh-TW" altLang="en-US" dirty="0"/>
              <a:t>的精神不僅盛行於軟體開發上，現在硬體</a:t>
            </a:r>
            <a:r>
              <a:rPr lang="zh-TW" altLang="en-US" dirty="0" smtClean="0"/>
              <a:t>設計也</a:t>
            </a:r>
            <a:r>
              <a:rPr lang="zh-TW" altLang="en-US" dirty="0"/>
              <a:t>力推開源硬體，透過公開的電路圖與材料清單，吸引更多所謂的</a:t>
            </a:r>
            <a:r>
              <a:rPr lang="zh-TW" altLang="en-US" dirty="0" smtClean="0">
                <a:solidFill>
                  <a:srgbClr val="0070C0"/>
                </a:solidFill>
              </a:rPr>
              <a:t>創客 </a:t>
            </a:r>
            <a:r>
              <a:rPr lang="en-US" altLang="zh-TW" dirty="0">
                <a:solidFill>
                  <a:srgbClr val="0070C0"/>
                </a:solidFill>
              </a:rPr>
              <a:t>(maker)</a:t>
            </a:r>
            <a:r>
              <a:rPr lang="en-US" altLang="zh-TW" dirty="0"/>
              <a:t> </a:t>
            </a:r>
            <a:r>
              <a:rPr lang="zh-TW" altLang="en-US" dirty="0"/>
              <a:t>分享技術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底下</a:t>
            </a:r>
            <a:r>
              <a:rPr lang="zh-TW" altLang="en-US" dirty="0"/>
              <a:t>簡述兩種常見的開發控制板</a:t>
            </a:r>
            <a:r>
              <a:rPr lang="zh-TW" altLang="en-US" dirty="0" smtClean="0"/>
              <a:t>：</a:t>
            </a:r>
            <a:endParaRPr lang="en-US" altLang="zh-TW" dirty="0" smtClean="0"/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TW" b="1" dirty="0"/>
              <a:t>Arduino</a:t>
            </a:r>
            <a:r>
              <a:rPr lang="zh-TW" altLang="en-US" dirty="0" smtClean="0"/>
              <a:t>：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是</a:t>
            </a:r>
            <a:r>
              <a:rPr lang="zh-TW" altLang="en-US" dirty="0"/>
              <a:t>一個具備單晶片微控制器及簡易輸出 </a:t>
            </a:r>
            <a:r>
              <a:rPr lang="en-US" altLang="zh-TW" dirty="0"/>
              <a:t>/ </a:t>
            </a:r>
            <a:r>
              <a:rPr lang="zh-TW" altLang="en-US" dirty="0"/>
              <a:t>輸入的</a:t>
            </a:r>
            <a:r>
              <a:rPr lang="zh-TW" altLang="en-US" dirty="0" smtClean="0"/>
              <a:t>控制板</a:t>
            </a:r>
            <a:r>
              <a:rPr lang="zh-TW" altLang="en-US" dirty="0"/>
              <a:t>，有許多種版本，如</a:t>
            </a:r>
            <a:r>
              <a:rPr lang="en-US" altLang="zh-TW" dirty="0"/>
              <a:t>Uno</a:t>
            </a:r>
            <a:r>
              <a:rPr lang="zh-TW" altLang="en-US" dirty="0"/>
              <a:t>、</a:t>
            </a:r>
            <a:r>
              <a:rPr lang="en-US" altLang="zh-TW" dirty="0"/>
              <a:t>MEGA</a:t>
            </a:r>
            <a:r>
              <a:rPr lang="zh-TW" altLang="en-US" dirty="0"/>
              <a:t>、</a:t>
            </a:r>
            <a:r>
              <a:rPr lang="en-US" altLang="zh-TW" dirty="0"/>
              <a:t>Yun </a:t>
            </a:r>
            <a:r>
              <a:rPr lang="zh-TW" altLang="en-US" dirty="0"/>
              <a:t>等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最大</a:t>
            </a:r>
            <a:r>
              <a:rPr lang="zh-TW" altLang="en-US" dirty="0"/>
              <a:t>的</a:t>
            </a:r>
            <a:r>
              <a:rPr lang="zh-TW" altLang="en-US" dirty="0" smtClean="0"/>
              <a:t>優勢</a:t>
            </a:r>
            <a:r>
              <a:rPr lang="zh-TW" altLang="en-US" dirty="0"/>
              <a:t>在於可連結各式各樣的硬體及感測器元件，此外</a:t>
            </a:r>
            <a:r>
              <a:rPr lang="en-US" altLang="zh-TW" dirty="0"/>
              <a:t>Arduino </a:t>
            </a:r>
            <a:r>
              <a:rPr lang="zh-TW" altLang="en-US" dirty="0"/>
              <a:t>也</a:t>
            </a:r>
            <a:r>
              <a:rPr lang="zh-TW" altLang="en-US" dirty="0" smtClean="0"/>
              <a:t>提供軟體開發</a:t>
            </a:r>
            <a:r>
              <a:rPr lang="zh-TW" altLang="en-US" dirty="0"/>
              <a:t>的編輯環境，開發者可使用類似</a:t>
            </a:r>
            <a:r>
              <a:rPr lang="en-US" altLang="zh-TW" dirty="0"/>
              <a:t>C </a:t>
            </a:r>
            <a:r>
              <a:rPr lang="zh-TW" altLang="en-US" dirty="0"/>
              <a:t>語言來撰寫程式。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12.3</a:t>
            </a:r>
            <a:r>
              <a:rPr lang="zh-TW" altLang="en-US" dirty="0"/>
              <a:t>物聯網</a:t>
            </a:r>
          </a:p>
        </p:txBody>
      </p:sp>
    </p:spTree>
    <p:extLst>
      <p:ext uri="{BB962C8B-B14F-4D97-AF65-F5344CB8AC3E}">
        <p14:creationId xmlns:p14="http://schemas.microsoft.com/office/powerpoint/2010/main" val="4173499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u"/>
            </a:pPr>
            <a:r>
              <a:rPr lang="zh-TW" altLang="en-US" b="1" dirty="0"/>
              <a:t>樹莓派 </a:t>
            </a:r>
            <a:r>
              <a:rPr lang="en-US" altLang="zh-TW" b="1" dirty="0"/>
              <a:t>(Raspberry Pi)</a:t>
            </a:r>
            <a:r>
              <a:rPr lang="zh-TW" altLang="en-US" b="1" dirty="0" smtClean="0"/>
              <a:t>：</a:t>
            </a:r>
            <a:endParaRPr lang="en-US" altLang="zh-TW" b="1" dirty="0" smtClean="0"/>
          </a:p>
          <a:p>
            <a:pPr lvl="1"/>
            <a:r>
              <a:rPr lang="zh-TW" altLang="en-US" dirty="0" smtClean="0"/>
              <a:t>是</a:t>
            </a:r>
            <a:r>
              <a:rPr lang="zh-TW" altLang="en-US" dirty="0"/>
              <a:t>一台搭載</a:t>
            </a:r>
            <a:r>
              <a:rPr lang="en-US" altLang="zh-TW" dirty="0"/>
              <a:t>ARM </a:t>
            </a:r>
            <a:r>
              <a:rPr lang="zh-TW" altLang="en-US" dirty="0"/>
              <a:t>處理器的單板電腦，</a:t>
            </a:r>
            <a:r>
              <a:rPr lang="zh-TW" altLang="en-US" dirty="0" smtClean="0"/>
              <a:t>主要</a:t>
            </a:r>
            <a:r>
              <a:rPr lang="zh-TW" altLang="en-US" dirty="0"/>
              <a:t>使用基於</a:t>
            </a:r>
            <a:r>
              <a:rPr lang="en-US" altLang="zh-TW" dirty="0"/>
              <a:t>Linux </a:t>
            </a:r>
            <a:r>
              <a:rPr lang="zh-TW" altLang="en-US" dirty="0"/>
              <a:t>核心的作業系統，但微軟開發的</a:t>
            </a:r>
            <a:r>
              <a:rPr lang="en-US" altLang="zh-TW" dirty="0"/>
              <a:t>Windows </a:t>
            </a:r>
            <a:r>
              <a:rPr lang="en-US" altLang="zh-TW" dirty="0" err="1"/>
              <a:t>IoT</a:t>
            </a:r>
            <a:r>
              <a:rPr lang="en-US" altLang="zh-TW" dirty="0"/>
              <a:t> </a:t>
            </a:r>
            <a:r>
              <a:rPr lang="zh-TW" altLang="en-US" dirty="0" smtClean="0"/>
              <a:t>也可以</a:t>
            </a:r>
            <a:r>
              <a:rPr lang="zh-TW" altLang="en-US" dirty="0"/>
              <a:t>當作其作業系統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樹</a:t>
            </a:r>
            <a:r>
              <a:rPr lang="zh-TW" altLang="en-US" dirty="0"/>
              <a:t>莓派一般</a:t>
            </a:r>
            <a:r>
              <a:rPr lang="zh-TW" altLang="en-US" dirty="0" smtClean="0"/>
              <a:t>搭載</a:t>
            </a:r>
            <a:r>
              <a:rPr lang="zh-TW" altLang="en-US" dirty="0"/>
              <a:t>多核心</a:t>
            </a:r>
            <a:r>
              <a:rPr lang="en-US" altLang="zh-TW" dirty="0"/>
              <a:t>CPU</a:t>
            </a:r>
            <a:r>
              <a:rPr lang="zh-TW" altLang="en-US" dirty="0"/>
              <a:t>，具備高容量記憶體，內建多種通訊介面，如</a:t>
            </a:r>
            <a:r>
              <a:rPr lang="zh-TW" altLang="en-US" dirty="0" smtClean="0"/>
              <a:t>乙太網路</a:t>
            </a:r>
            <a:r>
              <a:rPr lang="zh-TW" altLang="en-US" dirty="0"/>
              <a:t>、</a:t>
            </a:r>
            <a:r>
              <a:rPr lang="en-US" altLang="zh-TW" dirty="0"/>
              <a:t>Wi-Fi </a:t>
            </a:r>
            <a:r>
              <a:rPr lang="zh-TW" altLang="en-US" dirty="0"/>
              <a:t>無線網路及藍牙。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12.3</a:t>
            </a:r>
            <a:r>
              <a:rPr lang="zh-TW" altLang="en-US" dirty="0"/>
              <a:t>物聯網</a:t>
            </a:r>
          </a:p>
        </p:txBody>
      </p:sp>
    </p:spTree>
    <p:extLst>
      <p:ext uri="{BB962C8B-B14F-4D97-AF65-F5344CB8AC3E}">
        <p14:creationId xmlns:p14="http://schemas.microsoft.com/office/powerpoint/2010/main" val="4173499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12.3</a:t>
            </a:r>
            <a:r>
              <a:rPr lang="zh-TW" altLang="en-US" dirty="0"/>
              <a:t>物聯網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268760"/>
            <a:ext cx="7258304" cy="489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4991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12.3</a:t>
            </a:r>
            <a:r>
              <a:rPr lang="zh-TW" altLang="en-US" dirty="0"/>
              <a:t>物聯網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321109"/>
            <a:ext cx="5848697" cy="4628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09748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網際網路的興起帶動資訊相關產業的盛行，網路的相關設備，</a:t>
            </a:r>
            <a:r>
              <a:rPr lang="zh-TW" altLang="en-US" dirty="0" smtClean="0"/>
              <a:t>如網路</a:t>
            </a:r>
            <a:r>
              <a:rPr lang="zh-TW" altLang="en-US" dirty="0"/>
              <a:t>介面卡、網路硬碟與伺服器主機等，需求大增。全球資訊網</a:t>
            </a:r>
            <a:r>
              <a:rPr lang="zh-TW" altLang="en-US" dirty="0" smtClean="0"/>
              <a:t>崛起</a:t>
            </a:r>
            <a:r>
              <a:rPr lang="zh-TW" altLang="en-US" dirty="0"/>
              <a:t>，更帶動網路線上模式的商</a:t>
            </a:r>
            <a:r>
              <a:rPr lang="zh-TW" altLang="en-US" dirty="0" smtClean="0"/>
              <a:t>機。</a:t>
            </a:r>
            <a:endParaRPr lang="en-US" altLang="zh-TW" dirty="0" smtClean="0"/>
          </a:p>
          <a:p>
            <a:r>
              <a:rPr lang="zh-TW" altLang="en-US" dirty="0" smtClean="0"/>
              <a:t>此時</a:t>
            </a:r>
            <a:r>
              <a:rPr lang="zh-TW" altLang="en-US" dirty="0"/>
              <a:t>，提供網路服務的</a:t>
            </a:r>
            <a:r>
              <a:rPr lang="zh-TW" altLang="en-US" dirty="0" smtClean="0"/>
              <a:t>大型公司</a:t>
            </a:r>
            <a:r>
              <a:rPr lang="zh-TW" altLang="en-US" dirty="0"/>
              <a:t>，</a:t>
            </a:r>
            <a:r>
              <a:rPr lang="zh-TW" altLang="en-US" dirty="0" smtClean="0"/>
              <a:t>如</a:t>
            </a:r>
            <a:r>
              <a:rPr lang="en-US" altLang="zh-TW" dirty="0" smtClean="0"/>
              <a:t>Google</a:t>
            </a:r>
            <a:r>
              <a:rPr lang="zh-TW" altLang="en-US" dirty="0" smtClean="0"/>
              <a:t>、</a:t>
            </a:r>
            <a:r>
              <a:rPr lang="zh-TW" altLang="en-US" dirty="0"/>
              <a:t>雅虎與亞馬遜等也陸續出現，這些公司為了服務</a:t>
            </a:r>
            <a:r>
              <a:rPr lang="zh-TW" altLang="en-US" dirty="0" smtClean="0"/>
              <a:t>全世界</a:t>
            </a:r>
            <a:r>
              <a:rPr lang="zh-TW" altLang="en-US" dirty="0"/>
              <a:t>廣大的用戶，到處建置網路伺服器、</a:t>
            </a:r>
            <a:r>
              <a:rPr lang="zh-TW" altLang="en-US" dirty="0" smtClean="0"/>
              <a:t>購置一大堆硬碟。</a:t>
            </a:r>
            <a:endParaRPr lang="en-US" altLang="zh-TW" dirty="0" smtClean="0"/>
          </a:p>
          <a:p>
            <a:r>
              <a:rPr lang="zh-TW" altLang="en-US" dirty="0"/>
              <a:t>當這些建置的設備達到某個規模時，所能</a:t>
            </a:r>
            <a:r>
              <a:rPr lang="zh-TW" altLang="en-US" dirty="0" smtClean="0"/>
              <a:t>提供的</a:t>
            </a:r>
            <a:r>
              <a:rPr lang="zh-TW" altLang="en-US" dirty="0"/>
              <a:t>計算能力與儲存空間已遠遠超過本身的需求。於是，開始出現</a:t>
            </a:r>
            <a:r>
              <a:rPr lang="zh-TW" altLang="en-US" dirty="0" smtClean="0"/>
              <a:t>租用伺服器</a:t>
            </a:r>
            <a:r>
              <a:rPr lang="zh-TW" altLang="en-US" dirty="0"/>
              <a:t>與硬碟空間、甚至販售資訊的新商業模式，這種新的網路</a:t>
            </a:r>
            <a:r>
              <a:rPr lang="zh-TW" altLang="en-US" dirty="0" smtClean="0"/>
              <a:t>服務觀念</a:t>
            </a:r>
            <a:r>
              <a:rPr lang="zh-TW" altLang="en-US" dirty="0"/>
              <a:t>，造就熱門</a:t>
            </a:r>
            <a:r>
              <a:rPr lang="zh-TW" altLang="en-US" dirty="0" smtClean="0"/>
              <a:t>的「雲端計算」。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25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12.4</a:t>
            </a:r>
            <a:r>
              <a:rPr lang="zh-TW" altLang="en-US" dirty="0" smtClean="0"/>
              <a:t>雲端</a:t>
            </a:r>
            <a:r>
              <a:rPr lang="zh-TW" altLang="en-US" dirty="0"/>
              <a:t>計算</a:t>
            </a:r>
          </a:p>
        </p:txBody>
      </p:sp>
    </p:spTree>
    <p:extLst>
      <p:ext uri="{BB962C8B-B14F-4D97-AF65-F5344CB8AC3E}">
        <p14:creationId xmlns:p14="http://schemas.microsoft.com/office/powerpoint/2010/main" val="1115641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3528" y="980728"/>
            <a:ext cx="8568952" cy="5616624"/>
          </a:xfrm>
        </p:spPr>
        <p:txBody>
          <a:bodyPr>
            <a:normAutofit/>
          </a:bodyPr>
          <a:lstStyle/>
          <a:p>
            <a:r>
              <a:rPr lang="zh-TW" altLang="en-US" dirty="0"/>
              <a:t>一般公司若要提供某種網路服務，如線上訂房與網購等，均</a:t>
            </a:r>
            <a:r>
              <a:rPr lang="zh-TW" altLang="en-US" dirty="0" smtClean="0"/>
              <a:t>採用主從</a:t>
            </a:r>
            <a:r>
              <a:rPr lang="zh-TW" altLang="en-US" dirty="0"/>
              <a:t>架構的模式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對</a:t>
            </a:r>
            <a:r>
              <a:rPr lang="zh-TW" altLang="en-US" dirty="0"/>
              <a:t>小公司來說，建置與維護都是不小的成本</a:t>
            </a:r>
            <a:r>
              <a:rPr lang="zh-TW" altLang="en-US" dirty="0" smtClean="0"/>
              <a:t>。如果</a:t>
            </a:r>
            <a:r>
              <a:rPr lang="zh-TW" altLang="en-US" dirty="0"/>
              <a:t>有一家大型的網路公司提供完善的網路環境與管理，客戶可以</a:t>
            </a:r>
            <a:r>
              <a:rPr lang="zh-TW" altLang="en-US" dirty="0" smtClean="0"/>
              <a:t>依據</a:t>
            </a:r>
            <a:r>
              <a:rPr lang="zh-TW" altLang="en-US" dirty="0"/>
              <a:t>需求租用不同等級的伺服器、不同容量的硬碟空間與不同頻寬</a:t>
            </a:r>
            <a:r>
              <a:rPr lang="zh-TW" altLang="en-US" dirty="0" smtClean="0"/>
              <a:t>速度的</a:t>
            </a:r>
            <a:r>
              <a:rPr lang="zh-TW" altLang="en-US" dirty="0"/>
              <a:t>網路，就可以大幅降低投入的成本，也不必擔心資料遺失或系統</a:t>
            </a:r>
            <a:r>
              <a:rPr lang="zh-TW" altLang="en-US" dirty="0" smtClean="0"/>
              <a:t>故障</a:t>
            </a:r>
            <a:r>
              <a:rPr lang="zh-TW" altLang="en-US" dirty="0"/>
              <a:t>的問題。這種模式就是雲端計算希望提供的多元網路服務架構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/>
              <a:t>對個人而言，雲端計算也可以提供線上應用程式的執行。例如</a:t>
            </a:r>
            <a:r>
              <a:rPr lang="zh-TW" altLang="en-US" dirty="0" smtClean="0"/>
              <a:t>編輯</a:t>
            </a:r>
            <a:r>
              <a:rPr lang="zh-TW" altLang="en-US" dirty="0"/>
              <a:t>與排版文件的服務，個人端的電腦不用安裝昂貴的軟體，只要有</a:t>
            </a:r>
            <a:r>
              <a:rPr lang="zh-TW" altLang="en-US" dirty="0" smtClean="0"/>
              <a:t>網路</a:t>
            </a:r>
            <a:r>
              <a:rPr lang="zh-TW" altLang="en-US" dirty="0"/>
              <a:t>連線的功能，就可以連至雲端上的伺服器，啟動租用的軟體以</a:t>
            </a:r>
            <a:r>
              <a:rPr lang="zh-TW" altLang="en-US" dirty="0" smtClean="0"/>
              <a:t>編輯個人</a:t>
            </a:r>
            <a:r>
              <a:rPr lang="zh-TW" altLang="en-US" dirty="0"/>
              <a:t>的文件。資料的儲存也可以放置雲端上租用的硬碟</a:t>
            </a:r>
            <a:r>
              <a:rPr lang="zh-TW" altLang="en-US" dirty="0" smtClean="0"/>
              <a:t>空間。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26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12.4</a:t>
            </a:r>
            <a:r>
              <a:rPr lang="zh-TW" altLang="en-US" dirty="0"/>
              <a:t>雲端計算</a:t>
            </a:r>
          </a:p>
        </p:txBody>
      </p:sp>
    </p:spTree>
    <p:extLst>
      <p:ext uri="{BB962C8B-B14F-4D97-AF65-F5344CB8AC3E}">
        <p14:creationId xmlns:p14="http://schemas.microsoft.com/office/powerpoint/2010/main" val="2374175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美國國家標準暨技術研究院 </a:t>
            </a:r>
            <a:r>
              <a:rPr lang="en-US" altLang="zh-TW" dirty="0"/>
              <a:t>(NIST) </a:t>
            </a:r>
            <a:r>
              <a:rPr lang="zh-TW" altLang="en-US" dirty="0"/>
              <a:t>定義雲端運算具備</a:t>
            </a:r>
            <a:r>
              <a:rPr lang="zh-TW" altLang="en-US" b="1" dirty="0"/>
              <a:t>五大特色</a:t>
            </a:r>
            <a:r>
              <a:rPr lang="zh-TW" altLang="en-US" dirty="0"/>
              <a:t>、</a:t>
            </a:r>
            <a:r>
              <a:rPr lang="zh-TW" altLang="en-US" b="1" dirty="0"/>
              <a:t>三種服務模型</a:t>
            </a:r>
            <a:r>
              <a:rPr lang="zh-TW" altLang="en-US" dirty="0"/>
              <a:t>與</a:t>
            </a:r>
            <a:r>
              <a:rPr lang="zh-TW" altLang="en-US" b="1" dirty="0"/>
              <a:t>四種布建模型</a:t>
            </a:r>
            <a:r>
              <a:rPr lang="zh-TW" altLang="en-US" dirty="0" smtClean="0"/>
              <a:t>。五大</a:t>
            </a:r>
            <a:r>
              <a:rPr lang="zh-TW" altLang="en-US" dirty="0"/>
              <a:t>特色包含：</a:t>
            </a:r>
            <a:endParaRPr lang="en-US" altLang="zh-TW" dirty="0"/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隨選自助服務 </a:t>
            </a:r>
            <a:r>
              <a:rPr lang="en-US" altLang="zh-TW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(On-demand self-service)</a:t>
            </a:r>
            <a:r>
              <a:rPr lang="zh-TW" alt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：</a:t>
            </a:r>
            <a:r>
              <a:rPr lang="zh-TW" altLang="en-US" dirty="0"/>
              <a:t>客戶可依需求自我</a:t>
            </a:r>
            <a:r>
              <a:rPr lang="zh-TW" altLang="en-US" dirty="0" smtClean="0"/>
              <a:t>取得雲端</a:t>
            </a:r>
            <a:r>
              <a:rPr lang="zh-TW" altLang="en-US" dirty="0"/>
              <a:t>服務、無須與個別供應商聯繫。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廣泛</a:t>
            </a:r>
            <a:r>
              <a:rPr lang="zh-TW" alt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網路存取 </a:t>
            </a:r>
            <a:r>
              <a:rPr lang="en-US" altLang="zh-TW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(Broad network access)</a:t>
            </a:r>
            <a:r>
              <a:rPr lang="zh-TW" alt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：</a:t>
            </a:r>
            <a:r>
              <a:rPr lang="zh-TW" altLang="en-US" dirty="0"/>
              <a:t>客戶可在不同終端設備</a:t>
            </a:r>
            <a:r>
              <a:rPr lang="zh-TW" altLang="en-US" dirty="0" smtClean="0"/>
              <a:t>上透過網路</a:t>
            </a:r>
            <a:r>
              <a:rPr lang="zh-TW" altLang="en-US" dirty="0"/>
              <a:t>廣泛地取得雲端服務。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共用</a:t>
            </a:r>
            <a:r>
              <a:rPr lang="zh-TW" alt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資源池 </a:t>
            </a:r>
            <a:r>
              <a:rPr lang="en-US" altLang="zh-TW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(Resource pooling)</a:t>
            </a:r>
            <a:r>
              <a:rPr lang="zh-TW" alt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：</a:t>
            </a:r>
            <a:r>
              <a:rPr lang="zh-TW" altLang="en-US" dirty="0"/>
              <a:t>雲端服務供應商可將運算與</a:t>
            </a:r>
            <a:r>
              <a:rPr lang="zh-TW" altLang="en-US" dirty="0" smtClean="0"/>
              <a:t>儲存等</a:t>
            </a:r>
            <a:r>
              <a:rPr lang="zh-TW" altLang="en-US" dirty="0"/>
              <a:t>資源匯集一起，採用租賃或是共享的方式分配給客戶。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快速</a:t>
            </a:r>
            <a:r>
              <a:rPr lang="zh-TW" alt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與彈性地調整服務 </a:t>
            </a:r>
            <a:r>
              <a:rPr lang="en-US" altLang="zh-TW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(Rapid elasticity)</a:t>
            </a:r>
            <a:r>
              <a:rPr lang="zh-TW" alt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：</a:t>
            </a:r>
            <a:r>
              <a:rPr lang="zh-TW" altLang="en-US" dirty="0"/>
              <a:t>客戶可隨時依據需求</a:t>
            </a:r>
            <a:r>
              <a:rPr lang="zh-TW" altLang="en-US" dirty="0" smtClean="0"/>
              <a:t>調整</a:t>
            </a:r>
            <a:r>
              <a:rPr lang="zh-TW" altLang="en-US" dirty="0"/>
              <a:t>雲端服務的資源配置量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>
              <a:buFont typeface="Wingdings" panose="05000000000000000000" pitchFamily="2" charset="2"/>
              <a:buChar char="u"/>
            </a:pPr>
            <a:r>
              <a:rPr lang="zh-TW" alt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可</a:t>
            </a:r>
            <a:r>
              <a:rPr lang="zh-TW" alt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量測的服務 </a:t>
            </a:r>
            <a:r>
              <a:rPr lang="en-US" altLang="zh-TW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(Measured service)</a:t>
            </a:r>
            <a:r>
              <a:rPr lang="zh-TW" alt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：</a:t>
            </a:r>
            <a:r>
              <a:rPr lang="zh-TW" altLang="en-US" dirty="0"/>
              <a:t>雲端系統可對運算資源進行</a:t>
            </a:r>
            <a:r>
              <a:rPr lang="zh-TW" altLang="en-US" dirty="0" smtClean="0"/>
              <a:t>量測</a:t>
            </a:r>
            <a:r>
              <a:rPr lang="zh-TW" altLang="en-US" dirty="0"/>
              <a:t>，進而達到更佳的資源利用。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12.4</a:t>
            </a:r>
            <a:r>
              <a:rPr lang="zh-TW" altLang="en-US" dirty="0"/>
              <a:t>雲端計算</a:t>
            </a:r>
          </a:p>
        </p:txBody>
      </p:sp>
    </p:spTree>
    <p:extLst>
      <p:ext uri="{BB962C8B-B14F-4D97-AF65-F5344CB8AC3E}">
        <p14:creationId xmlns:p14="http://schemas.microsoft.com/office/powerpoint/2010/main" val="3038824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雲端運算的服務模型有三種</a:t>
            </a:r>
            <a:r>
              <a:rPr lang="zh-TW" altLang="en-US" dirty="0" smtClean="0"/>
              <a:t>：</a:t>
            </a:r>
            <a:endParaRPr lang="en-US" altLang="zh-TW" dirty="0" smtClean="0"/>
          </a:p>
          <a:p>
            <a:pPr marL="109728" indent="0">
              <a:buNone/>
            </a:pPr>
            <a:r>
              <a:rPr lang="en-US" altLang="zh-TW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1.</a:t>
            </a:r>
            <a:r>
              <a:rPr lang="zh-TW" alt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軟體</a:t>
            </a:r>
            <a:r>
              <a:rPr lang="zh-TW" alt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即</a:t>
            </a:r>
            <a:r>
              <a:rPr lang="zh-TW" alt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服務 </a:t>
            </a:r>
            <a:r>
              <a:rPr lang="en-US" altLang="zh-TW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(Software as a Service, </a:t>
            </a:r>
            <a:r>
              <a:rPr lang="en-US" altLang="zh-TW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SaaS</a:t>
            </a:r>
            <a:r>
              <a:rPr lang="en-US" altLang="zh-TW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328032" lvl="1" indent="0">
              <a:buSzPct val="100000"/>
              <a:buNone/>
            </a:pPr>
            <a:r>
              <a:rPr lang="zh-TW" altLang="en-US" dirty="0"/>
              <a:t>這是一種租用應用軟體程式的商業模式。服務供應商將各種</a:t>
            </a:r>
            <a:r>
              <a:rPr lang="zh-TW" altLang="en-US" dirty="0" smtClean="0"/>
              <a:t>應用軟體</a:t>
            </a:r>
            <a:r>
              <a:rPr lang="zh-TW" altLang="en-US" dirty="0"/>
              <a:t>集中安裝於雲端伺服器，客戶端只要利用網路連接進來，</a:t>
            </a:r>
            <a:r>
              <a:rPr lang="zh-TW" altLang="en-US" dirty="0" smtClean="0"/>
              <a:t>就可以</a:t>
            </a:r>
            <a:r>
              <a:rPr lang="zh-TW" altLang="en-US" dirty="0"/>
              <a:t>執行這些軟體，處理自己的資料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marL="72000" indent="0">
              <a:buSzPct val="100000"/>
              <a:buNone/>
            </a:pPr>
            <a:r>
              <a:rPr lang="en-US" altLang="zh-TW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2.</a:t>
            </a:r>
            <a:r>
              <a:rPr lang="zh-TW" alt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平台</a:t>
            </a:r>
            <a:r>
              <a:rPr lang="zh-TW" alt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即</a:t>
            </a:r>
            <a:r>
              <a:rPr lang="zh-TW" alt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服務 </a:t>
            </a:r>
            <a:r>
              <a:rPr lang="en-US" altLang="zh-TW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(Platform as a Service, </a:t>
            </a:r>
            <a:r>
              <a:rPr lang="en-US" altLang="zh-TW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PaaS</a:t>
            </a:r>
            <a:r>
              <a:rPr lang="en-US" altLang="zh-TW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328032" lvl="1" indent="0">
              <a:buSzPct val="100000"/>
              <a:buNone/>
            </a:pPr>
            <a:r>
              <a:rPr lang="zh-TW" altLang="en-US" dirty="0"/>
              <a:t>這是一種租用計算平台的商業模式，服務供應商在雲端上建置</a:t>
            </a:r>
            <a:r>
              <a:rPr lang="zh-TW" altLang="en-US" dirty="0" smtClean="0"/>
              <a:t>好電腦</a:t>
            </a:r>
            <a:r>
              <a:rPr lang="zh-TW" altLang="en-US" dirty="0"/>
              <a:t>作業系統的執行環境、提供應用程式開發的各種工具、</a:t>
            </a:r>
            <a:r>
              <a:rPr lang="zh-TW" altLang="en-US" dirty="0" smtClean="0"/>
              <a:t>甚至提供</a:t>
            </a:r>
            <a:r>
              <a:rPr lang="zh-TW" altLang="en-US" dirty="0"/>
              <a:t>資料庫供大量資料的管理，以及現成的網頁伺服器等。</a:t>
            </a:r>
            <a:r>
              <a:rPr lang="zh-TW" altLang="en-US" dirty="0" smtClean="0"/>
              <a:t>客戶端</a:t>
            </a:r>
            <a:r>
              <a:rPr lang="zh-TW" altLang="en-US" dirty="0"/>
              <a:t>只要開發並上傳自己的應用程式，後續的程式執行與資料的</a:t>
            </a:r>
            <a:r>
              <a:rPr lang="zh-TW" altLang="en-US" dirty="0" smtClean="0"/>
              <a:t>儲存</a:t>
            </a:r>
            <a:r>
              <a:rPr lang="zh-TW" altLang="en-US" dirty="0"/>
              <a:t>管理，全部交給雲端。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28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12.4</a:t>
            </a:r>
            <a:r>
              <a:rPr lang="zh-TW" altLang="en-US" dirty="0"/>
              <a:t>雲端計算</a:t>
            </a:r>
          </a:p>
        </p:txBody>
      </p:sp>
    </p:spTree>
    <p:extLst>
      <p:ext uri="{BB962C8B-B14F-4D97-AF65-F5344CB8AC3E}">
        <p14:creationId xmlns:p14="http://schemas.microsoft.com/office/powerpoint/2010/main" val="990294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000" indent="0">
              <a:buSzPct val="100000"/>
              <a:buNone/>
            </a:pPr>
            <a:r>
              <a:rPr lang="en-US" altLang="zh-TW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3.</a:t>
            </a:r>
            <a:r>
              <a:rPr lang="zh-TW" alt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基礎</a:t>
            </a:r>
            <a:r>
              <a:rPr lang="zh-TW" alt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設施即</a:t>
            </a:r>
            <a:r>
              <a:rPr lang="zh-TW" alt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服務 </a:t>
            </a:r>
            <a:r>
              <a:rPr lang="en-US" altLang="zh-TW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(Infrastructure as a Service, </a:t>
            </a:r>
            <a:r>
              <a:rPr lang="en-US" altLang="zh-TW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IaaS</a:t>
            </a:r>
            <a:r>
              <a:rPr lang="en-US" altLang="zh-TW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328032" lvl="1" indent="0">
              <a:buSzPct val="100000"/>
              <a:buNone/>
            </a:pPr>
            <a:r>
              <a:rPr lang="zh-TW" altLang="en-US" dirty="0"/>
              <a:t>這是一種租用雲端設備的商業模式，可租用的設備需求包括</a:t>
            </a:r>
            <a:r>
              <a:rPr lang="zh-TW" altLang="en-US" dirty="0" smtClean="0"/>
              <a:t>主機個數</a:t>
            </a:r>
            <a:r>
              <a:rPr lang="zh-TW" altLang="en-US" dirty="0"/>
              <a:t>、記憶體容量、硬碟空間與網路頻寬等。客戶自行管理</a:t>
            </a:r>
            <a:r>
              <a:rPr lang="zh-TW" altLang="en-US" dirty="0" smtClean="0"/>
              <a:t>租用的</a:t>
            </a:r>
            <a:r>
              <a:rPr lang="zh-TW" altLang="en-US" dirty="0"/>
              <a:t>電腦資源，如安裝作業系統與應用軟體等。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29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雲端計算 </a:t>
            </a:r>
            <a:r>
              <a:rPr lang="en-US" altLang="zh-TW" dirty="0"/>
              <a:t>(</a:t>
            </a:r>
            <a:r>
              <a:rPr lang="zh-TW" altLang="en-US" dirty="0"/>
              <a:t>續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5195" y="2996952"/>
            <a:ext cx="4924425" cy="332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13827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3528" y="980728"/>
            <a:ext cx="8568952" cy="5760640"/>
          </a:xfrm>
        </p:spPr>
        <p:txBody>
          <a:bodyPr>
            <a:normAutofit fontScale="92500"/>
          </a:bodyPr>
          <a:lstStyle/>
          <a:p>
            <a:r>
              <a:rPr lang="zh-TW" altLang="en-US" dirty="0"/>
              <a:t>布建雲端運算服務的模式基本有四種</a:t>
            </a:r>
            <a:r>
              <a:rPr lang="zh-TW" altLang="en-US" dirty="0" smtClean="0"/>
              <a:t>：</a:t>
            </a:r>
            <a:endParaRPr lang="en-US" altLang="zh-TW" dirty="0"/>
          </a:p>
          <a:p>
            <a:pPr lvl="1"/>
            <a:r>
              <a:rPr lang="zh-TW" alt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私有</a:t>
            </a:r>
            <a:r>
              <a:rPr lang="zh-TW" alt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雲 </a:t>
            </a:r>
            <a:r>
              <a:rPr lang="en-US" altLang="zh-TW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(private cloud</a:t>
            </a:r>
            <a:r>
              <a:rPr lang="en-US" altLang="zh-TW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):</a:t>
            </a:r>
            <a:r>
              <a:rPr lang="zh-TW" altLang="en-US" dirty="0"/>
              <a:t>使用限定性較高，如專供公司或校園內部</a:t>
            </a:r>
            <a:r>
              <a:rPr lang="zh-TW" altLang="en-US" dirty="0" smtClean="0"/>
              <a:t>使用。</a:t>
            </a:r>
            <a:endParaRPr lang="en-US" altLang="zh-TW" dirty="0"/>
          </a:p>
          <a:p>
            <a:pPr lvl="1"/>
            <a:r>
              <a:rPr lang="zh-TW" alt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公眾</a:t>
            </a:r>
            <a:r>
              <a:rPr lang="zh-TW" alt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雲 </a:t>
            </a:r>
            <a:r>
              <a:rPr lang="en-US" altLang="zh-TW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(public cloud</a:t>
            </a:r>
            <a:r>
              <a:rPr lang="en-US" altLang="zh-TW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):</a:t>
            </a:r>
            <a:r>
              <a:rPr lang="zh-TW" altLang="en-US" dirty="0"/>
              <a:t>開放一般用戶使用，但部分加值的服務需要付</a:t>
            </a:r>
            <a:r>
              <a:rPr lang="zh-TW" altLang="en-US" dirty="0" smtClean="0"/>
              <a:t>費。</a:t>
            </a:r>
            <a:endParaRPr lang="en-US" altLang="zh-TW" dirty="0"/>
          </a:p>
          <a:p>
            <a:pPr lvl="1"/>
            <a:r>
              <a:rPr lang="zh-TW" alt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混合雲 </a:t>
            </a:r>
            <a:r>
              <a:rPr lang="en-US" altLang="zh-TW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(hybrid cloud) :</a:t>
            </a:r>
            <a:r>
              <a:rPr lang="zh-TW" altLang="en-US" dirty="0"/>
              <a:t>是一種結合以上三種或其中兩種的模式</a:t>
            </a:r>
            <a:r>
              <a:rPr lang="zh-TW" altLang="en-US" dirty="0" smtClean="0"/>
              <a:t>。</a:t>
            </a:r>
            <a:endParaRPr lang="en-US" altLang="zh-TW" dirty="0"/>
          </a:p>
          <a:p>
            <a:pPr lvl="1"/>
            <a:r>
              <a:rPr lang="zh-TW" alt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社</a:t>
            </a:r>
            <a:r>
              <a:rPr lang="zh-TW" alt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群雲 </a:t>
            </a:r>
            <a:r>
              <a:rPr lang="en-US" altLang="zh-TW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</a:t>
            </a:r>
            <a:r>
              <a:rPr lang="en-US" altLang="zh-TW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community</a:t>
            </a:r>
            <a:r>
              <a:rPr lang="zh-TW" alt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TW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cloud):</a:t>
            </a:r>
            <a:r>
              <a:rPr lang="zh-TW" altLang="en-US" dirty="0"/>
              <a:t>社群雲為</a:t>
            </a:r>
            <a:r>
              <a:rPr lang="zh-TW" altLang="en-US" dirty="0" smtClean="0"/>
              <a:t>特定群體</a:t>
            </a:r>
            <a:r>
              <a:rPr lang="zh-TW" altLang="en-US" dirty="0"/>
              <a:t>基於共同利益與約定所設立，如政府單位或是醫療</a:t>
            </a:r>
            <a:r>
              <a:rPr lang="zh-TW" altLang="en-US" dirty="0" smtClean="0"/>
              <a:t>體系。</a:t>
            </a:r>
            <a:endParaRPr lang="en-US" altLang="zh-TW" dirty="0" smtClean="0"/>
          </a:p>
          <a:p>
            <a:r>
              <a:rPr lang="zh-TW" altLang="en-US" dirty="0"/>
              <a:t>廣義而言，我們也可以用</a:t>
            </a:r>
            <a:r>
              <a:rPr lang="zh-TW" altLang="en-US" dirty="0" smtClean="0"/>
              <a:t>服務</a:t>
            </a:r>
            <a:r>
              <a:rPr lang="zh-TW" altLang="en-US" dirty="0"/>
              <a:t>的內容區分各種類型的</a:t>
            </a:r>
            <a:r>
              <a:rPr lang="zh-TW" altLang="en-US" dirty="0" smtClean="0"/>
              <a:t>雲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提供</a:t>
            </a:r>
            <a:r>
              <a:rPr lang="zh-TW" altLang="en-US" dirty="0"/>
              <a:t>家庭防盜防竊的監控</a:t>
            </a:r>
            <a:r>
              <a:rPr lang="zh-TW" altLang="en-US" dirty="0" smtClean="0"/>
              <a:t>雲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彙整</a:t>
            </a:r>
            <a:r>
              <a:rPr lang="zh-TW" altLang="en-US" dirty="0"/>
              <a:t>病人病歷資料的醫療</a:t>
            </a:r>
            <a:r>
              <a:rPr lang="zh-TW" altLang="en-US" dirty="0" smtClean="0"/>
              <a:t>雲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提供</a:t>
            </a:r>
            <a:r>
              <a:rPr lang="zh-TW" altLang="en-US" dirty="0"/>
              <a:t>會員運動健康資訊分享的健康</a:t>
            </a:r>
            <a:r>
              <a:rPr lang="zh-TW" altLang="en-US" dirty="0" smtClean="0"/>
              <a:t>雲</a:t>
            </a:r>
            <a:endParaRPr lang="en-US" altLang="zh-TW" dirty="0" smtClean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30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12.4</a:t>
            </a:r>
            <a:r>
              <a:rPr lang="zh-TW" altLang="en-US" dirty="0"/>
              <a:t>雲端計算</a:t>
            </a:r>
          </a:p>
        </p:txBody>
      </p:sp>
    </p:spTree>
    <p:extLst>
      <p:ext uri="{BB962C8B-B14F-4D97-AF65-F5344CB8AC3E}">
        <p14:creationId xmlns:p14="http://schemas.microsoft.com/office/powerpoint/2010/main" val="1857683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雲端服務的供應商如何同時滿足這些</a:t>
            </a:r>
            <a:r>
              <a:rPr lang="zh-TW" altLang="en-US" dirty="0" smtClean="0"/>
              <a:t>不同</a:t>
            </a:r>
            <a:r>
              <a:rPr lang="zh-TW" altLang="en-US" dirty="0"/>
              <a:t>的需求呢？答案是使用一種稱為</a:t>
            </a:r>
            <a:r>
              <a:rPr lang="zh-TW" altLang="en-US" dirty="0">
                <a:solidFill>
                  <a:srgbClr val="0070C0"/>
                </a:solidFill>
              </a:rPr>
              <a:t>虛擬化 </a:t>
            </a:r>
            <a:r>
              <a:rPr lang="en-US" altLang="zh-TW" dirty="0">
                <a:solidFill>
                  <a:srgbClr val="0070C0"/>
                </a:solidFill>
              </a:rPr>
              <a:t>(virtualization) </a:t>
            </a:r>
            <a:r>
              <a:rPr lang="zh-TW" altLang="en-US" dirty="0"/>
              <a:t>的技術，</a:t>
            </a:r>
            <a:r>
              <a:rPr lang="zh-TW" altLang="en-US" dirty="0" smtClean="0"/>
              <a:t>在一台</a:t>
            </a:r>
            <a:r>
              <a:rPr lang="zh-TW" altLang="en-US" dirty="0"/>
              <a:t>伺服器主機上利用軟體執行的方式模擬成多台的電腦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這</a:t>
            </a:r>
            <a:r>
              <a:rPr lang="zh-TW" altLang="en-US" dirty="0"/>
              <a:t>種</a:t>
            </a:r>
            <a:r>
              <a:rPr lang="zh-TW" altLang="en-US" dirty="0" smtClean="0">
                <a:solidFill>
                  <a:srgbClr val="0070C0"/>
                </a:solidFill>
              </a:rPr>
              <a:t>虛擬機器 </a:t>
            </a:r>
            <a:r>
              <a:rPr lang="en-US" altLang="zh-TW" dirty="0">
                <a:solidFill>
                  <a:srgbClr val="0070C0"/>
                </a:solidFill>
              </a:rPr>
              <a:t>(Virtual Machine, VM)</a:t>
            </a:r>
            <a:r>
              <a:rPr lang="en-US" altLang="zh-TW" dirty="0"/>
              <a:t> </a:t>
            </a:r>
            <a:r>
              <a:rPr lang="zh-TW" altLang="en-US" dirty="0"/>
              <a:t>可透過軟體設定的方式，成為不同規格</a:t>
            </a:r>
            <a:r>
              <a:rPr lang="zh-TW" altLang="en-US" dirty="0" smtClean="0"/>
              <a:t>的電腦</a:t>
            </a:r>
            <a:r>
              <a:rPr lang="zh-TW" altLang="en-US" dirty="0"/>
              <a:t>，滿足用戶不同的需求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>
                <a:solidFill>
                  <a:srgbClr val="0070C0"/>
                </a:solidFill>
              </a:rPr>
              <a:t>新一代軟體定義網路 </a:t>
            </a:r>
            <a:r>
              <a:rPr lang="en-US" altLang="zh-TW" dirty="0">
                <a:solidFill>
                  <a:srgbClr val="0070C0"/>
                </a:solidFill>
              </a:rPr>
              <a:t>(</a:t>
            </a:r>
            <a:r>
              <a:rPr lang="en-US" altLang="zh-TW" dirty="0" smtClean="0">
                <a:solidFill>
                  <a:srgbClr val="0070C0"/>
                </a:solidFill>
              </a:rPr>
              <a:t>Software-Defined</a:t>
            </a:r>
            <a:r>
              <a:rPr lang="zh-TW" altLang="en-US" dirty="0" smtClean="0">
                <a:solidFill>
                  <a:srgbClr val="0070C0"/>
                </a:solidFill>
              </a:rPr>
              <a:t> </a:t>
            </a:r>
            <a:r>
              <a:rPr lang="en-US" altLang="zh-TW" dirty="0" smtClean="0">
                <a:solidFill>
                  <a:srgbClr val="0070C0"/>
                </a:solidFill>
              </a:rPr>
              <a:t>Networking</a:t>
            </a:r>
            <a:r>
              <a:rPr lang="en-US" altLang="zh-TW" dirty="0">
                <a:solidFill>
                  <a:srgbClr val="0070C0"/>
                </a:solidFill>
              </a:rPr>
              <a:t>, SDN)</a:t>
            </a:r>
            <a:r>
              <a:rPr lang="zh-TW" altLang="en-US" dirty="0"/>
              <a:t>，可將網路設備的控制集中於一台控制器，統籌路</a:t>
            </a:r>
            <a:r>
              <a:rPr lang="zh-TW" altLang="en-US" dirty="0" smtClean="0"/>
              <a:t>由決策</a:t>
            </a:r>
            <a:r>
              <a:rPr lang="zh-TW" altLang="en-US" dirty="0"/>
              <a:t>，進而達到動態分流與頻寬切割的目的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/>
              <a:t>雲端運算運行多年後，開始呈現資料與服務太過集中的問題，</a:t>
            </a:r>
            <a:r>
              <a:rPr lang="zh-TW" altLang="en-US" dirty="0" smtClean="0"/>
              <a:t>大量</a:t>
            </a:r>
            <a:r>
              <a:rPr lang="zh-TW" altLang="en-US" dirty="0"/>
              <a:t>的資料或服務請求湧向雲端資料中心，容易造成網路壅塞。完全</a:t>
            </a:r>
            <a:r>
              <a:rPr lang="zh-TW" altLang="en-US" dirty="0" smtClean="0"/>
              <a:t>透過</a:t>
            </a:r>
            <a:r>
              <a:rPr lang="zh-TW" altLang="en-US" dirty="0"/>
              <a:t>雲端資料中心收集與儲存所有資料，也暴露隱私權的問題。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12.4</a:t>
            </a:r>
            <a:r>
              <a:rPr lang="zh-TW" altLang="en-US" dirty="0"/>
              <a:t>雲端計算</a:t>
            </a:r>
          </a:p>
        </p:txBody>
      </p:sp>
    </p:spTree>
    <p:extLst>
      <p:ext uri="{BB962C8B-B14F-4D97-AF65-F5344CB8AC3E}">
        <p14:creationId xmlns:p14="http://schemas.microsoft.com/office/powerpoint/2010/main" val="123835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解決上述問題的方案在於將部分的資料處理挪至網路邊緣，更</a:t>
            </a:r>
            <a:r>
              <a:rPr lang="zh-TW" altLang="en-US" dirty="0" smtClean="0"/>
              <a:t>靠近</a:t>
            </a:r>
            <a:r>
              <a:rPr lang="zh-TW" altLang="en-US" dirty="0"/>
              <a:t>資料來源端或是服務請求端，以減少資料傳輸的延遲與雲端</a:t>
            </a:r>
            <a:r>
              <a:rPr lang="zh-TW" altLang="en-US" dirty="0" smtClean="0"/>
              <a:t>伺服器的</a:t>
            </a:r>
            <a:r>
              <a:rPr lang="zh-TW" altLang="en-US" dirty="0"/>
              <a:t>工作負載，這種方式稱為</a:t>
            </a:r>
            <a:r>
              <a:rPr lang="zh-TW" altLang="en-US" dirty="0">
                <a:solidFill>
                  <a:srgbClr val="0070C0"/>
                </a:solidFill>
              </a:rPr>
              <a:t>邊緣運算 </a:t>
            </a:r>
            <a:r>
              <a:rPr lang="en-US" altLang="zh-TW" dirty="0">
                <a:solidFill>
                  <a:srgbClr val="0070C0"/>
                </a:solidFill>
              </a:rPr>
              <a:t>(Edge Computing)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/>
              <a:t>另一種介於雲端運算與邊緣運算的</a:t>
            </a:r>
            <a:r>
              <a:rPr lang="zh-TW" altLang="en-US" dirty="0">
                <a:solidFill>
                  <a:srgbClr val="0070C0"/>
                </a:solidFill>
              </a:rPr>
              <a:t>霧運算 </a:t>
            </a:r>
            <a:r>
              <a:rPr lang="en-US" altLang="zh-TW" dirty="0">
                <a:solidFill>
                  <a:srgbClr val="0070C0"/>
                </a:solidFill>
              </a:rPr>
              <a:t>(Fog Computing) </a:t>
            </a:r>
            <a:r>
              <a:rPr lang="zh-TW" altLang="en-US" dirty="0"/>
              <a:t>也</a:t>
            </a:r>
            <a:r>
              <a:rPr lang="zh-TW" altLang="en-US" dirty="0" smtClean="0"/>
              <a:t>開始</a:t>
            </a:r>
            <a:r>
              <a:rPr lang="zh-TW" altLang="en-US" dirty="0"/>
              <a:t>被熱烈討論，主要觀念是在雲端伺服器與邊緣伺服器之間建構多</a:t>
            </a:r>
            <a:r>
              <a:rPr lang="zh-TW" altLang="en-US" dirty="0" smtClean="0"/>
              <a:t>層的</a:t>
            </a:r>
            <a:r>
              <a:rPr lang="zh-TW" altLang="en-US" dirty="0"/>
              <a:t>霧服務伺服器或霧節點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霧節點具備</a:t>
            </a:r>
            <a:r>
              <a:rPr lang="zh-TW" altLang="en-US" dirty="0"/>
              <a:t>網路、運算與儲存的能力，</a:t>
            </a:r>
            <a:r>
              <a:rPr lang="zh-TW" altLang="en-US" dirty="0" smtClean="0"/>
              <a:t>可分散</a:t>
            </a:r>
            <a:r>
              <a:rPr lang="zh-TW" altLang="en-US" dirty="0"/>
              <a:t>雲端伺服器的處理負擔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多</a:t>
            </a:r>
            <a:r>
              <a:rPr lang="zh-TW" altLang="en-US" dirty="0"/>
              <a:t>個霧節點彼此之間亦可轉移工作，</a:t>
            </a:r>
            <a:r>
              <a:rPr lang="zh-TW" altLang="en-US" dirty="0" smtClean="0"/>
              <a:t>達到</a:t>
            </a:r>
            <a:r>
              <a:rPr lang="zh-TW" altLang="en-US" dirty="0"/>
              <a:t>更好的動態工作負載平衡。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12.4</a:t>
            </a:r>
            <a:r>
              <a:rPr lang="zh-TW" altLang="en-US" dirty="0"/>
              <a:t>雲端計算</a:t>
            </a:r>
          </a:p>
        </p:txBody>
      </p:sp>
    </p:spTree>
    <p:extLst>
      <p:ext uri="{BB962C8B-B14F-4D97-AF65-F5344CB8AC3E}">
        <p14:creationId xmlns:p14="http://schemas.microsoft.com/office/powerpoint/2010/main" val="998740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2204864"/>
            <a:ext cx="4293761" cy="2807717"/>
          </a:xfrm>
        </p:spPr>
      </p:pic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END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26262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匯合">
  <a:themeElements>
    <a:clrScheme name="匯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匯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匯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1445</TotalTime>
  <Words>2828</Words>
  <Application>Microsoft Office PowerPoint</Application>
  <PresentationFormat>如螢幕大小 (4:3)</PresentationFormat>
  <Paragraphs>140</Paragraphs>
  <Slides>33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33</vt:i4>
      </vt:variant>
    </vt:vector>
  </HeadingPairs>
  <TitlesOfParts>
    <vt:vector size="34" baseType="lpstr">
      <vt:lpstr>匯合</vt:lpstr>
      <vt:lpstr>Ch12  巨量資料、物聯網與雲端運算</vt:lpstr>
      <vt:lpstr>PowerPoint 簡報</vt:lpstr>
      <vt:lpstr>PowerPoint 簡報</vt:lpstr>
      <vt:lpstr>PowerPoint 簡報</vt:lpstr>
      <vt:lpstr>PowerPoint 簡報</vt:lpstr>
      <vt:lpstr>PowerPoint 簡報</vt:lpstr>
      <vt:lpstr>12.1巨量資料</vt:lpstr>
      <vt:lpstr>12.1巨量資料</vt:lpstr>
      <vt:lpstr>12.1巨量資料</vt:lpstr>
      <vt:lpstr>12.1巨量資料</vt:lpstr>
      <vt:lpstr>12.2穿戴式計算</vt:lpstr>
      <vt:lpstr>12.2穿戴式計算</vt:lpstr>
      <vt:lpstr>12.2穿戴式計算</vt:lpstr>
      <vt:lpstr>12.2穿戴式計算</vt:lpstr>
      <vt:lpstr>12.2穿戴式計算</vt:lpstr>
      <vt:lpstr>12.3物聯網</vt:lpstr>
      <vt:lpstr>12.3物聯網</vt:lpstr>
      <vt:lpstr>12.3物聯網</vt:lpstr>
      <vt:lpstr>12.3物聯網</vt:lpstr>
      <vt:lpstr>12.3物聯網</vt:lpstr>
      <vt:lpstr>12.3物聯網</vt:lpstr>
      <vt:lpstr>12.3物聯網</vt:lpstr>
      <vt:lpstr>12.3物聯網</vt:lpstr>
      <vt:lpstr>12.3物聯網</vt:lpstr>
      <vt:lpstr>12.4雲端計算</vt:lpstr>
      <vt:lpstr>12.4雲端計算</vt:lpstr>
      <vt:lpstr>12.4雲端計算</vt:lpstr>
      <vt:lpstr>12.4雲端計算</vt:lpstr>
      <vt:lpstr>雲端計算 (續)</vt:lpstr>
      <vt:lpstr>12.4雲端計算</vt:lpstr>
      <vt:lpstr>12.4雲端計算</vt:lpstr>
      <vt:lpstr>12.4雲端計算</vt:lpstr>
      <vt:lpstr>THE END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電腦簡介</dc:title>
  <dc:creator>lobird</dc:creator>
  <cp:lastModifiedBy>winx</cp:lastModifiedBy>
  <cp:revision>176</cp:revision>
  <dcterms:created xsi:type="dcterms:W3CDTF">2014-07-06T07:33:00Z</dcterms:created>
  <dcterms:modified xsi:type="dcterms:W3CDTF">2022-06-28T05:55:07Z</dcterms:modified>
</cp:coreProperties>
</file>