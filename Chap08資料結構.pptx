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8"/>
  </p:notesMasterIdLst>
  <p:sldIdLst>
    <p:sldId id="256" r:id="rId2"/>
    <p:sldId id="259" r:id="rId3"/>
    <p:sldId id="288" r:id="rId4"/>
    <p:sldId id="261" r:id="rId5"/>
    <p:sldId id="289" r:id="rId6"/>
    <p:sldId id="263" r:id="rId7"/>
    <p:sldId id="287" r:id="rId8"/>
    <p:sldId id="264" r:id="rId9"/>
    <p:sldId id="290" r:id="rId10"/>
    <p:sldId id="265" r:id="rId11"/>
    <p:sldId id="266" r:id="rId12"/>
    <p:sldId id="267" r:id="rId13"/>
    <p:sldId id="268" r:id="rId14"/>
    <p:sldId id="291" r:id="rId15"/>
    <p:sldId id="292" r:id="rId16"/>
    <p:sldId id="293" r:id="rId17"/>
    <p:sldId id="272" r:id="rId18"/>
    <p:sldId id="273" r:id="rId19"/>
    <p:sldId id="294" r:id="rId20"/>
    <p:sldId id="274" r:id="rId21"/>
    <p:sldId id="275" r:id="rId22"/>
    <p:sldId id="276" r:id="rId23"/>
    <p:sldId id="277" r:id="rId24"/>
    <p:sldId id="278" r:id="rId25"/>
    <p:sldId id="279" r:id="rId26"/>
    <p:sldId id="295" r:id="rId27"/>
    <p:sldId id="280" r:id="rId28"/>
    <p:sldId id="281" r:id="rId29"/>
    <p:sldId id="282" r:id="rId30"/>
    <p:sldId id="296" r:id="rId31"/>
    <p:sldId id="284" r:id="rId32"/>
    <p:sldId id="285" r:id="rId33"/>
    <p:sldId id="297" r:id="rId34"/>
    <p:sldId id="286" r:id="rId35"/>
    <p:sldId id="298" r:id="rId36"/>
    <p:sldId id="29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15" d="100"/>
          <a:sy n="115" d="100"/>
        </p:scale>
        <p:origin x="18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大維 程" userId="f3e32c81fef265eb" providerId="LiveId" clId="{9159AABB-1C12-465C-A5E4-3E4C8554923A}"/>
    <pc:docChg chg="custSel modSld">
      <pc:chgData name="大維 程" userId="f3e32c81fef265eb" providerId="LiveId" clId="{9159AABB-1C12-465C-A5E4-3E4C8554923A}" dt="2025-12-21T16:18:57.479" v="2" actId="478"/>
      <pc:docMkLst>
        <pc:docMk/>
      </pc:docMkLst>
      <pc:sldChg chg="delSp modSp mod delAnim">
        <pc:chgData name="大維 程" userId="f3e32c81fef265eb" providerId="LiveId" clId="{9159AABB-1C12-465C-A5E4-3E4C8554923A}" dt="2025-12-21T16:18:38.155" v="1" actId="478"/>
        <pc:sldMkLst>
          <pc:docMk/>
          <pc:sldMk cId="2163217823" sldId="292"/>
        </pc:sldMkLst>
        <pc:spChg chg="del mod">
          <ac:chgData name="大維 程" userId="f3e32c81fef265eb" providerId="LiveId" clId="{9159AABB-1C12-465C-A5E4-3E4C8554923A}" dt="2025-12-21T16:18:38.155" v="1" actId="478"/>
          <ac:spMkLst>
            <pc:docMk/>
            <pc:sldMk cId="2163217823" sldId="292"/>
            <ac:spMk id="5" creationId="{00000000-0000-0000-0000-000000000000}"/>
          </ac:spMkLst>
        </pc:spChg>
      </pc:sldChg>
      <pc:sldChg chg="delSp mod delAnim">
        <pc:chgData name="大維 程" userId="f3e32c81fef265eb" providerId="LiveId" clId="{9159AABB-1C12-465C-A5E4-3E4C8554923A}" dt="2025-12-21T16:18:57.479" v="2" actId="478"/>
        <pc:sldMkLst>
          <pc:docMk/>
          <pc:sldMk cId="2163217823" sldId="293"/>
        </pc:sldMkLst>
        <pc:spChg chg="del">
          <ac:chgData name="大維 程" userId="f3e32c81fef265eb" providerId="LiveId" clId="{9159AABB-1C12-465C-A5E4-3E4C8554923A}" dt="2025-12-21T16:18:57.479" v="2" actId="478"/>
          <ac:spMkLst>
            <pc:docMk/>
            <pc:sldMk cId="2163217823" sldId="29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D1D87-676D-41F2-AC15-9F5D7637A5A2}" type="datetimeFigureOut">
              <a:rPr lang="zh-TW" altLang="en-US" smtClean="0"/>
              <a:pPr/>
              <a:t>2025/12/22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C2D0-1201-4E06-8787-2B5081952C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155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3C2D0-1201-4E06-8787-2B5081952CC0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233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sz="16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4000" y="1224000"/>
            <a:ext cx="8568480" cy="5157328"/>
          </a:xfrm>
        </p:spPr>
        <p:txBody>
          <a:bodyPr>
            <a:normAutofit/>
          </a:bodyPr>
          <a:lstStyle>
            <a:lvl1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 rtlCol="0">
            <a:normAutofit/>
          </a:bodyPr>
          <a:lstStyle>
            <a:lvl1pPr>
              <a:defRPr sz="36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6325050"/>
            <a:ext cx="4940624" cy="54096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6324233"/>
            <a:ext cx="3690451" cy="54822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6237311"/>
            <a:ext cx="3402314" cy="634809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>
            <a:stCxn id="14" idx="0"/>
          </p:cNvCxnSpPr>
          <p:nvPr/>
        </p:nvCxnSpPr>
        <p:spPr>
          <a:xfrm>
            <a:off x="-6042" y="6237311"/>
            <a:ext cx="3402314" cy="634810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2" descr="E:\LOGO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92280" y="6561384"/>
            <a:ext cx="2066560" cy="324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148064" y="1340768"/>
            <a:ext cx="2950096" cy="2313602"/>
          </a:xfrm>
        </p:spPr>
        <p:txBody>
          <a:bodyPr>
            <a:normAutofit/>
          </a:bodyPr>
          <a:lstStyle/>
          <a:p>
            <a:pPr algn="ctr">
              <a:lnSpc>
                <a:spcPts val="5600"/>
              </a:lnSpc>
              <a:spcBef>
                <a:spcPts val="0"/>
              </a:spcBef>
            </a:pPr>
            <a:r>
              <a:rPr lang="en-US" altLang="zh-TW" sz="4400" dirty="0" err="1"/>
              <a:t>Ch</a:t>
            </a:r>
            <a:r>
              <a:rPr lang="en-US" altLang="zh-TW" sz="4400" dirty="0"/>
              <a:t> 08</a:t>
            </a:r>
            <a:br>
              <a:rPr lang="en-US" altLang="zh-TW" dirty="0"/>
            </a:br>
            <a:r>
              <a:rPr lang="zh-TW" altLang="en-US" dirty="0">
                <a:solidFill>
                  <a:srgbClr val="0070C0"/>
                </a:solidFill>
              </a:rPr>
              <a:t>資料結構</a:t>
            </a:r>
            <a:endParaRPr lang="zh-TW" altLang="zh-TW" dirty="0">
              <a:solidFill>
                <a:srgbClr val="0070C0"/>
              </a:solidFill>
            </a:endParaRPr>
          </a:p>
        </p:txBody>
      </p:sp>
      <p:sp>
        <p:nvSpPr>
          <p:cNvPr id="6" name="副標題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630616" cy="1199704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b="1" dirty="0">
                <a:solidFill>
                  <a:schemeClr val="tx1"/>
                </a:solidFill>
              </a:rPr>
              <a:t>李官陵 彭勝龍 羅壽之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0602"/>
            <a:ext cx="3816424" cy="5186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陣列</a:t>
            </a:r>
            <a:r>
              <a:rPr lang="en-US" altLang="zh-TW" b="1" dirty="0">
                <a:solidFill>
                  <a:schemeClr val="accent3"/>
                </a:solidFill>
              </a:rPr>
              <a:t>(Array)</a:t>
            </a:r>
          </a:p>
          <a:p>
            <a:r>
              <a:rPr lang="zh-TW" altLang="en-US" dirty="0"/>
              <a:t>陣列就像是一個表格 </a:t>
            </a:r>
            <a:r>
              <a:rPr lang="en-US" altLang="zh-TW" dirty="0"/>
              <a:t>( </a:t>
            </a:r>
            <a:r>
              <a:rPr lang="zh-TW" altLang="en-US" dirty="0"/>
              <a:t>如圖 </a:t>
            </a:r>
            <a:r>
              <a:rPr lang="en-US" altLang="zh-TW" dirty="0"/>
              <a:t>8.1 )</a:t>
            </a:r>
            <a:r>
              <a:rPr lang="zh-TW" altLang="en-US" dirty="0"/>
              <a:t>，存放在記憶體上的一塊連續位置，每一格是一個陣列元素，我們可以藉由其編號直接存取到它的資料。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陣列能夠直接存取的原因在於每一格大小一樣，位置又是連續，所以只要知道起始位置，就能算出欲存取哪一格的位置。</a:t>
            </a:r>
            <a:endParaRPr lang="en-US" altLang="zh-TW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8.1</a:t>
            </a:r>
            <a:r>
              <a:rPr lang="zh-TW" altLang="en-US" dirty="0"/>
              <a:t>基本資料結構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212976"/>
            <a:ext cx="5290730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222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8.1</a:t>
            </a:r>
            <a:r>
              <a:rPr lang="zh-TW" altLang="en-US" dirty="0"/>
              <a:t>基本資料結構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021961" cy="286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753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通常有二種常用的定址方式，就是</a:t>
            </a:r>
            <a:r>
              <a:rPr lang="zh-TW" altLang="en-US" dirty="0">
                <a:solidFill>
                  <a:srgbClr val="0070C0"/>
                </a:solidFill>
              </a:rPr>
              <a:t>以列為主</a:t>
            </a:r>
            <a:r>
              <a:rPr lang="zh-TW" altLang="en-US" dirty="0"/>
              <a:t> </a:t>
            </a:r>
            <a:r>
              <a:rPr lang="en-US" altLang="zh-TW" dirty="0"/>
              <a:t>(row major) </a:t>
            </a:r>
            <a:r>
              <a:rPr lang="zh-TW" altLang="en-US" dirty="0"/>
              <a:t>和</a:t>
            </a:r>
            <a:r>
              <a:rPr lang="zh-TW" altLang="en-US" dirty="0">
                <a:solidFill>
                  <a:srgbClr val="0070C0"/>
                </a:solidFill>
              </a:rPr>
              <a:t>以行為主 </a:t>
            </a:r>
            <a:r>
              <a:rPr lang="en-US" altLang="zh-TW" dirty="0"/>
              <a:t>(column major)</a:t>
            </a:r>
            <a:r>
              <a:rPr lang="zh-TW" altLang="en-US" dirty="0"/>
              <a:t>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8.1</a:t>
            </a:r>
            <a:r>
              <a:rPr lang="zh-TW" altLang="en-US" dirty="0"/>
              <a:t>基本資料結構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852936"/>
            <a:ext cx="6327494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9543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224793"/>
            <a:ext cx="8568480" cy="5157328"/>
          </a:xfrm>
        </p:spPr>
        <p:txBody>
          <a:bodyPr/>
          <a:lstStyle/>
          <a:p>
            <a:r>
              <a:rPr lang="zh-TW" altLang="en-US" b="1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二維陣列</a:t>
            </a:r>
            <a:r>
              <a:rPr lang="en-US" altLang="zh-TW" b="1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:</a:t>
            </a:r>
            <a:r>
              <a:rPr lang="zh-TW" altLang="en-US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 可以視為一種平面，假設下圖表格變數為</a:t>
            </a:r>
            <a:r>
              <a:rPr lang="en" altLang="zh-TW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box</a:t>
            </a:r>
            <a:r>
              <a:rPr lang="zh-TW" altLang="en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，</a:t>
            </a:r>
            <a:r>
              <a:rPr lang="zh-TW" altLang="en-US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取得值的方式變數名稱</a:t>
            </a:r>
            <a:r>
              <a:rPr lang="en-US" altLang="zh-TW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[</a:t>
            </a:r>
            <a:r>
              <a:rPr lang="zh-TW" altLang="en-US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列索引號</a:t>
            </a:r>
            <a:r>
              <a:rPr lang="en-US" altLang="zh-TW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zh-TW" altLang="en-US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行索引號</a:t>
            </a:r>
            <a:r>
              <a:rPr lang="en-US" altLang="zh-TW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]</a:t>
            </a:r>
            <a:r>
              <a:rPr lang="zh-TW" altLang="en-US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，因此</a:t>
            </a:r>
            <a:r>
              <a:rPr lang="en" altLang="zh-TW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box[0][2]</a:t>
            </a:r>
            <a:r>
              <a:rPr lang="zh-TW" altLang="en-US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所指向的值「</a:t>
            </a:r>
            <a:r>
              <a:rPr lang="en-US" altLang="zh-TW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17</a:t>
            </a:r>
            <a:r>
              <a:rPr lang="zh-TW" altLang="en-US" b="0" i="0" dirty="0">
                <a:solidFill>
                  <a:srgbClr val="3A3A3A"/>
                </a:solidFill>
                <a:effectLst/>
                <a:latin typeface="Lato" panose="020F0502020204030203" pitchFamily="34" charset="0"/>
              </a:rPr>
              <a:t>」</a:t>
            </a:r>
            <a:endParaRPr lang="en-US" altLang="zh-TW" b="0" i="0" dirty="0">
              <a:solidFill>
                <a:srgbClr val="3A3A3A"/>
              </a:solidFill>
              <a:effectLst/>
              <a:latin typeface="Lato" panose="020F0502020204030203" pitchFamily="34" charset="0"/>
            </a:endParaRPr>
          </a:p>
          <a:p>
            <a:endParaRPr lang="en-US" altLang="zh-TW" dirty="0">
              <a:solidFill>
                <a:srgbClr val="3A3A3A"/>
              </a:solidFill>
              <a:latin typeface="Lato" panose="020F0502020204030203" pitchFamily="34" charset="0"/>
            </a:endParaRP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8.1</a:t>
            </a:r>
            <a:r>
              <a:rPr lang="zh-TW" altLang="en-US" dirty="0"/>
              <a:t>基本資料結構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4882ED-39A7-A585-2FEE-0D3F871BA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08920"/>
            <a:ext cx="9144000" cy="346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186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連結串列</a:t>
            </a:r>
            <a:r>
              <a:rPr lang="en-US" altLang="zh-TW" b="1" dirty="0">
                <a:solidFill>
                  <a:schemeClr val="accent3"/>
                </a:solidFill>
              </a:rPr>
              <a:t>(Linked list)</a:t>
            </a:r>
          </a:p>
          <a:p>
            <a:r>
              <a:rPr lang="zh-TW" altLang="en-US" dirty="0"/>
              <a:t>連結串列結構，資料是靠著指標串連來存取，存放在記憶體內的資料並不連續，必須靠一個指標連結到下一個位置才能繼續往前存取資料，每一個連結串列的元素除了包含一 </a:t>
            </a:r>
            <a:r>
              <a:rPr lang="en-US" altLang="zh-TW" dirty="0"/>
              <a:t>( </a:t>
            </a:r>
            <a:r>
              <a:rPr lang="zh-TW" altLang="en-US" dirty="0"/>
              <a:t>或多 </a:t>
            </a:r>
            <a:r>
              <a:rPr lang="en-US" altLang="zh-TW" dirty="0"/>
              <a:t>) </a:t>
            </a:r>
            <a:r>
              <a:rPr lang="zh-TW" altLang="en-US" dirty="0"/>
              <a:t>個資料項之外，還包含一個指標 </a:t>
            </a:r>
            <a:r>
              <a:rPr lang="en-US" altLang="zh-TW" dirty="0"/>
              <a:t>( </a:t>
            </a:r>
            <a:r>
              <a:rPr lang="zh-TW" altLang="en-US" dirty="0"/>
              <a:t>指著某一個記憶體的位置 </a:t>
            </a:r>
            <a:r>
              <a:rPr lang="en-US" altLang="zh-TW" dirty="0"/>
              <a:t>)</a:t>
            </a:r>
            <a:r>
              <a:rPr lang="zh-TW" altLang="en-US" dirty="0"/>
              <a:t>，一般我們稱這樣一個包含資料和指標的元素為一個</a:t>
            </a:r>
            <a:r>
              <a:rPr lang="zh-TW" altLang="en-US" dirty="0">
                <a:solidFill>
                  <a:srgbClr val="0070C0"/>
                </a:solidFill>
              </a:rPr>
              <a:t>節點 </a:t>
            </a:r>
            <a:r>
              <a:rPr lang="en-US" altLang="zh-TW" dirty="0"/>
              <a:t>(node)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8.1</a:t>
            </a:r>
            <a:r>
              <a:rPr lang="zh-TW" altLang="en-US" dirty="0"/>
              <a:t>基本資料結構</a:t>
            </a:r>
          </a:p>
        </p:txBody>
      </p:sp>
    </p:spTree>
    <p:extLst>
      <p:ext uri="{BB962C8B-B14F-4D97-AF65-F5344CB8AC3E}">
        <p14:creationId xmlns:p14="http://schemas.microsoft.com/office/powerpoint/2010/main" val="404534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通常連結串列有一個特殊的指標指著此串列的</a:t>
            </a:r>
            <a:r>
              <a:rPr lang="zh-TW" altLang="en-US" dirty="0">
                <a:solidFill>
                  <a:srgbClr val="0070C0"/>
                </a:solidFill>
              </a:rPr>
              <a:t>頭</a:t>
            </a:r>
            <a:r>
              <a:rPr lang="zh-TW" altLang="en-US" dirty="0"/>
              <a:t> </a:t>
            </a:r>
            <a:r>
              <a:rPr lang="en-US" altLang="zh-TW" dirty="0"/>
              <a:t>(head)</a:t>
            </a:r>
            <a:r>
              <a:rPr lang="zh-TW" altLang="en-US" dirty="0"/>
              <a:t>，一般常用二種連結串列，稱為</a:t>
            </a:r>
            <a:r>
              <a:rPr lang="zh-TW" altLang="en-US" dirty="0">
                <a:solidFill>
                  <a:srgbClr val="0070C0"/>
                </a:solidFill>
              </a:rPr>
              <a:t>單連結串列 </a:t>
            </a:r>
            <a:r>
              <a:rPr lang="en-US" altLang="zh-TW" dirty="0"/>
              <a:t>(singly linked list)</a:t>
            </a:r>
            <a:r>
              <a:rPr lang="zh-TW" altLang="en-US" dirty="0"/>
              <a:t> 和</a:t>
            </a:r>
            <a:r>
              <a:rPr lang="zh-TW" altLang="en-US" dirty="0">
                <a:solidFill>
                  <a:srgbClr val="0070C0"/>
                </a:solidFill>
              </a:rPr>
              <a:t>雙連結串列 </a:t>
            </a:r>
            <a:r>
              <a:rPr lang="en-US" altLang="zh-TW" dirty="0"/>
              <a:t>(doubly linked list)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8.1</a:t>
            </a:r>
            <a:r>
              <a:rPr lang="zh-TW" altLang="en-US" dirty="0"/>
              <a:t>基本資料結構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852936"/>
            <a:ext cx="6915992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2769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一般稱陣列為直接存取資料結構，連結串列必須循著指標才能到達目的地，我們稱它為循序存取資料結構。雖然連結串列的存取較陣列麻煩，但它不用預留一塊連續的記憶體，是它的好處之一。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8.1</a:t>
            </a:r>
            <a:r>
              <a:rPr lang="zh-TW" altLang="en-US" dirty="0"/>
              <a:t>基本資料結構</a:t>
            </a:r>
          </a:p>
        </p:txBody>
      </p:sp>
    </p:spTree>
    <p:extLst>
      <p:ext uri="{BB962C8B-B14F-4D97-AF65-F5344CB8AC3E}">
        <p14:creationId xmlns:p14="http://schemas.microsoft.com/office/powerpoint/2010/main" val="341306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8.1</a:t>
            </a:r>
            <a:r>
              <a:rPr lang="zh-TW" altLang="en-US" dirty="0"/>
              <a:t>基本資料結構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6"/>
            <a:ext cx="7881864" cy="3268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997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樹有一個特殊的節點稱為</a:t>
            </a:r>
            <a:r>
              <a:rPr lang="zh-TW" altLang="en-US" dirty="0">
                <a:solidFill>
                  <a:srgbClr val="0070C0"/>
                </a:solidFill>
              </a:rPr>
              <a:t>根</a:t>
            </a:r>
            <a:r>
              <a:rPr lang="zh-TW" altLang="en-US" dirty="0"/>
              <a:t> </a:t>
            </a:r>
            <a:r>
              <a:rPr lang="en-US" altLang="zh-TW" dirty="0"/>
              <a:t>(root)</a:t>
            </a:r>
            <a:r>
              <a:rPr lang="zh-TW" altLang="en-US" dirty="0"/>
              <a:t>，類似連結串列的頭，每個節點都有多個指標指著它的兒子，為了方便起見，一般都有相同數目的指標，指著它們的兒子，這個數目稱為分支</a:t>
            </a:r>
            <a:r>
              <a:rPr lang="zh-TW" altLang="en-US" dirty="0">
                <a:solidFill>
                  <a:srgbClr val="0070C0"/>
                </a:solidFill>
              </a:rPr>
              <a:t>度</a:t>
            </a:r>
            <a:r>
              <a:rPr lang="zh-TW" altLang="en-US" dirty="0"/>
              <a:t>  </a:t>
            </a:r>
            <a:r>
              <a:rPr lang="en-US" altLang="zh-TW" dirty="0"/>
              <a:t>(degree)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>
                <a:solidFill>
                  <a:srgbClr val="0070C0"/>
                </a:solidFill>
              </a:rPr>
              <a:t>二元樹</a:t>
            </a:r>
            <a:r>
              <a:rPr lang="zh-TW" altLang="en-US" dirty="0"/>
              <a:t> </a:t>
            </a:r>
            <a:r>
              <a:rPr lang="en-US" altLang="zh-TW" dirty="0"/>
              <a:t>(binary tree)</a:t>
            </a:r>
            <a:r>
              <a:rPr lang="zh-TW" altLang="en-US" dirty="0"/>
              <a:t>，也就是每個節點有二個指標，稱為左指標和右指標。沒有半個兒子的節點稱為</a:t>
            </a:r>
            <a:r>
              <a:rPr lang="zh-TW" altLang="en-US" dirty="0">
                <a:solidFill>
                  <a:srgbClr val="0070C0"/>
                </a:solidFill>
              </a:rPr>
              <a:t>樹葉</a:t>
            </a:r>
            <a:r>
              <a:rPr lang="zh-TW" altLang="en-US" dirty="0"/>
              <a:t> </a:t>
            </a:r>
            <a:r>
              <a:rPr lang="en-US" altLang="zh-TW" dirty="0"/>
              <a:t>(leaf)</a:t>
            </a:r>
            <a:r>
              <a:rPr lang="zh-TW" altLang="en-US" dirty="0"/>
              <a:t>，其他非樹葉的節點稱為內部節點。</a:t>
            </a:r>
            <a:endParaRPr lang="en-US" altLang="zh-TW" dirty="0"/>
          </a:p>
          <a:p>
            <a:r>
              <a:rPr lang="zh-TW" altLang="en-US" dirty="0"/>
              <a:t>在一個樹狀結構裡，樹葉的指標都是指到</a:t>
            </a:r>
            <a:r>
              <a:rPr lang="zh-TW" altLang="en-US" dirty="0">
                <a:solidFill>
                  <a:srgbClr val="0070C0"/>
                </a:solidFill>
              </a:rPr>
              <a:t>空</a:t>
            </a:r>
            <a:r>
              <a:rPr lang="zh-TW" altLang="en-US" dirty="0"/>
              <a:t> </a:t>
            </a:r>
            <a:r>
              <a:rPr lang="en-US" altLang="zh-TW" dirty="0"/>
              <a:t>(nil)</a:t>
            </a:r>
            <a:r>
              <a:rPr lang="zh-TW" altLang="en-US" dirty="0"/>
              <a:t>，所以一個葉節點含越多指標，就越浪費空間。</a:t>
            </a:r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</p:spTree>
    <p:extLst>
      <p:ext uri="{BB962C8B-B14F-4D97-AF65-F5344CB8AC3E}">
        <p14:creationId xmlns:p14="http://schemas.microsoft.com/office/powerpoint/2010/main" val="2956461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將根到某一個最遠樹葉節點的距離定義為該樹的高度 </a:t>
            </a:r>
            <a:r>
              <a:rPr lang="en-US" altLang="zh-TW" dirty="0"/>
              <a:t>(high)</a:t>
            </a:r>
            <a:r>
              <a:rPr lang="zh-TW" altLang="en-US" dirty="0"/>
              <a:t>，以圖 </a:t>
            </a:r>
            <a:r>
              <a:rPr lang="en-US" altLang="zh-TW" dirty="0"/>
              <a:t>8.4 </a:t>
            </a:r>
            <a:r>
              <a:rPr lang="zh-TW" altLang="en-US" dirty="0"/>
              <a:t>為例，它的高度為 </a:t>
            </a:r>
            <a:r>
              <a:rPr lang="en-US" altLang="zh-TW" dirty="0"/>
              <a:t>2</a:t>
            </a:r>
            <a:r>
              <a:rPr lang="zh-TW" altLang="en-US" dirty="0"/>
              <a:t>。另外每個節點 </a:t>
            </a:r>
            <a:r>
              <a:rPr lang="en-US" altLang="zh-TW" dirty="0"/>
              <a:t>( </a:t>
            </a:r>
            <a:r>
              <a:rPr lang="zh-TW" altLang="en-US" dirty="0"/>
              <a:t>含內部節點和葉節點 </a:t>
            </a:r>
            <a:r>
              <a:rPr lang="en-US" altLang="zh-TW" dirty="0"/>
              <a:t>) </a:t>
            </a:r>
            <a:r>
              <a:rPr lang="zh-TW" altLang="en-US" dirty="0"/>
              <a:t>都可以定義一個</a:t>
            </a:r>
            <a:r>
              <a:rPr lang="zh-TW" altLang="en-US" dirty="0">
                <a:solidFill>
                  <a:srgbClr val="0070C0"/>
                </a:solidFill>
              </a:rPr>
              <a:t>階層數</a:t>
            </a:r>
            <a:r>
              <a:rPr lang="zh-TW" altLang="en-US" dirty="0"/>
              <a:t> </a:t>
            </a:r>
            <a:r>
              <a:rPr lang="en-US" altLang="zh-TW" dirty="0"/>
              <a:t>(level)</a:t>
            </a:r>
            <a:r>
              <a:rPr lang="zh-TW" altLang="en-US" dirty="0"/>
              <a:t>，樹根的階層為 </a:t>
            </a:r>
            <a:r>
              <a:rPr lang="en-US" altLang="zh-TW" dirty="0"/>
              <a:t>0</a:t>
            </a:r>
            <a:r>
              <a:rPr lang="zh-TW" altLang="en-US" dirty="0"/>
              <a:t>，其它節點的階層被定義為它到根的距離。</a:t>
            </a:r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470" y="2996952"/>
            <a:ext cx="679906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5184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440024"/>
            <a:ext cx="8568480" cy="407720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109728" indent="0">
              <a:buNone/>
            </a:pPr>
            <a:endParaRPr lang="en-US" altLang="zh-TW" dirty="0"/>
          </a:p>
          <a:p>
            <a:pPr marL="109728" indent="0">
              <a:buNone/>
            </a:pPr>
            <a:r>
              <a:rPr lang="zh-TW" altLang="en-US" b="1" dirty="0"/>
              <a:t>完全二元樹 </a:t>
            </a:r>
            <a:r>
              <a:rPr lang="en-US" altLang="zh-TW" b="1" dirty="0"/>
              <a:t>(complete binary tree)</a:t>
            </a:r>
          </a:p>
          <a:p>
            <a:r>
              <a:rPr lang="en" altLang="zh-TW" dirty="0"/>
              <a:t>binary tree</a:t>
            </a:r>
            <a:r>
              <a:rPr lang="zh-TW" altLang="en-US" dirty="0"/>
              <a:t>最後一層外的其他各層都必須具有兩個</a:t>
            </a:r>
            <a:r>
              <a:rPr lang="en" altLang="zh-TW" dirty="0"/>
              <a:t>children node</a:t>
            </a:r>
            <a:r>
              <a:rPr lang="zh-TW" altLang="en" dirty="0"/>
              <a:t>（</a:t>
            </a:r>
            <a:r>
              <a:rPr lang="en" altLang="zh-TW" dirty="0"/>
              <a:t>left/right node</a:t>
            </a:r>
            <a:r>
              <a:rPr lang="zh-TW" altLang="en" dirty="0"/>
              <a:t>）。</a:t>
            </a:r>
          </a:p>
          <a:p>
            <a:r>
              <a:rPr lang="zh-TW" altLang="en-US" dirty="0"/>
              <a:t>最後一層的</a:t>
            </a:r>
            <a:r>
              <a:rPr lang="en" altLang="zh-TW" dirty="0"/>
              <a:t>node</a:t>
            </a:r>
            <a:r>
              <a:rPr lang="zh-TW" altLang="en-US" dirty="0"/>
              <a:t>從左至右必須是連續但不一定需要填滿。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EDF5C2D-3259-7557-C2F6-946E6AFB0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717032"/>
            <a:ext cx="5292080" cy="267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539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109728" indent="0">
              <a:buNone/>
            </a:pPr>
            <a:r>
              <a:rPr lang="zh-TW" altLang="en-US" b="1" dirty="0"/>
              <a:t>完美二元樹 </a:t>
            </a:r>
            <a:r>
              <a:rPr lang="en-US" altLang="zh-TW" b="1" dirty="0"/>
              <a:t>(perfect binary tree)</a:t>
            </a:r>
          </a:p>
          <a:p>
            <a:r>
              <a:rPr lang="zh-TW" altLang="en-US" dirty="0"/>
              <a:t>除了</a:t>
            </a:r>
            <a:r>
              <a:rPr lang="en" altLang="zh-TW" dirty="0"/>
              <a:t>leaf node</a:t>
            </a:r>
            <a:r>
              <a:rPr lang="zh-TW" altLang="en-US" dirty="0"/>
              <a:t>外，每層</a:t>
            </a:r>
            <a:r>
              <a:rPr lang="en" altLang="zh-TW" dirty="0"/>
              <a:t>node</a:t>
            </a:r>
            <a:r>
              <a:rPr lang="zh-TW" altLang="en-US" dirty="0"/>
              <a:t>都必須具有兩個</a:t>
            </a:r>
            <a:r>
              <a:rPr lang="en" altLang="zh-TW" dirty="0"/>
              <a:t>children node</a:t>
            </a:r>
            <a:r>
              <a:rPr lang="zh-TW" altLang="en" dirty="0"/>
              <a:t>（</a:t>
            </a:r>
            <a:r>
              <a:rPr lang="en" altLang="zh-TW" dirty="0"/>
              <a:t>left/right node</a:t>
            </a:r>
            <a:r>
              <a:rPr lang="zh-TW" altLang="en" dirty="0"/>
              <a:t>）。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4EA5F94-8702-20D5-6F23-E67B1D550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80928"/>
            <a:ext cx="6600187" cy="332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67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0808"/>
            <a:ext cx="8154075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899592" y="3032956"/>
            <a:ext cx="6984776" cy="1116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733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8032749" cy="3260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217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17" y="1573030"/>
            <a:ext cx="8313155" cy="336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217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二元搜尋樹 </a:t>
            </a:r>
            <a:r>
              <a:rPr lang="en-US" altLang="zh-TW" b="1" dirty="0">
                <a:solidFill>
                  <a:schemeClr val="accent3"/>
                </a:solidFill>
              </a:rPr>
              <a:t>(Binary search tree)</a:t>
            </a:r>
          </a:p>
          <a:p>
            <a:r>
              <a:rPr lang="zh-TW" altLang="en-US" dirty="0"/>
              <a:t>在一個二元樹裡，假設每一個節點都儲存一個數值，如果對每一個節點都滿足：「它的值大於等於左兒子的值，但小於右兒子的值」，那麼這棵樹就被稱作「二元搜尋樹」。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528" y="3429000"/>
            <a:ext cx="3946753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8645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假設我們有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個數值，如果存在陣列或連結串列裡，那麼搜尋一個數值最糟的情況下，可能要拜訪這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個資料。</a:t>
            </a:r>
            <a:endParaRPr lang="en-US" altLang="zh-TW" dirty="0"/>
          </a:p>
          <a:p>
            <a:r>
              <a:rPr lang="zh-TW" altLang="en-US" dirty="0"/>
              <a:t>若儲存在二元搜尋樹裡，要比較的資料數會跟它的樹高有關，而非所有資料數。搜尋的方法是先比較根節點的資料，若是值等於根節點的值，表示搜尋成功；若是小於根節點的值，就往它的左子樹走，反之就往它的右子樹走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</p:spTree>
    <p:extLst>
      <p:ext uri="{BB962C8B-B14F-4D97-AF65-F5344CB8AC3E}">
        <p14:creationId xmlns:p14="http://schemas.microsoft.com/office/powerpoint/2010/main" val="2097900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5" y="1268760"/>
            <a:ext cx="7200800" cy="1464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6" y="3284984"/>
            <a:ext cx="7476035" cy="26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685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堆積 </a:t>
            </a:r>
            <a:r>
              <a:rPr lang="en-US" altLang="zh-TW" b="1" dirty="0">
                <a:solidFill>
                  <a:schemeClr val="accent3"/>
                </a:solidFill>
              </a:rPr>
              <a:t>(Heap)</a:t>
            </a:r>
          </a:p>
          <a:p>
            <a:r>
              <a:rPr lang="zh-TW" altLang="en-US" dirty="0"/>
              <a:t>樹狀資料結構不一定全然要用連結指標來製作，像</a:t>
            </a:r>
            <a:r>
              <a:rPr lang="zh-TW" altLang="en-US" dirty="0">
                <a:solidFill>
                  <a:srgbClr val="0070C0"/>
                </a:solidFill>
              </a:rPr>
              <a:t>堆積 </a:t>
            </a:r>
            <a:r>
              <a:rPr lang="en-US" altLang="zh-TW" dirty="0"/>
              <a:t>(heap) </a:t>
            </a:r>
            <a:r>
              <a:rPr lang="zh-TW" altLang="en-US" dirty="0"/>
              <a:t>就是一個使用陣列來實作的樹狀資料結構。它必須是一個完全二元樹，考慮圖 </a:t>
            </a:r>
            <a:r>
              <a:rPr lang="en-US" altLang="zh-TW" dirty="0"/>
              <a:t>8.7 </a:t>
            </a:r>
            <a:r>
              <a:rPr lang="zh-TW" altLang="en-US" dirty="0"/>
              <a:t>的完全二元樹，節點內的數字就是它在陣列裡的位置，樹根，它就是陣列裡的第一個元素。然後假設我們在任一個節點 </a:t>
            </a:r>
            <a:r>
              <a:rPr lang="en-US" altLang="zh-TW" i="1" dirty="0" err="1"/>
              <a:t>i</a:t>
            </a:r>
            <a:r>
              <a:rPr lang="en-US" altLang="zh-TW" dirty="0"/>
              <a:t> </a:t>
            </a:r>
            <a:r>
              <a:rPr lang="zh-TW" altLang="en-US" dirty="0"/>
              <a:t>上，如果它不是葉節點，那麼它的左兒子就是 </a:t>
            </a:r>
            <a:r>
              <a:rPr lang="en-US" altLang="zh-TW" dirty="0"/>
              <a:t>2</a:t>
            </a:r>
            <a:r>
              <a:rPr lang="en-US" altLang="zh-TW" i="1" dirty="0"/>
              <a:t>i</a:t>
            </a:r>
            <a:r>
              <a:rPr lang="zh-TW" altLang="en-US" dirty="0"/>
              <a:t>，而右兒子就是 </a:t>
            </a:r>
            <a:r>
              <a:rPr lang="en-US" altLang="zh-TW" dirty="0"/>
              <a:t>2 </a:t>
            </a:r>
            <a:r>
              <a:rPr lang="en-US" altLang="zh-TW" i="1" dirty="0" err="1"/>
              <a:t>i</a:t>
            </a:r>
            <a:r>
              <a:rPr lang="en-US" altLang="zh-TW" dirty="0"/>
              <a:t> + 1 ( </a:t>
            </a:r>
            <a:r>
              <a:rPr lang="zh-TW" altLang="en-US" dirty="0"/>
              <a:t>如果有的話 </a:t>
            </a:r>
            <a:r>
              <a:rPr lang="en-US" altLang="zh-TW" dirty="0"/>
              <a:t>)</a:t>
            </a:r>
            <a:r>
              <a:rPr lang="zh-TW" altLang="en-US" dirty="0"/>
              <a:t>；如</a:t>
            </a:r>
            <a:endParaRPr lang="en-US" altLang="zh-TW" dirty="0"/>
          </a:p>
          <a:p>
            <a:pPr marL="109728" indent="0">
              <a:lnSpc>
                <a:spcPts val="1500"/>
              </a:lnSpc>
              <a:buNone/>
            </a:pPr>
            <a:endParaRPr lang="en-US" altLang="zh-TW" dirty="0"/>
          </a:p>
          <a:p>
            <a:pPr marL="109728" indent="0">
              <a:buNone/>
            </a:pPr>
            <a:r>
              <a:rPr lang="zh-TW" altLang="en-US" dirty="0"/>
              <a:t>   果節點 </a:t>
            </a:r>
            <a:r>
              <a:rPr lang="en-US" altLang="zh-TW" i="1" dirty="0" err="1"/>
              <a:t>i</a:t>
            </a:r>
            <a:r>
              <a:rPr lang="en-US" altLang="zh-TW" dirty="0"/>
              <a:t> </a:t>
            </a:r>
            <a:r>
              <a:rPr lang="zh-TW" altLang="en-US" dirty="0"/>
              <a:t>不是根節點，那麼它的父親就是         </a:t>
            </a:r>
            <a:r>
              <a:rPr lang="en-US" altLang="zh-TW" dirty="0"/>
              <a:t>( </a:t>
            </a:r>
            <a:r>
              <a:rPr lang="zh-TW" altLang="en-US" dirty="0"/>
              <a:t>也就是 </a:t>
            </a:r>
            <a:r>
              <a:rPr lang="en-US" altLang="zh-TW" i="1" dirty="0" err="1"/>
              <a:t>i</a:t>
            </a:r>
            <a:r>
              <a:rPr lang="en-US" altLang="zh-TW" dirty="0"/>
              <a:t> </a:t>
            </a:r>
            <a:r>
              <a:rPr lang="zh-TW" altLang="en-US" dirty="0"/>
              <a:t>除以</a:t>
            </a:r>
            <a:endParaRPr lang="en-US" altLang="zh-TW" dirty="0"/>
          </a:p>
          <a:p>
            <a:pPr marL="109728" indent="0">
              <a:lnSpc>
                <a:spcPts val="1200"/>
              </a:lnSpc>
              <a:buNone/>
            </a:pPr>
            <a:endParaRPr lang="en-US" altLang="zh-TW" dirty="0"/>
          </a:p>
          <a:p>
            <a:pPr marL="109728" indent="0">
              <a:buNone/>
            </a:pPr>
            <a:r>
              <a:rPr lang="en-US" altLang="zh-TW" dirty="0"/>
              <a:t>    2 </a:t>
            </a:r>
            <a:r>
              <a:rPr lang="zh-TW" altLang="en-US" dirty="0"/>
              <a:t>取整數 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676061"/>
              </p:ext>
            </p:extLst>
          </p:nvPr>
        </p:nvGraphicFramePr>
        <p:xfrm>
          <a:off x="6228184" y="4293096"/>
          <a:ext cx="496125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406080" progId="Equation.DSMT4">
                  <p:embed/>
                </p:oleObj>
              </mc:Choice>
              <mc:Fallback>
                <p:oleObj name="Equation" r:id="rId2" imgW="266400" imgH="406080" progId="Equation.DSMT4">
                  <p:embed/>
                  <p:pic>
                    <p:nvPicPr>
                      <p:cNvPr id="5" name="物件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4293096"/>
                        <a:ext cx="496125" cy="75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8275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343" y="1556792"/>
            <a:ext cx="5033313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6395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1520" y="1556792"/>
            <a:ext cx="8568480" cy="170094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109728" indent="0">
              <a:buNone/>
            </a:pPr>
            <a:r>
              <a:rPr lang="zh-TW" altLang="en-US" b="1" dirty="0"/>
              <a:t>堆積 </a:t>
            </a:r>
            <a:r>
              <a:rPr lang="en-US" altLang="zh-TW" b="1" dirty="0"/>
              <a:t>(heap)</a:t>
            </a:r>
          </a:p>
          <a:p>
            <a:pPr marL="109728" indent="0">
              <a:buNone/>
            </a:pPr>
            <a:r>
              <a:rPr lang="zh-TW" altLang="en-US" dirty="0"/>
              <a:t>一個最大 </a:t>
            </a:r>
            <a:r>
              <a:rPr lang="en-US" altLang="zh-TW" dirty="0"/>
              <a:t>( </a:t>
            </a:r>
            <a:r>
              <a:rPr lang="zh-TW" altLang="en-US" dirty="0"/>
              <a:t>最小 </a:t>
            </a:r>
            <a:r>
              <a:rPr lang="en-US" altLang="zh-TW" dirty="0"/>
              <a:t>) </a:t>
            </a:r>
            <a:r>
              <a:rPr lang="zh-TW" altLang="en-US" dirty="0"/>
              <a:t>堆積 </a:t>
            </a:r>
            <a:r>
              <a:rPr lang="en-US" altLang="zh-TW" dirty="0"/>
              <a:t>(max (min) heap) </a:t>
            </a:r>
            <a:r>
              <a:rPr lang="zh-TW" altLang="en-US" dirty="0"/>
              <a:t>是一個完全二元樹並且滿足對任一個節點，它的值要比兒子們都大 </a:t>
            </a:r>
            <a:r>
              <a:rPr lang="en-US" altLang="zh-TW" dirty="0"/>
              <a:t>( </a:t>
            </a:r>
            <a:r>
              <a:rPr lang="zh-TW" altLang="en-US" dirty="0"/>
              <a:t>小 </a:t>
            </a:r>
            <a:r>
              <a:rPr lang="en-US" altLang="zh-TW" dirty="0"/>
              <a:t>)</a:t>
            </a:r>
            <a:r>
              <a:rPr lang="zh-TW" altLang="en-US" dirty="0"/>
              <a:t>。 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</p:spTree>
    <p:extLst>
      <p:ext uri="{BB962C8B-B14F-4D97-AF65-F5344CB8AC3E}">
        <p14:creationId xmlns:p14="http://schemas.microsoft.com/office/powerpoint/2010/main" val="3190430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堆積是一個很好的資料結構，通常用來儲存優先權，如最大或最小優先權。</a:t>
            </a:r>
            <a:endParaRPr lang="en-US" altLang="zh-TW" dirty="0"/>
          </a:p>
          <a:p>
            <a:r>
              <a:rPr lang="zh-TW" altLang="en-US" dirty="0"/>
              <a:t>堆積的建立有二種方式，分別是由上而下法和由下而上法。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16" y="2708920"/>
            <a:ext cx="4263367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0610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44824"/>
            <a:ext cx="7779735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02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916832"/>
            <a:ext cx="4445342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473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67" y="1340768"/>
            <a:ext cx="8532413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755576" y="3068960"/>
            <a:ext cx="6984776" cy="18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17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82" y="1700808"/>
            <a:ext cx="4789835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976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7556574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1937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412776"/>
            <a:ext cx="4627299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4282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8.2</a:t>
            </a:r>
            <a:r>
              <a:rPr lang="zh-TW" altLang="en-US" dirty="0"/>
              <a:t>樹狀資料結構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7992888" cy="3893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043608" y="3356992"/>
            <a:ext cx="6984776" cy="18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353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堆疊 </a:t>
            </a:r>
            <a:r>
              <a:rPr lang="en-US" altLang="zh-TW" b="1" dirty="0">
                <a:solidFill>
                  <a:schemeClr val="accent3"/>
                </a:solidFill>
              </a:rPr>
              <a:t>(Stack)</a:t>
            </a:r>
          </a:p>
          <a:p>
            <a:r>
              <a:rPr lang="zh-TW" altLang="en-US" dirty="0"/>
              <a:t>堆疊的概念很類似餐廳放盤子的做法，洗好烘乾後的盤子會依序一個一個疊起來，而顧客都是從最上面那個盤子先取用，因此盤子的使用是依照</a:t>
            </a:r>
            <a:r>
              <a:rPr lang="zh-TW" altLang="en-US" b="1" dirty="0">
                <a:solidFill>
                  <a:srgbClr val="0070C0"/>
                </a:solidFill>
              </a:rPr>
              <a:t>先進後出 </a:t>
            </a:r>
            <a:r>
              <a:rPr lang="en-US" altLang="zh-TW" b="1" dirty="0">
                <a:solidFill>
                  <a:srgbClr val="0070C0"/>
                </a:solidFill>
              </a:rPr>
              <a:t>(First In Last Out) </a:t>
            </a:r>
            <a:r>
              <a:rPr lang="zh-TW" altLang="en-US" dirty="0"/>
              <a:t>或是</a:t>
            </a:r>
            <a:r>
              <a:rPr lang="zh-TW" altLang="en-US" b="1" dirty="0">
                <a:solidFill>
                  <a:srgbClr val="0070C0"/>
                </a:solidFill>
              </a:rPr>
              <a:t>後進先出 </a:t>
            </a:r>
            <a:r>
              <a:rPr lang="en-US" altLang="zh-TW" b="1" dirty="0">
                <a:solidFill>
                  <a:srgbClr val="0070C0"/>
                </a:solidFill>
              </a:rPr>
              <a:t>(Last In First Out) </a:t>
            </a:r>
            <a:r>
              <a:rPr lang="zh-TW" altLang="en-US" dirty="0"/>
              <a:t>的方式進行的。 </a:t>
            </a:r>
            <a:endParaRPr lang="en-US" altLang="zh-TW" dirty="0"/>
          </a:p>
          <a:p>
            <a:r>
              <a:rPr lang="zh-TW" altLang="en-US" dirty="0"/>
              <a:t>堆疊的二個常用指令，</a:t>
            </a:r>
            <a:r>
              <a:rPr lang="en-US" altLang="zh-TW" dirty="0"/>
              <a:t>Push </a:t>
            </a:r>
            <a:r>
              <a:rPr lang="zh-TW" altLang="en-US" dirty="0"/>
              <a:t>將資料放入堆疊，</a:t>
            </a:r>
            <a:r>
              <a:rPr lang="en-US" altLang="zh-TW" dirty="0"/>
              <a:t>Pop </a:t>
            </a:r>
            <a:r>
              <a:rPr lang="zh-TW" altLang="en-US" dirty="0"/>
              <a:t>則將資料取出堆疊。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8.3</a:t>
            </a:r>
            <a:r>
              <a:rPr lang="zh-TW" altLang="en-US" dirty="0"/>
              <a:t>抽象資料結構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089" y="4221088"/>
            <a:ext cx="2927524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6726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使用堆疊就可以很容易來檢查括弧是否被正確使用。其實方法很簡單，我們由左往右掃描，碰到左括弧就 </a:t>
            </a:r>
            <a:r>
              <a:rPr lang="en-US" altLang="zh-TW" dirty="0"/>
              <a:t>Push </a:t>
            </a:r>
            <a:r>
              <a:rPr lang="zh-TW" altLang="en-US" dirty="0"/>
              <a:t>到堆疊，碰到右括弧就 </a:t>
            </a:r>
            <a:r>
              <a:rPr lang="en-US" altLang="zh-TW" dirty="0"/>
              <a:t>Pop </a:t>
            </a:r>
            <a:r>
              <a:rPr lang="zh-TW" altLang="en-US" dirty="0"/>
              <a:t>堆疊，如果最後掃描完，堆疊為空，就表示括弧的使用正確。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8.3</a:t>
            </a:r>
            <a:r>
              <a:rPr lang="zh-TW" altLang="en-US" dirty="0"/>
              <a:t>抽象資料結構</a:t>
            </a:r>
          </a:p>
        </p:txBody>
      </p:sp>
    </p:spTree>
    <p:extLst>
      <p:ext uri="{BB962C8B-B14F-4D97-AF65-F5344CB8AC3E}">
        <p14:creationId xmlns:p14="http://schemas.microsoft.com/office/powerpoint/2010/main" val="885038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8.3</a:t>
            </a:r>
            <a:r>
              <a:rPr lang="zh-TW" altLang="en-US" dirty="0"/>
              <a:t>抽象資料結構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5" y="1340768"/>
            <a:ext cx="8096925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7054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佇列 </a:t>
            </a:r>
            <a:r>
              <a:rPr lang="en-US" altLang="zh-TW" b="1" dirty="0">
                <a:solidFill>
                  <a:schemeClr val="accent3"/>
                </a:solidFill>
              </a:rPr>
              <a:t>(Queue)</a:t>
            </a:r>
          </a:p>
          <a:p>
            <a:r>
              <a:rPr lang="zh-TW" altLang="en-US" dirty="0"/>
              <a:t>佇列結構類似堆疊，但是資料進出的地方不同，佇列是採</a:t>
            </a:r>
            <a:r>
              <a:rPr lang="zh-TW" altLang="en-US" b="1" dirty="0">
                <a:solidFill>
                  <a:srgbClr val="0070C0"/>
                </a:solidFill>
              </a:rPr>
              <a:t>先進先出 </a:t>
            </a:r>
            <a:r>
              <a:rPr lang="en-US" altLang="zh-TW" b="1" dirty="0">
                <a:solidFill>
                  <a:srgbClr val="0070C0"/>
                </a:solidFill>
              </a:rPr>
              <a:t>(First In First Out) </a:t>
            </a:r>
            <a:r>
              <a:rPr lang="zh-TW" altLang="en-US" dirty="0"/>
              <a:t>的原則處理資料，它的原理就跟排隊是一樣的，先到的人就排在前面，當然也會先被服務到。</a:t>
            </a:r>
            <a:endParaRPr lang="en-US" altLang="zh-TW" dirty="0"/>
          </a:p>
          <a:p>
            <a:r>
              <a:rPr lang="zh-TW" altLang="en-US" dirty="0"/>
              <a:t>和堆疊操作類似，一般我們用 </a:t>
            </a:r>
            <a:r>
              <a:rPr lang="en-US" altLang="zh-TW" dirty="0" err="1"/>
              <a:t>Enqueue</a:t>
            </a:r>
            <a:r>
              <a:rPr lang="en-US" altLang="zh-TW" dirty="0"/>
              <a:t> </a:t>
            </a:r>
            <a:r>
              <a:rPr lang="zh-TW" altLang="en-US" dirty="0"/>
              <a:t>把資料放入佇列裡，使用</a:t>
            </a:r>
            <a:r>
              <a:rPr lang="en-US" altLang="zh-TW" dirty="0" err="1"/>
              <a:t>Dequeue</a:t>
            </a:r>
            <a:r>
              <a:rPr lang="en-US" altLang="zh-TW" dirty="0"/>
              <a:t> </a:t>
            </a:r>
            <a:r>
              <a:rPr lang="zh-TW" altLang="en-US" dirty="0"/>
              <a:t>將資料自佇列中取出。</a:t>
            </a:r>
            <a:endParaRPr lang="en-US" altLang="zh-TW" dirty="0"/>
          </a:p>
          <a:p>
            <a:r>
              <a:rPr lang="zh-TW" altLang="en-US" dirty="0"/>
              <a:t>佇列經常被用在資源分配的資料結構上。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8.3</a:t>
            </a:r>
            <a:r>
              <a:rPr lang="zh-TW" altLang="en-US" dirty="0"/>
              <a:t>抽象資料結構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597328"/>
            <a:ext cx="4680520" cy="157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7286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8.3</a:t>
            </a:r>
            <a:r>
              <a:rPr lang="zh-TW" altLang="en-US" dirty="0"/>
              <a:t>抽象資料結構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87" y="1772816"/>
            <a:ext cx="8353885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616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4293761" cy="2807717"/>
          </a:xfr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36983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1581</TotalTime>
  <Words>1349</Words>
  <Application>Microsoft Office PowerPoint</Application>
  <PresentationFormat>如螢幕大小 (4:3)</PresentationFormat>
  <Paragraphs>86</Paragraphs>
  <Slides>36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5" baseType="lpstr">
      <vt:lpstr>Calibri</vt:lpstr>
      <vt:lpstr>Lato</vt:lpstr>
      <vt:lpstr>Lucida Sans Unicode</vt:lpstr>
      <vt:lpstr>Times New Roman</vt:lpstr>
      <vt:lpstr>Verdana</vt:lpstr>
      <vt:lpstr>Wingdings 2</vt:lpstr>
      <vt:lpstr>Wingdings 3</vt:lpstr>
      <vt:lpstr>匯合</vt:lpstr>
      <vt:lpstr>Equation</vt:lpstr>
      <vt:lpstr>Ch 08 資料結構</vt:lpstr>
      <vt:lpstr>8.1基本資料結構</vt:lpstr>
      <vt:lpstr>8.1基本資料結構</vt:lpstr>
      <vt:lpstr>8.1基本資料結構</vt:lpstr>
      <vt:lpstr>8.1基本資料結構</vt:lpstr>
      <vt:lpstr>8.1基本資料結構</vt:lpstr>
      <vt:lpstr>8.1基本資料結構</vt:lpstr>
      <vt:lpstr>8.1基本資料結構</vt:lpstr>
      <vt:lpstr>8.1基本資料結構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8.2樹狀資料結構</vt:lpstr>
      <vt:lpstr>8.3抽象資料結構</vt:lpstr>
      <vt:lpstr>8.3抽象資料結構</vt:lpstr>
      <vt:lpstr>8.3抽象資料結構</vt:lpstr>
      <vt:lpstr>8.3抽象資料結構</vt:lpstr>
      <vt:lpstr>8.3抽象資料結構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電腦簡介</dc:title>
  <dc:creator>lobird</dc:creator>
  <cp:lastModifiedBy>大維 程</cp:lastModifiedBy>
  <cp:revision>193</cp:revision>
  <dcterms:created xsi:type="dcterms:W3CDTF">2014-07-06T07:33:00Z</dcterms:created>
  <dcterms:modified xsi:type="dcterms:W3CDTF">2025-12-21T16:18:57Z</dcterms:modified>
</cp:coreProperties>
</file>