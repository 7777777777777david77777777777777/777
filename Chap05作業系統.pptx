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3"/>
  </p:notesMasterIdLst>
  <p:sldIdLst>
    <p:sldId id="256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34" r:id="rId16"/>
    <p:sldId id="335" r:id="rId17"/>
    <p:sldId id="313" r:id="rId18"/>
    <p:sldId id="314" r:id="rId19"/>
    <p:sldId id="315" r:id="rId20"/>
    <p:sldId id="337" r:id="rId21"/>
    <p:sldId id="316" r:id="rId22"/>
    <p:sldId id="317" r:id="rId23"/>
    <p:sldId id="318" r:id="rId24"/>
    <p:sldId id="319" r:id="rId25"/>
    <p:sldId id="336" r:id="rId26"/>
    <p:sldId id="320" r:id="rId27"/>
    <p:sldId id="321" r:id="rId28"/>
    <p:sldId id="322" r:id="rId29"/>
    <p:sldId id="333" r:id="rId30"/>
    <p:sldId id="323" r:id="rId31"/>
    <p:sldId id="338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9" r:id="rId40"/>
    <p:sldId id="332" r:id="rId41"/>
    <p:sldId id="340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890">
          <p15:clr>
            <a:srgbClr val="A4A3A4"/>
          </p15:clr>
        </p15:guide>
        <p15:guide id="4" pos="4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60"/>
  </p:normalViewPr>
  <p:slideViewPr>
    <p:cSldViewPr>
      <p:cViewPr varScale="1">
        <p:scale>
          <a:sx n="128" d="100"/>
          <a:sy n="128" d="100"/>
        </p:scale>
        <p:origin x="1704" y="176"/>
      </p:cViewPr>
      <p:guideLst>
        <p:guide orient="horz" pos="2160"/>
        <p:guide pos="2880"/>
        <p:guide orient="horz" pos="890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2025/10/27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70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8032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400600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78098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25050"/>
            <a:ext cx="4940624" cy="54096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24233"/>
            <a:ext cx="3690451" cy="5482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237311"/>
            <a:ext cx="3402314" cy="634809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237311"/>
            <a:ext cx="3402314" cy="63481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716016" y="827366"/>
            <a:ext cx="3888432" cy="2889666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/>
              <a:t>Ch05 </a:t>
            </a:r>
            <a:br>
              <a:rPr lang="en-US" altLang="zh-TW" sz="4000" dirty="0"/>
            </a:br>
            <a:r>
              <a:rPr lang="zh-TW" altLang="en-US" dirty="0">
                <a:solidFill>
                  <a:srgbClr val="0070C0"/>
                </a:solidFill>
              </a:rPr>
              <a:t>作業系統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630616" cy="1199704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b="1" dirty="0">
                <a:solidFill>
                  <a:schemeClr val="tx1"/>
                </a:solidFill>
              </a:rPr>
              <a:t>李官陵 彭勝龍 羅壽之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0602"/>
            <a:ext cx="3816424" cy="5186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作業系統是一個介面，一種人機介面。由於它必須管理電腦的硬體設備，所以也可以說是資源管理者或資源分配者所謂的資源，範圍也蠻廣的，除了摸得到的硬體資源，如記憶體暫存裝置、各種磁碟輸出入裝置、印表機輸出裝置等，還有摸不到的軟體資源，如程式、檔案等。</a:t>
            </a:r>
            <a:endParaRPr lang="en-US" altLang="zh-TW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2509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2736"/>
            <a:ext cx="7392821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632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行程 </a:t>
            </a:r>
            <a:r>
              <a:rPr lang="en-US" altLang="zh-TW" dirty="0"/>
              <a:t>(process) </a:t>
            </a:r>
            <a:r>
              <a:rPr lang="zh-TW" altLang="en-US" dirty="0"/>
              <a:t>是一個執行中的程式，也有人稱為工作元。早期為了不浪費 </a:t>
            </a:r>
            <a:r>
              <a:rPr lang="en-US" altLang="zh-TW" dirty="0"/>
              <a:t>CPU </a:t>
            </a:r>
            <a:r>
              <a:rPr lang="zh-TW" altLang="en-US" dirty="0"/>
              <a:t>的計算能力，因此允許多人共用一部電腦，當很多人都在執行各自的程式時，記憶體就暫存很多行程，等待作業系統的分配資源並協助執行。</a:t>
            </a:r>
            <a:endParaRPr lang="en-US" altLang="zh-TW" dirty="0"/>
          </a:p>
          <a:p>
            <a:r>
              <a:rPr lang="zh-TW" altLang="en-US" dirty="0"/>
              <a:t>即使是個人電腦系統，一個人也可以執行多個程式，或是一個應用程式有很多個行程同時在工作。另一個電腦的發展是朝向多處理器或多核心的發展，例如一部電腦具有四顆核心，理論上可以處理四個行程。</a:t>
            </a:r>
            <a:endParaRPr lang="en-US" altLang="zh-TW" dirty="0"/>
          </a:p>
          <a:p>
            <a:r>
              <a:rPr lang="zh-TW" altLang="en-US" dirty="0"/>
              <a:t>作業系統必須要能夠處理有多個行程同時在記憶體裡執行的狀況，這種允許多個行程同時待在記憶體裡等待分配執行的系統，就稱為多工系統，行程管理是目前作業系統的基本功能之一。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</p:spTree>
    <p:extLst>
      <p:ext uri="{BB962C8B-B14F-4D97-AF65-F5344CB8AC3E}">
        <p14:creationId xmlns:p14="http://schemas.microsoft.com/office/powerpoint/2010/main" val="405925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dirty="0"/>
              <a:t>行程從開始到結束有以下幾個狀態</a:t>
            </a:r>
            <a:r>
              <a:rPr lang="en-US" altLang="zh-TW" dirty="0"/>
              <a:t>:</a:t>
            </a:r>
          </a:p>
          <a:p>
            <a:pPr>
              <a:buFont typeface="Wingdings" pitchFamily="2" charset="2"/>
              <a:buChar char="u"/>
            </a:pPr>
            <a:r>
              <a:rPr lang="zh-TW" altLang="en-US" b="1" dirty="0"/>
              <a:t>新生 </a:t>
            </a:r>
            <a:r>
              <a:rPr lang="en-US" altLang="zh-TW" b="1" dirty="0"/>
              <a:t>(new)</a:t>
            </a:r>
            <a:r>
              <a:rPr lang="zh-TW" altLang="en-US" b="1" dirty="0"/>
              <a:t>：</a:t>
            </a:r>
            <a:r>
              <a:rPr lang="zh-TW" altLang="en-US" dirty="0"/>
              <a:t>產生新的行程。</a:t>
            </a:r>
            <a:endParaRPr lang="en-US" altLang="zh-TW" dirty="0"/>
          </a:p>
          <a:p>
            <a:pPr>
              <a:buFont typeface="Wingdings" pitchFamily="2" charset="2"/>
              <a:buChar char="u"/>
            </a:pPr>
            <a:r>
              <a:rPr lang="zh-TW" altLang="en-US" b="1" dirty="0"/>
              <a:t>執行 </a:t>
            </a:r>
            <a:r>
              <a:rPr lang="en-US" altLang="zh-TW" b="1" dirty="0"/>
              <a:t>(running)</a:t>
            </a:r>
            <a:r>
              <a:rPr lang="zh-TW" altLang="en-US" b="1" dirty="0"/>
              <a:t>：</a:t>
            </a:r>
            <a:r>
              <a:rPr lang="zh-TW" altLang="en-US" dirty="0"/>
              <a:t>正在執行。</a:t>
            </a:r>
            <a:endParaRPr lang="en-US" altLang="zh-TW" dirty="0"/>
          </a:p>
          <a:p>
            <a:pPr>
              <a:buFont typeface="Wingdings" pitchFamily="2" charset="2"/>
              <a:buChar char="u"/>
            </a:pPr>
            <a:r>
              <a:rPr lang="zh-TW" altLang="en-US" b="1" dirty="0"/>
              <a:t>等待 </a:t>
            </a:r>
            <a:r>
              <a:rPr lang="en-US" altLang="zh-TW" b="1" dirty="0"/>
              <a:t>(waiting)</a:t>
            </a:r>
            <a:r>
              <a:rPr lang="zh-TW" altLang="en-US" dirty="0"/>
              <a:t>：等待某事件發生，例如等待使用者輸入完成或等待印表機輸出完畢。</a:t>
            </a:r>
            <a:endParaRPr lang="en-US" altLang="zh-TW" dirty="0"/>
          </a:p>
          <a:p>
            <a:pPr>
              <a:buFont typeface="Wingdings" pitchFamily="2" charset="2"/>
              <a:buChar char="u"/>
            </a:pPr>
            <a:r>
              <a:rPr lang="zh-TW" altLang="en-US" b="1" dirty="0"/>
              <a:t>就緒 </a:t>
            </a:r>
            <a:r>
              <a:rPr lang="en-US" altLang="zh-TW" b="1" dirty="0"/>
              <a:t>(ready)</a:t>
            </a:r>
            <a:r>
              <a:rPr lang="zh-TW" altLang="en-US" b="1" dirty="0"/>
              <a:t>：</a:t>
            </a:r>
            <a:r>
              <a:rPr lang="zh-TW" altLang="en-US" dirty="0"/>
              <a:t>排班中，等待使用 </a:t>
            </a:r>
            <a:r>
              <a:rPr lang="en-US" altLang="zh-TW" dirty="0"/>
              <a:t>CPU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buFont typeface="Wingdings" pitchFamily="2" charset="2"/>
              <a:buChar char="u"/>
            </a:pPr>
            <a:r>
              <a:rPr lang="zh-TW" altLang="en-US" b="1" dirty="0"/>
              <a:t>結束 </a:t>
            </a:r>
            <a:r>
              <a:rPr lang="en-US" altLang="zh-TW" b="1" dirty="0"/>
              <a:t>(terminated)</a:t>
            </a:r>
            <a:r>
              <a:rPr lang="zh-TW" altLang="en-US" b="1" dirty="0"/>
              <a:t>：</a:t>
            </a:r>
            <a:r>
              <a:rPr lang="zh-TW" altLang="en-US" dirty="0"/>
              <a:t>完成工作，結束行程。</a:t>
            </a:r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293096"/>
            <a:ext cx="5074352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289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544616"/>
          </a:xfrm>
        </p:spPr>
        <p:txBody>
          <a:bodyPr>
            <a:normAutofit/>
          </a:bodyPr>
          <a:lstStyle/>
          <a:p>
            <a:r>
              <a:rPr lang="zh-TW" altLang="en-US" dirty="0"/>
              <a:t>當一個程式被執行後，它即變成一個新生的行程，首先它會被排入</a:t>
            </a:r>
            <a:r>
              <a:rPr lang="zh-TW" altLang="en-US" b="1" dirty="0">
                <a:solidFill>
                  <a:schemeClr val="accent2"/>
                </a:solidFill>
              </a:rPr>
              <a:t>就緒</a:t>
            </a:r>
            <a:r>
              <a:rPr lang="zh-TW" altLang="en-US" dirty="0"/>
              <a:t>佇列等待排班器 </a:t>
            </a:r>
            <a:r>
              <a:rPr lang="en-US" altLang="zh-TW" dirty="0"/>
              <a:t>(scheduler) </a:t>
            </a:r>
            <a:r>
              <a:rPr lang="zh-TW" altLang="en-US" dirty="0"/>
              <a:t>的分派，如果很幸運的被選中，即進入</a:t>
            </a:r>
            <a:r>
              <a:rPr lang="zh-TW" altLang="en-US" b="1" dirty="0">
                <a:solidFill>
                  <a:schemeClr val="accent2"/>
                </a:solidFill>
              </a:rPr>
              <a:t>執行</a:t>
            </a:r>
            <a:r>
              <a:rPr lang="zh-TW" altLang="en-US" dirty="0"/>
              <a:t>狀態，此時它就擁有 </a:t>
            </a:r>
            <a:r>
              <a:rPr lang="en-US" altLang="zh-TW" dirty="0"/>
              <a:t>CPU </a:t>
            </a:r>
            <a:r>
              <a:rPr lang="zh-TW" altLang="en-US" dirty="0"/>
              <a:t>的控制權，當執行一段時間後，可能因為分到的時間片段用完了，必須重新回到</a:t>
            </a:r>
            <a:r>
              <a:rPr lang="zh-TW" altLang="en-US" b="1" dirty="0">
                <a:solidFill>
                  <a:schemeClr val="accent2"/>
                </a:solidFill>
              </a:rPr>
              <a:t>就緒</a:t>
            </a:r>
            <a:r>
              <a:rPr lang="zh-TW" altLang="en-US" dirty="0"/>
              <a:t>佇列等待下一次的機會再來繼續工作，如果行程需要等待其它輸入或輸出的完成，系統就會將它放入</a:t>
            </a:r>
            <a:r>
              <a:rPr lang="zh-TW" altLang="en-US" b="1" dirty="0">
                <a:solidFill>
                  <a:schemeClr val="accent2"/>
                </a:solidFill>
              </a:rPr>
              <a:t>等待</a:t>
            </a:r>
            <a:r>
              <a:rPr lang="zh-TW" altLang="en-US" dirty="0"/>
              <a:t>佇列等待那些事件的完成，之後就再送入</a:t>
            </a:r>
            <a:r>
              <a:rPr lang="zh-TW" altLang="en-US" b="1" dirty="0">
                <a:solidFill>
                  <a:schemeClr val="accent2"/>
                </a:solidFill>
              </a:rPr>
              <a:t>就緒</a:t>
            </a:r>
            <a:r>
              <a:rPr lang="zh-TW" altLang="en-US" dirty="0"/>
              <a:t>佇列等待排班器的安排，如此週而復始，直到該行程全部工作完成轉入</a:t>
            </a:r>
            <a:r>
              <a:rPr lang="zh-TW" altLang="en-US" b="1" dirty="0">
                <a:solidFill>
                  <a:schemeClr val="accent2"/>
                </a:solidFill>
              </a:rPr>
              <a:t>結束</a:t>
            </a:r>
            <a:r>
              <a:rPr lang="zh-TW" altLang="en-US" dirty="0"/>
              <a:t>狀態，離開系統。</a:t>
            </a:r>
            <a:endParaRPr lang="en-US" altLang="zh-TW" dirty="0"/>
          </a:p>
          <a:p>
            <a:r>
              <a:rPr lang="zh-TW" altLang="en-US" dirty="0"/>
              <a:t>行程管理最重要的工作，就是要有一個好的排班演算法，</a:t>
            </a:r>
            <a:r>
              <a:rPr lang="en-US" altLang="zh-TW" dirty="0"/>
              <a:t>CPU-</a:t>
            </a:r>
            <a:r>
              <a:rPr lang="zh-TW" altLang="en-US" dirty="0"/>
              <a:t>排班演算法 </a:t>
            </a:r>
            <a:r>
              <a:rPr lang="en-US" altLang="zh-TW" dirty="0"/>
              <a:t>(CPU-scheduling algorithm)</a:t>
            </a:r>
            <a:r>
              <a:rPr lang="zh-TW" altLang="en-US" dirty="0"/>
              <a:t>，評估排班演算法的優劣，一般都是用等待時間 </a:t>
            </a:r>
            <a:r>
              <a:rPr lang="en-US" altLang="zh-TW" dirty="0"/>
              <a:t>(waiting time) </a:t>
            </a:r>
            <a:r>
              <a:rPr lang="zh-TW" altLang="en-US" dirty="0"/>
              <a:t>來衡量。等待時間越長，顧客滿意度就越低。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</p:spTree>
    <p:extLst>
      <p:ext uri="{BB962C8B-B14F-4D97-AF65-F5344CB8AC3E}">
        <p14:creationId xmlns:p14="http://schemas.microsoft.com/office/powerpoint/2010/main" val="2386503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先到先服務排班法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最簡單的排班演算法要算是先到先服務排班法，就是誰先到，誰就先使用 </a:t>
            </a:r>
            <a:r>
              <a:rPr lang="en-US" altLang="zh-TW" dirty="0"/>
              <a:t>CPU</a:t>
            </a:r>
            <a:r>
              <a:rPr lang="zh-TW" altLang="en-US" dirty="0"/>
              <a:t>。此法並不允許行程在還沒完成工作前被置換出去，這樣的排班法屬於</a:t>
            </a:r>
            <a:r>
              <a:rPr lang="zh-TW" altLang="en-US" dirty="0">
                <a:solidFill>
                  <a:srgbClr val="FF0000"/>
                </a:solidFill>
              </a:rPr>
              <a:t>不可奪 </a:t>
            </a:r>
            <a:r>
              <a:rPr lang="en-US" altLang="zh-TW" dirty="0">
                <a:solidFill>
                  <a:srgbClr val="FF0000"/>
                </a:solidFill>
              </a:rPr>
              <a:t>(non-preemptive) </a:t>
            </a:r>
            <a:r>
              <a:rPr lang="zh-TW" altLang="en-US" dirty="0">
                <a:solidFill>
                  <a:srgbClr val="FF0000"/>
                </a:solidFill>
              </a:rPr>
              <a:t>的排班演算法</a:t>
            </a:r>
            <a:r>
              <a:rPr lang="zh-TW" altLang="en-US" dirty="0"/>
              <a:t>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</p:spTree>
    <p:extLst>
      <p:ext uri="{BB962C8B-B14F-4D97-AF65-F5344CB8AC3E}">
        <p14:creationId xmlns:p14="http://schemas.microsoft.com/office/powerpoint/2010/main" val="3605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讓我們舉個例子來說明此排班法則的概念，假設有三個行程進入到系統的就緒佇列，依照先後次序分別命名為 </a:t>
            </a:r>
            <a:r>
              <a:rPr lang="en-US" altLang="zh-TW" i="1" dirty="0"/>
              <a:t>P</a:t>
            </a:r>
            <a:r>
              <a:rPr lang="en-US" altLang="zh-TW" baseline="-25000" dirty="0"/>
              <a:t>1</a:t>
            </a:r>
            <a:r>
              <a:rPr lang="zh-TW" altLang="en-US" dirty="0"/>
              <a:t>、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zh-TW" altLang="en-US" dirty="0"/>
              <a:t> 和 </a:t>
            </a:r>
            <a:r>
              <a:rPr lang="en-US" altLang="zh-TW" i="1" dirty="0"/>
              <a:t>P</a:t>
            </a:r>
            <a:r>
              <a:rPr lang="en-US" altLang="zh-TW" baseline="-25000" dirty="0"/>
              <a:t>3</a:t>
            </a:r>
            <a:r>
              <a:rPr lang="zh-TW" altLang="en-US" dirty="0"/>
              <a:t>，它們完成工作需要的時間分別為 </a:t>
            </a:r>
            <a:r>
              <a:rPr lang="en-US" altLang="zh-TW" dirty="0"/>
              <a:t>5</a:t>
            </a:r>
            <a:r>
              <a:rPr lang="zh-TW" altLang="en-US" dirty="0"/>
              <a:t>、</a:t>
            </a:r>
            <a:r>
              <a:rPr lang="en-US" altLang="zh-TW" dirty="0"/>
              <a:t>2 </a:t>
            </a:r>
            <a:r>
              <a:rPr lang="zh-TW" altLang="en-US" dirty="0"/>
              <a:t>和 </a:t>
            </a:r>
            <a:r>
              <a:rPr lang="en-US" altLang="zh-TW" dirty="0"/>
              <a:t>3 </a:t>
            </a:r>
            <a:r>
              <a:rPr lang="zh-TW" altLang="en-US" dirty="0"/>
              <a:t>毫秒，那麼使用 </a:t>
            </a:r>
            <a:r>
              <a:rPr lang="en-US" altLang="zh-TW" dirty="0"/>
              <a:t>FCFS </a:t>
            </a:r>
            <a:r>
              <a:rPr lang="zh-TW" altLang="en-US" dirty="0"/>
              <a:t>排班法的執行甘特圖如圖 </a:t>
            </a:r>
            <a:r>
              <a:rPr lang="en-US" altLang="zh-TW" dirty="0"/>
              <a:t>5.3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由上面的甘特圖，我們可以算出 </a:t>
            </a:r>
            <a:r>
              <a:rPr lang="en-US" altLang="zh-TW" i="1" dirty="0"/>
              <a:t>P</a:t>
            </a:r>
            <a:r>
              <a:rPr lang="en-US" altLang="zh-TW" baseline="-25000" dirty="0"/>
              <a:t>1</a:t>
            </a:r>
            <a:r>
              <a:rPr lang="zh-TW" altLang="en-US" dirty="0"/>
              <a:t> 的等待時間是 </a:t>
            </a:r>
            <a:r>
              <a:rPr lang="en-US" altLang="zh-TW" dirty="0"/>
              <a:t>0 </a:t>
            </a:r>
            <a:r>
              <a:rPr lang="zh-TW" altLang="en-US" dirty="0"/>
              <a:t>毫秒， 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的等待時間是 </a:t>
            </a:r>
            <a:r>
              <a:rPr lang="en-US" altLang="zh-TW" dirty="0"/>
              <a:t>5 </a:t>
            </a:r>
            <a:r>
              <a:rPr lang="zh-TW" altLang="en-US" dirty="0"/>
              <a:t>毫秒，而 </a:t>
            </a:r>
            <a:r>
              <a:rPr lang="en-US" altLang="zh-TW" i="1" dirty="0"/>
              <a:t>P</a:t>
            </a:r>
            <a:r>
              <a:rPr lang="en-US" altLang="zh-TW" baseline="-25000" dirty="0"/>
              <a:t>3</a:t>
            </a:r>
            <a:r>
              <a:rPr lang="en-US" altLang="zh-TW" dirty="0"/>
              <a:t> </a:t>
            </a:r>
            <a:r>
              <a:rPr lang="zh-TW" altLang="en-US" dirty="0"/>
              <a:t>的等待時間則是 </a:t>
            </a:r>
            <a:r>
              <a:rPr lang="en-US" altLang="zh-TW" dirty="0"/>
              <a:t>7 </a:t>
            </a:r>
            <a:r>
              <a:rPr lang="zh-TW" altLang="en-US" dirty="0"/>
              <a:t>毫秒，如此可以算出總等待時間是 </a:t>
            </a:r>
            <a:r>
              <a:rPr lang="en-US" altLang="zh-TW" dirty="0"/>
              <a:t>0 + 5 + 7 = 12 </a:t>
            </a:r>
            <a:r>
              <a:rPr lang="zh-TW" altLang="en-US" dirty="0"/>
              <a:t>毫秒，也可以計算 每個行程的平均等待時間為 </a:t>
            </a:r>
            <a:r>
              <a:rPr lang="en-US" altLang="zh-TW" dirty="0"/>
              <a:t>12 / 3 = 4 </a:t>
            </a:r>
            <a:r>
              <a:rPr lang="zh-TW" altLang="en-US" dirty="0"/>
              <a:t>毫秒。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80928"/>
            <a:ext cx="748407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95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最短工作優先排班法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最短工作優先，亦即比較小的工作具有較高的執行優先權。</a:t>
            </a:r>
            <a:endParaRPr lang="en-US" altLang="zh-TW" dirty="0"/>
          </a:p>
          <a:p>
            <a:r>
              <a:rPr lang="zh-TW" altLang="en-US" dirty="0"/>
              <a:t>一個例子來說明，那麼它的執行甘特圖如圖 </a:t>
            </a:r>
            <a:r>
              <a:rPr lang="en-US" altLang="zh-TW" dirty="0"/>
              <a:t>5.4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同樣的，我們可以算出 </a:t>
            </a:r>
            <a:r>
              <a:rPr lang="en-US" altLang="zh-TW" i="1" dirty="0"/>
              <a:t>P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zh-TW" altLang="en-US" dirty="0"/>
              <a:t>的等待時間是 </a:t>
            </a:r>
            <a:r>
              <a:rPr lang="en-US" altLang="zh-TW" dirty="0"/>
              <a:t>5 </a:t>
            </a:r>
            <a:r>
              <a:rPr lang="zh-TW" altLang="en-US" dirty="0"/>
              <a:t>毫秒，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的等待時間是 </a:t>
            </a:r>
            <a:r>
              <a:rPr lang="en-US" altLang="zh-TW" dirty="0"/>
              <a:t>0 </a:t>
            </a:r>
            <a:r>
              <a:rPr lang="zh-TW" altLang="en-US" dirty="0"/>
              <a:t>毫秒，而 </a:t>
            </a:r>
            <a:r>
              <a:rPr lang="en-US" altLang="zh-TW" i="1" dirty="0"/>
              <a:t>P</a:t>
            </a:r>
            <a:r>
              <a:rPr lang="en-US" altLang="zh-TW" baseline="-25000" dirty="0"/>
              <a:t>3</a:t>
            </a:r>
            <a:r>
              <a:rPr lang="en-US" altLang="zh-TW" dirty="0"/>
              <a:t> </a:t>
            </a:r>
            <a:r>
              <a:rPr lang="zh-TW" altLang="en-US" dirty="0"/>
              <a:t>的等待時間則是 </a:t>
            </a:r>
            <a:r>
              <a:rPr lang="en-US" altLang="zh-TW" dirty="0"/>
              <a:t>2 </a:t>
            </a:r>
            <a:r>
              <a:rPr lang="zh-TW" altLang="en-US" dirty="0"/>
              <a:t>毫秒，如此可以算出總等待時間是 </a:t>
            </a:r>
            <a:r>
              <a:rPr lang="en-US" altLang="zh-TW" dirty="0"/>
              <a:t>5 + 0 + 2 = 7 </a:t>
            </a:r>
            <a:r>
              <a:rPr lang="zh-TW" altLang="en-US" dirty="0"/>
              <a:t>毫秒，也可以計算出每個行程的平均等待時間為 </a:t>
            </a:r>
            <a:r>
              <a:rPr lang="en-US" altLang="zh-TW" dirty="0"/>
              <a:t>7 / 3 = 2.3 </a:t>
            </a:r>
            <a:r>
              <a:rPr lang="zh-TW" altLang="en-US" dirty="0"/>
              <a:t>毫秒。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564904"/>
            <a:ext cx="6920759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040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SJF </a:t>
            </a:r>
            <a:r>
              <a:rPr lang="zh-TW" altLang="en-US" dirty="0"/>
              <a:t>也是不可奪的排班法則，如果我們允許行程被中途暫停，也就是可奪的 </a:t>
            </a:r>
            <a:r>
              <a:rPr lang="en-US" altLang="zh-TW" dirty="0"/>
              <a:t>(preemptive)</a:t>
            </a:r>
            <a:r>
              <a:rPr lang="zh-TW" altLang="en-US" dirty="0"/>
              <a:t>，那麼就變成</a:t>
            </a:r>
            <a:r>
              <a:rPr lang="zh-TW" altLang="en-US" dirty="0">
                <a:solidFill>
                  <a:srgbClr val="FF0000"/>
                </a:solidFill>
              </a:rPr>
              <a:t>最短剩餘時間優先  </a:t>
            </a:r>
            <a:r>
              <a:rPr lang="en-US" altLang="zh-TW" dirty="0">
                <a:solidFill>
                  <a:srgbClr val="FF0000"/>
                </a:solidFill>
              </a:rPr>
              <a:t>(Shortest Remaining Time First, SRTF)</a:t>
            </a:r>
            <a:r>
              <a:rPr lang="zh-TW" altLang="en-US" dirty="0"/>
              <a:t>，在 </a:t>
            </a:r>
            <a:r>
              <a:rPr lang="en-US" altLang="zh-TW" dirty="0"/>
              <a:t>SRTF </a:t>
            </a:r>
            <a:r>
              <a:rPr lang="zh-TW" altLang="en-US" dirty="0"/>
              <a:t>中，如果我們目前在執行一個需要 </a:t>
            </a:r>
            <a:r>
              <a:rPr lang="en-US" altLang="zh-TW" dirty="0"/>
              <a:t>10 </a:t>
            </a:r>
            <a:r>
              <a:rPr lang="zh-TW" altLang="en-US" dirty="0"/>
              <a:t>毫秒的工作，並且已經執行 </a:t>
            </a:r>
            <a:r>
              <a:rPr lang="en-US" altLang="zh-TW" dirty="0"/>
              <a:t>5 </a:t>
            </a:r>
            <a:r>
              <a:rPr lang="zh-TW" altLang="en-US" dirty="0"/>
              <a:t>毫秒，如果這時進來了一個只需要 </a:t>
            </a:r>
            <a:r>
              <a:rPr lang="en-US" altLang="zh-TW" dirty="0"/>
              <a:t>2 </a:t>
            </a:r>
            <a:r>
              <a:rPr lang="zh-TW" altLang="en-US" dirty="0"/>
              <a:t>毫秒的工作，那麼排班程式就會把目前行程送入就緒佇列，而先執行目前新進的行程，這就是 </a:t>
            </a:r>
            <a:r>
              <a:rPr lang="en-US" altLang="zh-TW" dirty="0"/>
              <a:t>SRTF</a:t>
            </a:r>
            <a:r>
              <a:rPr lang="zh-TW" altLang="en-US" dirty="0"/>
              <a:t>。 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</p:spTree>
    <p:extLst>
      <p:ext uri="{BB962C8B-B14F-4D97-AF65-F5344CB8AC3E}">
        <p14:creationId xmlns:p14="http://schemas.microsoft.com/office/powerpoint/2010/main" val="206714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優先權排班法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其實前面所談的排班法都是某種特例的優先權排班法，例如 </a:t>
            </a:r>
            <a:r>
              <a:rPr lang="en-US" altLang="zh-TW" dirty="0">
                <a:solidFill>
                  <a:srgbClr val="FF0000"/>
                </a:solidFill>
              </a:rPr>
              <a:t>FCFS </a:t>
            </a:r>
            <a:r>
              <a:rPr lang="zh-TW" altLang="en-US" dirty="0">
                <a:solidFill>
                  <a:srgbClr val="FF0000"/>
                </a:solidFill>
              </a:rPr>
              <a:t>的優先權是由「進入就緒佇列的時間」來決定。而 </a:t>
            </a:r>
            <a:r>
              <a:rPr lang="en-US" altLang="zh-TW" dirty="0">
                <a:solidFill>
                  <a:srgbClr val="FF0000"/>
                </a:solidFill>
              </a:rPr>
              <a:t>SJF </a:t>
            </a:r>
            <a:r>
              <a:rPr lang="zh-TW" altLang="en-US" dirty="0">
                <a:solidFill>
                  <a:srgbClr val="FF0000"/>
                </a:solidFill>
              </a:rPr>
              <a:t>和 </a:t>
            </a:r>
            <a:r>
              <a:rPr lang="en-US" altLang="zh-TW" dirty="0">
                <a:solidFill>
                  <a:srgbClr val="FF0000"/>
                </a:solidFill>
              </a:rPr>
              <a:t>SRTF </a:t>
            </a:r>
            <a:r>
              <a:rPr lang="zh-TW" altLang="en-US" dirty="0">
                <a:solidFill>
                  <a:srgbClr val="FF0000"/>
                </a:solidFill>
              </a:rPr>
              <a:t>的優先權分別是由「工作的長短」和「剩餘工作的長短」來決定。</a:t>
            </a:r>
            <a:r>
              <a:rPr lang="zh-TW" altLang="en-US" dirty="0"/>
              <a:t>只要每個行程進入系統後都能事先計算出它的優先權，排班程式就可以依照優先權來決定其執行的先後次序，如果我們允許在執行中可以重新計算優先權，那麼就可以變成可奪式優先權法。</a:t>
            </a:r>
            <a:endParaRPr lang="en-US" altLang="zh-TW" dirty="0"/>
          </a:p>
          <a:p>
            <a:r>
              <a:rPr lang="zh-TW" altLang="en-US" dirty="0"/>
              <a:t>優先權排班法的最大問題就是</a:t>
            </a:r>
            <a:r>
              <a:rPr lang="zh-TW" altLang="en-US" dirty="0">
                <a:solidFill>
                  <a:srgbClr val="FF0000"/>
                </a:solidFill>
              </a:rPr>
              <a:t>飢餓 </a:t>
            </a:r>
            <a:r>
              <a:rPr lang="en-US" altLang="zh-TW" dirty="0">
                <a:solidFill>
                  <a:srgbClr val="FF0000"/>
                </a:solidFill>
              </a:rPr>
              <a:t>(starvation)</a:t>
            </a:r>
            <a:r>
              <a:rPr lang="zh-TW" altLang="en-US" dirty="0"/>
              <a:t>，若在一個低優先權行程被執行之前，有源源不絕的高優先權的行程進來，那麼很可能會執行不到那個低優先的行程，我們就說此低優先權行程是處於一個飢餓狀態。為了避免飢餓的發生，使用優先權排班法，通常還會加上計時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</a:rPr>
              <a:t>aging</a:t>
            </a:r>
            <a:r>
              <a:rPr lang="en-US" altLang="zh-TW" dirty="0"/>
              <a:t>) </a:t>
            </a:r>
            <a:r>
              <a:rPr lang="zh-TW" altLang="en-US" dirty="0"/>
              <a:t>功能。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</p:spTree>
    <p:extLst>
      <p:ext uri="{BB962C8B-B14F-4D97-AF65-F5344CB8AC3E}">
        <p14:creationId xmlns:p14="http://schemas.microsoft.com/office/powerpoint/2010/main" val="182382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循環排班法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循環 </a:t>
            </a:r>
            <a:r>
              <a:rPr lang="en-US" altLang="zh-TW" dirty="0"/>
              <a:t>(Round Robin, RR) </a:t>
            </a:r>
            <a:r>
              <a:rPr lang="zh-TW" altLang="en-US" dirty="0"/>
              <a:t>排班法可以說是 </a:t>
            </a:r>
            <a:r>
              <a:rPr lang="en-US" altLang="zh-TW" dirty="0"/>
              <a:t>FCFS </a:t>
            </a:r>
            <a:r>
              <a:rPr lang="zh-TW" altLang="en-US" dirty="0"/>
              <a:t>的一個可奪式版本，行程還是依照先到先服務的次序，但是每個行程可以執行的時間是固定的，此固定的單位時間稱為時間量 </a:t>
            </a:r>
            <a:r>
              <a:rPr lang="en-US" altLang="zh-TW" dirty="0"/>
              <a:t>(time  quantum) </a:t>
            </a:r>
            <a:r>
              <a:rPr lang="zh-TW" altLang="en-US" dirty="0"/>
              <a:t>或時間片段 </a:t>
            </a:r>
            <a:r>
              <a:rPr lang="en-US" altLang="zh-TW" dirty="0"/>
              <a:t>(time slice)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由上圖我們可以算出 </a:t>
            </a:r>
            <a:r>
              <a:rPr lang="en-US" altLang="zh-TW" i="1" dirty="0"/>
              <a:t>P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zh-TW" altLang="en-US" dirty="0"/>
              <a:t>總共等待了 </a:t>
            </a:r>
            <a:r>
              <a:rPr lang="en-US" altLang="zh-TW" dirty="0"/>
              <a:t>5 </a:t>
            </a:r>
            <a:r>
              <a:rPr lang="zh-TW" altLang="en-US" dirty="0"/>
              <a:t>毫秒，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等待了 </a:t>
            </a:r>
            <a:r>
              <a:rPr lang="en-US" altLang="zh-TW" dirty="0"/>
              <a:t>3 </a:t>
            </a:r>
            <a:r>
              <a:rPr lang="zh-TW" altLang="en-US" dirty="0"/>
              <a:t>毫秒，而 </a:t>
            </a:r>
            <a:r>
              <a:rPr lang="en-US" altLang="zh-TW" i="1" dirty="0"/>
              <a:t>P</a:t>
            </a:r>
            <a:r>
              <a:rPr lang="en-US" altLang="zh-TW" baseline="-25000" dirty="0"/>
              <a:t>3</a:t>
            </a:r>
            <a:r>
              <a:rPr lang="en-US" altLang="zh-TW" dirty="0"/>
              <a:t> </a:t>
            </a:r>
            <a:r>
              <a:rPr lang="zh-TW" altLang="en-US" dirty="0"/>
              <a:t>等待了 </a:t>
            </a:r>
            <a:r>
              <a:rPr lang="en-US" altLang="zh-TW" dirty="0"/>
              <a:t>5 </a:t>
            </a:r>
            <a:r>
              <a:rPr lang="zh-TW" altLang="en-US" dirty="0"/>
              <a:t>毫秒，所以總共等待了 </a:t>
            </a:r>
            <a:r>
              <a:rPr lang="en-US" altLang="zh-TW" dirty="0"/>
              <a:t>13 </a:t>
            </a:r>
            <a:r>
              <a:rPr lang="zh-TW" altLang="en-US" dirty="0"/>
              <a:t>毫秒。如果我們把時間片段設為</a:t>
            </a:r>
            <a:r>
              <a:rPr lang="en-US" altLang="zh-TW" dirty="0"/>
              <a:t>2 </a:t>
            </a:r>
            <a:r>
              <a:rPr lang="zh-TW" altLang="en-US" dirty="0"/>
              <a:t>毫秒，那麼執行甘特圖就變成如圖 </a:t>
            </a:r>
            <a:r>
              <a:rPr lang="en-US" altLang="zh-TW" dirty="0"/>
              <a:t>5.6 </a:t>
            </a:r>
            <a:r>
              <a:rPr lang="zh-TW" altLang="en-US" dirty="0"/>
              <a:t>了。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12976"/>
            <a:ext cx="7847407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3400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同樣的，我們可以算出 </a:t>
            </a:r>
            <a:r>
              <a:rPr lang="en-US" altLang="zh-TW" i="1" dirty="0"/>
              <a:t>P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zh-TW" altLang="en-US" dirty="0"/>
              <a:t>總共等待了 </a:t>
            </a:r>
            <a:r>
              <a:rPr lang="en-US" altLang="zh-TW" dirty="0"/>
              <a:t>5 </a:t>
            </a:r>
            <a:r>
              <a:rPr lang="zh-TW" altLang="en-US" dirty="0"/>
              <a:t>毫秒，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等待了 </a:t>
            </a:r>
            <a:r>
              <a:rPr lang="en-US" altLang="zh-TW" dirty="0"/>
              <a:t>2 </a:t>
            </a:r>
            <a:r>
              <a:rPr lang="zh-TW" altLang="en-US" dirty="0"/>
              <a:t>毫秒，而 </a:t>
            </a:r>
            <a:r>
              <a:rPr lang="en-US" altLang="zh-TW" i="1" dirty="0"/>
              <a:t>P</a:t>
            </a:r>
            <a:r>
              <a:rPr lang="en-US" altLang="zh-TW" baseline="-25000" dirty="0"/>
              <a:t>3</a:t>
            </a:r>
            <a:r>
              <a:rPr lang="en-US" altLang="zh-TW" dirty="0"/>
              <a:t> </a:t>
            </a:r>
            <a:r>
              <a:rPr lang="zh-TW" altLang="en-US" dirty="0"/>
              <a:t>等待了 </a:t>
            </a:r>
            <a:r>
              <a:rPr lang="en-US" altLang="zh-TW" dirty="0"/>
              <a:t>6 </a:t>
            </a:r>
            <a:r>
              <a:rPr lang="zh-TW" altLang="en-US" dirty="0"/>
              <a:t>毫秒，雖然總共還是等待了 </a:t>
            </a:r>
            <a:r>
              <a:rPr lang="en-US" altLang="zh-TW" dirty="0"/>
              <a:t>13 </a:t>
            </a:r>
            <a:r>
              <a:rPr lang="zh-TW" altLang="en-US" dirty="0"/>
              <a:t>毫秒，但是各別行程等待的時間還是有所不同，例如 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i="1" dirty="0"/>
              <a:t>P</a:t>
            </a:r>
            <a:r>
              <a:rPr lang="en-US" altLang="zh-TW" baseline="-25000" dirty="0"/>
              <a:t>3</a:t>
            </a:r>
            <a:r>
              <a:rPr lang="en-US" altLang="zh-TW" dirty="0"/>
              <a:t> </a:t>
            </a:r>
            <a:r>
              <a:rPr lang="zh-TW" altLang="en-US" dirty="0"/>
              <a:t>就跟前一個例子不一樣了。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12776"/>
            <a:ext cx="7877267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4369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多層 </a:t>
            </a:r>
            <a:r>
              <a:rPr lang="en-US" altLang="zh-TW" b="1" dirty="0">
                <a:solidFill>
                  <a:schemeClr val="accent3"/>
                </a:solidFill>
              </a:rPr>
              <a:t>( </a:t>
            </a:r>
            <a:r>
              <a:rPr lang="zh-TW" altLang="en-US" b="1" dirty="0">
                <a:solidFill>
                  <a:schemeClr val="accent3"/>
                </a:solidFill>
              </a:rPr>
              <a:t>回饋 </a:t>
            </a:r>
            <a:r>
              <a:rPr lang="en-US" altLang="zh-TW" b="1" dirty="0">
                <a:solidFill>
                  <a:schemeClr val="accent3"/>
                </a:solidFill>
              </a:rPr>
              <a:t>) </a:t>
            </a:r>
            <a:r>
              <a:rPr lang="zh-TW" altLang="en-US" b="1" dirty="0">
                <a:solidFill>
                  <a:schemeClr val="accent3"/>
                </a:solidFill>
              </a:rPr>
              <a:t>佇列排班法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多層佇列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dirty="0" err="1">
                <a:solidFill>
                  <a:srgbClr val="FF0000"/>
                </a:solidFill>
              </a:rPr>
              <a:t>Mutilevel</a:t>
            </a:r>
            <a:r>
              <a:rPr lang="en-US" altLang="zh-TW" dirty="0">
                <a:solidFill>
                  <a:srgbClr val="FF0000"/>
                </a:solidFill>
              </a:rPr>
              <a:t> Queue, MQ) </a:t>
            </a:r>
            <a:r>
              <a:rPr lang="zh-TW" altLang="en-US" dirty="0"/>
              <a:t>排班法是將優先權的概念應用在就緒佇列裡，例如系統 </a:t>
            </a:r>
            <a:r>
              <a:rPr lang="en-US" altLang="zh-TW" dirty="0"/>
              <a:t>(system) </a:t>
            </a:r>
            <a:r>
              <a:rPr lang="zh-TW" altLang="en-US" dirty="0"/>
              <a:t>行程優於交談  </a:t>
            </a:r>
            <a:r>
              <a:rPr lang="en-US" altLang="zh-TW" dirty="0"/>
              <a:t>(interactive) </a:t>
            </a:r>
            <a:r>
              <a:rPr lang="zh-TW" altLang="en-US" dirty="0"/>
              <a:t>行程，而交談行程又優於批次 </a:t>
            </a:r>
            <a:r>
              <a:rPr lang="en-US" altLang="zh-TW" dirty="0"/>
              <a:t>(batch) </a:t>
            </a:r>
            <a:r>
              <a:rPr lang="zh-TW" altLang="en-US" dirty="0"/>
              <a:t>行程等。</a:t>
            </a:r>
            <a:endParaRPr lang="en-US" altLang="zh-TW" dirty="0"/>
          </a:p>
          <a:p>
            <a:r>
              <a:rPr lang="zh-TW" altLang="en-US" dirty="0"/>
              <a:t>在同一個佇列裡的行程則可以再應用 </a:t>
            </a:r>
            <a:r>
              <a:rPr lang="en-US" altLang="zh-TW" dirty="0"/>
              <a:t>FCFS </a:t>
            </a:r>
            <a:r>
              <a:rPr lang="zh-TW" altLang="en-US" dirty="0"/>
              <a:t>或 </a:t>
            </a:r>
            <a:r>
              <a:rPr lang="en-US" altLang="zh-TW" dirty="0"/>
              <a:t>RR </a:t>
            </a:r>
            <a:r>
              <a:rPr lang="zh-TW" altLang="en-US" dirty="0"/>
              <a:t>來排班，使得排班的方法更有彈性。類似優先權排班法，</a:t>
            </a:r>
            <a:r>
              <a:rPr lang="en-US" altLang="zh-TW" dirty="0"/>
              <a:t>MQ </a:t>
            </a:r>
            <a:r>
              <a:rPr lang="zh-TW" altLang="en-US" dirty="0"/>
              <a:t>也可能造成飢餓，因此可以加入計時功能。</a:t>
            </a:r>
            <a:endParaRPr lang="en-US" altLang="zh-TW" dirty="0"/>
          </a:p>
          <a:p>
            <a:r>
              <a:rPr lang="zh-TW" altLang="en-US" dirty="0"/>
              <a:t>這種變形版本的 </a:t>
            </a:r>
            <a:r>
              <a:rPr lang="en-US" altLang="zh-TW" dirty="0"/>
              <a:t>MQ </a:t>
            </a:r>
            <a:r>
              <a:rPr lang="zh-TW" altLang="en-US" dirty="0"/>
              <a:t>稱為多層回饋佇列排班法。很明顯的，</a:t>
            </a:r>
            <a:r>
              <a:rPr lang="en-US" altLang="zh-TW" dirty="0"/>
              <a:t>MFQ </a:t>
            </a:r>
            <a:r>
              <a:rPr lang="zh-TW" altLang="en-US" dirty="0"/>
              <a:t>要比 </a:t>
            </a:r>
            <a:r>
              <a:rPr lang="en-US" altLang="zh-TW" dirty="0"/>
              <a:t>MQ </a:t>
            </a:r>
            <a:r>
              <a:rPr lang="zh-TW" altLang="en-US" dirty="0"/>
              <a:t>更有彈性。</a:t>
            </a:r>
            <a:endParaRPr lang="en-US" altLang="zh-TW" dirty="0"/>
          </a:p>
          <a:p>
            <a:r>
              <a:rPr lang="zh-TW" altLang="en-US" dirty="0"/>
              <a:t>由於 </a:t>
            </a:r>
            <a:r>
              <a:rPr lang="en-US" altLang="zh-TW" dirty="0"/>
              <a:t>MFQ </a:t>
            </a:r>
            <a:r>
              <a:rPr lang="zh-TW" altLang="en-US" dirty="0"/>
              <a:t>的彈性最大，因此也是作業系統最常採用的排班法。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</p:spTree>
    <p:extLst>
      <p:ext uri="{BB962C8B-B14F-4D97-AF65-F5344CB8AC3E}">
        <p14:creationId xmlns:p14="http://schemas.microsoft.com/office/powerpoint/2010/main" val="275724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8136904" cy="278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63588" y="2924944"/>
            <a:ext cx="7632848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76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5.1</a:t>
            </a:r>
            <a:r>
              <a:rPr lang="zh-TW" altLang="en-US" dirty="0"/>
              <a:t>行程管理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40768"/>
            <a:ext cx="7776864" cy="271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971600" y="2564904"/>
            <a:ext cx="7272808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02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當一個行程被執行時，必須要在記憶體裡才行，因此多工系統允許多個行程被執行，它們就必須通通放到記憶體裡，因此</a:t>
            </a:r>
            <a:r>
              <a:rPr lang="zh-TW" altLang="en-US" dirty="0">
                <a:solidFill>
                  <a:srgbClr val="FF0000"/>
                </a:solidFill>
              </a:rPr>
              <a:t>記憶體的大小就決定多工的等級 </a:t>
            </a:r>
            <a:r>
              <a:rPr lang="en-US" altLang="zh-TW" dirty="0">
                <a:solidFill>
                  <a:srgbClr val="FF0000"/>
                </a:solidFill>
              </a:rPr>
              <a:t>(degree)</a:t>
            </a:r>
            <a:r>
              <a:rPr lang="zh-TW" altLang="en-US" dirty="0"/>
              <a:t>，也就是允許同時執行工作的數量。而行程結束後，即釋放原占用的記憶體，該釋放的記憶體就被回收，通常就稱為垃圾收集 </a:t>
            </a:r>
            <a:r>
              <a:rPr lang="en-US" altLang="zh-TW" dirty="0"/>
              <a:t>(garbage collection)</a:t>
            </a:r>
            <a:r>
              <a:rPr lang="zh-TW" altLang="en-US" dirty="0"/>
              <a:t>。記憶體通常被分為二部分，一部分為</a:t>
            </a:r>
            <a:r>
              <a:rPr lang="zh-TW" altLang="en-US" dirty="0">
                <a:solidFill>
                  <a:srgbClr val="FF0000"/>
                </a:solidFill>
              </a:rPr>
              <a:t>系統區，專門放置被執行的系統程式和系統資料</a:t>
            </a:r>
            <a:r>
              <a:rPr lang="zh-TW" altLang="en-US" dirty="0"/>
              <a:t>；另一部分為</a:t>
            </a:r>
            <a:r>
              <a:rPr lang="zh-TW" altLang="en-US" dirty="0">
                <a:solidFill>
                  <a:srgbClr val="FF0000"/>
                </a:solidFill>
              </a:rPr>
              <a:t>使用者空間，用來存放使用者行程和資料的地方，而記憶體管理指的就是使用者空間管理。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3400728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連續記憶體配置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這是最簡單的記憶體配置方法，非常適合個人使用的作業系統，剛開始記憶體的初始狀態是一塊完整的自由空間，記憶體的配置是以一個連續空間分配給一個行程為準。</a:t>
            </a:r>
            <a:endParaRPr lang="en-US" altLang="zh-TW" dirty="0"/>
          </a:p>
          <a:p>
            <a:r>
              <a:rPr lang="zh-TW" altLang="en-US" dirty="0"/>
              <a:t>連續記憶體配置 </a:t>
            </a:r>
            <a:r>
              <a:rPr lang="en-US" altLang="zh-TW" dirty="0"/>
              <a:t>(Contiguous Memory Allocation) </a:t>
            </a:r>
            <a:r>
              <a:rPr lang="zh-TW" altLang="en-US" dirty="0"/>
              <a:t>的垃圾收集通常使用連結串列記載。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789040"/>
            <a:ext cx="3721109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6597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而配置策略則有三種最常用的方法：最先 </a:t>
            </a:r>
            <a:r>
              <a:rPr lang="en-US" altLang="zh-TW" dirty="0"/>
              <a:t>(first fit)</a:t>
            </a:r>
            <a:r>
              <a:rPr lang="zh-TW" altLang="en-US" dirty="0"/>
              <a:t>、最佳 </a:t>
            </a:r>
            <a:r>
              <a:rPr lang="en-US" altLang="zh-TW" dirty="0"/>
              <a:t>(best fit) </a:t>
            </a:r>
            <a:r>
              <a:rPr lang="zh-TW" altLang="en-US" dirty="0"/>
              <a:t>與最糟 </a:t>
            </a:r>
            <a:r>
              <a:rPr lang="en-US" altLang="zh-TW" dirty="0"/>
              <a:t>(worst fit) </a:t>
            </a:r>
            <a:r>
              <a:rPr lang="zh-TW" altLang="en-US" dirty="0"/>
              <a:t>三種配置法。目前的自由區塊分別是 </a:t>
            </a:r>
            <a:r>
              <a:rPr lang="en-US" altLang="zh-TW" dirty="0"/>
              <a:t>5K</a:t>
            </a:r>
            <a:r>
              <a:rPr lang="zh-TW" altLang="en-US" dirty="0"/>
              <a:t>、</a:t>
            </a:r>
            <a:r>
              <a:rPr lang="en-US" altLang="zh-TW" dirty="0"/>
              <a:t>12K</a:t>
            </a:r>
            <a:r>
              <a:rPr lang="zh-TW" altLang="en-US" dirty="0"/>
              <a:t>、</a:t>
            </a:r>
            <a:r>
              <a:rPr lang="en-US" altLang="zh-TW" dirty="0"/>
              <a:t>3K </a:t>
            </a:r>
            <a:r>
              <a:rPr lang="zh-TW" altLang="en-US" dirty="0"/>
              <a:t>和 </a:t>
            </a:r>
            <a:r>
              <a:rPr lang="en-US" altLang="zh-TW" dirty="0"/>
              <a:t>14K</a:t>
            </a:r>
            <a:r>
              <a:rPr lang="zh-TW" altLang="en-US" dirty="0"/>
              <a:t>，若目前有一個 </a:t>
            </a:r>
            <a:r>
              <a:rPr lang="en-US" altLang="zh-TW" dirty="0"/>
              <a:t>3K </a:t>
            </a:r>
            <a:r>
              <a:rPr lang="zh-TW" altLang="en-US" dirty="0"/>
              <a:t>的行程要置入記憶體，則用最先法會選擇 </a:t>
            </a:r>
            <a:r>
              <a:rPr lang="en-US" altLang="zh-TW" dirty="0"/>
              <a:t>5K </a:t>
            </a:r>
            <a:r>
              <a:rPr lang="zh-TW" altLang="en-US" dirty="0"/>
              <a:t>的自由區塊，若是最佳法就會選擇 </a:t>
            </a:r>
            <a:r>
              <a:rPr lang="en-US" altLang="zh-TW" dirty="0"/>
              <a:t>3K </a:t>
            </a:r>
            <a:r>
              <a:rPr lang="zh-TW" altLang="en-US" dirty="0"/>
              <a:t>的區塊，而最糟法會選擇 </a:t>
            </a:r>
            <a:r>
              <a:rPr lang="en-US" altLang="zh-TW" dirty="0"/>
              <a:t>14K </a:t>
            </a:r>
            <a:r>
              <a:rPr lang="zh-TW" altLang="en-US" dirty="0"/>
              <a:t>的區塊。</a:t>
            </a:r>
            <a:endParaRPr lang="en-US" altLang="zh-TW" dirty="0"/>
          </a:p>
          <a:p>
            <a:r>
              <a:rPr lang="zh-TW" altLang="en-US" dirty="0"/>
              <a:t>記憶體的配置經常會出現</a:t>
            </a:r>
            <a:r>
              <a:rPr lang="zh-TW" altLang="en-US" dirty="0">
                <a:solidFill>
                  <a:srgbClr val="FF0000"/>
                </a:solidFill>
              </a:rPr>
              <a:t>碎片 </a:t>
            </a:r>
            <a:r>
              <a:rPr lang="en-US" altLang="zh-TW" dirty="0">
                <a:solidFill>
                  <a:srgbClr val="FF0000"/>
                </a:solidFill>
              </a:rPr>
              <a:t>(fragmentation) </a:t>
            </a:r>
            <a:r>
              <a:rPr lang="zh-TW" altLang="en-US" dirty="0">
                <a:solidFill>
                  <a:srgbClr val="FF0000"/>
                </a:solidFill>
              </a:rPr>
              <a:t>的情況</a:t>
            </a:r>
            <a:r>
              <a:rPr lang="zh-TW" altLang="en-US" dirty="0"/>
              <a:t>，所謂的外部碎片 </a:t>
            </a:r>
            <a:r>
              <a:rPr lang="en-US" altLang="zh-TW" dirty="0"/>
              <a:t>(external fragmentation) </a:t>
            </a:r>
            <a:r>
              <a:rPr lang="zh-TW" altLang="en-US" dirty="0"/>
              <a:t>是指未分配給任何行程的自由區塊，但卻無法分配給任何其他的行程使用；而內部碎片 </a:t>
            </a:r>
            <a:r>
              <a:rPr lang="en-US" altLang="zh-TW" dirty="0"/>
              <a:t>(internal fragmentation) </a:t>
            </a:r>
            <a:r>
              <a:rPr lang="zh-TW" altLang="en-US" dirty="0"/>
              <a:t>則是指分配給某一行程，但卻不會被使用的空間。</a:t>
            </a:r>
            <a:endParaRPr lang="en-US" altLang="zh-TW" dirty="0"/>
          </a:p>
          <a:p>
            <a:r>
              <a:rPr lang="zh-TW" altLang="en-US" dirty="0"/>
              <a:t>使用記憶體重組 </a:t>
            </a:r>
            <a:r>
              <a:rPr lang="en-US" altLang="zh-TW" dirty="0"/>
              <a:t>(defragmentation)</a:t>
            </a:r>
            <a:r>
              <a:rPr lang="zh-TW" altLang="en-US" dirty="0"/>
              <a:t>，將執行中的行程移到連續的位置，使得空出的自由空間行程為一個連續的區塊。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3704591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46502"/>
            <a:ext cx="8055340" cy="329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942875" y="3533144"/>
            <a:ext cx="7272808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95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分段配置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行程的組成可能含有很多部分，例如程式碼、變數、使用的資料結構 </a:t>
            </a:r>
            <a:r>
              <a:rPr lang="en-US" altLang="zh-TW" dirty="0"/>
              <a:t>( </a:t>
            </a:r>
            <a:r>
              <a:rPr lang="zh-TW" altLang="en-US" dirty="0"/>
              <a:t>如堆積和堆疊 </a:t>
            </a:r>
            <a:r>
              <a:rPr lang="en-US" altLang="zh-TW" dirty="0"/>
              <a:t>) </a:t>
            </a:r>
            <a:r>
              <a:rPr lang="zh-TW" altLang="en-US" dirty="0"/>
              <a:t>和程式庫等，因此將這些部分以段 </a:t>
            </a:r>
            <a:r>
              <a:rPr lang="en-US" altLang="zh-TW" dirty="0"/>
              <a:t>(segment) </a:t>
            </a:r>
            <a:r>
              <a:rPr lang="zh-TW" altLang="en-US" dirty="0"/>
              <a:t>來區分，也就是說把一個行程打散成好多個段放入記憶體，稱為分段配置 </a:t>
            </a:r>
            <a:r>
              <a:rPr lang="en-US" altLang="zh-TW" dirty="0"/>
              <a:t>(segmentation)</a:t>
            </a:r>
            <a:r>
              <a:rPr lang="zh-TW" altLang="en-US" dirty="0"/>
              <a:t>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11" y="2708920"/>
            <a:ext cx="7161003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0798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分段配置，一個行程不需放在連續的記憶體上，但是每一片段還是要在一個連續的位置上，一個行程被分成很多段，為了順利抓到資料，我們必須要有一個表格記錄每一段的起始位置和該分段的大小，此表格稱為分段表 </a:t>
            </a:r>
            <a:r>
              <a:rPr lang="en-US" altLang="zh-TW" dirty="0"/>
              <a:t>(segment table)</a:t>
            </a:r>
            <a:r>
              <a:rPr lang="zh-TW" altLang="en-US" dirty="0"/>
              <a:t>，所有的記憶體存取都會透過分段表的轉換，而得出一個正確的記憶體位址。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1616965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分頁配置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將記憶體和行程切成一樣大小的區塊，再依照區塊來一一配置，而減少分段法搜尋區塊的程序，這個方法就稱為分頁配置 </a:t>
            </a:r>
            <a:r>
              <a:rPr lang="en-US" altLang="zh-TW" dirty="0"/>
              <a:t>(paging)</a:t>
            </a:r>
            <a:r>
              <a:rPr lang="zh-TW" altLang="en-US" dirty="0"/>
              <a:t>，通常在記憶體上的區塊被稱為頁框 </a:t>
            </a:r>
            <a:r>
              <a:rPr lang="en-US" altLang="zh-TW" dirty="0"/>
              <a:t>(page frame)</a:t>
            </a:r>
            <a:r>
              <a:rPr lang="zh-TW" altLang="en-US" dirty="0"/>
              <a:t>，而行程被切成的區塊就稱為分頁 </a:t>
            </a:r>
            <a:r>
              <a:rPr lang="en-US" altLang="zh-TW" dirty="0"/>
              <a:t>(page)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分頁配置也需要一個分頁表 </a:t>
            </a:r>
            <a:r>
              <a:rPr lang="en-US" altLang="zh-TW" dirty="0"/>
              <a:t>(page table) </a:t>
            </a:r>
            <a:r>
              <a:rPr lang="zh-TW" altLang="en-US" dirty="0"/>
              <a:t>將分頁與頁框做成連結來對應到正確的位址。因為每個分頁和頁框的大小一樣，所以分頁表所記載的資訊就相對的簡單。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1044265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616624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分頁的製作其實比分段還容易，從分頁表比分段表還單純就可以得知，目前大部分的分頁對應都靠硬體支援，因此定址都相當快。使用分頁的另一個好處是製作虛擬記憶體較容易。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052736"/>
            <a:ext cx="5012873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6348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5.2</a:t>
            </a:r>
            <a:r>
              <a:rPr lang="zh-TW" altLang="en-US" dirty="0"/>
              <a:t>記憶體管理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82" y="1340768"/>
            <a:ext cx="8188716" cy="4140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942875" y="4437112"/>
            <a:ext cx="7272808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93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79" y="1340768"/>
            <a:ext cx="6062041" cy="4720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9384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檔案配置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檔案系統則是用來提供系統存取檔案用的。</a:t>
            </a:r>
            <a:endParaRPr lang="en-US" altLang="zh-TW" dirty="0"/>
          </a:p>
          <a:p>
            <a:r>
              <a:rPr lang="zh-TW" altLang="en-US" dirty="0"/>
              <a:t>這些資訊皆存於儲存體的</a:t>
            </a:r>
            <a:r>
              <a:rPr lang="zh-TW" altLang="en-US" dirty="0">
                <a:solidFill>
                  <a:srgbClr val="0070C0"/>
                </a:solidFill>
              </a:rPr>
              <a:t>目錄區</a:t>
            </a:r>
            <a:r>
              <a:rPr lang="zh-TW" altLang="en-US" dirty="0"/>
              <a:t> </a:t>
            </a:r>
            <a:r>
              <a:rPr lang="en-US" altLang="zh-TW" dirty="0"/>
              <a:t>(directory)</a:t>
            </a:r>
            <a:r>
              <a:rPr lang="zh-TW" altLang="en-US" dirty="0"/>
              <a:t>，和分頁結構相似，檔案的配置也是以一個</a:t>
            </a:r>
            <a:r>
              <a:rPr lang="zh-TW" altLang="en-US" dirty="0">
                <a:solidFill>
                  <a:srgbClr val="0070C0"/>
                </a:solidFill>
              </a:rPr>
              <a:t>區塊</a:t>
            </a:r>
            <a:r>
              <a:rPr lang="zh-TW" altLang="en-US" dirty="0"/>
              <a:t> </a:t>
            </a:r>
            <a:r>
              <a:rPr lang="en-US" altLang="zh-TW" dirty="0"/>
              <a:t>(block) </a:t>
            </a:r>
            <a:r>
              <a:rPr lang="zh-TW" altLang="en-US" dirty="0"/>
              <a:t>為單位。</a:t>
            </a:r>
            <a:endParaRPr lang="en-US" altLang="zh-TW" dirty="0"/>
          </a:p>
          <a:p>
            <a:r>
              <a:rPr lang="zh-TW" altLang="en-US" dirty="0"/>
              <a:t>系統的目錄區稱為根目錄，它的空間是固定的，表示可以存放的檔案數目有限。</a:t>
            </a:r>
            <a:endParaRPr lang="en-US" altLang="zh-TW" dirty="0"/>
          </a:p>
          <a:p>
            <a:r>
              <a:rPr lang="zh-TW" altLang="en-US" dirty="0"/>
              <a:t>最簡單的</a:t>
            </a:r>
            <a:r>
              <a:rPr lang="zh-TW" altLang="en-US" dirty="0">
                <a:solidFill>
                  <a:srgbClr val="0070C0"/>
                </a:solidFill>
              </a:rPr>
              <a:t>配置法</a:t>
            </a:r>
            <a:r>
              <a:rPr lang="zh-TW" altLang="en-US" dirty="0"/>
              <a:t> </a:t>
            </a:r>
            <a:r>
              <a:rPr lang="en-US" altLang="zh-TW" dirty="0"/>
              <a:t>(allocation method) </a:t>
            </a:r>
            <a:r>
              <a:rPr lang="zh-TW" altLang="en-US" dirty="0"/>
              <a:t>就是</a:t>
            </a:r>
            <a:r>
              <a:rPr lang="zh-TW" altLang="en-US" b="1" dirty="0"/>
              <a:t>連續配置</a:t>
            </a:r>
            <a:r>
              <a:rPr lang="zh-TW" altLang="en-US" dirty="0"/>
              <a:t>，也就是將檔案存在連續的區塊內，一旦從目錄區得知檔案的起始位置和大小，就可以到該起始位置 </a:t>
            </a:r>
            <a:r>
              <a:rPr lang="en-US" altLang="zh-TW" dirty="0"/>
              <a:t>( </a:t>
            </a:r>
            <a:r>
              <a:rPr lang="zh-TW" altLang="en-US" dirty="0"/>
              <a:t>通常也是某一個區塊的開始位置 </a:t>
            </a:r>
            <a:r>
              <a:rPr lang="en-US" altLang="zh-TW" dirty="0"/>
              <a:t>)</a:t>
            </a:r>
            <a:r>
              <a:rPr lang="zh-TW" altLang="en-US" dirty="0"/>
              <a:t>，然後讀取連續區塊內的資料，直到所標示的大小為止。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1978417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432048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zh-TW" altLang="en-US" dirty="0"/>
              <a:t>為了改善連續配置的外部碎片問題，於是有人提出了</a:t>
            </a:r>
            <a:r>
              <a:rPr lang="zh-TW" altLang="en-US" dirty="0">
                <a:solidFill>
                  <a:srgbClr val="0070C0"/>
                </a:solidFill>
              </a:rPr>
              <a:t>連結配置</a:t>
            </a:r>
            <a:r>
              <a:rPr lang="zh-TW" altLang="en-US" dirty="0"/>
              <a:t> </a:t>
            </a:r>
            <a:r>
              <a:rPr lang="en-US" altLang="zh-TW" dirty="0"/>
              <a:t>(Linked Allocation)</a:t>
            </a:r>
            <a:r>
              <a:rPr lang="zh-TW" altLang="en-US" dirty="0"/>
              <a:t>，檔案不需要存在連續位置上，從檔案資訊找到第一個區塊後，每個區塊後面會存放下一個區塊的位置，它就像資料結構裡的連結串列 </a:t>
            </a:r>
            <a:r>
              <a:rPr lang="en-US" altLang="zh-TW" dirty="0"/>
              <a:t>(Linked List)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微軟早期作業系統 </a:t>
            </a:r>
            <a:r>
              <a:rPr lang="en-US" altLang="zh-TW" dirty="0"/>
              <a:t>MS-DOS </a:t>
            </a:r>
            <a:r>
              <a:rPr lang="zh-TW" altLang="en-US" dirty="0"/>
              <a:t>就是使用連結配置來存放檔案，所有磁碟區塊的指標存在一個表格上，這個表格稱為檔案配置表 </a:t>
            </a:r>
            <a:r>
              <a:rPr lang="en-US" altLang="zh-TW" dirty="0"/>
              <a:t>(File Allocation Table, FAT)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441361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439248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zh-TW" altLang="en-US" dirty="0"/>
              <a:t>使用連續配置和連結配置對檔案的存取都是循序的，也就是說第 </a:t>
            </a:r>
            <a:r>
              <a:rPr lang="en-US" altLang="zh-TW" i="1" dirty="0" err="1"/>
              <a:t>i</a:t>
            </a:r>
            <a:r>
              <a:rPr lang="en-US" altLang="zh-TW" dirty="0"/>
              <a:t> </a:t>
            </a:r>
            <a:r>
              <a:rPr lang="zh-TW" altLang="en-US" dirty="0"/>
              <a:t>個區塊讀完才能讀到第 </a:t>
            </a:r>
            <a:r>
              <a:rPr lang="en-US" altLang="zh-TW" i="1" dirty="0" err="1"/>
              <a:t>i</a:t>
            </a:r>
            <a:r>
              <a:rPr lang="en-US" altLang="zh-TW" dirty="0"/>
              <a:t> + 1 </a:t>
            </a:r>
            <a:r>
              <a:rPr lang="zh-TW" altLang="en-US" dirty="0"/>
              <a:t>個區塊，因此沒有完全發揮磁碟直接存取的能力。隨著磁碟的容量越來越大，平行處理和大檔案的需求殷切，這二種循序配置的方法並不敷使用。</a:t>
            </a:r>
            <a:endParaRPr lang="en-US" altLang="zh-TW" dirty="0"/>
          </a:p>
          <a:p>
            <a:r>
              <a:rPr lang="zh-TW" altLang="en-US" dirty="0"/>
              <a:t>因此有了</a:t>
            </a:r>
            <a:r>
              <a:rPr lang="zh-TW" altLang="en-US" dirty="0">
                <a:solidFill>
                  <a:srgbClr val="0070C0"/>
                </a:solidFill>
              </a:rPr>
              <a:t>索引配置 </a:t>
            </a:r>
            <a:r>
              <a:rPr lang="en-US" altLang="zh-TW" dirty="0"/>
              <a:t>(Indexed Allocation) </a:t>
            </a:r>
            <a:r>
              <a:rPr lang="zh-TW" altLang="en-US" dirty="0"/>
              <a:t>的方法，它的概念就像分頁法，每個檔案使用一個類似分頁表的索引區塊 </a:t>
            </a:r>
            <a:r>
              <a:rPr lang="en-US" altLang="zh-TW" dirty="0"/>
              <a:t>(index block)</a:t>
            </a:r>
            <a:r>
              <a:rPr lang="zh-TW" altLang="en-US" dirty="0"/>
              <a:t>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4043901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使用索引配置不會像連續配置產生外部碎片，也不會像連結配置只能循序存取，但是它的內部碎片要比連結配置還要嚴重，尤其是對小檔案而言。</a:t>
            </a:r>
            <a:endParaRPr lang="en-US" altLang="zh-TW" dirty="0"/>
          </a:p>
          <a:p>
            <a:r>
              <a:rPr lang="zh-TW" altLang="en-US" dirty="0"/>
              <a:t>另外一個問題須要解決的就是特別大的檔案，如果它的索引區塊儲存不了所有的區塊指標。通常解決的方法是增加索引區塊的個數，最簡單的方法是使用連結的方式，把它們像連結串列一樣串在一起。另一個方法是使用多層索引，就像樹狀結構，檔案所指的索引區塊視為第一層索引，它們的指標指到第二層索引，第二層索引區塊指的就是真正的資料區塊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434159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8280920" cy="337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932354" y="3030320"/>
            <a:ext cx="7272808" cy="1262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15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68863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磁碟排班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磁碟 </a:t>
            </a:r>
            <a:r>
              <a:rPr lang="en-US" altLang="zh-TW" dirty="0"/>
              <a:t>( </a:t>
            </a:r>
            <a:r>
              <a:rPr lang="zh-TW" altLang="en-US" dirty="0"/>
              <a:t>泛指硬碟 </a:t>
            </a:r>
            <a:r>
              <a:rPr lang="en-US" altLang="zh-TW" dirty="0"/>
              <a:t>) ( </a:t>
            </a:r>
            <a:r>
              <a:rPr lang="zh-TW" altLang="en-US" dirty="0"/>
              <a:t>如圖 </a:t>
            </a:r>
            <a:r>
              <a:rPr lang="en-US" altLang="zh-TW" dirty="0"/>
              <a:t>5.11 ) </a:t>
            </a:r>
            <a:r>
              <a:rPr lang="zh-TW" altLang="en-US" dirty="0"/>
              <a:t>一般是由數個磁盤所組成，磁盤的二面都可以存放資料，因此每一面都有一個讀寫頭，磁盤以中心軸為中心，劃分出多個同心圓，稱為</a:t>
            </a:r>
            <a:r>
              <a:rPr lang="zh-TW" altLang="en-US" dirty="0">
                <a:solidFill>
                  <a:srgbClr val="0070C0"/>
                </a:solidFill>
              </a:rPr>
              <a:t>磁軌</a:t>
            </a:r>
            <a:r>
              <a:rPr lang="zh-TW" altLang="en-US" dirty="0"/>
              <a:t> </a:t>
            </a:r>
            <a:r>
              <a:rPr lang="en-US" altLang="zh-TW" dirty="0"/>
              <a:t>(track)</a:t>
            </a:r>
            <a:r>
              <a:rPr lang="zh-TW" altLang="en-US" dirty="0"/>
              <a:t>，不同磁盤相同磁軌形成圓柱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zh-TW" altLang="en-US" dirty="0"/>
              <a:t>   ，稱為</a:t>
            </a:r>
            <a:r>
              <a:rPr lang="zh-TW" altLang="en-US" dirty="0">
                <a:solidFill>
                  <a:srgbClr val="0070C0"/>
                </a:solidFill>
              </a:rPr>
              <a:t>磁柱</a:t>
            </a:r>
            <a:r>
              <a:rPr lang="zh-TW" altLang="en-US" dirty="0"/>
              <a:t> </a:t>
            </a:r>
            <a:r>
              <a:rPr lang="en-US" altLang="zh-TW" dirty="0"/>
              <a:t>(cylinder)</a:t>
            </a:r>
            <a:r>
              <a:rPr lang="zh-TW" altLang="en-US" dirty="0"/>
              <a:t>，每一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zh-TW" altLang="en-US" dirty="0"/>
              <a:t>   個磁軌又劃分成數區，稱為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zh-TW" altLang="en-US" dirty="0"/>
              <a:t>   </a:t>
            </a:r>
            <a:r>
              <a:rPr lang="zh-TW" altLang="en-US" dirty="0">
                <a:solidFill>
                  <a:srgbClr val="0070C0"/>
                </a:solidFill>
              </a:rPr>
              <a:t>磁區</a:t>
            </a:r>
            <a:r>
              <a:rPr lang="zh-TW" altLang="en-US" dirty="0"/>
              <a:t> </a:t>
            </a:r>
            <a:r>
              <a:rPr lang="en-US" altLang="zh-TW" dirty="0"/>
              <a:t>(sector)</a:t>
            </a:r>
            <a:r>
              <a:rPr lang="zh-TW" altLang="en-US" dirty="0"/>
              <a:t>，磁區就是磁碟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zh-TW" altLang="en-US" dirty="0"/>
              <a:t>   存取的最小單位，有時為了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zh-TW" altLang="en-US" dirty="0"/>
              <a:t>   快速存取，會將數個連續磁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zh-TW" altLang="en-US" dirty="0"/>
              <a:t>   區組成一個邏輯單位，稱為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zh-TW" altLang="en-US" dirty="0"/>
              <a:t>   </a:t>
            </a:r>
            <a:r>
              <a:rPr lang="zh-TW" altLang="en-US" dirty="0">
                <a:solidFill>
                  <a:srgbClr val="0070C0"/>
                </a:solidFill>
              </a:rPr>
              <a:t>磁簇</a:t>
            </a:r>
            <a:r>
              <a:rPr lang="zh-TW" altLang="en-US" dirty="0"/>
              <a:t> </a:t>
            </a:r>
            <a:r>
              <a:rPr lang="en-US" altLang="zh-TW" dirty="0"/>
              <a:t>(cluster)</a:t>
            </a:r>
            <a:r>
              <a:rPr lang="zh-TW" altLang="en-US" dirty="0"/>
              <a:t>，它是作業系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zh-TW" altLang="en-US" dirty="0"/>
              <a:t>   統存取的最小單位。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780928"/>
            <a:ext cx="3744416" cy="3606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9464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磁碟透過旋轉將欲存取的磁區旋轉到讀寫頭下，這個時間稱為</a:t>
            </a:r>
            <a:r>
              <a:rPr lang="zh-TW" altLang="en-US" dirty="0">
                <a:solidFill>
                  <a:srgbClr val="0070C0"/>
                </a:solidFill>
              </a:rPr>
              <a:t>旋轉延遲 </a:t>
            </a:r>
            <a:r>
              <a:rPr lang="en-US" altLang="zh-TW" dirty="0"/>
              <a:t>(rotational latency)</a:t>
            </a:r>
            <a:r>
              <a:rPr lang="zh-TW" altLang="en-US" dirty="0"/>
              <a:t>，當磁區在讀寫頭下方，就可以傳輸資料，這個時間稱為</a:t>
            </a:r>
            <a:r>
              <a:rPr lang="zh-TW" altLang="en-US" dirty="0">
                <a:solidFill>
                  <a:srgbClr val="0070C0"/>
                </a:solidFill>
              </a:rPr>
              <a:t>傳輸時間 </a:t>
            </a:r>
            <a:r>
              <a:rPr lang="en-US" altLang="zh-TW" dirty="0"/>
              <a:t>(transfer time)</a:t>
            </a:r>
            <a:r>
              <a:rPr lang="zh-TW" altLang="en-US" dirty="0"/>
              <a:t>，而讀寫臂伸縮移動到含該磁區的磁軌 </a:t>
            </a:r>
            <a:r>
              <a:rPr lang="en-US" altLang="zh-TW" dirty="0"/>
              <a:t>( </a:t>
            </a:r>
            <a:r>
              <a:rPr lang="zh-TW" altLang="en-US" dirty="0"/>
              <a:t>或磁柱 </a:t>
            </a:r>
            <a:r>
              <a:rPr lang="en-US" altLang="zh-TW" dirty="0"/>
              <a:t>) </a:t>
            </a:r>
            <a:r>
              <a:rPr lang="zh-TW" altLang="en-US" dirty="0"/>
              <a:t>的時間稱為</a:t>
            </a:r>
            <a:r>
              <a:rPr lang="zh-TW" altLang="en-US" dirty="0">
                <a:solidFill>
                  <a:srgbClr val="0070C0"/>
                </a:solidFill>
              </a:rPr>
              <a:t>搜尋時間</a:t>
            </a:r>
            <a:r>
              <a:rPr lang="zh-TW" altLang="en-US" dirty="0"/>
              <a:t> </a:t>
            </a:r>
            <a:r>
              <a:rPr lang="en-US" altLang="zh-TW" dirty="0"/>
              <a:t>(seek time)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以搜尋時間最耗時，因為它是屬於機械的移動，所以磁碟的排班，一般都是朝盡量減少讀寫臂的移動距離來改良，而且前提是有很多個磁碟存取的需求進來，這些需求為磁軌或磁柱的編號。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</p:spTree>
    <p:extLst>
      <p:ext uri="{BB962C8B-B14F-4D97-AF65-F5344CB8AC3E}">
        <p14:creationId xmlns:p14="http://schemas.microsoft.com/office/powerpoint/2010/main" val="3877354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altLang="zh-TW" b="1" dirty="0">
                <a:solidFill>
                  <a:schemeClr val="accent3"/>
                </a:solidFill>
              </a:rPr>
              <a:t>FCFS</a:t>
            </a:r>
            <a:r>
              <a:rPr lang="zh-TW" altLang="en-US" b="1" dirty="0">
                <a:solidFill>
                  <a:schemeClr val="accent3"/>
                </a:solidFill>
              </a:rPr>
              <a:t>排班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>
                <a:solidFill>
                  <a:srgbClr val="0070C0"/>
                </a:solidFill>
              </a:rPr>
              <a:t>先到先服務 </a:t>
            </a:r>
            <a:r>
              <a:rPr lang="en-US" altLang="zh-TW" dirty="0">
                <a:solidFill>
                  <a:srgbClr val="0070C0"/>
                </a:solidFill>
              </a:rPr>
              <a:t>(First Come First Serve, FCFS) </a:t>
            </a:r>
            <a:r>
              <a:rPr lang="zh-TW" altLang="en-US" dirty="0"/>
              <a:t>是最簡單的排班法，基本上就是沒有任何機制，哪個需求先進來，就先處理該需求。</a:t>
            </a:r>
            <a:endParaRPr lang="en-US" altLang="zh-TW" dirty="0"/>
          </a:p>
          <a:p>
            <a:r>
              <a:rPr lang="zh-TW" altLang="en-US" dirty="0"/>
              <a:t>假設我們有 </a:t>
            </a:r>
            <a:r>
              <a:rPr lang="en-US" altLang="zh-TW" dirty="0"/>
              <a:t>0~10 </a:t>
            </a:r>
            <a:r>
              <a:rPr lang="zh-TW" altLang="en-US" dirty="0"/>
              <a:t>的磁柱，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en-US" altLang="zh-TW" dirty="0"/>
              <a:t>   </a:t>
            </a:r>
            <a:r>
              <a:rPr lang="zh-TW" altLang="en-US" dirty="0"/>
              <a:t>目前位置在 </a:t>
            </a:r>
            <a:r>
              <a:rPr lang="en-US" altLang="zh-TW" dirty="0"/>
              <a:t>3</a:t>
            </a:r>
            <a:r>
              <a:rPr lang="zh-TW" altLang="en-US" dirty="0"/>
              <a:t>，依序進來佇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en-US" altLang="zh-TW" dirty="0"/>
              <a:t>   </a:t>
            </a:r>
            <a:r>
              <a:rPr lang="zh-TW" altLang="en-US" dirty="0"/>
              <a:t>列的需求為：</a:t>
            </a:r>
            <a:r>
              <a:rPr lang="en-US" altLang="zh-TW" dirty="0"/>
              <a:t>5, 9, 2, 6, 1, 7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09728" indent="0">
              <a:spcBef>
                <a:spcPts val="0"/>
              </a:spcBef>
              <a:buNone/>
            </a:pPr>
            <a:r>
              <a:rPr lang="en-US" altLang="zh-TW" dirty="0"/>
              <a:t>   </a:t>
            </a:r>
            <a:r>
              <a:rPr lang="zh-TW" altLang="en-US" dirty="0"/>
              <a:t>圖 </a:t>
            </a:r>
            <a:r>
              <a:rPr lang="en-US" altLang="zh-TW" dirty="0"/>
              <a:t>5.12 </a:t>
            </a:r>
            <a:r>
              <a:rPr lang="zh-TW" altLang="en-US" dirty="0"/>
              <a:t>為讀寫臂移動的軌跡。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564904"/>
            <a:ext cx="3610908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4061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altLang="zh-TW" b="1" dirty="0">
                <a:solidFill>
                  <a:schemeClr val="accent3"/>
                </a:solidFill>
              </a:rPr>
              <a:t>SSTT</a:t>
            </a:r>
            <a:r>
              <a:rPr lang="zh-TW" altLang="en-US" b="1" dirty="0">
                <a:solidFill>
                  <a:schemeClr val="accent3"/>
                </a:solidFill>
              </a:rPr>
              <a:t>排班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>
                <a:solidFill>
                  <a:srgbClr val="0070C0"/>
                </a:solidFill>
              </a:rPr>
              <a:t>最短搜尋時間優先 </a:t>
            </a:r>
            <a:r>
              <a:rPr lang="en-US" altLang="zh-TW" dirty="0">
                <a:solidFill>
                  <a:srgbClr val="0070C0"/>
                </a:solidFill>
              </a:rPr>
              <a:t>(Shortest Seek Time First, SSTF) </a:t>
            </a:r>
            <a:r>
              <a:rPr lang="zh-TW" altLang="en-US" dirty="0"/>
              <a:t>和行程排班的 </a:t>
            </a:r>
            <a:r>
              <a:rPr lang="en-US" altLang="zh-TW" dirty="0"/>
              <a:t>SJF </a:t>
            </a:r>
            <a:r>
              <a:rPr lang="zh-TW" altLang="en-US" dirty="0"/>
              <a:t>相似，從目前位置看，哪個需求離我最近，我就去服務誰。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636912"/>
            <a:ext cx="3672408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062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altLang="zh-TW" b="1" dirty="0">
                <a:solidFill>
                  <a:schemeClr val="accent3"/>
                </a:solidFill>
              </a:rPr>
              <a:t>SCAN</a:t>
            </a:r>
            <a:r>
              <a:rPr lang="zh-TW" altLang="en-US" b="1" dirty="0">
                <a:solidFill>
                  <a:schemeClr val="accent3"/>
                </a:solidFill>
              </a:rPr>
              <a:t>排班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en-US" altLang="zh-TW" dirty="0"/>
              <a:t>SCAN </a:t>
            </a:r>
            <a:r>
              <a:rPr lang="zh-TW" altLang="en-US" dirty="0"/>
              <a:t>演算法就像電梯一樣的行為，它有個服務的方向，依照這個方向一直走到底，途中碰到的任何需求，就會馬上服務，到底後再往回走，也是邊走邊服務，如此周而復始，直到所有需求都被滿足為止。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63" y="3284984"/>
            <a:ext cx="3274149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1144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altLang="zh-TW" b="1" dirty="0">
                <a:solidFill>
                  <a:schemeClr val="accent3"/>
                </a:solidFill>
              </a:rPr>
              <a:t>C-SCAN</a:t>
            </a:r>
            <a:r>
              <a:rPr lang="zh-TW" altLang="en-US" b="1" dirty="0">
                <a:solidFill>
                  <a:schemeClr val="accent3"/>
                </a:solidFill>
              </a:rPr>
              <a:t>排班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en-US" altLang="zh-TW" dirty="0"/>
              <a:t>C-SCAN </a:t>
            </a:r>
            <a:r>
              <a:rPr lang="zh-TW" altLang="en-US" dirty="0"/>
              <a:t>是 </a:t>
            </a:r>
            <a:r>
              <a:rPr lang="en-US" altLang="zh-TW" dirty="0"/>
              <a:t>Circular SCAN </a:t>
            </a:r>
            <a:r>
              <a:rPr lang="zh-TW" altLang="en-US" dirty="0"/>
              <a:t>的意思，</a:t>
            </a:r>
            <a:r>
              <a:rPr lang="en-US" altLang="zh-TW" dirty="0"/>
              <a:t>SCAN </a:t>
            </a:r>
            <a:r>
              <a:rPr lang="zh-TW" altLang="en-US" dirty="0"/>
              <a:t>碰到底會往反方向繼續前進服務，而 </a:t>
            </a:r>
            <a:r>
              <a:rPr lang="en-US" altLang="zh-TW" dirty="0"/>
              <a:t>C-SCAN </a:t>
            </a:r>
            <a:r>
              <a:rPr lang="zh-TW" altLang="en-US" dirty="0"/>
              <a:t>碰到底是回到編號 </a:t>
            </a:r>
            <a:r>
              <a:rPr lang="en-US" altLang="zh-TW" dirty="0"/>
              <a:t>0 </a:t>
            </a:r>
            <a:r>
              <a:rPr lang="zh-TW" altLang="en-US" dirty="0"/>
              <a:t>的磁柱再重新服務，也就是說 </a:t>
            </a:r>
            <a:r>
              <a:rPr lang="en-US" altLang="zh-TW" dirty="0"/>
              <a:t>SCAN </a:t>
            </a:r>
            <a:r>
              <a:rPr lang="zh-TW" altLang="en-US" dirty="0"/>
              <a:t>是二個方向的服務，而 </a:t>
            </a:r>
            <a:r>
              <a:rPr lang="en-US" altLang="zh-TW" dirty="0"/>
              <a:t>C-SCAN </a:t>
            </a:r>
            <a:r>
              <a:rPr lang="zh-TW" altLang="en-US" dirty="0"/>
              <a:t>是一個方向的服務。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286" y="3284984"/>
            <a:ext cx="3380489" cy="34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62866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altLang="zh-TW" b="1" dirty="0">
                <a:solidFill>
                  <a:schemeClr val="accent3"/>
                </a:solidFill>
              </a:rPr>
              <a:t>LOOK</a:t>
            </a:r>
            <a:r>
              <a:rPr lang="zh-TW" altLang="en-US" b="1" dirty="0">
                <a:solidFill>
                  <a:schemeClr val="accent3"/>
                </a:solidFill>
              </a:rPr>
              <a:t>和</a:t>
            </a:r>
            <a:r>
              <a:rPr lang="en-US" altLang="zh-TW" b="1" dirty="0">
                <a:solidFill>
                  <a:schemeClr val="accent3"/>
                </a:solidFill>
              </a:rPr>
              <a:t>C-LOOK</a:t>
            </a:r>
            <a:r>
              <a:rPr lang="zh-TW" altLang="en-US" b="1" dirty="0">
                <a:solidFill>
                  <a:schemeClr val="accent3"/>
                </a:solidFill>
              </a:rPr>
              <a:t>排班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en-US" altLang="zh-TW" dirty="0"/>
              <a:t>LOOK </a:t>
            </a:r>
            <a:r>
              <a:rPr lang="zh-TW" altLang="en-US" dirty="0"/>
              <a:t>和 </a:t>
            </a:r>
            <a:r>
              <a:rPr lang="en-US" altLang="zh-TW" dirty="0"/>
              <a:t>C-LOOK </a:t>
            </a:r>
            <a:r>
              <a:rPr lang="zh-TW" altLang="en-US" dirty="0"/>
              <a:t>演算法分別改善 </a:t>
            </a:r>
            <a:r>
              <a:rPr lang="en-US" altLang="zh-TW" dirty="0"/>
              <a:t>SCAN </a:t>
            </a:r>
            <a:r>
              <a:rPr lang="zh-TW" altLang="en-US" dirty="0"/>
              <a:t>和 </a:t>
            </a:r>
            <a:r>
              <a:rPr lang="en-US" altLang="zh-TW" dirty="0"/>
              <a:t>C-SCAN </a:t>
            </a:r>
            <a:r>
              <a:rPr lang="zh-TW" altLang="en-US" dirty="0"/>
              <a:t>一定要走到底的問題，如果在走到底之前能夠先看一下需求佇列，若前面沒有需求就不用到底了，趕快折回去辦正事要緊，因此可以避免多走不需要的路。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284984"/>
            <a:ext cx="3317890" cy="3330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284984"/>
            <a:ext cx="3269248" cy="3243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0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5.3</a:t>
            </a:r>
            <a:r>
              <a:rPr lang="zh-TW" altLang="en-US" dirty="0"/>
              <a:t>記憶體管理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68760"/>
            <a:ext cx="7704856" cy="4477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932354" y="2875914"/>
            <a:ext cx="7272808" cy="2569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82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作業系統設計策略，主要包含行程管理、記憶體管理和儲存體管理，這些可以說是作業系統的核心設計。</a:t>
            </a:r>
            <a:endParaRPr lang="en-US" altLang="zh-TW" dirty="0"/>
          </a:p>
          <a:p>
            <a:r>
              <a:rPr lang="zh-TW" altLang="en-US" dirty="0"/>
              <a:t>另外一個發展趨勢就是物聯網 </a:t>
            </a:r>
            <a:r>
              <a:rPr lang="en-US" altLang="zh-TW" dirty="0"/>
              <a:t>(Internet of Things)</a:t>
            </a:r>
            <a:r>
              <a:rPr lang="zh-TW" altLang="en-US" dirty="0"/>
              <a:t>，未來的機器可能都要上網互相聯繫，因此就有必要設計一個簡單的作業系統當作它們聯繫的介面。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  論</a:t>
            </a:r>
          </a:p>
        </p:txBody>
      </p:sp>
    </p:spTree>
    <p:extLst>
      <p:ext uri="{BB962C8B-B14F-4D97-AF65-F5344CB8AC3E}">
        <p14:creationId xmlns:p14="http://schemas.microsoft.com/office/powerpoint/2010/main" val="3209152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05565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1423</TotalTime>
  <Words>3458</Words>
  <Application>Microsoft Macintosh PowerPoint</Application>
  <PresentationFormat>如螢幕大小 (4:3)</PresentationFormat>
  <Paragraphs>148</Paragraphs>
  <Slides>41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9" baseType="lpstr"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匯合</vt:lpstr>
      <vt:lpstr>Ch05  作業系統</vt:lpstr>
      <vt:lpstr>PowerPoint 簡報</vt:lpstr>
      <vt:lpstr>PowerPoint 簡報</vt:lpstr>
      <vt:lpstr>5.1行程管理</vt:lpstr>
      <vt:lpstr>5.1行程管理</vt:lpstr>
      <vt:lpstr>5.1行程管理</vt:lpstr>
      <vt:lpstr>5.1行程管理</vt:lpstr>
      <vt:lpstr>5.1行程管理</vt:lpstr>
      <vt:lpstr>5.1行程管理</vt:lpstr>
      <vt:lpstr>5.1行程管理</vt:lpstr>
      <vt:lpstr>5.1行程管理</vt:lpstr>
      <vt:lpstr>5.1行程管理</vt:lpstr>
      <vt:lpstr>5.1行程管理</vt:lpstr>
      <vt:lpstr>5.1行程管理</vt:lpstr>
      <vt:lpstr>5.1行程管理</vt:lpstr>
      <vt:lpstr>5.1行程管理</vt:lpstr>
      <vt:lpstr>5.2記憶體管理</vt:lpstr>
      <vt:lpstr>5.2記憶體管理</vt:lpstr>
      <vt:lpstr>5.2記憶體管理</vt:lpstr>
      <vt:lpstr>5.2記憶體管理</vt:lpstr>
      <vt:lpstr>5.2記憶體管理</vt:lpstr>
      <vt:lpstr>5.2記憶體管理</vt:lpstr>
      <vt:lpstr>5.2記憶體管理</vt:lpstr>
      <vt:lpstr>5.2記憶體管理</vt:lpstr>
      <vt:lpstr>5.2記憶體管理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5.3記憶體管理</vt:lpstr>
      <vt:lpstr>結  論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Microsoft Office User</cp:lastModifiedBy>
  <cp:revision>133</cp:revision>
  <dcterms:created xsi:type="dcterms:W3CDTF">2014-07-06T07:33:00Z</dcterms:created>
  <dcterms:modified xsi:type="dcterms:W3CDTF">2025-10-27T06:00:25Z</dcterms:modified>
</cp:coreProperties>
</file>