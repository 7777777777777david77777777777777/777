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0"/>
  </p:notesMasterIdLst>
  <p:sldIdLst>
    <p:sldId id="256" r:id="rId2"/>
    <p:sldId id="257" r:id="rId3"/>
    <p:sldId id="305" r:id="rId4"/>
    <p:sldId id="306" r:id="rId5"/>
    <p:sldId id="308" r:id="rId6"/>
    <p:sldId id="307" r:id="rId7"/>
    <p:sldId id="309" r:id="rId8"/>
    <p:sldId id="310" r:id="rId9"/>
    <p:sldId id="311" r:id="rId10"/>
    <p:sldId id="312" r:id="rId11"/>
    <p:sldId id="367" r:id="rId12"/>
    <p:sldId id="313" r:id="rId13"/>
    <p:sldId id="314" r:id="rId14"/>
    <p:sldId id="368" r:id="rId15"/>
    <p:sldId id="315" r:id="rId16"/>
    <p:sldId id="373" r:id="rId17"/>
    <p:sldId id="317" r:id="rId18"/>
    <p:sldId id="318" r:id="rId19"/>
    <p:sldId id="319" r:id="rId20"/>
    <p:sldId id="320" r:id="rId21"/>
    <p:sldId id="321" r:id="rId22"/>
    <p:sldId id="322" r:id="rId23"/>
    <p:sldId id="369" r:id="rId24"/>
    <p:sldId id="324" r:id="rId25"/>
    <p:sldId id="374" r:id="rId26"/>
    <p:sldId id="325" r:id="rId27"/>
    <p:sldId id="328" r:id="rId28"/>
    <p:sldId id="375" r:id="rId29"/>
    <p:sldId id="376" r:id="rId30"/>
    <p:sldId id="331" r:id="rId31"/>
    <p:sldId id="332" r:id="rId32"/>
    <p:sldId id="334" r:id="rId33"/>
    <p:sldId id="335" r:id="rId34"/>
    <p:sldId id="366" r:id="rId35"/>
    <p:sldId id="337" r:id="rId36"/>
    <p:sldId id="339" r:id="rId37"/>
    <p:sldId id="340" r:id="rId38"/>
    <p:sldId id="336" r:id="rId39"/>
    <p:sldId id="341" r:id="rId40"/>
    <p:sldId id="377" r:id="rId41"/>
    <p:sldId id="343" r:id="rId42"/>
    <p:sldId id="338" r:id="rId43"/>
    <p:sldId id="347" r:id="rId44"/>
    <p:sldId id="379" r:id="rId45"/>
    <p:sldId id="378" r:id="rId46"/>
    <p:sldId id="344" r:id="rId47"/>
    <p:sldId id="345" r:id="rId48"/>
    <p:sldId id="346" r:id="rId49"/>
    <p:sldId id="349" r:id="rId50"/>
    <p:sldId id="350" r:id="rId51"/>
    <p:sldId id="351" r:id="rId52"/>
    <p:sldId id="352" r:id="rId53"/>
    <p:sldId id="353" r:id="rId54"/>
    <p:sldId id="354" r:id="rId55"/>
    <p:sldId id="355" r:id="rId56"/>
    <p:sldId id="356" r:id="rId57"/>
    <p:sldId id="357" r:id="rId58"/>
    <p:sldId id="358" r:id="rId59"/>
    <p:sldId id="359" r:id="rId60"/>
    <p:sldId id="370" r:id="rId61"/>
    <p:sldId id="371" r:id="rId62"/>
    <p:sldId id="360" r:id="rId63"/>
    <p:sldId id="361" r:id="rId64"/>
    <p:sldId id="362" r:id="rId65"/>
    <p:sldId id="363" r:id="rId66"/>
    <p:sldId id="380" r:id="rId67"/>
    <p:sldId id="372" r:id="rId68"/>
    <p:sldId id="381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>
      <p:cViewPr>
        <p:scale>
          <a:sx n="70" d="100"/>
          <a:sy n="70" d="100"/>
        </p:scale>
        <p:origin x="-1206" y="-72"/>
      </p:cViewPr>
      <p:guideLst>
        <p:guide orient="horz" pos="1026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00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4000" y="1196752"/>
            <a:ext cx="8640960" cy="5112568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ahoo.com.tw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Ch06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70C0"/>
                </a:solidFill>
              </a:rPr>
              <a:t>網際網路</a:t>
            </a:r>
            <a:endParaRPr lang="zh-TW" altLang="zh-TW" dirty="0">
              <a:solidFill>
                <a:srgbClr val="0070C0"/>
              </a:solidFill>
            </a:endParaRPr>
          </a:p>
        </p:txBody>
      </p:sp>
      <p:sp>
        <p:nvSpPr>
          <p:cNvPr id="7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電腦網路聯繫許多電腦，讓彼此間可以交換資料</a:t>
            </a:r>
            <a:endParaRPr lang="en-US" altLang="zh-TW" dirty="0"/>
          </a:p>
          <a:p>
            <a:r>
              <a:rPr lang="zh-TW" altLang="zh-TW" dirty="0"/>
              <a:t>電腦網路的應用已經與生活相結合</a:t>
            </a:r>
            <a:r>
              <a:rPr lang="zh-TW" altLang="en-US" dirty="0"/>
              <a:t>：</a:t>
            </a:r>
            <a:r>
              <a:rPr lang="zh-TW" altLang="zh-TW" dirty="0"/>
              <a:t>「</a:t>
            </a:r>
            <a:r>
              <a:rPr lang="en-US" altLang="zh-TW" dirty="0"/>
              <a:t>e</a:t>
            </a:r>
            <a:r>
              <a:rPr lang="zh-TW" altLang="zh-TW" dirty="0"/>
              <a:t>世代」與「行動族」的生活型態</a:t>
            </a:r>
            <a:endParaRPr lang="en-US" altLang="zh-TW" dirty="0"/>
          </a:p>
          <a:p>
            <a:r>
              <a:rPr lang="zh-TW" altLang="en-US" dirty="0" smtClean="0"/>
              <a:t>本章將</a:t>
            </a:r>
            <a:r>
              <a:rPr lang="zh-TW" altLang="zh-TW" dirty="0" smtClean="0"/>
              <a:t>解釋</a:t>
            </a:r>
            <a:r>
              <a:rPr lang="zh-TW" altLang="zh-TW" dirty="0"/>
              <a:t>網路的組成、網路的運作與網路的各種</a:t>
            </a:r>
            <a:r>
              <a:rPr lang="zh-TW" altLang="zh-TW" dirty="0" smtClean="0"/>
              <a:t>應用</a:t>
            </a:r>
            <a:endParaRPr lang="en-US" altLang="zh-TW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1" y="3573016"/>
            <a:ext cx="4863987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1960</a:t>
            </a:r>
            <a:r>
              <a:rPr lang="zh-TW" altLang="zh-TW" dirty="0" smtClean="0"/>
              <a:t>年</a:t>
            </a: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ARPANET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美國政府尋求一種能在核彈爆發後，能夠穩固存在並容忍錯誤的通訊網路</a:t>
            </a:r>
            <a:endParaRPr lang="en-US" altLang="zh-TW" dirty="0"/>
          </a:p>
          <a:p>
            <a:pPr lvl="1"/>
            <a:r>
              <a:rPr lang="zh-TW" altLang="zh-TW" dirty="0"/>
              <a:t>測試</a:t>
            </a:r>
            <a:r>
              <a:rPr lang="zh-TW" altLang="zh-TW" dirty="0" smtClean="0"/>
              <a:t>初期</a:t>
            </a:r>
            <a:r>
              <a:rPr lang="zh-TW" altLang="en-US" dirty="0"/>
              <a:t>，</a:t>
            </a:r>
            <a:r>
              <a:rPr lang="zh-TW" altLang="zh-TW" dirty="0" smtClean="0"/>
              <a:t>連接</a:t>
            </a:r>
            <a:r>
              <a:rPr lang="zh-TW" altLang="zh-TW" dirty="0"/>
              <a:t>美國四所大學的四台大型電腦，</a:t>
            </a:r>
            <a:r>
              <a:rPr lang="en-US" altLang="zh-TW" dirty="0"/>
              <a:t>1981</a:t>
            </a:r>
            <a:r>
              <a:rPr lang="zh-TW" altLang="zh-TW" dirty="0"/>
              <a:t>年超過兩百台的電腦</a:t>
            </a:r>
            <a:r>
              <a:rPr lang="zh-TW" altLang="en-US" dirty="0"/>
              <a:t>，</a:t>
            </a:r>
            <a:r>
              <a:rPr lang="en-US" altLang="zh-TW" dirty="0"/>
              <a:t>1990</a:t>
            </a:r>
            <a:r>
              <a:rPr lang="zh-TW" altLang="zh-TW" dirty="0"/>
              <a:t>年逐漸退出歷史舞台</a:t>
            </a:r>
            <a:endParaRPr lang="en-US" altLang="zh-TW" dirty="0"/>
          </a:p>
          <a:p>
            <a:pPr lvl="1"/>
            <a:r>
              <a:rPr lang="zh-TW" altLang="zh-TW" dirty="0"/>
              <a:t>成功發展電腦網路重要的技術</a:t>
            </a:r>
            <a:endParaRPr lang="en-US" altLang="zh-TW" dirty="0"/>
          </a:p>
          <a:p>
            <a:r>
              <a:rPr lang="en-US" altLang="zh-TW" dirty="0"/>
              <a:t>1986</a:t>
            </a:r>
            <a:r>
              <a:rPr lang="zh-TW" altLang="en-US" dirty="0"/>
              <a:t>年</a:t>
            </a:r>
            <a:r>
              <a:rPr lang="en-US" altLang="zh-TW" dirty="0"/>
              <a:t>NSFNET</a:t>
            </a:r>
          </a:p>
          <a:p>
            <a:pPr lvl="1"/>
            <a:r>
              <a:rPr lang="zh-TW" altLang="zh-TW" dirty="0"/>
              <a:t>美國國家科學基金會推動</a:t>
            </a:r>
            <a:endParaRPr lang="en-US" altLang="zh-TW" dirty="0"/>
          </a:p>
          <a:p>
            <a:pPr lvl="1"/>
            <a:r>
              <a:rPr lang="zh-TW" altLang="zh-TW" dirty="0"/>
              <a:t>奠定往後網際網路</a:t>
            </a:r>
            <a:r>
              <a:rPr lang="en-US" altLang="zh-TW" dirty="0"/>
              <a:t> (Internet)</a:t>
            </a:r>
          </a:p>
          <a:p>
            <a:pPr lvl="1">
              <a:buNone/>
            </a:pPr>
            <a:r>
              <a:rPr lang="zh-TW" altLang="en-US" dirty="0"/>
              <a:t>   的</a:t>
            </a:r>
            <a:r>
              <a:rPr lang="zh-TW" altLang="en-US" dirty="0" smtClean="0"/>
              <a:t>基礎建設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  <p:pic>
        <p:nvPicPr>
          <p:cNvPr id="1026" name="Picture 2" descr="http://upload.wikimedia.org/wikipedia/commons/thumb/e/e5/NSFNET-backbone-T3.png/1024px-NSFNET-backbone-T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3783305"/>
            <a:ext cx="3344888" cy="2021959"/>
          </a:xfrm>
          <a:prstGeom prst="rect">
            <a:avLst/>
          </a:prstGeom>
          <a:noFill/>
        </p:spPr>
      </p:pic>
      <p:sp>
        <p:nvSpPr>
          <p:cNvPr id="7" name="文字方塊 6"/>
          <p:cNvSpPr txBox="1"/>
          <p:nvPr/>
        </p:nvSpPr>
        <p:spPr>
          <a:xfrm>
            <a:off x="5724128" y="5807005"/>
            <a:ext cx="2787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1992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年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45Mbps</a:t>
            </a:r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的網路骨幹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r>
              <a:rPr lang="zh-TW" altLang="en-US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來源：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wiki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電腦網路可以簡單地視為將電腦連接在一起的系統</a:t>
            </a:r>
            <a:endParaRPr lang="en-US" altLang="zh-TW" dirty="0"/>
          </a:p>
          <a:p>
            <a:r>
              <a:rPr lang="zh-TW" altLang="zh-TW" dirty="0"/>
              <a:t>這裡的電腦可以是任意的</a:t>
            </a:r>
            <a:r>
              <a:rPr lang="zh-TW" altLang="zh-TW" dirty="0">
                <a:solidFill>
                  <a:srgbClr val="0070C0"/>
                </a:solidFill>
              </a:rPr>
              <a:t>終端</a:t>
            </a:r>
            <a:r>
              <a:rPr lang="zh-TW" altLang="zh-TW" dirty="0" smtClean="0">
                <a:solidFill>
                  <a:srgbClr val="0070C0"/>
                </a:solidFill>
              </a:rPr>
              <a:t>設備</a:t>
            </a:r>
            <a:r>
              <a:rPr lang="en-US" altLang="zh-TW" dirty="0"/>
              <a:t>(end devices</a:t>
            </a:r>
            <a:r>
              <a:rPr lang="en-US" altLang="zh-TW" dirty="0" smtClean="0"/>
              <a:t>)</a:t>
            </a:r>
            <a:r>
              <a:rPr lang="zh-TW" altLang="zh-TW" dirty="0" smtClean="0"/>
              <a:t>，</a:t>
            </a:r>
            <a:r>
              <a:rPr lang="zh-TW" altLang="zh-TW" dirty="0"/>
              <a:t>包含筆電、手機、個人電腦等</a:t>
            </a:r>
            <a:endParaRPr lang="en-US" altLang="zh-TW" dirty="0"/>
          </a:p>
          <a:p>
            <a:r>
              <a:rPr lang="zh-TW" altLang="zh-TW" dirty="0"/>
              <a:t>終端設備</a:t>
            </a:r>
            <a:r>
              <a:rPr lang="zh-TW" altLang="en-US" dirty="0"/>
              <a:t>連至網路需要透過</a:t>
            </a:r>
            <a:r>
              <a:rPr lang="zh-TW" altLang="zh-TW" dirty="0"/>
              <a:t>有線或無線的</a:t>
            </a:r>
            <a:r>
              <a:rPr lang="zh-TW" altLang="zh-TW" dirty="0">
                <a:solidFill>
                  <a:srgbClr val="0070C0"/>
                </a:solidFill>
              </a:rPr>
              <a:t>通訊連結</a:t>
            </a:r>
            <a:r>
              <a:rPr lang="en-US" altLang="zh-TW" dirty="0"/>
              <a:t>(communication link)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501008"/>
            <a:ext cx="453650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411760" y="6300028"/>
            <a:ext cx="454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終端設備透過通訊連結連至電腦網路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兩台終端設備</a:t>
            </a:r>
            <a:r>
              <a:rPr lang="zh-TW" altLang="en-US" dirty="0"/>
              <a:t>直接透過</a:t>
            </a:r>
            <a:r>
              <a:rPr lang="zh-TW" altLang="zh-TW" dirty="0"/>
              <a:t>通訊連結</a:t>
            </a:r>
            <a:r>
              <a:rPr lang="zh-TW" altLang="en-US" dirty="0"/>
              <a:t>相互連接</a:t>
            </a:r>
            <a:endParaRPr lang="en-US" altLang="zh-TW" dirty="0"/>
          </a:p>
          <a:p>
            <a:r>
              <a:rPr lang="zh-TW" altLang="zh-TW" dirty="0"/>
              <a:t>連接三台以上的終端設備，</a:t>
            </a:r>
            <a:r>
              <a:rPr lang="zh-TW" altLang="en-US" dirty="0"/>
              <a:t>需要</a:t>
            </a:r>
            <a:r>
              <a:rPr lang="zh-TW" altLang="zh-TW" dirty="0"/>
              <a:t>特殊的</a:t>
            </a:r>
            <a:r>
              <a:rPr lang="zh-TW" altLang="zh-TW" b="1" dirty="0"/>
              <a:t>網路設備</a:t>
            </a:r>
            <a:r>
              <a:rPr lang="zh-TW" altLang="en-US" dirty="0"/>
              <a:t>，如</a:t>
            </a:r>
            <a:r>
              <a:rPr lang="zh-TW" altLang="zh-TW" dirty="0">
                <a:solidFill>
                  <a:srgbClr val="0070C0"/>
                </a:solidFill>
              </a:rPr>
              <a:t>交換器</a:t>
            </a:r>
            <a:r>
              <a:rPr lang="en-US" altLang="zh-TW" dirty="0"/>
              <a:t>(switch) 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路由器</a:t>
            </a:r>
            <a:r>
              <a:rPr lang="en-US" altLang="zh-TW" dirty="0"/>
              <a:t> (router)</a:t>
            </a:r>
          </a:p>
          <a:p>
            <a:r>
              <a:rPr lang="zh-TW" altLang="zh-TW" dirty="0"/>
              <a:t>終端設備與網路設備均可視為一台</a:t>
            </a:r>
            <a:r>
              <a:rPr lang="zh-TW" altLang="zh-TW" dirty="0">
                <a:solidFill>
                  <a:srgbClr val="0070C0"/>
                </a:solidFill>
              </a:rPr>
              <a:t>主機或是節點</a:t>
            </a:r>
            <a:endParaRPr lang="en-US" altLang="zh-TW" dirty="0">
              <a:solidFill>
                <a:srgbClr val="0070C0"/>
              </a:solidFill>
            </a:endParaRPr>
          </a:p>
          <a:p>
            <a:r>
              <a:rPr lang="zh-TW" altLang="zh-TW" dirty="0"/>
              <a:t>電腦網路有許多的主機，主機與主機間用通訊連結的方式連接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  <p:pic>
        <p:nvPicPr>
          <p:cNvPr id="18434" name="圖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581128"/>
            <a:ext cx="3162675" cy="1012056"/>
          </a:xfrm>
          <a:prstGeom prst="rect">
            <a:avLst/>
          </a:prstGeom>
          <a:noFill/>
        </p:spPr>
      </p:pic>
      <p:pic>
        <p:nvPicPr>
          <p:cNvPr id="18433" name="圖片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3645024"/>
            <a:ext cx="3228702" cy="2578553"/>
          </a:xfrm>
          <a:prstGeom prst="rect">
            <a:avLst/>
          </a:prstGeom>
          <a:noFill/>
        </p:spPr>
      </p:pic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965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Times New Roman" pitchFamily="18" charset="0"/>
              </a:rPr>
              <a:t>		</a:t>
            </a:r>
            <a:endParaRPr kumimoji="1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987824" y="6165304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6.3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簡易電腦連結成網路的方式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各種形式的網路</a:t>
            </a:r>
            <a:endParaRPr lang="en-US" altLang="zh-TW" dirty="0"/>
          </a:p>
          <a:p>
            <a:pPr lvl="1"/>
            <a:r>
              <a:rPr lang="zh-TW" altLang="zh-TW" dirty="0"/>
              <a:t>家庭網路</a:t>
            </a:r>
            <a:r>
              <a:rPr lang="zh-TW" altLang="en-US" dirty="0"/>
              <a:t>、</a:t>
            </a:r>
            <a:r>
              <a:rPr lang="zh-TW" altLang="zh-TW" dirty="0"/>
              <a:t>校園網路</a:t>
            </a:r>
            <a:r>
              <a:rPr lang="zh-TW" altLang="en-US" dirty="0"/>
              <a:t>、</a:t>
            </a:r>
            <a:r>
              <a:rPr lang="zh-TW" altLang="zh-TW" dirty="0"/>
              <a:t>公司網路</a:t>
            </a:r>
            <a:r>
              <a:rPr lang="zh-TW" altLang="en-US" dirty="0"/>
              <a:t>等</a:t>
            </a:r>
            <a:endParaRPr lang="en-US" altLang="zh-TW" dirty="0"/>
          </a:p>
          <a:p>
            <a:r>
              <a:rPr lang="zh-TW" altLang="en-US" dirty="0"/>
              <a:t>連結網路變成更大的網路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全球性的</a:t>
            </a:r>
            <a:r>
              <a:rPr lang="zh-TW" altLang="en-US" dirty="0"/>
              <a:t>網際網路</a:t>
            </a:r>
            <a:endParaRPr lang="en-US" altLang="zh-TW" dirty="0"/>
          </a:p>
          <a:p>
            <a:r>
              <a:rPr lang="zh-TW" altLang="zh-TW" dirty="0"/>
              <a:t>電腦網路</a:t>
            </a:r>
            <a:r>
              <a:rPr lang="zh-TW" altLang="en-US" dirty="0"/>
              <a:t>依據</a:t>
            </a:r>
            <a:r>
              <a:rPr lang="zh-TW" altLang="zh-TW" dirty="0"/>
              <a:t>規模來區分</a:t>
            </a:r>
            <a:endParaRPr lang="en-US" altLang="zh-TW" dirty="0"/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區域網路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(local area network, LAN)</a:t>
            </a:r>
            <a:r>
              <a:rPr lang="zh-TW" altLang="en-US" dirty="0"/>
              <a:t>：</a:t>
            </a:r>
            <a:r>
              <a:rPr lang="zh-TW" altLang="zh-TW" dirty="0" smtClean="0"/>
              <a:t>家庭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0070C0"/>
                </a:solidFill>
              </a:rPr>
              <a:t>都會網路 </a:t>
            </a:r>
            <a:r>
              <a:rPr lang="en-US" altLang="zh-TW" dirty="0"/>
              <a:t>(metropolitan area network</a:t>
            </a:r>
            <a:r>
              <a:rPr lang="zh-TW" altLang="en-US" dirty="0"/>
              <a:t>，</a:t>
            </a:r>
            <a:r>
              <a:rPr lang="en-US" altLang="zh-TW" dirty="0"/>
              <a:t>MAN)</a:t>
            </a:r>
            <a:r>
              <a:rPr lang="zh-TW" altLang="en-US" dirty="0" smtClean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校園與公司</a:t>
            </a:r>
          </a:p>
          <a:p>
            <a:pPr lvl="1"/>
            <a:r>
              <a:rPr lang="zh-TW" altLang="zh-TW" dirty="0">
                <a:solidFill>
                  <a:srgbClr val="0070C0"/>
                </a:solidFill>
              </a:rPr>
              <a:t>廣域網路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(wide area network, WAN)</a:t>
            </a:r>
            <a:r>
              <a:rPr lang="zh-TW" altLang="en-US" dirty="0"/>
              <a:t>：</a:t>
            </a:r>
            <a:r>
              <a:rPr lang="zh-TW" altLang="zh-TW" dirty="0"/>
              <a:t>網際網路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6752"/>
            <a:ext cx="8424464" cy="5256584"/>
          </a:xfrm>
        </p:spPr>
        <p:txBody>
          <a:bodyPr>
            <a:normAutofit/>
          </a:bodyPr>
          <a:lstStyle/>
          <a:p>
            <a:r>
              <a:rPr lang="zh-TW" altLang="en-US" dirty="0"/>
              <a:t>分級負責</a:t>
            </a:r>
            <a:endParaRPr lang="en-US" altLang="zh-TW" dirty="0"/>
          </a:p>
          <a:p>
            <a:pPr lvl="1"/>
            <a:r>
              <a:rPr lang="en-US" altLang="zh-TW" dirty="0"/>
              <a:t>Tier-1</a:t>
            </a:r>
            <a:r>
              <a:rPr lang="zh-TW" altLang="en-US" dirty="0"/>
              <a:t>：如同中央政府維護的高速公路</a:t>
            </a:r>
            <a:endParaRPr lang="en-US" altLang="zh-TW" dirty="0"/>
          </a:p>
          <a:p>
            <a:pPr lvl="1"/>
            <a:r>
              <a:rPr lang="en-US" altLang="zh-TW" dirty="0"/>
              <a:t>Tier-2</a:t>
            </a:r>
            <a:r>
              <a:rPr lang="zh-TW" altLang="en-US" dirty="0"/>
              <a:t>：如同縣市政府維護的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省縣道路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en-US" altLang="zh-TW" dirty="0"/>
              <a:t>Tier-3</a:t>
            </a:r>
            <a:r>
              <a:rPr lang="zh-TW" altLang="en-US" dirty="0"/>
              <a:t>：如同鄉鎮維護的區域道路</a:t>
            </a:r>
            <a:endParaRPr lang="en-US" altLang="zh-TW" dirty="0"/>
          </a:p>
          <a:p>
            <a:r>
              <a:rPr lang="zh-TW" altLang="zh-TW" dirty="0"/>
              <a:t>提供網路服務的組織，通稱為</a:t>
            </a:r>
            <a:r>
              <a:rPr lang="zh-TW" altLang="zh-TW" dirty="0">
                <a:solidFill>
                  <a:srgbClr val="0070C0"/>
                </a:solidFill>
              </a:rPr>
              <a:t>網路服務供應商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(Internet Service Provider, ISP)</a:t>
            </a:r>
          </a:p>
          <a:p>
            <a:pPr lvl="1"/>
            <a:r>
              <a:rPr lang="zh-TW" altLang="zh-TW" dirty="0"/>
              <a:t>中華電信</a:t>
            </a:r>
            <a:r>
              <a:rPr lang="zh-TW" altLang="en-US" dirty="0"/>
              <a:t>、</a:t>
            </a:r>
            <a:r>
              <a:rPr lang="zh-TW" altLang="zh-TW" dirty="0"/>
              <a:t>台灣固網</a:t>
            </a:r>
            <a:endParaRPr lang="en-US" altLang="zh-TW" dirty="0"/>
          </a:p>
          <a:p>
            <a:pPr lvl="1"/>
            <a:r>
              <a:rPr lang="zh-TW" altLang="zh-TW" dirty="0"/>
              <a:t>台灣學術</a:t>
            </a:r>
            <a:r>
              <a:rPr lang="zh-TW" altLang="zh-TW" dirty="0" smtClean="0"/>
              <a:t>網路</a:t>
            </a:r>
            <a:r>
              <a:rPr lang="en-US" altLang="zh-TW" dirty="0" smtClean="0"/>
              <a:t> (</a:t>
            </a:r>
            <a:r>
              <a:rPr lang="en-US" altLang="zh-TW" dirty="0" err="1"/>
              <a:t>TANet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3573016"/>
            <a:ext cx="4176464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4835722" y="6309320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6.4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網際網路階層式建構與維護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網路傳輸資料的快慢用</a:t>
            </a:r>
            <a:r>
              <a:rPr lang="zh-TW" altLang="zh-TW" dirty="0">
                <a:solidFill>
                  <a:srgbClr val="0070C0"/>
                </a:solidFill>
              </a:rPr>
              <a:t>頻寬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(bandwidth) </a:t>
            </a:r>
            <a:r>
              <a:rPr lang="zh-TW" altLang="zh-TW" dirty="0"/>
              <a:t>來界定，單位是</a:t>
            </a:r>
            <a:r>
              <a:rPr lang="zh-TW" altLang="zh-TW" dirty="0">
                <a:solidFill>
                  <a:srgbClr val="0070C0"/>
                </a:solidFill>
              </a:rPr>
              <a:t>每秒傳送的位元數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(bit per second, bps)</a:t>
            </a:r>
          </a:p>
          <a:p>
            <a:pPr lvl="1"/>
            <a:r>
              <a:rPr lang="en-US" altLang="zh-TW" dirty="0"/>
              <a:t>1 kbps =</a:t>
            </a:r>
            <a:r>
              <a:rPr lang="zh-TW" altLang="en-US" dirty="0"/>
              <a:t> </a:t>
            </a:r>
            <a:r>
              <a:rPr lang="en-US" altLang="zh-TW" dirty="0"/>
              <a:t>1000 bps</a:t>
            </a:r>
          </a:p>
          <a:p>
            <a:pPr lvl="1"/>
            <a:r>
              <a:rPr lang="en-US" altLang="zh-TW" dirty="0"/>
              <a:t>1 Mbps = 1000 kbps</a:t>
            </a:r>
          </a:p>
          <a:p>
            <a:pPr lvl="1"/>
            <a:r>
              <a:rPr lang="en-US" altLang="zh-TW" dirty="0"/>
              <a:t>1 </a:t>
            </a:r>
            <a:r>
              <a:rPr lang="en-US" altLang="zh-TW" dirty="0" err="1"/>
              <a:t>Gbps</a:t>
            </a:r>
            <a:r>
              <a:rPr lang="en-US" altLang="zh-TW" dirty="0"/>
              <a:t> = 1000 Mbps</a:t>
            </a:r>
          </a:p>
          <a:p>
            <a:r>
              <a:rPr lang="zh-TW" altLang="zh-TW" dirty="0"/>
              <a:t>頻寬大就像多線道的公路，可以提供高容量的車潮，這裡的一部車等同一個位元</a:t>
            </a:r>
            <a:endParaRPr lang="en-US" altLang="zh-TW" dirty="0"/>
          </a:p>
          <a:p>
            <a:r>
              <a:rPr lang="zh-TW" altLang="zh-TW" dirty="0"/>
              <a:t>公路</a:t>
            </a:r>
            <a:r>
              <a:rPr lang="zh-TW" altLang="en-US" dirty="0" smtClean="0"/>
              <a:t>有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上行</a:t>
            </a:r>
            <a:r>
              <a:rPr lang="zh-TW" altLang="zh-TW" dirty="0" smtClean="0"/>
              <a:t>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下行</a:t>
            </a:r>
            <a:r>
              <a:rPr lang="zh-TW" altLang="zh-TW" dirty="0" smtClean="0"/>
              <a:t>，</a:t>
            </a:r>
            <a:r>
              <a:rPr lang="zh-TW" altLang="zh-TW" dirty="0"/>
              <a:t>網路的傳輸也區分</a:t>
            </a:r>
            <a:r>
              <a:rPr lang="zh-TW" altLang="zh-TW" dirty="0">
                <a:solidFill>
                  <a:srgbClr val="0070C0"/>
                </a:solidFill>
              </a:rPr>
              <a:t>上傳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(upload)</a:t>
            </a:r>
            <a:r>
              <a:rPr lang="zh-TW" altLang="en-US" dirty="0"/>
              <a:t> 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下載</a:t>
            </a:r>
            <a:r>
              <a:rPr lang="en-US" altLang="zh-TW" dirty="0"/>
              <a:t>(download)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6.1</a:t>
            </a:r>
            <a:r>
              <a:rPr lang="zh-TW" altLang="zh-TW" dirty="0"/>
              <a:t>緣起與組成</a:t>
            </a:r>
            <a:r>
              <a:rPr lang="zh-TW" altLang="en-US" dirty="0"/>
              <a:t>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居家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基本</a:t>
            </a:r>
            <a:r>
              <a:rPr lang="zh-TW" altLang="en-US" dirty="0"/>
              <a:t>有線上網的硬體需求</a:t>
            </a:r>
            <a:endParaRPr lang="en-US" altLang="zh-TW" dirty="0"/>
          </a:p>
          <a:p>
            <a:pPr lvl="1"/>
            <a:r>
              <a:rPr lang="zh-TW" altLang="en-US" dirty="0"/>
              <a:t>網路介面卡 </a:t>
            </a:r>
            <a:r>
              <a:rPr lang="en-US" altLang="zh-TW" dirty="0" smtClean="0"/>
              <a:t>(Network </a:t>
            </a:r>
            <a:r>
              <a:rPr lang="en-US" altLang="zh-TW" dirty="0"/>
              <a:t>Interface Card</a:t>
            </a:r>
            <a:r>
              <a:rPr lang="zh-TW" altLang="zh-TW" dirty="0"/>
              <a:t>，</a:t>
            </a:r>
            <a:r>
              <a:rPr lang="en-US" altLang="zh-TW" dirty="0"/>
              <a:t>NIC)</a:t>
            </a:r>
            <a:r>
              <a:rPr lang="zh-TW" altLang="zh-TW" dirty="0"/>
              <a:t> </a:t>
            </a:r>
            <a:endParaRPr lang="en-US" altLang="zh-TW" dirty="0"/>
          </a:p>
          <a:p>
            <a:pPr lvl="1"/>
            <a:r>
              <a:rPr lang="zh-TW" altLang="en-US" dirty="0"/>
              <a:t>網路線</a:t>
            </a:r>
            <a:endParaRPr lang="en-US" altLang="zh-TW" dirty="0"/>
          </a:p>
          <a:p>
            <a:pPr lvl="1"/>
            <a:r>
              <a:rPr lang="zh-TW" altLang="en-US" dirty="0"/>
              <a:t>資訊插座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6.2</a:t>
            </a:r>
            <a:r>
              <a:rPr lang="zh-TW" altLang="zh-TW" dirty="0" smtClean="0"/>
              <a:t>上網</a:t>
            </a:r>
            <a:r>
              <a:rPr lang="zh-TW" altLang="zh-TW" dirty="0"/>
              <a:t>方式</a:t>
            </a:r>
            <a:endParaRPr lang="zh-TW" altLang="en-US" dirty="0"/>
          </a:p>
        </p:txBody>
      </p:sp>
      <p:pic>
        <p:nvPicPr>
          <p:cNvPr id="22531" name="圖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717032"/>
            <a:ext cx="2750788" cy="1656184"/>
          </a:xfrm>
          <a:prstGeom prst="rect">
            <a:avLst/>
          </a:prstGeom>
          <a:noFill/>
        </p:spPr>
      </p:pic>
      <p:pic>
        <p:nvPicPr>
          <p:cNvPr id="22530" name="圖片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0078" y="3707740"/>
            <a:ext cx="1709478" cy="1584176"/>
          </a:xfrm>
          <a:prstGeom prst="rect">
            <a:avLst/>
          </a:prstGeom>
          <a:noFill/>
        </p:spPr>
      </p:pic>
      <p:pic>
        <p:nvPicPr>
          <p:cNvPr id="22529" name="圖片 10"/>
          <p:cNvPicPr>
            <a:picLocks noChangeAspect="1" noChangeArrowheads="1"/>
          </p:cNvPicPr>
          <p:nvPr/>
        </p:nvPicPr>
        <p:blipFill>
          <a:blip r:embed="rId4" cstate="print"/>
          <a:srcRect l="12389" t="17185" r="11157" b="22077"/>
          <a:stretch>
            <a:fillRect/>
          </a:stretch>
        </p:blipFill>
        <p:spPr bwMode="auto">
          <a:xfrm>
            <a:off x="6702912" y="4221088"/>
            <a:ext cx="1541496" cy="953076"/>
          </a:xfrm>
          <a:prstGeom prst="rect">
            <a:avLst/>
          </a:prstGeom>
          <a:noFill/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2686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Times New Roman" pitchFamily="18" charset="0"/>
              </a:rPr>
              <a:t>		</a:t>
            </a:r>
            <a:endParaRPr kumimoji="1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1560" y="5445224"/>
            <a:ext cx="2383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zh-TW" altLang="zh-TW" dirty="0" smtClean="0">
                <a:latin typeface="Times New Roman" pitchFamily="18" charset="0"/>
                <a:cs typeface="Times New Roman" pitchFamily="18" charset="0"/>
              </a:rPr>
              <a:t>獨立</a:t>
            </a:r>
            <a:r>
              <a:rPr lang="zh-TW" altLang="zh-TW" dirty="0">
                <a:latin typeface="Times New Roman" pitchFamily="18" charset="0"/>
                <a:cs typeface="Times New Roman" pitchFamily="18" charset="0"/>
              </a:rPr>
              <a:t>式網路介面卡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64054" y="5363924"/>
            <a:ext cx="2448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(b) RJ-45</a:t>
            </a:r>
            <a:r>
              <a:rPr lang="zh-TW" altLang="zh-TW" dirty="0">
                <a:latin typeface="Times New Roman" pitchFamily="18" charset="0"/>
                <a:cs typeface="Times New Roman" pitchFamily="18" charset="0"/>
              </a:rPr>
              <a:t>接頭的網路線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32240" y="5318180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(c) </a:t>
            </a:r>
            <a:r>
              <a:rPr lang="zh-TW" altLang="zh-TW" dirty="0" smtClean="0">
                <a:latin typeface="Times New Roman" pitchFamily="18" charset="0"/>
                <a:cs typeface="Times New Roman" pitchFamily="18" charset="0"/>
              </a:rPr>
              <a:t>資訊</a:t>
            </a:r>
            <a:r>
              <a:rPr lang="zh-TW" altLang="zh-TW" dirty="0">
                <a:latin typeface="Times New Roman" pitchFamily="18" charset="0"/>
                <a:cs typeface="Times New Roman" pitchFamily="18" charset="0"/>
              </a:rPr>
              <a:t>插座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310779" y="5939988"/>
            <a:ext cx="270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6.5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基本網路連線裝置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一般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室內牆面已經提供資訊插座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住家網路需要連至外部網路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電話線：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 ADSL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線路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電視纜線：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Cable TV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線路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光纖線：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 FTTH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線路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需要</a:t>
            </a:r>
            <a:r>
              <a:rPr lang="zh-TW" altLang="zh-TW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數據機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(modem)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 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的設備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，做訊號轉換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6.2</a:t>
            </a:r>
            <a:r>
              <a:rPr lang="zh-TW" altLang="zh-TW" dirty="0"/>
              <a:t>上網方式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797152"/>
            <a:ext cx="5904656" cy="1209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275856" y="6021288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6.6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ADSL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上網連線方式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6.2</a:t>
            </a:r>
            <a:r>
              <a:rPr lang="zh-TW" altLang="zh-TW" dirty="0"/>
              <a:t>上網方式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513" y="1556792"/>
            <a:ext cx="5956807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800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校園</a:t>
            </a:r>
            <a:r>
              <a:rPr lang="en-US" altLang="zh-TW" b="1" dirty="0" smtClean="0">
                <a:solidFill>
                  <a:schemeClr val="accent3"/>
                </a:solidFill>
              </a:rPr>
              <a:t>/</a:t>
            </a:r>
            <a:r>
              <a:rPr lang="zh-TW" altLang="en-US" b="1" dirty="0" smtClean="0">
                <a:solidFill>
                  <a:schemeClr val="accent3"/>
                </a:solidFill>
              </a:rPr>
              <a:t>公司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一般</a:t>
            </a:r>
            <a:r>
              <a:rPr lang="zh-TW" altLang="en-US" dirty="0"/>
              <a:t>室內牆面已經提供資訊插座</a:t>
            </a:r>
            <a:endParaRPr lang="en-US" altLang="zh-TW" dirty="0"/>
          </a:p>
          <a:p>
            <a:r>
              <a:rPr lang="zh-TW" altLang="en-US" dirty="0"/>
              <a:t>由於學校與公司等組織單位，事先建置</a:t>
            </a:r>
            <a:r>
              <a:rPr lang="zh-TW" altLang="en-US" dirty="0" smtClean="0"/>
              <a:t>好如</a:t>
            </a:r>
            <a:r>
              <a:rPr lang="zh-TW" altLang="en-US" dirty="0"/>
              <a:t>乙太網路 </a:t>
            </a:r>
            <a:r>
              <a:rPr lang="en-US" altLang="zh-TW" dirty="0"/>
              <a:t>(Ethernet) </a:t>
            </a:r>
            <a:r>
              <a:rPr lang="zh-TW" altLang="en-US" dirty="0"/>
              <a:t>規格的區域網路</a:t>
            </a: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6.2</a:t>
            </a:r>
            <a:r>
              <a:rPr lang="zh-TW" altLang="zh-TW" dirty="0"/>
              <a:t>上網方式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996952"/>
            <a:ext cx="3737525" cy="1266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699792" y="4293096"/>
            <a:ext cx="316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區域網路上網連線方式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80" y="4730462"/>
            <a:ext cx="6966520" cy="186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戶外</a:t>
            </a:r>
            <a:endParaRPr lang="en-US" altLang="zh-TW" b="1" dirty="0">
              <a:solidFill>
                <a:schemeClr val="accent3"/>
              </a:solidFill>
            </a:endParaRPr>
          </a:p>
          <a:p>
            <a:r>
              <a:rPr lang="zh-TW" altLang="en-US" dirty="0"/>
              <a:t>使用無線網路的方式</a:t>
            </a:r>
            <a:endParaRPr lang="en-US" altLang="zh-TW" dirty="0"/>
          </a:p>
          <a:p>
            <a:pPr lvl="1"/>
            <a:r>
              <a:rPr lang="en-US" altLang="zh-TW" dirty="0"/>
              <a:t>Wi-Fi</a:t>
            </a:r>
            <a:r>
              <a:rPr lang="zh-TW" altLang="en-US" dirty="0"/>
              <a:t>網路：透過</a:t>
            </a:r>
            <a:r>
              <a:rPr lang="zh-TW" altLang="zh-TW" dirty="0">
                <a:solidFill>
                  <a:srgbClr val="0070C0"/>
                </a:solidFill>
              </a:rPr>
              <a:t>無線</a:t>
            </a:r>
            <a:r>
              <a:rPr lang="zh-TW" altLang="en-US" dirty="0">
                <a:solidFill>
                  <a:srgbClr val="0070C0"/>
                </a:solidFill>
              </a:rPr>
              <a:t>接取</a:t>
            </a:r>
            <a:r>
              <a:rPr lang="zh-TW" altLang="zh-TW" dirty="0">
                <a:solidFill>
                  <a:srgbClr val="0070C0"/>
                </a:solidFill>
              </a:rPr>
              <a:t>器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(access point, AP</a:t>
            </a:r>
            <a:r>
              <a:rPr lang="en-US" altLang="zh-TW" dirty="0" smtClean="0"/>
              <a:t>)</a:t>
            </a:r>
            <a:r>
              <a:rPr lang="en-US" altLang="zh-TW" dirty="0"/>
              <a:t> </a:t>
            </a:r>
            <a:r>
              <a:rPr lang="zh-TW" altLang="en-US" dirty="0"/>
              <a:t>，</a:t>
            </a:r>
            <a:r>
              <a:rPr lang="en-US" altLang="zh-TW" dirty="0" smtClean="0"/>
              <a:t>Wi-Fi </a:t>
            </a:r>
            <a:r>
              <a:rPr lang="zh-TW" altLang="en-US" dirty="0"/>
              <a:t>網路是屬於無線區域網路 </a:t>
            </a:r>
            <a:r>
              <a:rPr lang="en-US" altLang="zh-TW" dirty="0"/>
              <a:t>(wireless LAN) </a:t>
            </a:r>
            <a:r>
              <a:rPr lang="zh-TW" altLang="en-US" dirty="0"/>
              <a:t>的一種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pPr lvl="1"/>
            <a:r>
              <a:rPr lang="zh-TW" altLang="en-US" dirty="0" smtClean="0"/>
              <a:t>行動網路：</a:t>
            </a:r>
            <a:r>
              <a:rPr lang="zh-TW" altLang="en-US" dirty="0"/>
              <a:t>行動網路是透過手機發送電磁波訊號，經由基地台 </a:t>
            </a:r>
            <a:r>
              <a:rPr lang="en-US" altLang="zh-TW" dirty="0"/>
              <a:t>(base station)</a:t>
            </a:r>
            <a:r>
              <a:rPr lang="zh-TW" altLang="en-US" dirty="0" smtClean="0"/>
              <a:t>的</a:t>
            </a:r>
            <a:r>
              <a:rPr lang="zh-TW" altLang="en-US" dirty="0"/>
              <a:t>接收，轉換成資料內容後送往網際網路</a:t>
            </a:r>
            <a:r>
              <a:rPr lang="zh-TW" altLang="en-US" dirty="0" smtClean="0"/>
              <a:t>。行動</a:t>
            </a:r>
            <a:r>
              <a:rPr lang="zh-TW" altLang="en-US" dirty="0"/>
              <a:t>網路</a:t>
            </a:r>
            <a:r>
              <a:rPr lang="zh-TW" altLang="en-US" dirty="0" smtClean="0"/>
              <a:t>的系統</a:t>
            </a:r>
            <a:r>
              <a:rPr lang="zh-TW" altLang="en-US" dirty="0"/>
              <a:t>一般用不同世代 </a:t>
            </a:r>
            <a:r>
              <a:rPr lang="en-US" altLang="zh-TW" dirty="0"/>
              <a:t>(generation) </a:t>
            </a:r>
            <a:r>
              <a:rPr lang="zh-TW" altLang="en-US" dirty="0"/>
              <a:t>來區別技術的進展</a:t>
            </a:r>
            <a:r>
              <a:rPr lang="zh-TW" altLang="en-US" dirty="0" smtClean="0"/>
              <a:t>，</a:t>
            </a:r>
            <a:r>
              <a:rPr lang="en-US" altLang="zh-TW" dirty="0"/>
              <a:t>(1G)</a:t>
            </a:r>
            <a:r>
              <a:rPr lang="zh-TW" altLang="en-US" dirty="0" smtClean="0"/>
              <a:t>、第二</a:t>
            </a:r>
            <a:r>
              <a:rPr lang="zh-TW" altLang="en-US" dirty="0"/>
              <a:t>代 </a:t>
            </a:r>
            <a:r>
              <a:rPr lang="en-US" altLang="zh-TW" dirty="0"/>
              <a:t>(2G)</a:t>
            </a:r>
            <a:r>
              <a:rPr lang="zh-TW" altLang="en-US" dirty="0"/>
              <a:t>、第三代 </a:t>
            </a:r>
            <a:r>
              <a:rPr lang="en-US" altLang="zh-TW" dirty="0"/>
              <a:t>(3G)</a:t>
            </a:r>
            <a:r>
              <a:rPr lang="zh-TW" altLang="en-US" dirty="0"/>
              <a:t>、第四代 </a:t>
            </a:r>
            <a:r>
              <a:rPr lang="en-US" altLang="zh-TW" dirty="0"/>
              <a:t>(4G)</a:t>
            </a:r>
            <a:r>
              <a:rPr lang="zh-TW" altLang="en-US" dirty="0"/>
              <a:t>，目前進入第五代 </a:t>
            </a:r>
            <a:r>
              <a:rPr lang="en-US" altLang="zh-TW" dirty="0"/>
              <a:t>(5G)</a:t>
            </a:r>
            <a:r>
              <a:rPr lang="zh-TW" altLang="en-US" dirty="0"/>
              <a:t>。</a:t>
            </a:r>
            <a:endParaRPr lang="en-US" altLang="zh-TW" b="1" dirty="0"/>
          </a:p>
          <a:p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6.2</a:t>
            </a:r>
            <a:r>
              <a:rPr lang="zh-TW" altLang="zh-TW" dirty="0"/>
              <a:t>上網方式</a:t>
            </a:r>
            <a:endParaRPr lang="zh-TW" altLang="en-US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5075892"/>
            <a:ext cx="5949660" cy="1224136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072313" y="644404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6.10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無線上網連線方式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6.2</a:t>
            </a:r>
            <a:r>
              <a:rPr lang="zh-TW" altLang="zh-TW" dirty="0"/>
              <a:t>上網方式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8496944" cy="4076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61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zh-TW" dirty="0" smtClean="0"/>
              <a:t>物</a:t>
            </a:r>
            <a:r>
              <a:rPr lang="zh-TW" altLang="zh-TW" dirty="0"/>
              <a:t>流</a:t>
            </a:r>
            <a:r>
              <a:rPr lang="zh-TW" altLang="en-US" dirty="0"/>
              <a:t>包裹</a:t>
            </a:r>
            <a:r>
              <a:rPr lang="zh-TW" altLang="zh-TW" dirty="0"/>
              <a:t>配送</a:t>
            </a:r>
            <a:r>
              <a:rPr lang="zh-TW" altLang="zh-TW" dirty="0" smtClean="0"/>
              <a:t>服務</a:t>
            </a:r>
            <a:r>
              <a:rPr lang="zh-TW" altLang="en-US" dirty="0" smtClean="0"/>
              <a:t>來解釋網路的運作</a:t>
            </a:r>
            <a:endParaRPr lang="en-US" altLang="zh-TW" dirty="0"/>
          </a:p>
          <a:p>
            <a:pPr lvl="1"/>
            <a:r>
              <a:rPr lang="zh-TW" altLang="zh-TW" dirty="0"/>
              <a:t>營業所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收發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包裹</a:t>
            </a:r>
            <a:endParaRPr lang="en-US" altLang="zh-TW" dirty="0" smtClean="0">
              <a:uFill>
                <a:solidFill>
                  <a:srgbClr val="0000CC"/>
                </a:solidFill>
              </a:uFill>
            </a:endParaRPr>
          </a:p>
          <a:p>
            <a:pPr marL="393192" lvl="1" indent="0">
              <a:buNone/>
            </a:pPr>
            <a:r>
              <a:rPr lang="en-US" altLang="zh-TW" dirty="0" smtClean="0">
                <a:uFill>
                  <a:solidFill>
                    <a:srgbClr val="0000CC"/>
                  </a:solidFill>
                </a:uFill>
              </a:rPr>
              <a:t> </a:t>
            </a:r>
            <a:r>
              <a:rPr lang="zh-TW" altLang="en-US" dirty="0" smtClean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→</a:t>
            </a:r>
            <a:r>
              <a:rPr lang="zh-TW" altLang="zh-TW" dirty="0">
                <a:solidFill>
                  <a:srgbClr val="0070C0"/>
                </a:solidFill>
              </a:rPr>
              <a:t>終端設備</a:t>
            </a:r>
            <a:r>
              <a:rPr lang="zh-TW" altLang="en-US" dirty="0">
                <a:solidFill>
                  <a:srgbClr val="0070C0"/>
                </a:solidFill>
              </a:rPr>
              <a:t>：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收發</a:t>
            </a:r>
            <a:r>
              <a:rPr lang="zh-TW" altLang="en-US" dirty="0" smtClean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資料</a:t>
            </a:r>
            <a:endParaRPr lang="en-US" altLang="zh-TW" dirty="0" smtClean="0">
              <a:solidFill>
                <a:srgbClr val="0070C0"/>
              </a:solidFill>
              <a:uFill>
                <a:solidFill>
                  <a:srgbClr val="0000CC"/>
                </a:solidFill>
              </a:uFill>
            </a:endParaRPr>
          </a:p>
          <a:p>
            <a:pPr marL="393192" lvl="1" indent="0">
              <a:buNone/>
            </a:pP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物流中心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區域匯集與交換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包裹</a:t>
            </a:r>
            <a:endParaRPr lang="en-US" altLang="zh-TW" dirty="0" smtClean="0">
              <a:uFill>
                <a:solidFill>
                  <a:srgbClr val="0000CC"/>
                </a:solidFill>
              </a:uFill>
            </a:endParaRPr>
          </a:p>
          <a:p>
            <a:pPr marL="393192" lvl="1" indent="0">
              <a:buNone/>
            </a:pP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 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→</a:t>
            </a:r>
            <a:r>
              <a:rPr lang="zh-TW" altLang="zh-TW" dirty="0">
                <a:solidFill>
                  <a:srgbClr val="0070C0"/>
                </a:solidFill>
              </a:rPr>
              <a:t>交換器</a:t>
            </a:r>
            <a:r>
              <a:rPr lang="zh-TW" altLang="en-US" dirty="0">
                <a:solidFill>
                  <a:srgbClr val="0070C0"/>
                </a:solidFill>
              </a:rPr>
              <a:t>：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區域匯集與交換</a:t>
            </a:r>
            <a:r>
              <a:rPr lang="zh-TW" altLang="en-US" dirty="0" smtClean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資料</a:t>
            </a:r>
            <a:endParaRPr lang="en-US" altLang="zh-TW" dirty="0" smtClean="0">
              <a:solidFill>
                <a:srgbClr val="0070C0"/>
              </a:solidFill>
              <a:uFill>
                <a:solidFill>
                  <a:srgbClr val="0000CC"/>
                </a:solidFill>
              </a:uFill>
            </a:endParaRPr>
          </a:p>
          <a:p>
            <a:pPr lvl="1"/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轉運中心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依據路線轉送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包裹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marL="393192" lvl="1" indent="0">
              <a:buNone/>
            </a:pP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→</a:t>
            </a:r>
            <a:r>
              <a:rPr lang="zh-TW" altLang="zh-TW" dirty="0" smtClean="0">
                <a:solidFill>
                  <a:srgbClr val="0070C0"/>
                </a:solidFill>
              </a:rPr>
              <a:t>路由器</a:t>
            </a:r>
            <a:r>
              <a:rPr lang="zh-TW" altLang="en-US" dirty="0" smtClean="0">
                <a:solidFill>
                  <a:srgbClr val="0070C0"/>
                </a:solidFill>
              </a:rPr>
              <a:t>：</a:t>
            </a:r>
            <a:r>
              <a:rPr lang="zh-TW" altLang="en-US" dirty="0" smtClean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依據路線轉送資料</a:t>
            </a:r>
            <a:endParaRPr lang="zh-TW" altLang="zh-TW" dirty="0" smtClean="0">
              <a:solidFill>
                <a:srgbClr val="0070C0"/>
              </a:solidFill>
              <a:uFill>
                <a:solidFill>
                  <a:srgbClr val="0000CC"/>
                </a:solidFill>
              </a:uFill>
            </a:endParaRPr>
          </a:p>
          <a:p>
            <a:pPr lvl="1"/>
            <a:endParaRPr lang="zh-TW" altLang="zh-TW" dirty="0">
              <a:uFill>
                <a:solidFill>
                  <a:srgbClr val="0000CC"/>
                </a:solidFill>
              </a:uFill>
            </a:endParaRP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6.3</a:t>
            </a:r>
            <a:r>
              <a:rPr lang="zh-TW" altLang="zh-TW" dirty="0" smtClean="0"/>
              <a:t>網路</a:t>
            </a:r>
            <a:r>
              <a:rPr lang="zh-TW" altLang="zh-TW" dirty="0"/>
              <a:t>運作方式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6.3</a:t>
            </a:r>
            <a:r>
              <a:rPr lang="zh-TW" altLang="zh-TW" dirty="0"/>
              <a:t>網路運作方式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96752"/>
            <a:ext cx="7539593" cy="2553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47" y="3861048"/>
            <a:ext cx="7622830" cy="252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40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各個終端設備的規格與運作方式可能不盡相同</a:t>
            </a:r>
            <a:r>
              <a:rPr lang="zh-TW" altLang="en-US" dirty="0" smtClean="0"/>
              <a:t>，須</a:t>
            </a:r>
            <a:r>
              <a:rPr lang="zh-TW" altLang="zh-TW" dirty="0" smtClean="0"/>
              <a:t>要</a:t>
            </a:r>
            <a:r>
              <a:rPr lang="zh-TW" altLang="zh-TW" dirty="0"/>
              <a:t>使用相同的語言才能溝通</a:t>
            </a:r>
            <a:endParaRPr lang="en-US" altLang="zh-TW" dirty="0"/>
          </a:p>
          <a:p>
            <a:r>
              <a:rPr lang="zh-TW" altLang="zh-TW" dirty="0"/>
              <a:t>終端設備間的資料交換也需要制定一套共同的</a:t>
            </a:r>
            <a:r>
              <a:rPr lang="zh-TW" altLang="zh-TW" dirty="0">
                <a:solidFill>
                  <a:srgbClr val="0070C0"/>
                </a:solidFill>
              </a:rPr>
              <a:t>標準</a:t>
            </a:r>
            <a:r>
              <a:rPr lang="zh-TW" altLang="en-US" dirty="0"/>
              <a:t> </a:t>
            </a:r>
            <a:r>
              <a:rPr lang="en-US" altLang="zh-TW" dirty="0"/>
              <a:t>(standard)</a:t>
            </a:r>
            <a:r>
              <a:rPr lang="zh-TW" altLang="zh-TW" dirty="0"/>
              <a:t>，說明資料內容</a:t>
            </a:r>
            <a:r>
              <a:rPr lang="zh-TW" altLang="zh-TW" dirty="0" smtClean="0"/>
              <a:t>的</a:t>
            </a:r>
            <a:r>
              <a:rPr lang="zh-TW" altLang="en-US" dirty="0">
                <a:solidFill>
                  <a:srgbClr val="0070C0"/>
                </a:solidFill>
                <a:uFill>
                  <a:solidFill>
                    <a:srgbClr val="0000CC"/>
                  </a:solidFill>
                </a:uFill>
              </a:rPr>
              <a:t>語法</a:t>
            </a:r>
            <a:r>
              <a:rPr lang="zh-TW" altLang="en-US" dirty="0" smtClean="0"/>
              <a:t> </a:t>
            </a:r>
            <a:r>
              <a:rPr lang="en-US" altLang="zh-TW" dirty="0"/>
              <a:t>(syntax)</a:t>
            </a:r>
            <a:r>
              <a:rPr lang="zh-TW" altLang="en-US" dirty="0"/>
              <a:t> 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含意</a:t>
            </a:r>
            <a:r>
              <a:rPr lang="zh-TW" altLang="en-US" dirty="0"/>
              <a:t> </a:t>
            </a:r>
            <a:r>
              <a:rPr lang="en-US" altLang="zh-TW" dirty="0"/>
              <a:t>(semantics)</a:t>
            </a:r>
            <a:r>
              <a:rPr lang="zh-TW" altLang="zh-TW" dirty="0"/>
              <a:t>，以及資料交換進行的</a:t>
            </a:r>
            <a:r>
              <a:rPr lang="zh-TW" altLang="zh-TW" dirty="0">
                <a:solidFill>
                  <a:srgbClr val="0070C0"/>
                </a:solidFill>
              </a:rPr>
              <a:t>程序</a:t>
            </a:r>
            <a:r>
              <a:rPr lang="zh-TW" altLang="en-US" dirty="0"/>
              <a:t> </a:t>
            </a:r>
            <a:r>
              <a:rPr lang="en-US" altLang="zh-TW" dirty="0"/>
              <a:t>(sequence)</a:t>
            </a:r>
          </a:p>
          <a:p>
            <a:r>
              <a:rPr lang="zh-TW" altLang="zh-TW" dirty="0"/>
              <a:t>運用於網路的標準稱為</a:t>
            </a:r>
            <a:r>
              <a:rPr lang="zh-TW" altLang="zh-TW" dirty="0">
                <a:solidFill>
                  <a:srgbClr val="0070C0"/>
                </a:solidFill>
              </a:rPr>
              <a:t>協定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(protocol)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6.4</a:t>
            </a:r>
            <a:r>
              <a:rPr lang="zh-TW" altLang="zh-TW" dirty="0" smtClean="0"/>
              <a:t>網路</a:t>
            </a:r>
            <a:r>
              <a:rPr lang="zh-TW" altLang="en-US" dirty="0"/>
              <a:t>協定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採用</a:t>
            </a:r>
            <a:r>
              <a:rPr lang="zh-TW" altLang="zh-TW" dirty="0">
                <a:solidFill>
                  <a:srgbClr val="0070C0"/>
                </a:solidFill>
              </a:rPr>
              <a:t>分層</a:t>
            </a:r>
            <a:r>
              <a:rPr lang="zh-TW" altLang="en-US" dirty="0"/>
              <a:t> </a:t>
            </a:r>
            <a:r>
              <a:rPr lang="en-US" altLang="zh-TW" dirty="0"/>
              <a:t>(layer)</a:t>
            </a:r>
            <a:r>
              <a:rPr lang="zh-TW" altLang="en-US" dirty="0"/>
              <a:t> </a:t>
            </a:r>
            <a:r>
              <a:rPr lang="zh-TW" altLang="zh-TW" dirty="0"/>
              <a:t>的架構，每一層專司一種職責，達到分工合作的目的</a:t>
            </a:r>
            <a:endParaRPr lang="en-US" altLang="zh-TW" dirty="0"/>
          </a:p>
          <a:p>
            <a:r>
              <a:rPr lang="zh-TW" altLang="zh-TW" dirty="0"/>
              <a:t>抽換其中一層的工作方式，並不會導致其他層的變更</a:t>
            </a:r>
            <a:endParaRPr lang="en-US" altLang="zh-TW" dirty="0"/>
          </a:p>
          <a:p>
            <a:r>
              <a:rPr lang="zh-TW" altLang="zh-TW" dirty="0"/>
              <a:t>目前網際網路使用的協定區分五層，由於是一層一層堆疊上去，又稱為</a:t>
            </a:r>
            <a:r>
              <a:rPr lang="zh-TW" altLang="zh-TW" dirty="0">
                <a:solidFill>
                  <a:srgbClr val="0070C0"/>
                </a:solidFill>
              </a:rPr>
              <a:t>協定堆疊</a:t>
            </a:r>
            <a:r>
              <a:rPr lang="zh-TW" altLang="en-US" dirty="0"/>
              <a:t> </a:t>
            </a:r>
            <a:r>
              <a:rPr lang="en-US" altLang="zh-TW" dirty="0"/>
              <a:t>(protocol stack)</a:t>
            </a:r>
          </a:p>
          <a:p>
            <a:r>
              <a:rPr lang="zh-TW" altLang="zh-TW" dirty="0"/>
              <a:t>網際網路</a:t>
            </a:r>
            <a:r>
              <a:rPr lang="zh-TW" altLang="en-US" dirty="0"/>
              <a:t>使用</a:t>
            </a:r>
            <a:r>
              <a:rPr lang="en-US" altLang="zh-TW" b="1" dirty="0">
                <a:solidFill>
                  <a:srgbClr val="0070C0"/>
                </a:solidFill>
              </a:rPr>
              <a:t>TCP/IP</a:t>
            </a:r>
            <a:r>
              <a:rPr lang="zh-TW" altLang="zh-TW" b="1" dirty="0">
                <a:solidFill>
                  <a:srgbClr val="0070C0"/>
                </a:solidFill>
              </a:rPr>
              <a:t>協定堆疊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933056"/>
            <a:ext cx="2160240" cy="2759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u"/>
            </a:pPr>
            <a:r>
              <a:rPr lang="zh-TW" altLang="zh-TW" b="1" dirty="0">
                <a:solidFill>
                  <a:schemeClr val="accent1"/>
                </a:solidFill>
              </a:rPr>
              <a:t>應用層</a:t>
            </a:r>
            <a:r>
              <a:rPr lang="zh-TW" altLang="en-US" b="1" dirty="0">
                <a:solidFill>
                  <a:schemeClr val="accent1"/>
                </a:solidFill>
              </a:rPr>
              <a:t> </a:t>
            </a:r>
            <a:r>
              <a:rPr lang="en-US" altLang="zh-TW" b="1" dirty="0">
                <a:solidFill>
                  <a:schemeClr val="accent1"/>
                </a:solidFill>
              </a:rPr>
              <a:t>(application layer)</a:t>
            </a:r>
            <a:r>
              <a:rPr lang="zh-TW" altLang="zh-TW" dirty="0"/>
              <a:t>：提供各種應用服務，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例如：瀏覽網頁、收發電子信件、網路聊天與檔案傳輸等</a:t>
            </a:r>
          </a:p>
          <a:p>
            <a:pPr lvl="0">
              <a:buFont typeface="Wingdings" pitchFamily="2" charset="2"/>
              <a:buChar char="u"/>
            </a:pPr>
            <a:r>
              <a:rPr lang="zh-TW" altLang="zh-TW" b="1" dirty="0">
                <a:solidFill>
                  <a:schemeClr val="accent1"/>
                </a:solidFill>
              </a:rPr>
              <a:t>傳輸層</a:t>
            </a:r>
            <a:r>
              <a:rPr lang="zh-TW" altLang="en-US" b="1" dirty="0">
                <a:solidFill>
                  <a:schemeClr val="accent1"/>
                </a:solidFill>
              </a:rPr>
              <a:t> </a:t>
            </a:r>
            <a:r>
              <a:rPr lang="en-US" altLang="zh-TW" b="1" dirty="0">
                <a:solidFill>
                  <a:schemeClr val="accent1"/>
                </a:solidFill>
              </a:rPr>
              <a:t>(transport layer)</a:t>
            </a:r>
            <a:r>
              <a:rPr lang="zh-TW" altLang="zh-TW" b="1" dirty="0">
                <a:solidFill>
                  <a:schemeClr val="accent1"/>
                </a:solidFill>
              </a:rPr>
              <a:t>：</a:t>
            </a:r>
            <a:r>
              <a:rPr lang="zh-TW" altLang="zh-TW" dirty="0"/>
              <a:t>提供在兩台終端設備的應用程式間</a:t>
            </a:r>
            <a:r>
              <a:rPr lang="zh-TW" altLang="en-US" dirty="0"/>
              <a:t>的</a:t>
            </a:r>
            <a:r>
              <a:rPr lang="zh-TW" altLang="zh-TW" dirty="0"/>
              <a:t>資料交換</a:t>
            </a:r>
          </a:p>
          <a:p>
            <a:pPr lvl="0">
              <a:buFont typeface="Wingdings" pitchFamily="2" charset="2"/>
              <a:buChar char="u"/>
            </a:pPr>
            <a:r>
              <a:rPr lang="zh-TW" altLang="zh-TW" b="1" dirty="0">
                <a:solidFill>
                  <a:schemeClr val="accent1"/>
                </a:solidFill>
              </a:rPr>
              <a:t>網路層</a:t>
            </a:r>
            <a:r>
              <a:rPr lang="zh-TW" altLang="en-US" b="1" dirty="0">
                <a:solidFill>
                  <a:schemeClr val="accent1"/>
                </a:solidFill>
              </a:rPr>
              <a:t> </a:t>
            </a:r>
            <a:r>
              <a:rPr lang="en-US" altLang="zh-TW" b="1" dirty="0">
                <a:solidFill>
                  <a:schemeClr val="accent1"/>
                </a:solidFill>
              </a:rPr>
              <a:t>(network layer)</a:t>
            </a:r>
            <a:r>
              <a:rPr lang="zh-TW" altLang="zh-TW" b="1" dirty="0">
                <a:solidFill>
                  <a:schemeClr val="accent1"/>
                </a:solidFill>
              </a:rPr>
              <a:t>：</a:t>
            </a:r>
            <a:r>
              <a:rPr lang="zh-TW" altLang="zh-TW" dirty="0"/>
              <a:t>提供在兩台終端設備間資料</a:t>
            </a:r>
            <a:r>
              <a:rPr lang="zh-TW" altLang="en-US" dirty="0"/>
              <a:t>的</a:t>
            </a:r>
            <a:r>
              <a:rPr lang="zh-TW" altLang="zh-TW" dirty="0"/>
              <a:t>交換</a:t>
            </a:r>
          </a:p>
          <a:p>
            <a:pPr lvl="0">
              <a:buFont typeface="Wingdings" pitchFamily="2" charset="2"/>
              <a:buChar char="u"/>
            </a:pPr>
            <a:r>
              <a:rPr lang="zh-TW" altLang="zh-TW" b="1" dirty="0">
                <a:solidFill>
                  <a:schemeClr val="accent1"/>
                </a:solidFill>
              </a:rPr>
              <a:t>連結層</a:t>
            </a:r>
            <a:r>
              <a:rPr lang="zh-TW" altLang="en-US" b="1" dirty="0">
                <a:solidFill>
                  <a:schemeClr val="accent1"/>
                </a:solidFill>
              </a:rPr>
              <a:t> </a:t>
            </a:r>
            <a:r>
              <a:rPr lang="en-US" altLang="zh-TW" b="1" dirty="0">
                <a:solidFill>
                  <a:schemeClr val="accent1"/>
                </a:solidFill>
              </a:rPr>
              <a:t>(link layer)</a:t>
            </a:r>
            <a:r>
              <a:rPr lang="zh-TW" altLang="zh-TW" b="1" dirty="0">
                <a:solidFill>
                  <a:schemeClr val="accent1"/>
                </a:solidFill>
              </a:rPr>
              <a:t>：</a:t>
            </a:r>
            <a:r>
              <a:rPr lang="zh-TW" altLang="zh-TW" dirty="0"/>
              <a:t>提供資料在通訊連結上</a:t>
            </a:r>
            <a:r>
              <a:rPr lang="zh-TW" altLang="en-US" dirty="0"/>
              <a:t>的</a:t>
            </a:r>
            <a:r>
              <a:rPr lang="zh-TW" altLang="zh-TW" dirty="0"/>
              <a:t>傳遞</a:t>
            </a:r>
          </a:p>
          <a:p>
            <a:pPr>
              <a:buFont typeface="Wingdings" pitchFamily="2" charset="2"/>
              <a:buChar char="u"/>
            </a:pPr>
            <a:r>
              <a:rPr lang="zh-TW" altLang="zh-TW" b="1" dirty="0">
                <a:solidFill>
                  <a:schemeClr val="accent1"/>
                </a:solidFill>
              </a:rPr>
              <a:t>實體層</a:t>
            </a:r>
            <a:r>
              <a:rPr lang="zh-TW" altLang="en-US" b="1" dirty="0">
                <a:solidFill>
                  <a:schemeClr val="accent1"/>
                </a:solidFill>
              </a:rPr>
              <a:t> </a:t>
            </a:r>
            <a:r>
              <a:rPr lang="en-US" altLang="zh-TW" b="1" dirty="0">
                <a:solidFill>
                  <a:schemeClr val="accent1"/>
                </a:solidFill>
              </a:rPr>
              <a:t>(physical layer)</a:t>
            </a:r>
            <a:r>
              <a:rPr lang="zh-TW" altLang="zh-TW" b="1" dirty="0">
                <a:solidFill>
                  <a:schemeClr val="accent1"/>
                </a:solidFill>
              </a:rPr>
              <a:t>：</a:t>
            </a:r>
            <a:r>
              <a:rPr lang="zh-TW" altLang="zh-TW" dirty="0"/>
              <a:t>提供資料在網路介面卡與通訊連結間</a:t>
            </a:r>
            <a:r>
              <a:rPr lang="zh-TW" altLang="en-US" dirty="0"/>
              <a:t>的</a:t>
            </a:r>
            <a:r>
              <a:rPr lang="zh-TW" altLang="zh-TW" dirty="0"/>
              <a:t>傳遞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應用層提供類似物品</a:t>
            </a:r>
            <a:r>
              <a:rPr lang="zh-TW" altLang="zh-TW" dirty="0"/>
              <a:t>配送</a:t>
            </a:r>
            <a:r>
              <a:rPr lang="zh-TW" altLang="en-US" dirty="0"/>
              <a:t>的</a:t>
            </a:r>
            <a:r>
              <a:rPr lang="zh-TW" altLang="zh-TW" dirty="0"/>
              <a:t>服務</a:t>
            </a:r>
            <a:r>
              <a:rPr lang="zh-TW" altLang="en-US" dirty="0"/>
              <a:t>，</a:t>
            </a:r>
            <a:r>
              <a:rPr lang="zh-TW" altLang="zh-TW" dirty="0"/>
              <a:t>客戶屬於應用程式，客戶委託的物品是應用程式送出的資料</a:t>
            </a:r>
            <a:endParaRPr lang="en-US" altLang="zh-TW" dirty="0"/>
          </a:p>
          <a:p>
            <a:r>
              <a:rPr lang="zh-TW" altLang="zh-TW" dirty="0"/>
              <a:t>傳輸層</a:t>
            </a:r>
            <a:r>
              <a:rPr lang="zh-TW" altLang="en-US" dirty="0"/>
              <a:t>負責</a:t>
            </a:r>
            <a:r>
              <a:rPr lang="zh-TW" altLang="zh-TW" dirty="0"/>
              <a:t>將配送物品裝箱，填妥收件人與寄件人</a:t>
            </a:r>
            <a:r>
              <a:rPr lang="zh-TW" altLang="en-US" dirty="0"/>
              <a:t>姓名</a:t>
            </a:r>
            <a:endParaRPr lang="en-US" altLang="zh-TW" dirty="0"/>
          </a:p>
          <a:p>
            <a:r>
              <a:rPr lang="zh-TW" altLang="zh-TW" dirty="0"/>
              <a:t>網路層在箱子上註明來源營業所與目的營業所地址，並啟動物品轉送的程序</a:t>
            </a:r>
            <a:endParaRPr lang="en-US" altLang="zh-TW" dirty="0"/>
          </a:p>
          <a:p>
            <a:r>
              <a:rPr lang="zh-TW" altLang="zh-TW" dirty="0"/>
              <a:t>連結層</a:t>
            </a:r>
            <a:r>
              <a:rPr lang="zh-TW" altLang="en-US" dirty="0"/>
              <a:t>對應</a:t>
            </a:r>
            <a:r>
              <a:rPr lang="zh-TW" altLang="zh-TW" dirty="0"/>
              <a:t>配送車</a:t>
            </a:r>
            <a:r>
              <a:rPr lang="zh-TW" altLang="en-US" dirty="0"/>
              <a:t>的運貨，將物品</a:t>
            </a:r>
            <a:r>
              <a:rPr lang="zh-TW" altLang="zh-TW" dirty="0"/>
              <a:t>送至物流中心</a:t>
            </a:r>
            <a:r>
              <a:rPr lang="zh-TW" altLang="en-US" dirty="0"/>
              <a:t>、</a:t>
            </a:r>
            <a:r>
              <a:rPr lang="zh-TW" altLang="zh-TW" dirty="0"/>
              <a:t>轉運中心，最後抵達</a:t>
            </a:r>
            <a:r>
              <a:rPr lang="zh-TW" altLang="en-US" dirty="0"/>
              <a:t>目的地</a:t>
            </a:r>
            <a:r>
              <a:rPr lang="zh-TW" altLang="zh-TW" dirty="0"/>
              <a:t>營業所</a:t>
            </a:r>
            <a:endParaRPr lang="en-US" altLang="zh-TW" dirty="0"/>
          </a:p>
          <a:p>
            <a:r>
              <a:rPr lang="zh-TW" altLang="zh-TW" dirty="0"/>
              <a:t>實體層</a:t>
            </a:r>
            <a:r>
              <a:rPr lang="zh-TW" altLang="en-US" dirty="0"/>
              <a:t>對應</a:t>
            </a:r>
            <a:r>
              <a:rPr lang="zh-TW" altLang="zh-TW" dirty="0"/>
              <a:t>配送車上下貨的程序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配送服務將物品先裝箱，網路服務</a:t>
            </a:r>
            <a:r>
              <a:rPr lang="zh-TW" altLang="en-US" dirty="0"/>
              <a:t>則</a:t>
            </a:r>
            <a:r>
              <a:rPr lang="zh-TW" altLang="zh-TW" dirty="0"/>
              <a:t>將資料包裝成</a:t>
            </a:r>
            <a:r>
              <a:rPr lang="zh-TW" altLang="zh-TW" dirty="0">
                <a:solidFill>
                  <a:srgbClr val="0070C0"/>
                </a:solidFill>
              </a:rPr>
              <a:t>封包</a:t>
            </a:r>
            <a:r>
              <a:rPr lang="en-US" altLang="zh-TW" dirty="0"/>
              <a:t>(packet)</a:t>
            </a:r>
          </a:p>
          <a:p>
            <a:r>
              <a:rPr lang="zh-TW" altLang="zh-TW" dirty="0"/>
              <a:t>每個裝箱的物品會因為送達目的地的不同，而經歷不同的轉運路線，網路的封包也會單獨被轉送，這稱為</a:t>
            </a:r>
            <a:r>
              <a:rPr lang="zh-TW" altLang="zh-TW" dirty="0">
                <a:solidFill>
                  <a:srgbClr val="0070C0"/>
                </a:solidFill>
              </a:rPr>
              <a:t>封包交換</a:t>
            </a:r>
            <a:r>
              <a:rPr lang="en-US" altLang="zh-TW" dirty="0"/>
              <a:t>(packet switching)</a:t>
            </a:r>
          </a:p>
          <a:p>
            <a:r>
              <a:rPr lang="zh-TW" altLang="zh-TW" dirty="0"/>
              <a:t>箱子外加註的訊息，屬於封包的</a:t>
            </a:r>
            <a:r>
              <a:rPr lang="zh-TW" altLang="zh-TW" dirty="0">
                <a:solidFill>
                  <a:srgbClr val="0070C0"/>
                </a:solidFill>
              </a:rPr>
              <a:t>標頭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(header)</a:t>
            </a:r>
            <a:r>
              <a:rPr lang="zh-TW" altLang="en-US" dirty="0"/>
              <a:t> </a:t>
            </a:r>
            <a:r>
              <a:rPr lang="zh-TW" altLang="zh-TW" dirty="0"/>
              <a:t>資訊</a:t>
            </a:r>
            <a:endParaRPr lang="en-US" altLang="zh-TW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861048"/>
            <a:ext cx="559134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傳輸層的標頭</a:t>
            </a:r>
            <a:r>
              <a:rPr lang="zh-TW" altLang="en-US" dirty="0"/>
              <a:t>：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來源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端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與目的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端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應用程式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zh-TW" dirty="0"/>
              <a:t>利用</a:t>
            </a:r>
            <a:r>
              <a:rPr lang="zh-TW" altLang="zh-TW" dirty="0">
                <a:solidFill>
                  <a:srgbClr val="0070C0"/>
                </a:solidFill>
              </a:rPr>
              <a:t>埠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(port)</a:t>
            </a:r>
            <a:r>
              <a:rPr lang="zh-TW" altLang="en-US" dirty="0"/>
              <a:t> </a:t>
            </a:r>
            <a:r>
              <a:rPr lang="zh-TW" altLang="zh-TW" dirty="0">
                <a:solidFill>
                  <a:srgbClr val="0070C0"/>
                </a:solidFill>
              </a:rPr>
              <a:t>號碼</a:t>
            </a:r>
            <a:r>
              <a:rPr lang="zh-TW" altLang="en-US" dirty="0"/>
              <a:t>：</a:t>
            </a:r>
            <a:r>
              <a:rPr lang="zh-TW" altLang="zh-TW" dirty="0"/>
              <a:t>不是網路設備上實質的埠，而是邏輯上區分應用程式的號碼</a:t>
            </a:r>
            <a:endParaRPr lang="zh-TW" altLang="en-US" dirty="0"/>
          </a:p>
          <a:p>
            <a:r>
              <a:rPr lang="zh-TW" altLang="zh-TW" dirty="0"/>
              <a:t>網路層的標頭</a:t>
            </a:r>
            <a:r>
              <a:rPr lang="zh-TW" altLang="en-US" dirty="0"/>
              <a:t>：</a:t>
            </a:r>
            <a:r>
              <a:rPr lang="zh-TW" altLang="zh-TW" dirty="0"/>
              <a:t>來源</a:t>
            </a:r>
            <a:r>
              <a:rPr lang="zh-TW" altLang="en-US" dirty="0"/>
              <a:t>端</a:t>
            </a:r>
            <a:r>
              <a:rPr lang="zh-TW" altLang="zh-TW" dirty="0"/>
              <a:t>與目的</a:t>
            </a:r>
            <a:r>
              <a:rPr lang="zh-TW" altLang="en-US" dirty="0"/>
              <a:t>端</a:t>
            </a:r>
            <a:r>
              <a:rPr lang="zh-TW" altLang="zh-TW" dirty="0"/>
              <a:t>終端設備</a:t>
            </a:r>
            <a:r>
              <a:rPr lang="zh-TW" altLang="en-US" dirty="0"/>
              <a:t>的網路</a:t>
            </a:r>
            <a:r>
              <a:rPr lang="zh-TW" altLang="zh-TW" dirty="0"/>
              <a:t>位置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>
                <a:solidFill>
                  <a:srgbClr val="0070C0"/>
                </a:solidFill>
              </a:rPr>
              <a:t>IP</a:t>
            </a:r>
            <a:r>
              <a:rPr lang="zh-TW" altLang="zh-TW" dirty="0">
                <a:solidFill>
                  <a:srgbClr val="0070C0"/>
                </a:solidFill>
              </a:rPr>
              <a:t>位址</a:t>
            </a:r>
            <a:r>
              <a:rPr lang="zh-TW" altLang="en-US" dirty="0"/>
              <a:t>：</a:t>
            </a:r>
            <a:r>
              <a:rPr lang="zh-TW" altLang="zh-TW" dirty="0"/>
              <a:t>區域性號碼，因為所在地區而不同</a:t>
            </a:r>
            <a:endParaRPr lang="en-US" altLang="zh-TW" dirty="0"/>
          </a:p>
          <a:p>
            <a:r>
              <a:rPr lang="zh-TW" altLang="zh-TW" dirty="0"/>
              <a:t>連結層的標頭</a:t>
            </a:r>
            <a:r>
              <a:rPr lang="zh-TW" altLang="en-US" dirty="0"/>
              <a:t>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發送端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與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接收端主機的網卡號碼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/>
              <a:t>使用</a:t>
            </a:r>
            <a:r>
              <a:rPr lang="en-US" altLang="zh-TW" dirty="0">
                <a:solidFill>
                  <a:srgbClr val="0070C0"/>
                </a:solidFill>
              </a:rPr>
              <a:t>MAC</a:t>
            </a:r>
            <a:r>
              <a:rPr lang="zh-TW" altLang="zh-TW" dirty="0">
                <a:solidFill>
                  <a:srgbClr val="0070C0"/>
                </a:solidFill>
              </a:rPr>
              <a:t>位址</a:t>
            </a:r>
            <a:r>
              <a:rPr lang="zh-TW" altLang="en-US" dirty="0"/>
              <a:t>：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不會因為位置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變動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而變更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099533"/>
            <a:ext cx="6120680" cy="520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022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195200"/>
            <a:ext cx="8496472" cy="2232248"/>
          </a:xfrm>
        </p:spPr>
        <p:txBody>
          <a:bodyPr>
            <a:normAutofit/>
          </a:bodyPr>
          <a:lstStyle/>
          <a:p>
            <a:r>
              <a:rPr lang="zh-TW" altLang="en-US" dirty="0"/>
              <a:t>封包標頭資訊的</a:t>
            </a:r>
            <a:r>
              <a:rPr lang="zh-TW" altLang="en-US" dirty="0">
                <a:solidFill>
                  <a:srgbClr val="0070C0"/>
                </a:solidFill>
              </a:rPr>
              <a:t>封裝 </a:t>
            </a:r>
            <a:r>
              <a:rPr lang="en-US" altLang="zh-TW" dirty="0"/>
              <a:t>(encapsulation)</a:t>
            </a:r>
            <a:r>
              <a:rPr lang="zh-TW" altLang="en-US" dirty="0"/>
              <a:t> 過程</a:t>
            </a:r>
            <a:endParaRPr lang="en-US" altLang="zh-TW" dirty="0"/>
          </a:p>
          <a:p>
            <a:pPr lvl="1"/>
            <a:r>
              <a:rPr lang="zh-TW" altLang="zh-TW" dirty="0"/>
              <a:t>由上而下</a:t>
            </a:r>
            <a:r>
              <a:rPr lang="zh-TW" altLang="en-US" dirty="0"/>
              <a:t>加入各層協定的標頭</a:t>
            </a:r>
            <a:endParaRPr lang="en-US" altLang="zh-TW" dirty="0"/>
          </a:p>
          <a:p>
            <a:r>
              <a:rPr lang="zh-TW" altLang="en-US" dirty="0"/>
              <a:t>封包標頭資訊的</a:t>
            </a:r>
            <a:r>
              <a:rPr lang="zh-TW" altLang="en-US" dirty="0">
                <a:solidFill>
                  <a:srgbClr val="0070C0"/>
                </a:solidFill>
              </a:rPr>
              <a:t>解封裝 </a:t>
            </a:r>
            <a:r>
              <a:rPr lang="en-US" altLang="zh-TW" dirty="0"/>
              <a:t>(</a:t>
            </a:r>
            <a:r>
              <a:rPr lang="en-US" altLang="zh-TW" dirty="0" err="1"/>
              <a:t>decapsulation</a:t>
            </a:r>
            <a:r>
              <a:rPr lang="en-US" altLang="zh-TW" dirty="0"/>
              <a:t>)</a:t>
            </a:r>
            <a:r>
              <a:rPr lang="zh-TW" altLang="en-US" dirty="0"/>
              <a:t> 過程</a:t>
            </a:r>
            <a:endParaRPr lang="en-US" altLang="zh-TW" dirty="0"/>
          </a:p>
          <a:p>
            <a:pPr lvl="1"/>
            <a:r>
              <a:rPr lang="zh-TW" altLang="zh-TW" dirty="0"/>
              <a:t>由</a:t>
            </a:r>
            <a:r>
              <a:rPr lang="zh-TW" altLang="en-US" dirty="0"/>
              <a:t>下</a:t>
            </a:r>
            <a:r>
              <a:rPr lang="zh-TW" altLang="zh-TW" dirty="0"/>
              <a:t>而</a:t>
            </a:r>
            <a:r>
              <a:rPr lang="zh-TW" altLang="en-US" dirty="0"/>
              <a:t>上移除各層協定的標頭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068960"/>
            <a:ext cx="741682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1691680" y="6237312"/>
            <a:ext cx="584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6.17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封包於傳送與接收期間標頭資訊的封裝與解封裝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92" y="3162335"/>
            <a:ext cx="7151925" cy="2786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6.4</a:t>
            </a:r>
            <a:r>
              <a:rPr lang="zh-TW" altLang="zh-TW" dirty="0"/>
              <a:t>網路</a:t>
            </a:r>
            <a:r>
              <a:rPr lang="zh-TW" altLang="en-US" dirty="0"/>
              <a:t>協定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123325" cy="213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187624" y="4555807"/>
            <a:ext cx="6408712" cy="1177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4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應用層協定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en-US" altLang="zh-TW" b="1" dirty="0" smtClean="0"/>
              <a:t>HTTP</a:t>
            </a:r>
            <a:r>
              <a:rPr lang="zh-TW" altLang="en-US" b="1" dirty="0" smtClean="0"/>
              <a:t> </a:t>
            </a:r>
            <a:r>
              <a:rPr lang="en-US" altLang="zh-TW" b="1" dirty="0"/>
              <a:t>(Hypertext Transfer Protocol</a:t>
            </a:r>
            <a:r>
              <a:rPr lang="en-US" altLang="zh-TW" b="1" dirty="0" smtClean="0"/>
              <a:t>)</a:t>
            </a:r>
            <a:endParaRPr lang="en-US" altLang="zh-TW" b="1" u="wavyDbl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/>
              <a:t>使用於全球資訊網 </a:t>
            </a:r>
            <a:r>
              <a:rPr lang="en-US" altLang="zh-TW" dirty="0"/>
              <a:t>(World Wide Web, WWW)</a:t>
            </a: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瀏覽器與網頁伺服器間網頁的傳輸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en-US" altLang="zh-TW" b="1" dirty="0"/>
              <a:t>SMTP</a:t>
            </a:r>
            <a:r>
              <a:rPr lang="zh-TW" altLang="en-US" b="1" dirty="0"/>
              <a:t> </a:t>
            </a:r>
            <a:r>
              <a:rPr lang="en-US" altLang="zh-TW" b="1" dirty="0"/>
              <a:t>(Simple Mail Transfer Protocol)</a:t>
            </a:r>
            <a:r>
              <a:rPr lang="zh-TW" altLang="en-US" b="1" dirty="0"/>
              <a:t> </a:t>
            </a:r>
            <a:endParaRPr lang="en-US" altLang="zh-TW" b="1" dirty="0" smtClean="0"/>
          </a:p>
          <a:p>
            <a:pPr lvl="1"/>
            <a:r>
              <a:rPr lang="zh-TW" altLang="en-US" dirty="0" smtClean="0"/>
              <a:t>郵件</a:t>
            </a:r>
            <a:r>
              <a:rPr lang="zh-TW" altLang="en-US" dirty="0"/>
              <a:t>伺服器間電子郵件的傳遞</a:t>
            </a:r>
            <a:endParaRPr lang="en-US" altLang="zh-TW" dirty="0"/>
          </a:p>
          <a:p>
            <a:r>
              <a:rPr lang="en-US" altLang="zh-TW" b="1" dirty="0"/>
              <a:t>FTP</a:t>
            </a:r>
            <a:r>
              <a:rPr lang="zh-TW" altLang="en-US" b="1" dirty="0"/>
              <a:t> </a:t>
            </a:r>
            <a:r>
              <a:rPr lang="en-US" altLang="zh-TW" b="1" dirty="0"/>
              <a:t>(File Transfer Protocol</a:t>
            </a:r>
            <a:r>
              <a:rPr lang="en-US" altLang="zh-TW" b="1" dirty="0" smtClean="0"/>
              <a:t>)</a:t>
            </a:r>
            <a:endParaRPr lang="en-US" altLang="zh-TW" b="1" dirty="0"/>
          </a:p>
          <a:p>
            <a:pPr lvl="1"/>
            <a:r>
              <a:rPr lang="zh-TW" altLang="en-US" dirty="0"/>
              <a:t>網路上傳與下載檔案的傳輸</a:t>
            </a:r>
            <a:endParaRPr lang="en-US" altLang="zh-TW" dirty="0"/>
          </a:p>
          <a:p>
            <a:r>
              <a:rPr lang="en-US" altLang="zh-TW" b="1" dirty="0"/>
              <a:t>Telnet</a:t>
            </a:r>
            <a:r>
              <a:rPr lang="zh-TW" altLang="zh-TW" b="1" dirty="0"/>
              <a:t> </a:t>
            </a:r>
            <a:r>
              <a:rPr lang="en-US" altLang="zh-TW" b="1" dirty="0" smtClean="0"/>
              <a:t>(Terminal </a:t>
            </a:r>
            <a:r>
              <a:rPr lang="en-US" altLang="zh-TW" b="1" dirty="0"/>
              <a:t>Emulation Link Network)</a:t>
            </a:r>
            <a:r>
              <a:rPr lang="zh-TW" altLang="en-US" b="1" dirty="0"/>
              <a:t> </a:t>
            </a:r>
            <a:endParaRPr lang="en-US" altLang="zh-TW" b="1" dirty="0" smtClean="0"/>
          </a:p>
          <a:p>
            <a:pPr lvl="1"/>
            <a:r>
              <a:rPr lang="zh-TW" altLang="en-US" dirty="0" smtClean="0"/>
              <a:t>遠端</a:t>
            </a:r>
            <a:r>
              <a:rPr lang="zh-TW" altLang="en-US" dirty="0"/>
              <a:t>登入主機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大部分網路應用服務的進行須要指定通訊雙方的終端設備位置</a:t>
            </a:r>
            <a:r>
              <a:rPr lang="zh-TW" altLang="en-US" dirty="0" smtClean="0"/>
              <a:t>，此</a:t>
            </a:r>
            <a:r>
              <a:rPr lang="zh-TW" altLang="en-US" dirty="0"/>
              <a:t>位置資訊在以</a:t>
            </a:r>
            <a:r>
              <a:rPr lang="en-US" altLang="zh-TW" dirty="0"/>
              <a:t>TCP/IP </a:t>
            </a:r>
            <a:r>
              <a:rPr lang="zh-TW" altLang="en-US" dirty="0"/>
              <a:t>為核心協定的網路系統中，用</a:t>
            </a:r>
            <a:r>
              <a:rPr lang="en-US" altLang="zh-TW" dirty="0"/>
              <a:t>IP </a:t>
            </a:r>
            <a:r>
              <a:rPr lang="zh-TW" altLang="en-US" dirty="0"/>
              <a:t>位址的方式</a:t>
            </a:r>
            <a:r>
              <a:rPr lang="zh-TW" altLang="en-US" dirty="0" smtClean="0"/>
              <a:t>表示</a:t>
            </a:r>
            <a:r>
              <a:rPr lang="zh-TW" altLang="en-US" dirty="0"/>
              <a:t>，例如：</a:t>
            </a:r>
            <a:r>
              <a:rPr lang="en-US" altLang="zh-TW" dirty="0"/>
              <a:t>68.180.206.184 </a:t>
            </a:r>
            <a:r>
              <a:rPr lang="zh-TW" altLang="en-US" dirty="0"/>
              <a:t>是台灣雅虎網站的伺服器位置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終端設備還可以利用</a:t>
            </a:r>
            <a:r>
              <a:rPr lang="zh-TW" altLang="en-US" dirty="0">
                <a:solidFill>
                  <a:srgbClr val="0070C0"/>
                </a:solidFill>
              </a:rPr>
              <a:t>網域名稱 </a:t>
            </a:r>
            <a:r>
              <a:rPr lang="en-US" altLang="zh-TW" dirty="0"/>
              <a:t>(domain name</a:t>
            </a:r>
            <a:r>
              <a:rPr lang="en-US" altLang="zh-TW" dirty="0" smtClean="0"/>
              <a:t>)</a:t>
            </a:r>
            <a:r>
              <a:rPr lang="zh-TW" altLang="en-US" dirty="0" smtClean="0"/>
              <a:t>表示</a:t>
            </a:r>
            <a:r>
              <a:rPr lang="zh-TW" altLang="en-US" dirty="0"/>
              <a:t>，例如：</a:t>
            </a:r>
            <a:r>
              <a:rPr lang="en-US" altLang="zh-TW" dirty="0">
                <a:hlinkClick r:id="rId2"/>
              </a:rPr>
              <a:t>www.yahoo.com.tw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網域名稱</a:t>
            </a:r>
            <a:r>
              <a:rPr lang="zh-TW" altLang="zh-TW" dirty="0" smtClean="0">
                <a:uFill>
                  <a:solidFill>
                    <a:srgbClr val="0000CC"/>
                  </a:solidFill>
                </a:uFill>
              </a:rPr>
              <a:t>就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像郵件地址倒過來寫，由區域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由</a:t>
            </a:r>
            <a:r>
              <a:rPr lang="zh-TW" altLang="en-US" b="1" dirty="0">
                <a:uFill>
                  <a:solidFill>
                    <a:srgbClr val="0000CC"/>
                  </a:solidFill>
                </a:uFill>
              </a:rPr>
              <a:t>小到大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的名稱組合而成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/>
              <a:t>例如：</a:t>
            </a:r>
            <a:r>
              <a:rPr lang="zh-TW" altLang="zh-TW" dirty="0"/>
              <a:t>號碼、樓層數、 </a:t>
            </a:r>
            <a:r>
              <a:rPr lang="zh-TW" altLang="en-US" dirty="0"/>
              <a:t>街道</a:t>
            </a:r>
            <a:r>
              <a:rPr lang="zh-TW" altLang="zh-TW" dirty="0"/>
              <a:t>、</a:t>
            </a:r>
            <a:r>
              <a:rPr lang="zh-TW" altLang="en-US" dirty="0"/>
              <a:t>鄉鎮</a:t>
            </a:r>
            <a:r>
              <a:rPr lang="zh-TW" altLang="zh-TW" dirty="0"/>
              <a:t>、</a:t>
            </a:r>
            <a:r>
              <a:rPr lang="zh-TW" altLang="en-US" dirty="0"/>
              <a:t>縣市</a:t>
            </a:r>
            <a:r>
              <a:rPr lang="zh-TW" altLang="zh-TW" dirty="0"/>
              <a:t>、</a:t>
            </a:r>
            <a:r>
              <a:rPr lang="zh-TW" altLang="en-US" dirty="0"/>
              <a:t>國家</a:t>
            </a:r>
            <a:endParaRPr lang="en-US" altLang="zh-TW" dirty="0"/>
          </a:p>
          <a:p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網域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可以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利用國家名稱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或使用目的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來區別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6.5</a:t>
            </a:r>
            <a:r>
              <a:rPr lang="zh-TW" altLang="en-US" dirty="0"/>
              <a:t>常見</a:t>
            </a:r>
            <a:r>
              <a:rPr lang="zh-TW" altLang="en-US" dirty="0" smtClean="0"/>
              <a:t>協定介紹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u="wavyDbl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6.5</a:t>
            </a:r>
            <a:r>
              <a:rPr lang="zh-TW" altLang="en-US" dirty="0"/>
              <a:t>常見</a:t>
            </a:r>
            <a:r>
              <a:rPr lang="zh-TW" altLang="en-US" dirty="0" smtClean="0"/>
              <a:t>協定介紹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204864"/>
            <a:ext cx="8352929" cy="2610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85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802219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899592" y="3378359"/>
            <a:ext cx="7344816" cy="1177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04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傳輸層協定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en-US" altLang="zh-TW" b="1" dirty="0" smtClean="0"/>
              <a:t>TCP</a:t>
            </a:r>
            <a:r>
              <a:rPr lang="zh-TW" altLang="en-US" b="1" dirty="0" smtClean="0"/>
              <a:t> </a:t>
            </a:r>
            <a:r>
              <a:rPr lang="en-US" altLang="zh-TW" b="1" dirty="0"/>
              <a:t>(Transmission Control Protocol)</a:t>
            </a:r>
            <a:endParaRPr lang="zh-TW" altLang="zh-TW" b="1" dirty="0"/>
          </a:p>
          <a:p>
            <a:pPr lvl="1"/>
            <a:r>
              <a:rPr lang="zh-TW" altLang="zh-TW" dirty="0"/>
              <a:t>連線導向</a:t>
            </a:r>
            <a:r>
              <a:rPr lang="zh-TW" altLang="en-US" dirty="0"/>
              <a:t> </a:t>
            </a:r>
            <a:r>
              <a:rPr lang="en-US" altLang="zh-TW" dirty="0"/>
              <a:t>(connection-oriented)</a:t>
            </a:r>
            <a:r>
              <a:rPr lang="zh-TW" altLang="en-US" dirty="0"/>
              <a:t> </a:t>
            </a:r>
            <a:r>
              <a:rPr lang="zh-TW" altLang="zh-TW" dirty="0"/>
              <a:t>的服務</a:t>
            </a:r>
            <a:endParaRPr lang="en-US" altLang="zh-TW" dirty="0"/>
          </a:p>
          <a:p>
            <a:pPr lvl="1"/>
            <a:r>
              <a:rPr lang="zh-TW" altLang="zh-TW" dirty="0"/>
              <a:t>雙方會隨時記錄傳送與接收的狀態</a:t>
            </a:r>
            <a:endParaRPr lang="en-US" altLang="zh-TW" dirty="0"/>
          </a:p>
          <a:p>
            <a:pPr lvl="1"/>
            <a:r>
              <a:rPr lang="zh-TW" altLang="zh-TW" dirty="0"/>
              <a:t>資料遺失或是錯誤會重傳</a:t>
            </a:r>
            <a:r>
              <a:rPr lang="zh-TW" altLang="en-US" dirty="0"/>
              <a:t> </a:t>
            </a:r>
            <a:r>
              <a:rPr lang="en-US" altLang="zh-TW" dirty="0"/>
              <a:t>(retransmission)</a:t>
            </a:r>
          </a:p>
          <a:p>
            <a:pPr lvl="1"/>
            <a:r>
              <a:rPr lang="zh-TW" altLang="zh-TW" dirty="0"/>
              <a:t>提供流量控制</a:t>
            </a:r>
            <a:r>
              <a:rPr lang="zh-TW" altLang="en-US" dirty="0"/>
              <a:t> </a:t>
            </a:r>
            <a:r>
              <a:rPr lang="en-US" altLang="zh-TW" dirty="0"/>
              <a:t>(flow control)</a:t>
            </a:r>
          </a:p>
          <a:p>
            <a:pPr lvl="1"/>
            <a:r>
              <a:rPr lang="zh-TW" altLang="en-US" dirty="0"/>
              <a:t>提供</a:t>
            </a:r>
            <a:r>
              <a:rPr lang="zh-TW" altLang="zh-TW" dirty="0"/>
              <a:t>壅塞控制</a:t>
            </a:r>
            <a:r>
              <a:rPr lang="zh-TW" altLang="en-US" dirty="0"/>
              <a:t> </a:t>
            </a:r>
            <a:r>
              <a:rPr lang="en-US" altLang="zh-TW" dirty="0"/>
              <a:t>(congestion )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509120"/>
            <a:ext cx="4032448" cy="224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UDP</a:t>
            </a:r>
            <a:r>
              <a:rPr lang="zh-TW" altLang="zh-TW" b="1" dirty="0"/>
              <a:t> </a:t>
            </a:r>
            <a:r>
              <a:rPr lang="en-US" altLang="zh-TW" b="1" dirty="0"/>
              <a:t>(User Datagram Protocol)</a:t>
            </a:r>
          </a:p>
          <a:p>
            <a:pPr lvl="1"/>
            <a:r>
              <a:rPr lang="zh-TW" altLang="zh-TW" dirty="0"/>
              <a:t>無連線</a:t>
            </a:r>
            <a:r>
              <a:rPr lang="zh-TW" altLang="en-US" dirty="0"/>
              <a:t> </a:t>
            </a:r>
            <a:r>
              <a:rPr lang="en-US" altLang="zh-TW" dirty="0"/>
              <a:t>(connection-less)</a:t>
            </a:r>
            <a:r>
              <a:rPr lang="zh-TW" altLang="en-US" dirty="0"/>
              <a:t> </a:t>
            </a:r>
            <a:r>
              <a:rPr lang="zh-TW" altLang="zh-TW" dirty="0"/>
              <a:t>的服務</a:t>
            </a:r>
            <a:endParaRPr lang="en-US" altLang="zh-TW" dirty="0"/>
          </a:p>
          <a:p>
            <a:pPr lvl="1"/>
            <a:r>
              <a:rPr lang="zh-TW" altLang="zh-TW" dirty="0"/>
              <a:t>不做資料重傳</a:t>
            </a:r>
            <a:endParaRPr lang="en-US" altLang="zh-TW" dirty="0"/>
          </a:p>
          <a:p>
            <a:pPr lvl="1"/>
            <a:r>
              <a:rPr lang="zh-TW" altLang="zh-TW" dirty="0"/>
              <a:t>不保證資料封包依序到達</a:t>
            </a:r>
            <a:endParaRPr lang="en-US" altLang="zh-TW" dirty="0"/>
          </a:p>
          <a:p>
            <a:pPr lvl="1"/>
            <a:r>
              <a:rPr lang="zh-TW" altLang="zh-TW" dirty="0"/>
              <a:t>不處理流量控制與壅塞控制</a:t>
            </a:r>
            <a:endParaRPr lang="en-US" altLang="zh-TW" dirty="0"/>
          </a:p>
          <a:p>
            <a:pPr lvl="1"/>
            <a:r>
              <a:rPr lang="zh-TW" altLang="zh-TW" dirty="0"/>
              <a:t>影音資料的傳輸，遺失部分的資料只會造成些微的失真</a:t>
            </a:r>
            <a:endParaRPr lang="en-US" altLang="zh-TW" dirty="0"/>
          </a:p>
          <a:p>
            <a:pPr lvl="1"/>
            <a:r>
              <a:rPr lang="zh-TW" altLang="zh-TW" dirty="0"/>
              <a:t>在使用者可以容忍的範圍內，能更快的將資料送出去</a:t>
            </a: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網路層協定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en-US" altLang="zh-TW" dirty="0" smtClean="0"/>
              <a:t>IP</a:t>
            </a:r>
            <a:r>
              <a:rPr lang="zh-TW" altLang="zh-TW" dirty="0" smtClean="0"/>
              <a:t> </a:t>
            </a:r>
            <a:r>
              <a:rPr lang="en-US" altLang="zh-TW" dirty="0" smtClean="0"/>
              <a:t>(Internet </a:t>
            </a:r>
            <a:r>
              <a:rPr lang="en-US" altLang="zh-TW" dirty="0"/>
              <a:t>Protocol</a:t>
            </a:r>
            <a:r>
              <a:rPr lang="zh-TW" altLang="zh-TW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協定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利用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IP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位址表示主機在網路的位置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en-US" altLang="zh-TW" dirty="0"/>
              <a:t>IPv4</a:t>
            </a:r>
            <a:r>
              <a:rPr lang="zh-TW" altLang="en-US" dirty="0"/>
              <a:t>利用</a:t>
            </a:r>
            <a:r>
              <a:rPr lang="en-US" altLang="zh-TW" dirty="0"/>
              <a:t>4</a:t>
            </a:r>
            <a:r>
              <a:rPr lang="zh-TW" altLang="en-US" dirty="0"/>
              <a:t>個位元組的數字表示一個</a:t>
            </a:r>
            <a:r>
              <a:rPr lang="en-US" altLang="zh-TW" dirty="0"/>
              <a:t>IP</a:t>
            </a:r>
            <a:r>
              <a:rPr lang="zh-TW" altLang="en-US" dirty="0"/>
              <a:t>位址</a:t>
            </a:r>
            <a:endParaRPr lang="en-US" altLang="zh-TW" dirty="0"/>
          </a:p>
          <a:p>
            <a:pPr lvl="1"/>
            <a:r>
              <a:rPr lang="zh-TW" altLang="en-US" dirty="0"/>
              <a:t>慣用表達方式：</a:t>
            </a:r>
            <a:r>
              <a:rPr lang="zh-TW" altLang="zh-TW" dirty="0">
                <a:solidFill>
                  <a:srgbClr val="0070C0"/>
                </a:solidFill>
              </a:rPr>
              <a:t>十進位點標記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(dot-decimal notation)</a:t>
            </a:r>
          </a:p>
          <a:p>
            <a:pPr lvl="1"/>
            <a:r>
              <a:rPr lang="zh-TW" altLang="en-US" dirty="0" smtClean="0"/>
              <a:t>每</a:t>
            </a:r>
            <a:r>
              <a:rPr lang="zh-TW" altLang="en-US" dirty="0"/>
              <a:t>個位元組的數字用十進位</a:t>
            </a:r>
            <a:r>
              <a:rPr lang="zh-TW" altLang="en-US" dirty="0" smtClean="0"/>
              <a:t>表示</a:t>
            </a:r>
            <a:endParaRPr lang="en-US" altLang="zh-TW" dirty="0" smtClean="0"/>
          </a:p>
          <a:p>
            <a:pPr lvl="1"/>
            <a:r>
              <a:rPr lang="zh-TW" altLang="en-US" dirty="0"/>
              <a:t>範例：</a:t>
            </a:r>
            <a:r>
              <a:rPr lang="en-US" altLang="zh-TW" dirty="0"/>
              <a:t> </a:t>
            </a:r>
            <a:r>
              <a:rPr lang="en-US" altLang="zh-TW" dirty="0" smtClean="0"/>
              <a:t>68.180.206.184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IPv6</a:t>
            </a:r>
            <a:r>
              <a:rPr lang="zh-TW" altLang="en-US" dirty="0"/>
              <a:t>利用</a:t>
            </a:r>
            <a:r>
              <a:rPr lang="en-US" altLang="zh-TW" dirty="0"/>
              <a:t>16</a:t>
            </a:r>
            <a:r>
              <a:rPr lang="zh-TW" altLang="en-US" dirty="0"/>
              <a:t>個位元組的數字表示一個</a:t>
            </a:r>
            <a:r>
              <a:rPr lang="en-US" altLang="zh-TW" dirty="0"/>
              <a:t>IP</a:t>
            </a:r>
            <a:r>
              <a:rPr lang="zh-TW" altLang="en-US" dirty="0"/>
              <a:t>位址</a:t>
            </a:r>
            <a:endParaRPr lang="en-US" altLang="zh-TW" dirty="0"/>
          </a:p>
          <a:p>
            <a:pPr lvl="1"/>
            <a:r>
              <a:rPr lang="zh-TW" altLang="en-US" dirty="0" smtClean="0"/>
              <a:t>每</a:t>
            </a:r>
            <a:r>
              <a:rPr lang="zh-TW" altLang="en-US" dirty="0"/>
              <a:t>組用冒號格開，共分</a:t>
            </a:r>
            <a:r>
              <a:rPr lang="en-US" altLang="zh-TW" dirty="0"/>
              <a:t>8 </a:t>
            </a:r>
            <a:r>
              <a:rPr lang="zh-TW" altLang="en-US" dirty="0" smtClean="0"/>
              <a:t>組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每組以</a:t>
            </a:r>
            <a:r>
              <a:rPr lang="en-US" altLang="zh-TW" dirty="0"/>
              <a:t>4 </a:t>
            </a:r>
            <a:r>
              <a:rPr lang="zh-TW" altLang="en-US" dirty="0"/>
              <a:t>個位元為一</a:t>
            </a:r>
            <a:r>
              <a:rPr lang="zh-TW" altLang="en-US" dirty="0" smtClean="0"/>
              <a:t>單位</a:t>
            </a:r>
            <a:r>
              <a:rPr lang="zh-TW" altLang="en-US" dirty="0"/>
              <a:t>，</a:t>
            </a:r>
            <a:r>
              <a:rPr lang="zh-TW" altLang="en-US" dirty="0" smtClean="0"/>
              <a:t>用</a:t>
            </a:r>
            <a:r>
              <a:rPr lang="en-US" altLang="zh-TW" dirty="0"/>
              <a:t>1 </a:t>
            </a:r>
            <a:r>
              <a:rPr lang="zh-TW" altLang="en-US" dirty="0"/>
              <a:t>個</a:t>
            </a:r>
            <a:r>
              <a:rPr lang="en-US" altLang="zh-TW" dirty="0"/>
              <a:t>16 </a:t>
            </a:r>
            <a:r>
              <a:rPr lang="zh-TW" altLang="en-US" dirty="0"/>
              <a:t>進位數字表示，共使用</a:t>
            </a:r>
            <a:r>
              <a:rPr lang="en-US" altLang="zh-TW" dirty="0"/>
              <a:t>4 </a:t>
            </a:r>
            <a:r>
              <a:rPr lang="zh-TW" altLang="en-US" dirty="0"/>
              <a:t>個</a:t>
            </a:r>
            <a:r>
              <a:rPr lang="en-US" altLang="zh-TW" dirty="0"/>
              <a:t>16 </a:t>
            </a:r>
            <a:r>
              <a:rPr lang="zh-TW" altLang="en-US" dirty="0"/>
              <a:t>進位的</a:t>
            </a:r>
            <a:r>
              <a:rPr lang="zh-TW" altLang="en-US" dirty="0" smtClean="0"/>
              <a:t>數字</a:t>
            </a:r>
            <a:endParaRPr lang="en-US" altLang="zh-TW" dirty="0" smtClean="0"/>
          </a:p>
          <a:p>
            <a:pPr lvl="1"/>
            <a:r>
              <a:rPr lang="zh-TW" altLang="en-US" dirty="0"/>
              <a:t>範例：</a:t>
            </a:r>
            <a:r>
              <a:rPr lang="en-US" altLang="zh-TW" dirty="0"/>
              <a:t>1234:0af5:34a2:08d3:1319:8a2e:037f:3456</a:t>
            </a:r>
          </a:p>
          <a:p>
            <a:pPr marL="393192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IP</a:t>
            </a:r>
            <a:r>
              <a:rPr lang="zh-TW" altLang="en-US" dirty="0"/>
              <a:t>位址是區域性的號碼</a:t>
            </a:r>
            <a:endParaRPr lang="en-US" altLang="zh-TW" dirty="0"/>
          </a:p>
          <a:p>
            <a:r>
              <a:rPr lang="zh-TW" altLang="en-US" dirty="0"/>
              <a:t>類似電話號碼的國碼與區域號碼的功能</a:t>
            </a:r>
            <a:endParaRPr lang="en-US" altLang="zh-TW" dirty="0"/>
          </a:p>
          <a:p>
            <a:r>
              <a:rPr lang="zh-TW" altLang="en-US" dirty="0"/>
              <a:t>網路也可以切割成許多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小區域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0070C0"/>
                </a:solidFill>
              </a:rPr>
              <a:t>子網路 </a:t>
            </a:r>
            <a:r>
              <a:rPr lang="en-US" altLang="zh-TW" dirty="0"/>
              <a:t>(</a:t>
            </a:r>
            <a:r>
              <a:rPr lang="en-US" altLang="zh-TW" dirty="0" err="1"/>
              <a:t>subnetwork</a:t>
            </a:r>
            <a:r>
              <a:rPr lang="zh-TW" altLang="zh-TW" dirty="0"/>
              <a:t>，或是</a:t>
            </a:r>
            <a:r>
              <a:rPr lang="en-US" altLang="zh-TW" dirty="0"/>
              <a:t>subnet)</a:t>
            </a:r>
          </a:p>
          <a:p>
            <a:r>
              <a:rPr lang="zh-TW" altLang="en-US" dirty="0"/>
              <a:t>來自相同子網路的主機，所設定的</a:t>
            </a:r>
            <a:r>
              <a:rPr lang="en-US" altLang="zh-TW" dirty="0"/>
              <a:t>IP</a:t>
            </a:r>
            <a:r>
              <a:rPr lang="zh-TW" altLang="en-US" dirty="0"/>
              <a:t>位址有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共同的開頭數字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marL="109728" indent="0">
              <a:buNone/>
            </a:pP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  <p:extLst>
      <p:ext uri="{BB962C8B-B14F-4D97-AF65-F5344CB8AC3E}">
        <p14:creationId xmlns:p14="http://schemas.microsoft.com/office/powerpoint/2010/main" val="159160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善加利用網路號碼，可以將子網路繼續切割成更多小的子網路</a:t>
            </a:r>
            <a:endParaRPr lang="en-US" altLang="zh-TW" dirty="0"/>
          </a:p>
          <a:p>
            <a:r>
              <a:rPr lang="zh-TW" altLang="en-US" dirty="0"/>
              <a:t>校園網路為例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492896"/>
            <a:ext cx="568863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圓角矩形圖說文字 6"/>
          <p:cNvSpPr/>
          <p:nvPr/>
        </p:nvSpPr>
        <p:spPr>
          <a:xfrm>
            <a:off x="5868144" y="2276872"/>
            <a:ext cx="3024336" cy="1512168"/>
          </a:xfrm>
          <a:prstGeom prst="wedgeRoundRectCallout">
            <a:avLst>
              <a:gd name="adj1" fmla="val -41140"/>
              <a:gd name="adj2" fmla="val 6972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子網路使用的網路號碼個數越多，主機號碼個數越少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4860032" y="6237312"/>
            <a:ext cx="353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6.18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網路切割的觀念：子網路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各種等級大小的子網路</a:t>
            </a:r>
            <a:endParaRPr lang="en-US" altLang="zh-TW" dirty="0"/>
          </a:p>
          <a:p>
            <a:pPr lvl="1"/>
            <a:r>
              <a:rPr lang="zh-TW" altLang="en-US" dirty="0"/>
              <a:t>等級</a:t>
            </a:r>
            <a:r>
              <a:rPr lang="en-US" altLang="zh-TW" dirty="0"/>
              <a:t>A</a:t>
            </a:r>
            <a:r>
              <a:rPr lang="zh-TW" altLang="en-US" dirty="0"/>
              <a:t>主機個數至多</a:t>
            </a:r>
            <a:r>
              <a:rPr lang="en-US" altLang="zh-TW" dirty="0"/>
              <a:t>2</a:t>
            </a:r>
            <a:r>
              <a:rPr lang="zh-TW" altLang="zh-TW" dirty="0"/>
              <a:t>的</a:t>
            </a:r>
            <a:r>
              <a:rPr lang="en-US" altLang="zh-TW" dirty="0"/>
              <a:t>24</a:t>
            </a:r>
            <a:r>
              <a:rPr lang="zh-TW" altLang="zh-TW" dirty="0"/>
              <a:t>次方</a:t>
            </a:r>
            <a:r>
              <a:rPr lang="zh-TW" altLang="en-US" dirty="0"/>
              <a:t>、等級</a:t>
            </a:r>
            <a:r>
              <a:rPr lang="en-US" altLang="zh-TW" dirty="0"/>
              <a:t>B</a:t>
            </a:r>
            <a:r>
              <a:rPr lang="zh-TW" altLang="en-US" dirty="0"/>
              <a:t>主機個數至多</a:t>
            </a:r>
            <a:r>
              <a:rPr lang="en-US" altLang="zh-TW" dirty="0"/>
              <a:t>2</a:t>
            </a:r>
            <a:r>
              <a:rPr lang="zh-TW" altLang="zh-TW" dirty="0"/>
              <a:t>的</a:t>
            </a:r>
            <a:r>
              <a:rPr lang="en-US" altLang="zh-TW" dirty="0"/>
              <a:t>16</a:t>
            </a:r>
            <a:r>
              <a:rPr lang="zh-TW" altLang="zh-TW" dirty="0"/>
              <a:t>次方</a:t>
            </a:r>
            <a:r>
              <a:rPr lang="zh-TW" altLang="en-US" dirty="0"/>
              <a:t>、等級</a:t>
            </a:r>
            <a:r>
              <a:rPr lang="en-US" altLang="zh-TW" dirty="0"/>
              <a:t>C</a:t>
            </a:r>
            <a:r>
              <a:rPr lang="zh-TW" altLang="en-US" dirty="0"/>
              <a:t>主機個數至多</a:t>
            </a:r>
            <a:r>
              <a:rPr lang="en-US" altLang="zh-TW" dirty="0"/>
              <a:t>2</a:t>
            </a:r>
            <a:r>
              <a:rPr lang="zh-TW" altLang="zh-TW" dirty="0"/>
              <a:t>的</a:t>
            </a:r>
            <a:r>
              <a:rPr lang="en-US" altLang="zh-TW" dirty="0"/>
              <a:t>8</a:t>
            </a:r>
            <a:r>
              <a:rPr lang="zh-TW" altLang="zh-TW" dirty="0"/>
              <a:t>次方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636912"/>
            <a:ext cx="604867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843808" y="5949280"/>
            <a:ext cx="380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6.19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常見三種等級的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IP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位址格式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為了方便標示</a:t>
            </a:r>
            <a:r>
              <a:rPr lang="en-US" altLang="zh-TW" dirty="0"/>
              <a:t>IP </a:t>
            </a:r>
            <a:r>
              <a:rPr lang="zh-TW" altLang="en-US" dirty="0"/>
              <a:t>位址中網路號碼用了多少個位元組，可以利用</a:t>
            </a:r>
            <a:r>
              <a:rPr lang="zh-TW" altLang="en-US" dirty="0" smtClean="0">
                <a:solidFill>
                  <a:srgbClr val="0070C0"/>
                </a:solidFill>
              </a:rPr>
              <a:t>子網路</a:t>
            </a:r>
            <a:r>
              <a:rPr lang="zh-TW" altLang="en-US" dirty="0">
                <a:solidFill>
                  <a:srgbClr val="0070C0"/>
                </a:solidFill>
              </a:rPr>
              <a:t>遮罩 </a:t>
            </a:r>
            <a:r>
              <a:rPr lang="en-US" altLang="zh-TW" dirty="0"/>
              <a:t>(subnet mask) </a:t>
            </a:r>
            <a:r>
              <a:rPr lang="zh-TW" altLang="en-US" dirty="0"/>
              <a:t>辨識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636912"/>
            <a:ext cx="5906417" cy="250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IP</a:t>
            </a:r>
            <a:r>
              <a:rPr lang="zh-TW" altLang="en-US" dirty="0"/>
              <a:t>位址其實包含</a:t>
            </a:r>
            <a:r>
              <a:rPr lang="zh-TW" altLang="zh-TW" dirty="0">
                <a:solidFill>
                  <a:srgbClr val="0070C0"/>
                </a:solidFill>
              </a:rPr>
              <a:t>網路號碼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(network number)</a:t>
            </a:r>
            <a:r>
              <a:rPr lang="zh-TW" altLang="en-US" dirty="0"/>
              <a:t> 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主機號碼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(host number)</a:t>
            </a:r>
          </a:p>
          <a:p>
            <a:r>
              <a:rPr lang="zh-TW" altLang="en-US" dirty="0"/>
              <a:t>以</a:t>
            </a:r>
            <a:r>
              <a:rPr lang="en-US" altLang="zh-TW" dirty="0"/>
              <a:t>IPv4</a:t>
            </a:r>
            <a:r>
              <a:rPr lang="zh-TW" altLang="en-US" dirty="0"/>
              <a:t>為例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68.180</a:t>
            </a:r>
            <a:r>
              <a:rPr lang="zh-TW" altLang="en-US" dirty="0"/>
              <a:t>為首的</a:t>
            </a:r>
            <a:r>
              <a:rPr lang="en-US" altLang="zh-TW" dirty="0"/>
              <a:t>IP</a:t>
            </a:r>
            <a:r>
              <a:rPr lang="zh-TW" altLang="en-US" dirty="0"/>
              <a:t>位址均位於相同的子網路</a:t>
            </a:r>
            <a:endParaRPr lang="en-US" altLang="zh-TW" dirty="0"/>
          </a:p>
          <a:p>
            <a:pPr lvl="1"/>
            <a:r>
              <a:rPr lang="zh-TW" altLang="en-US" dirty="0"/>
              <a:t>子網路的位址為</a:t>
            </a:r>
            <a:r>
              <a:rPr lang="en-US" altLang="zh-TW" dirty="0"/>
              <a:t>68.180.0.0</a:t>
            </a:r>
          </a:p>
          <a:p>
            <a:r>
              <a:rPr lang="zh-TW" altLang="en-US" dirty="0"/>
              <a:t>子網路內主機給定的</a:t>
            </a:r>
            <a:r>
              <a:rPr lang="en-US" altLang="zh-TW" dirty="0"/>
              <a:t>IP</a:t>
            </a:r>
            <a:r>
              <a:rPr lang="zh-TW" altLang="en-US" dirty="0"/>
              <a:t>位址格式：</a:t>
            </a:r>
            <a:r>
              <a:rPr lang="en-US" altLang="zh-TW" dirty="0"/>
              <a:t>68.180.X.X</a:t>
            </a: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sp>
        <p:nvSpPr>
          <p:cNvPr id="6" name="矩形 5"/>
          <p:cNvSpPr/>
          <p:nvPr/>
        </p:nvSpPr>
        <p:spPr>
          <a:xfrm>
            <a:off x="1475656" y="3356992"/>
            <a:ext cx="1430159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68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355977" y="3356992"/>
            <a:ext cx="1368152" cy="5040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206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176567" y="2647945"/>
            <a:ext cx="433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網路號碼           主機號碼</a:t>
            </a:r>
          </a:p>
        </p:txBody>
      </p:sp>
      <p:sp>
        <p:nvSpPr>
          <p:cNvPr id="9" name="矩形 8"/>
          <p:cNvSpPr/>
          <p:nvPr/>
        </p:nvSpPr>
        <p:spPr>
          <a:xfrm>
            <a:off x="2915817" y="3356992"/>
            <a:ext cx="1430159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180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5724129" y="3356992"/>
            <a:ext cx="1368152" cy="5040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184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子網路遮罩的運作範例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8" name="圖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3588" y="2204864"/>
            <a:ext cx="7416824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455875" y="5013176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透過子網路遮罩取得子網路位址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82" y="1387726"/>
            <a:ext cx="7926066" cy="4057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1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網路連線的設定</a:t>
            </a:r>
            <a:r>
              <a:rPr lang="zh-TW" altLang="en-US" dirty="0"/>
              <a:t>，</a:t>
            </a:r>
            <a:r>
              <a:rPr lang="en-US" altLang="zh-TW" dirty="0" smtClean="0"/>
              <a:t>Windows</a:t>
            </a:r>
            <a:r>
              <a:rPr lang="zh-TW" altLang="en-US" dirty="0"/>
              <a:t>系統為例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916832"/>
            <a:ext cx="468052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單箭頭接點 7"/>
          <p:cNvCxnSpPr/>
          <p:nvPr/>
        </p:nvCxnSpPr>
        <p:spPr>
          <a:xfrm flipH="1">
            <a:off x="3707904" y="2780928"/>
            <a:ext cx="3024336" cy="3765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6588224" y="2276872"/>
            <a:ext cx="22557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70C0"/>
                </a:solidFill>
              </a:rPr>
              <a:t>利用</a:t>
            </a:r>
            <a:r>
              <a:rPr lang="en-US" altLang="zh-TW" sz="2400" dirty="0">
                <a:solidFill>
                  <a:srgbClr val="0070C0"/>
                </a:solidFill>
              </a:rPr>
              <a:t>DHCP</a:t>
            </a:r>
            <a:r>
              <a:rPr lang="zh-TW" altLang="en-US" sz="2400" dirty="0">
                <a:solidFill>
                  <a:srgbClr val="0070C0"/>
                </a:solidFill>
              </a:rPr>
              <a:t>方式</a:t>
            </a:r>
            <a:endParaRPr lang="en-US" altLang="zh-TW" sz="2400" dirty="0">
              <a:solidFill>
                <a:srgbClr val="0070C0"/>
              </a:solidFill>
            </a:endParaRPr>
          </a:p>
          <a:p>
            <a:r>
              <a:rPr lang="zh-TW" altLang="en-US" sz="2400" dirty="0">
                <a:solidFill>
                  <a:srgbClr val="0070C0"/>
                </a:solidFill>
              </a:rPr>
              <a:t>自動設定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267744" y="6156012"/>
            <a:ext cx="3657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6.21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系統網路設定介面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連結層協定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作用</a:t>
            </a:r>
            <a:r>
              <a:rPr lang="zh-TW" altLang="zh-TW" dirty="0"/>
              <a:t>於通訊連結的資料傳送，傳送的封包必須標示來源</a:t>
            </a:r>
            <a:r>
              <a:rPr lang="en-US" altLang="zh-TW" dirty="0"/>
              <a:t>MAC</a:t>
            </a:r>
            <a:r>
              <a:rPr lang="zh-TW" altLang="zh-TW" dirty="0"/>
              <a:t>位址與目的</a:t>
            </a:r>
            <a:r>
              <a:rPr lang="en-US" altLang="zh-TW" dirty="0"/>
              <a:t>MAC</a:t>
            </a:r>
            <a:r>
              <a:rPr lang="zh-TW" altLang="zh-TW" dirty="0"/>
              <a:t>位址</a:t>
            </a:r>
            <a:endParaRPr lang="en-US" altLang="zh-TW" dirty="0"/>
          </a:p>
          <a:p>
            <a:r>
              <a:rPr lang="en-US" altLang="zh-TW" dirty="0"/>
              <a:t>MAC</a:t>
            </a:r>
            <a:r>
              <a:rPr lang="zh-TW" altLang="zh-TW" dirty="0"/>
              <a:t>位址是一組</a:t>
            </a:r>
            <a:r>
              <a:rPr lang="en-US" altLang="zh-TW" dirty="0"/>
              <a:t>48</a:t>
            </a:r>
            <a:r>
              <a:rPr lang="zh-TW" altLang="zh-TW" dirty="0"/>
              <a:t>位元的數字</a:t>
            </a:r>
            <a:endParaRPr lang="en-US" altLang="zh-TW" dirty="0"/>
          </a:p>
          <a:p>
            <a:pPr lvl="1"/>
            <a:r>
              <a:rPr lang="zh-TW" altLang="en-US" dirty="0"/>
              <a:t>例如：</a:t>
            </a:r>
            <a:r>
              <a:rPr lang="en-US" altLang="zh-TW" dirty="0"/>
              <a:t>5A-12-C0-9D-E3-5F</a:t>
            </a:r>
          </a:p>
          <a:p>
            <a:pPr lvl="1"/>
            <a:r>
              <a:rPr lang="zh-TW" altLang="zh-TW" dirty="0"/>
              <a:t>綁定於網路介面卡上，於出廠時給定</a:t>
            </a:r>
            <a:endParaRPr lang="en-US" altLang="zh-TW" dirty="0"/>
          </a:p>
          <a:p>
            <a:r>
              <a:rPr lang="zh-TW" altLang="zh-TW" dirty="0"/>
              <a:t>從網路層的觀點，封包的來源與目的地是用</a:t>
            </a:r>
            <a:r>
              <a:rPr lang="en-US" altLang="zh-TW" dirty="0"/>
              <a:t>IP</a:t>
            </a:r>
            <a:r>
              <a:rPr lang="zh-TW" altLang="zh-TW" dirty="0"/>
              <a:t>位址標示，這個封包可能經歷</a:t>
            </a:r>
            <a:r>
              <a:rPr lang="zh-TW" altLang="zh-TW" dirty="0" smtClean="0"/>
              <a:t>過數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段</a:t>
            </a:r>
            <a:r>
              <a:rPr lang="zh-TW" altLang="zh-TW" dirty="0" smtClean="0"/>
              <a:t>通訊</a:t>
            </a:r>
            <a:r>
              <a:rPr lang="zh-TW" altLang="zh-TW" dirty="0"/>
              <a:t>連結，而每通過一段通訊連結，來源</a:t>
            </a:r>
            <a:r>
              <a:rPr lang="en-US" altLang="zh-TW" dirty="0"/>
              <a:t>MAC</a:t>
            </a:r>
            <a:r>
              <a:rPr lang="zh-TW" altLang="zh-TW" dirty="0"/>
              <a:t>位址與目的</a:t>
            </a:r>
            <a:r>
              <a:rPr lang="en-US" altLang="zh-TW" dirty="0"/>
              <a:t>MAC</a:t>
            </a:r>
            <a:r>
              <a:rPr lang="zh-TW" altLang="zh-TW" dirty="0"/>
              <a:t>位址會變更一次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8568951" cy="4536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2555776" y="6021288"/>
            <a:ext cx="469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6.22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從不同層觀測來源端與目的端的標示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7220920" cy="2914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98"/>
          <a:stretch/>
        </p:blipFill>
        <p:spPr bwMode="auto">
          <a:xfrm>
            <a:off x="1259632" y="3933056"/>
            <a:ext cx="7148912" cy="209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581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25"/>
          <a:stretch/>
        </p:blipFill>
        <p:spPr bwMode="auto">
          <a:xfrm>
            <a:off x="1115616" y="2659536"/>
            <a:ext cx="7009576" cy="1832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9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通訊連結依據是否可供多人共同使用，區分為</a:t>
            </a:r>
            <a:r>
              <a:rPr lang="zh-TW" altLang="zh-TW" dirty="0">
                <a:solidFill>
                  <a:srgbClr val="0070C0"/>
                </a:solidFill>
              </a:rPr>
              <a:t>專屬</a:t>
            </a:r>
            <a:r>
              <a:rPr lang="zh-TW" altLang="en-US" dirty="0"/>
              <a:t> </a:t>
            </a:r>
            <a:r>
              <a:rPr lang="en-US" altLang="zh-TW" dirty="0"/>
              <a:t>(dedicated)</a:t>
            </a:r>
            <a:r>
              <a:rPr lang="zh-TW" altLang="zh-TW" dirty="0"/>
              <a:t>與</a:t>
            </a:r>
            <a:r>
              <a:rPr lang="zh-TW" altLang="zh-TW" dirty="0">
                <a:solidFill>
                  <a:srgbClr val="0070C0"/>
                </a:solidFill>
              </a:rPr>
              <a:t>共享</a:t>
            </a:r>
            <a:r>
              <a:rPr lang="zh-TW" altLang="en-US" dirty="0"/>
              <a:t> </a:t>
            </a:r>
            <a:r>
              <a:rPr lang="en-US" altLang="zh-TW" dirty="0"/>
              <a:t>(shared)</a:t>
            </a:r>
            <a:r>
              <a:rPr lang="zh-TW" altLang="en-US" dirty="0"/>
              <a:t> </a:t>
            </a:r>
            <a:r>
              <a:rPr lang="zh-TW" altLang="zh-TW" dirty="0"/>
              <a:t>兩種類別</a:t>
            </a:r>
            <a:endParaRPr lang="en-US" altLang="zh-TW" dirty="0"/>
          </a:p>
          <a:p>
            <a:pPr lvl="1"/>
            <a:r>
              <a:rPr lang="zh-TW" altLang="en-US" dirty="0"/>
              <a:t>專屬：電話線</a:t>
            </a:r>
            <a:endParaRPr lang="en-US" altLang="zh-TW" dirty="0"/>
          </a:p>
          <a:p>
            <a:pPr lvl="1"/>
            <a:r>
              <a:rPr lang="zh-TW" altLang="en-US" dirty="0"/>
              <a:t>共享：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電視纜線、無線連結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zh-TW" dirty="0"/>
              <a:t>共享通訊連結</a:t>
            </a:r>
            <a:r>
              <a:rPr lang="zh-TW" altLang="en-US" dirty="0"/>
              <a:t>需要協調傳送時機，避免碰撞的協定</a:t>
            </a:r>
            <a:endParaRPr lang="en-US" altLang="zh-TW" dirty="0"/>
          </a:p>
          <a:p>
            <a:pPr lvl="1"/>
            <a:r>
              <a:rPr lang="en-US" altLang="zh-TW" dirty="0"/>
              <a:t>IEEE </a:t>
            </a:r>
            <a:r>
              <a:rPr lang="en-US" altLang="zh-TW" dirty="0" smtClean="0"/>
              <a:t>802.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3</a:t>
            </a:r>
            <a:r>
              <a:rPr lang="zh-TW" altLang="en-US" dirty="0" smtClean="0">
                <a:uFill>
                  <a:solidFill>
                    <a:srgbClr val="0000CC"/>
                  </a:solidFill>
                </a:uFill>
              </a:rPr>
              <a:t> </a:t>
            </a:r>
            <a:r>
              <a:rPr lang="zh-TW" altLang="en-US" dirty="0" smtClean="0"/>
              <a:t>：</a:t>
            </a:r>
            <a:r>
              <a:rPr lang="zh-TW" altLang="en-US" dirty="0"/>
              <a:t>乙太區域網路</a:t>
            </a:r>
            <a:endParaRPr lang="en-US" altLang="zh-TW" dirty="0"/>
          </a:p>
          <a:p>
            <a:pPr lvl="1"/>
            <a:r>
              <a:rPr lang="en-US" altLang="zh-TW" dirty="0"/>
              <a:t>IEEE 802.11</a:t>
            </a:r>
            <a:r>
              <a:rPr lang="zh-TW" altLang="en-US" dirty="0"/>
              <a:t> </a:t>
            </a:r>
            <a:r>
              <a:rPr lang="en-US" altLang="zh-TW" dirty="0"/>
              <a:t>(Wi-Fi)</a:t>
            </a:r>
            <a:r>
              <a:rPr lang="zh-TW" altLang="en-US" dirty="0"/>
              <a:t>：</a:t>
            </a:r>
            <a:r>
              <a:rPr lang="zh-TW" altLang="en-US" dirty="0" smtClean="0"/>
              <a:t>無線網路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實體層協定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主要</a:t>
            </a:r>
            <a:r>
              <a:rPr lang="zh-TW" altLang="zh-TW" dirty="0"/>
              <a:t>任務在於資料與訊號之間的轉換</a:t>
            </a:r>
            <a:endParaRPr lang="en-US" altLang="zh-TW" dirty="0"/>
          </a:p>
          <a:p>
            <a:pPr lvl="1"/>
            <a:r>
              <a:rPr lang="zh-TW" altLang="zh-TW" dirty="0"/>
              <a:t>例如：電話線與網路線傳送電流訊號，而光纖線傳送光的訊號，無線通訊傳送電磁波的訊號</a:t>
            </a:r>
            <a:endParaRPr lang="en-US" altLang="zh-TW" dirty="0"/>
          </a:p>
          <a:p>
            <a:r>
              <a:rPr lang="zh-TW" altLang="zh-TW" dirty="0"/>
              <a:t>傳輸媒介大致區分兩種類型：</a:t>
            </a:r>
          </a:p>
          <a:p>
            <a:pPr>
              <a:buNone/>
            </a:pPr>
            <a:r>
              <a:rPr lang="en-US" altLang="zh-TW" dirty="0"/>
              <a:t>(1) </a:t>
            </a:r>
            <a:r>
              <a:rPr lang="zh-TW" altLang="zh-TW" dirty="0">
                <a:solidFill>
                  <a:srgbClr val="0070C0"/>
                </a:solidFill>
              </a:rPr>
              <a:t>導引式媒介</a:t>
            </a:r>
            <a:r>
              <a:rPr lang="zh-TW" altLang="zh-TW" dirty="0"/>
              <a:t>：可以引導訊號傳遞的方向，例如電話線、網路線、光纖線與電視纜線等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  <p:pic>
        <p:nvPicPr>
          <p:cNvPr id="55299" name="圖片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173" y="4374623"/>
            <a:ext cx="2443659" cy="1070601"/>
          </a:xfrm>
          <a:prstGeom prst="rect">
            <a:avLst/>
          </a:prstGeom>
          <a:noFill/>
        </p:spPr>
      </p:pic>
      <p:pic>
        <p:nvPicPr>
          <p:cNvPr id="55298" name="圖片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2986" y="4355409"/>
            <a:ext cx="1982772" cy="1233831"/>
          </a:xfrm>
          <a:prstGeom prst="rect">
            <a:avLst/>
          </a:prstGeom>
          <a:noFill/>
        </p:spPr>
      </p:pic>
      <p:pic>
        <p:nvPicPr>
          <p:cNvPr id="55297" name="圖片 8" descr="http://fibresales.com.au/wp_blog/wp-content/uploads/2012/12/em-24_3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4077072"/>
            <a:ext cx="2143603" cy="1337052"/>
          </a:xfrm>
          <a:prstGeom prst="rect">
            <a:avLst/>
          </a:prstGeom>
          <a:noFill/>
        </p:spPr>
      </p:pic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403648" y="5271591"/>
            <a:ext cx="66247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(a) </a:t>
            </a:r>
            <a:r>
              <a:rPr lang="zh-TW" altLang="zh-TW" dirty="0" smtClean="0"/>
              <a:t>雙絞線</a:t>
            </a:r>
            <a:r>
              <a:rPr lang="en-US" altLang="zh-TW" dirty="0" smtClean="0">
                <a:solidFill>
                  <a:srgbClr val="0070C0"/>
                </a:solidFill>
              </a:rPr>
              <a:t>       </a:t>
            </a:r>
            <a:r>
              <a:rPr lang="zh-TW" altLang="en-US" dirty="0" smtClean="0">
                <a:solidFill>
                  <a:srgbClr val="0070C0"/>
                </a:solidFill>
              </a:rPr>
              <a:t>           </a:t>
            </a:r>
            <a:r>
              <a:rPr lang="en-US" altLang="zh-TW" dirty="0" smtClean="0">
                <a:solidFill>
                  <a:srgbClr val="000000"/>
                </a:solidFill>
              </a:rPr>
              <a:t>(b)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zh-TW" altLang="zh-TW" dirty="0"/>
              <a:t>同軸線</a:t>
            </a:r>
            <a:r>
              <a:rPr lang="en-US" altLang="zh-TW" dirty="0"/>
              <a:t>  </a:t>
            </a:r>
            <a:r>
              <a:rPr lang="zh-TW" altLang="en-US" dirty="0"/>
              <a:t>        </a:t>
            </a:r>
            <a:r>
              <a:rPr lang="en-US" altLang="zh-TW" dirty="0"/>
              <a:t>  </a:t>
            </a:r>
            <a:r>
              <a:rPr lang="en-US" altLang="zh-TW" dirty="0" smtClean="0"/>
              <a:t>       </a:t>
            </a:r>
            <a:r>
              <a:rPr lang="zh-TW" altLang="en-US" dirty="0" smtClean="0"/>
              <a:t>  </a:t>
            </a:r>
            <a:r>
              <a:rPr lang="en-US" altLang="zh-TW" dirty="0" smtClean="0"/>
              <a:t>(c)</a:t>
            </a:r>
            <a:r>
              <a:rPr lang="zh-TW" altLang="en-US" dirty="0" smtClean="0"/>
              <a:t> </a:t>
            </a:r>
            <a:r>
              <a:rPr lang="zh-TW" altLang="zh-TW" dirty="0"/>
              <a:t>光纖線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403648" y="5733256"/>
            <a:ext cx="6410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6.23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雙絞線；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同軸線；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(c)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光纖線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[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圖片來源：維基共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享資源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c) ]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TW" dirty="0"/>
              <a:t>(2) </a:t>
            </a:r>
            <a:r>
              <a:rPr lang="zh-TW" altLang="zh-TW" dirty="0">
                <a:solidFill>
                  <a:srgbClr val="0070C0"/>
                </a:solidFill>
              </a:rPr>
              <a:t>非導引式媒介</a:t>
            </a:r>
            <a:r>
              <a:rPr lang="zh-TW" altLang="zh-TW" dirty="0"/>
              <a:t>：無法有效引導訊號傳遞的方向，而是在空間中四散出去，例如：無線傳輸利用電磁波、聲波與超聲波等方式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6.5</a:t>
            </a:r>
            <a:r>
              <a:rPr lang="zh-TW" altLang="en-US" dirty="0"/>
              <a:t>常見協定介紹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瀏覽器呈現的內容稱為</a:t>
            </a:r>
            <a:r>
              <a:rPr lang="zh-TW" altLang="zh-TW" dirty="0">
                <a:solidFill>
                  <a:srgbClr val="0070C0"/>
                </a:solidFill>
              </a:rPr>
              <a:t>網頁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(webpage)</a:t>
            </a:r>
            <a:r>
              <a:rPr lang="zh-TW" altLang="zh-TW" dirty="0"/>
              <a:t>，</a:t>
            </a:r>
            <a:r>
              <a:rPr lang="zh-TW" altLang="en-US" dirty="0"/>
              <a:t>是</a:t>
            </a:r>
            <a:r>
              <a:rPr lang="zh-TW" altLang="zh-TW" dirty="0"/>
              <a:t>一種</a:t>
            </a:r>
            <a:r>
              <a:rPr lang="zh-TW" altLang="zh-TW" dirty="0">
                <a:solidFill>
                  <a:srgbClr val="0070C0"/>
                </a:solidFill>
              </a:rPr>
              <a:t>超文件</a:t>
            </a:r>
            <a:r>
              <a:rPr lang="en-US" altLang="zh-TW" dirty="0"/>
              <a:t>(hypertext)</a:t>
            </a:r>
            <a:r>
              <a:rPr lang="zh-TW" altLang="en-US" dirty="0"/>
              <a:t> </a:t>
            </a:r>
            <a:r>
              <a:rPr lang="zh-TW" altLang="zh-TW" dirty="0"/>
              <a:t>的格式</a:t>
            </a:r>
            <a:endParaRPr lang="en-US" altLang="zh-TW" dirty="0"/>
          </a:p>
          <a:p>
            <a:r>
              <a:rPr lang="zh-TW" altLang="zh-TW" dirty="0"/>
              <a:t>文件的內容被拆成許多的區塊，區塊與區塊間有關連的連結</a:t>
            </a:r>
            <a:r>
              <a:rPr lang="zh-TW" altLang="en-US" dirty="0"/>
              <a:t>，</a:t>
            </a:r>
            <a:r>
              <a:rPr lang="zh-TW" altLang="zh-TW" dirty="0"/>
              <a:t>讀者可以依據興趣或認知程度選擇閱讀的區塊與順序</a:t>
            </a:r>
            <a:endParaRPr lang="en-US" altLang="zh-TW" dirty="0"/>
          </a:p>
          <a:p>
            <a:r>
              <a:rPr lang="zh-TW" altLang="zh-TW" dirty="0"/>
              <a:t>文件區塊都是網頁，網頁可置於網路中不同的主機上，而網頁間的連結稱為</a:t>
            </a:r>
            <a:r>
              <a:rPr lang="zh-TW" altLang="zh-TW" dirty="0">
                <a:solidFill>
                  <a:srgbClr val="0070C0"/>
                </a:solidFill>
              </a:rPr>
              <a:t>超連結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(hyperlink)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6.6</a:t>
            </a:r>
            <a:r>
              <a:rPr lang="zh-TW" altLang="zh-TW" dirty="0" smtClean="0"/>
              <a:t>全球</a:t>
            </a:r>
            <a:r>
              <a:rPr lang="zh-TW" altLang="zh-TW" dirty="0"/>
              <a:t>資訊網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英國科學家柏內茲李</a:t>
            </a:r>
            <a:r>
              <a:rPr lang="zh-TW" altLang="en-US" dirty="0"/>
              <a:t> </a:t>
            </a:r>
            <a:r>
              <a:rPr lang="en-US" altLang="zh-TW" dirty="0"/>
              <a:t>(Tim Berners-Lee)</a:t>
            </a:r>
            <a:r>
              <a:rPr lang="zh-TW" altLang="zh-TW" dirty="0"/>
              <a:t>，提出名為</a:t>
            </a:r>
            <a:r>
              <a:rPr lang="zh-TW" altLang="zh-TW" b="1" dirty="0"/>
              <a:t>「全球資訊網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en-US" altLang="zh-TW" b="1" dirty="0" err="1"/>
              <a:t>WorldWideWeb</a:t>
            </a:r>
            <a:r>
              <a:rPr lang="en-US" altLang="zh-TW" b="1" dirty="0"/>
              <a:t>)</a:t>
            </a:r>
            <a:r>
              <a:rPr lang="zh-TW" altLang="zh-TW" b="1" dirty="0"/>
              <a:t>」</a:t>
            </a:r>
            <a:r>
              <a:rPr lang="zh-TW" altLang="zh-TW" dirty="0"/>
              <a:t>的超文件計畫案，奠定全球資訊網的基礎</a:t>
            </a:r>
            <a:endParaRPr lang="en-US" altLang="zh-TW" dirty="0"/>
          </a:p>
          <a:p>
            <a:r>
              <a:rPr lang="zh-TW" altLang="zh-TW" dirty="0"/>
              <a:t>主要的網頁瀏覽器</a:t>
            </a:r>
            <a:endParaRPr lang="en-US" altLang="zh-TW" dirty="0"/>
          </a:p>
          <a:p>
            <a:pPr lvl="1"/>
            <a:r>
              <a:rPr lang="zh-TW" altLang="zh-TW" dirty="0"/>
              <a:t>微軟的</a:t>
            </a:r>
            <a:r>
              <a:rPr lang="en-US" altLang="zh-TW" dirty="0"/>
              <a:t>IE/Edge</a:t>
            </a:r>
            <a:r>
              <a:rPr lang="zh-TW" altLang="zh-TW" dirty="0"/>
              <a:t>，谷歌的</a:t>
            </a:r>
            <a:r>
              <a:rPr lang="en-US" altLang="zh-TW" dirty="0"/>
              <a:t>Chrome</a:t>
            </a:r>
            <a:r>
              <a:rPr lang="zh-TW" altLang="zh-TW" dirty="0"/>
              <a:t>，蘋果電腦系統的</a:t>
            </a:r>
            <a:r>
              <a:rPr lang="en-US" altLang="zh-TW" dirty="0"/>
              <a:t>Safari</a:t>
            </a:r>
          </a:p>
          <a:p>
            <a:pPr lvl="1"/>
            <a:r>
              <a:rPr lang="zh-TW" altLang="zh-TW" dirty="0"/>
              <a:t>可整合於手機平台的</a:t>
            </a:r>
            <a:r>
              <a:rPr lang="en-US" altLang="zh-TW" dirty="0"/>
              <a:t>Opera</a:t>
            </a:r>
            <a:r>
              <a:rPr lang="zh-TW" altLang="zh-TW" dirty="0"/>
              <a:t>，以及強調開放式程式碼的</a:t>
            </a:r>
            <a:r>
              <a:rPr lang="en-US" altLang="zh-TW" dirty="0"/>
              <a:t>Firefox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96"/>
          <a:stretch/>
        </p:blipFill>
        <p:spPr>
          <a:xfrm>
            <a:off x="1691680" y="4725144"/>
            <a:ext cx="6119664" cy="1243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網頁存取架構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全球</a:t>
            </a:r>
            <a:r>
              <a:rPr lang="zh-TW" altLang="zh-TW" dirty="0"/>
              <a:t>資訊網運作的主從架構是依據</a:t>
            </a:r>
            <a:r>
              <a:rPr lang="en-US" altLang="zh-TW" dirty="0"/>
              <a:t>HTTP</a:t>
            </a:r>
            <a:r>
              <a:rPr lang="zh-TW" altLang="zh-TW" dirty="0"/>
              <a:t>協定</a:t>
            </a:r>
            <a:endParaRPr lang="en-US" altLang="zh-TW" dirty="0"/>
          </a:p>
          <a:p>
            <a:pPr lvl="1"/>
            <a:r>
              <a:rPr lang="zh-TW" altLang="zh-TW" dirty="0"/>
              <a:t>瀏覽器屬於網頁用戶端</a:t>
            </a:r>
            <a:endParaRPr lang="en-US" altLang="zh-TW" dirty="0"/>
          </a:p>
          <a:p>
            <a:pPr lvl="1"/>
            <a:r>
              <a:rPr lang="zh-TW" altLang="zh-TW" dirty="0"/>
              <a:t>儲存網頁的主機稱為網頁伺服器或簡稱網站</a:t>
            </a:r>
            <a:endParaRPr lang="en-US" altLang="zh-TW" dirty="0"/>
          </a:p>
          <a:p>
            <a:r>
              <a:rPr lang="zh-TW" altLang="zh-TW" dirty="0"/>
              <a:t>藉由瀏覽器輸入欲下載網頁的</a:t>
            </a:r>
            <a:r>
              <a:rPr lang="en-US" altLang="zh-TW" dirty="0">
                <a:solidFill>
                  <a:srgbClr val="0070C0"/>
                </a:solidFill>
              </a:rPr>
              <a:t>URL</a:t>
            </a:r>
            <a:r>
              <a:rPr lang="zh-TW" altLang="zh-TW" dirty="0">
                <a:solidFill>
                  <a:srgbClr val="0070C0"/>
                </a:solidFill>
              </a:rPr>
              <a:t>網址</a:t>
            </a:r>
            <a:endParaRPr lang="en-US" altLang="zh-TW" dirty="0">
              <a:solidFill>
                <a:srgbClr val="0070C0"/>
              </a:solidFill>
            </a:endParaRPr>
          </a:p>
          <a:p>
            <a:r>
              <a:rPr lang="en-US" altLang="zh-TW" dirty="0"/>
              <a:t>URL</a:t>
            </a:r>
            <a:r>
              <a:rPr lang="zh-TW" altLang="zh-TW" dirty="0"/>
              <a:t>的全名為</a:t>
            </a:r>
            <a:r>
              <a:rPr lang="zh-TW" altLang="zh-TW" dirty="0">
                <a:solidFill>
                  <a:srgbClr val="0070C0"/>
                </a:solidFill>
              </a:rPr>
              <a:t>統一資源定位器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(Uniform Resource Locator)</a:t>
            </a:r>
            <a:r>
              <a:rPr lang="zh-TW" altLang="zh-TW" dirty="0"/>
              <a:t>，用來指定網路上某個主機所儲存的一份檔案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URL</a:t>
            </a:r>
            <a:r>
              <a:rPr lang="zh-TW" altLang="zh-TW" dirty="0"/>
              <a:t>的簡易格式如下，包含四個部分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550229"/>
            <a:ext cx="7848872" cy="18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203848" y="4509120"/>
            <a:ext cx="254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6.24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URL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網址的結構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16" y="1700808"/>
            <a:ext cx="7884368" cy="35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一般公司或學校的內部網路會設立一台稱為</a:t>
            </a:r>
            <a:r>
              <a:rPr lang="en-US" altLang="zh-TW" dirty="0"/>
              <a:t>Proxy</a:t>
            </a:r>
            <a:r>
              <a:rPr lang="zh-TW" altLang="zh-TW" dirty="0"/>
              <a:t>的</a:t>
            </a:r>
            <a:r>
              <a:rPr lang="zh-TW" altLang="zh-TW" dirty="0">
                <a:solidFill>
                  <a:srgbClr val="0070C0"/>
                </a:solidFill>
              </a:rPr>
              <a:t>代理伺服器</a:t>
            </a:r>
            <a:endParaRPr lang="en-US" altLang="zh-TW" dirty="0">
              <a:solidFill>
                <a:srgbClr val="0070C0"/>
              </a:solidFill>
            </a:endParaRPr>
          </a:p>
          <a:p>
            <a:r>
              <a:rPr lang="zh-TW" altLang="zh-TW" dirty="0"/>
              <a:t>當瀏覽器欲向網頁伺服器送出網頁下載請求時，這個請求會先被轉至代理伺服器。如果欲下載的網頁已儲存於代理伺服器，則直接回傳網頁內容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453092"/>
            <a:ext cx="475252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254035" y="6309320"/>
            <a:ext cx="498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6.25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Windows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系統設定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Proxy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伺服器的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IP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位址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一些購物網站如雅虎、亞馬遜與</a:t>
            </a:r>
            <a:r>
              <a:rPr lang="en-US" altLang="zh-TW" dirty="0"/>
              <a:t>eBay</a:t>
            </a:r>
            <a:r>
              <a:rPr lang="zh-TW" altLang="zh-TW" dirty="0"/>
              <a:t>均會記錄會員於網站內的瀏覽行為</a:t>
            </a:r>
            <a:endParaRPr lang="en-US" altLang="zh-TW" dirty="0"/>
          </a:p>
          <a:p>
            <a:r>
              <a:rPr lang="zh-TW" altLang="zh-TW" dirty="0"/>
              <a:t>這個追蹤的機制來自使用</a:t>
            </a:r>
            <a:r>
              <a:rPr lang="en-US" altLang="zh-TW" dirty="0"/>
              <a:t>Cookie</a:t>
            </a:r>
            <a:r>
              <a:rPr lang="zh-TW" altLang="zh-TW" dirty="0"/>
              <a:t>，是一種記錄於用戶端的資料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2780928"/>
            <a:ext cx="4320480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圖說文字 7"/>
          <p:cNvSpPr/>
          <p:nvPr/>
        </p:nvSpPr>
        <p:spPr>
          <a:xfrm>
            <a:off x="1475656" y="3573016"/>
            <a:ext cx="1944216" cy="1008112"/>
          </a:xfrm>
          <a:prstGeom prst="wedgeRoundRectCallout">
            <a:avLst>
              <a:gd name="adj1" fmla="val 83309"/>
              <a:gd name="adj2" fmla="val -378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調整隱私權等級可防止不當的</a:t>
            </a:r>
            <a:r>
              <a:rPr lang="en-US" altLang="zh-TW" sz="2000" dirty="0"/>
              <a:t>Cookie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 smtClean="0">
                <a:solidFill>
                  <a:schemeClr val="accent3"/>
                </a:solidFill>
              </a:rPr>
              <a:t>網頁內容架構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zh-TW" dirty="0" smtClean="0"/>
              <a:t>透過</a:t>
            </a:r>
            <a:r>
              <a:rPr lang="en-US" altLang="zh-TW" dirty="0"/>
              <a:t>HTML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HyperText</a:t>
            </a:r>
            <a:r>
              <a:rPr lang="en-US" altLang="zh-TW" dirty="0"/>
              <a:t> Markup Language</a:t>
            </a:r>
            <a:r>
              <a:rPr lang="zh-TW" altLang="zh-TW" dirty="0"/>
              <a:t>，超文件標記語言</a:t>
            </a:r>
            <a:r>
              <a:rPr lang="en-US" altLang="zh-TW" dirty="0"/>
              <a:t>)</a:t>
            </a:r>
            <a:r>
              <a:rPr lang="zh-TW" altLang="zh-TW" dirty="0"/>
              <a:t>的語法所建立</a:t>
            </a:r>
            <a:endParaRPr lang="en-US" altLang="zh-TW" dirty="0"/>
          </a:p>
          <a:p>
            <a:r>
              <a:rPr lang="en-US" altLang="zh-TW" dirty="0"/>
              <a:t>HTML</a:t>
            </a:r>
            <a:r>
              <a:rPr lang="zh-TW" altLang="zh-TW" dirty="0"/>
              <a:t>是一種使用</a:t>
            </a:r>
            <a:r>
              <a:rPr lang="zh-TW" altLang="zh-TW" dirty="0">
                <a:solidFill>
                  <a:srgbClr val="0070C0"/>
                </a:solidFill>
              </a:rPr>
              <a:t>標籤</a:t>
            </a:r>
            <a:r>
              <a:rPr lang="zh-TW" altLang="en-US" dirty="0"/>
              <a:t> </a:t>
            </a:r>
            <a:r>
              <a:rPr lang="en-US" altLang="zh-TW" dirty="0"/>
              <a:t>(tag)</a:t>
            </a:r>
            <a:r>
              <a:rPr lang="zh-TW" altLang="en-US" dirty="0"/>
              <a:t> </a:t>
            </a:r>
            <a:r>
              <a:rPr lang="zh-TW" altLang="zh-TW" dirty="0"/>
              <a:t>的語言，利用不同的標籤可標示文字的字型、大小與編排方式，也可以標示圖片的來源、大小與位置等</a:t>
            </a:r>
            <a:endParaRPr lang="en-US" altLang="zh-TW" dirty="0"/>
          </a:p>
          <a:p>
            <a:r>
              <a:rPr lang="en-US" altLang="zh-TW" dirty="0"/>
              <a:t>HTML</a:t>
            </a:r>
            <a:r>
              <a:rPr lang="zh-TW" altLang="zh-TW" dirty="0"/>
              <a:t>所建立的網頁內容均是純文字檔，檔案延伸名為</a:t>
            </a:r>
            <a:r>
              <a:rPr lang="en-US" altLang="zh-TW" dirty="0"/>
              <a:t>html</a:t>
            </a:r>
            <a:r>
              <a:rPr lang="zh-TW" altLang="zh-TW" dirty="0"/>
              <a:t>或</a:t>
            </a:r>
            <a:r>
              <a:rPr lang="en-US" altLang="zh-TW" dirty="0" err="1"/>
              <a:t>htm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68610" name="圖片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4104456" cy="4634192"/>
          </a:xfrm>
          <a:prstGeom prst="rect">
            <a:avLst/>
          </a:prstGeom>
          <a:noFill/>
        </p:spPr>
      </p:pic>
      <p:pic>
        <p:nvPicPr>
          <p:cNvPr id="68609" name="圖片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412776"/>
            <a:ext cx="3800755" cy="4608512"/>
          </a:xfrm>
          <a:prstGeom prst="rect">
            <a:avLst/>
          </a:prstGeom>
          <a:noFill/>
        </p:spPr>
      </p:pic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23320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Times New Roman" pitchFamily="18" charset="0"/>
              </a:rPr>
              <a:t>	</a:t>
            </a:r>
            <a:endParaRPr kumimoji="1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2195736" y="6165304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6.26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基本網頁內容架構及基本網頁內容的呈現效果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23320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Times New Roman" pitchFamily="18" charset="0"/>
              </a:rPr>
              <a:t>	</a:t>
            </a:r>
            <a:endParaRPr kumimoji="1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pic>
        <p:nvPicPr>
          <p:cNvPr id="71682" name="圖片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10480"/>
            <a:ext cx="6048672" cy="3437040"/>
          </a:xfrm>
          <a:prstGeom prst="rect">
            <a:avLst/>
          </a:prstGeom>
          <a:noFill/>
        </p:spPr>
      </p:pic>
      <p:pic>
        <p:nvPicPr>
          <p:cNvPr id="71681" name="圖片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6216" y="1628800"/>
            <a:ext cx="2379203" cy="3499143"/>
          </a:xfrm>
          <a:prstGeom prst="rect">
            <a:avLst/>
          </a:prstGeom>
          <a:noFill/>
        </p:spPr>
      </p:pic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Times New Roman" pitchFamily="18" charset="0"/>
              </a:rPr>
              <a:t> </a:t>
            </a:r>
            <a:endParaRPr kumimoji="1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2123728" y="5301208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6.27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簡易個人網頁範例及簡易個人網頁的呈現效果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隨著網頁多元內容的呈現，</a:t>
            </a:r>
            <a:r>
              <a:rPr lang="en-US" altLang="zh-TW" dirty="0"/>
              <a:t>HTML</a:t>
            </a:r>
            <a:r>
              <a:rPr lang="zh-TW" altLang="zh-TW" dirty="0"/>
              <a:t>的使用開始出現瓶頸</a:t>
            </a:r>
            <a:endParaRPr lang="en-US" altLang="zh-TW" dirty="0"/>
          </a:p>
          <a:p>
            <a:pPr lvl="1"/>
            <a:r>
              <a:rPr lang="zh-TW" altLang="zh-TW" dirty="0"/>
              <a:t>標籤不敷使用</a:t>
            </a:r>
            <a:endParaRPr lang="en-US" altLang="zh-TW" dirty="0"/>
          </a:p>
          <a:p>
            <a:pPr lvl="1"/>
            <a:r>
              <a:rPr lang="zh-TW" altLang="zh-TW" dirty="0"/>
              <a:t>編排的標籤與編排的文字混在一起</a:t>
            </a:r>
            <a:endParaRPr lang="en-US" altLang="zh-TW" dirty="0"/>
          </a:p>
          <a:p>
            <a:r>
              <a:rPr lang="en-US" altLang="zh-TW" dirty="0"/>
              <a:t>2000</a:t>
            </a:r>
            <a:r>
              <a:rPr lang="zh-TW" altLang="zh-TW" dirty="0"/>
              <a:t>年公布新的標記語言</a:t>
            </a:r>
            <a:r>
              <a:rPr lang="en-US" altLang="zh-TW" dirty="0"/>
              <a:t>XHTML</a:t>
            </a:r>
            <a:r>
              <a:rPr lang="zh-TW" altLang="en-US" dirty="0"/>
              <a:t>，</a:t>
            </a:r>
            <a:r>
              <a:rPr lang="zh-TW" altLang="zh-TW" dirty="0"/>
              <a:t>採用</a:t>
            </a:r>
            <a:r>
              <a:rPr lang="en-US" altLang="zh-TW" dirty="0"/>
              <a:t>XML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eXtensible</a:t>
            </a:r>
            <a:r>
              <a:rPr lang="en-US" altLang="zh-TW" dirty="0"/>
              <a:t> Markup Language)</a:t>
            </a:r>
            <a:r>
              <a:rPr lang="zh-TW" altLang="en-US" dirty="0"/>
              <a:t> </a:t>
            </a:r>
            <a:r>
              <a:rPr lang="zh-TW" altLang="zh-TW" dirty="0"/>
              <a:t>的形式，可以彈性地定義新的標籤</a:t>
            </a:r>
            <a:endParaRPr lang="en-US" altLang="zh-TW" dirty="0"/>
          </a:p>
          <a:p>
            <a:r>
              <a:rPr lang="en-US" altLang="zh-TW" dirty="0"/>
              <a:t>XML</a:t>
            </a:r>
            <a:r>
              <a:rPr lang="zh-TW" altLang="zh-TW" dirty="0"/>
              <a:t>著重文字內容的格式化儲存，而將外觀編排的敘述獨立於另一個記錄樣式的</a:t>
            </a:r>
            <a:r>
              <a:rPr lang="zh-TW" altLang="zh-TW" dirty="0" smtClean="0"/>
              <a:t>檔案</a:t>
            </a:r>
            <a:r>
              <a:rPr lang="en-US" altLang="zh-TW" dirty="0" smtClean="0"/>
              <a:t> (CSS</a:t>
            </a:r>
            <a:r>
              <a:rPr lang="zh-TW" altLang="en-US" dirty="0" smtClean="0"/>
              <a:t>檔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17" y="1340768"/>
            <a:ext cx="7333891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652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6.6</a:t>
            </a:r>
            <a:r>
              <a:rPr lang="zh-TW" altLang="zh-TW" dirty="0"/>
              <a:t>全球資訊網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449884"/>
            <a:ext cx="3601172" cy="46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93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solidFill>
                  <a:srgbClr val="0070C0"/>
                </a:solidFill>
              </a:rPr>
              <a:t>機密資料外洩</a:t>
            </a:r>
            <a:r>
              <a:rPr lang="zh-TW" altLang="zh-TW" dirty="0"/>
              <a:t>：帳號與密碼是極重要的機密資料，被竊取的話，入侵者</a:t>
            </a:r>
            <a:r>
              <a:rPr lang="zh-TW" altLang="en-US" dirty="0"/>
              <a:t> </a:t>
            </a:r>
            <a:r>
              <a:rPr lang="en-US" altLang="zh-TW" dirty="0"/>
              <a:t>(intruder)</a:t>
            </a:r>
            <a:r>
              <a:rPr lang="zh-TW" altLang="en-US" dirty="0"/>
              <a:t> </a:t>
            </a:r>
            <a:r>
              <a:rPr lang="zh-TW" altLang="zh-TW" dirty="0"/>
              <a:t>或駭客</a:t>
            </a:r>
            <a:r>
              <a:rPr lang="zh-TW" altLang="en-US" dirty="0"/>
              <a:t> </a:t>
            </a:r>
            <a:r>
              <a:rPr lang="en-US" altLang="zh-TW" dirty="0"/>
              <a:t>(hacker)</a:t>
            </a:r>
            <a:r>
              <a:rPr lang="zh-TW" altLang="en-US" dirty="0"/>
              <a:t> </a:t>
            </a:r>
            <a:r>
              <a:rPr lang="zh-TW" altLang="zh-TW" dirty="0"/>
              <a:t>等同暢行無阻地讀取與變更你的資料</a:t>
            </a:r>
          </a:p>
          <a:p>
            <a:r>
              <a:rPr lang="zh-TW" altLang="zh-TW" dirty="0">
                <a:solidFill>
                  <a:srgbClr val="0070C0"/>
                </a:solidFill>
              </a:rPr>
              <a:t>電腦被破壞</a:t>
            </a:r>
            <a:r>
              <a:rPr lang="zh-TW" altLang="zh-TW" dirty="0"/>
              <a:t>：電腦突然無法正常運作，例如：檔案</a:t>
            </a:r>
            <a:r>
              <a:rPr lang="zh-TW" altLang="zh-TW" dirty="0" smtClean="0"/>
              <a:t>毀損</a:t>
            </a:r>
            <a:r>
              <a:rPr lang="zh-TW" altLang="en-US" dirty="0" smtClean="0"/>
              <a:t>、</a:t>
            </a:r>
            <a:r>
              <a:rPr lang="zh-TW" altLang="zh-TW" dirty="0" smtClean="0"/>
              <a:t>無法</a:t>
            </a:r>
            <a:r>
              <a:rPr lang="zh-TW" altLang="zh-TW" dirty="0"/>
              <a:t>正常開機、電腦資源突然耗盡等</a:t>
            </a:r>
          </a:p>
          <a:p>
            <a:r>
              <a:rPr lang="zh-TW" altLang="zh-TW" dirty="0">
                <a:solidFill>
                  <a:srgbClr val="0070C0"/>
                </a:solidFill>
              </a:rPr>
              <a:t>電腦被綁架</a:t>
            </a:r>
            <a:r>
              <a:rPr lang="zh-TW" altLang="zh-TW" dirty="0"/>
              <a:t>：電腦執行非操作者意願的工作，像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僵屍</a:t>
            </a:r>
            <a:r>
              <a:rPr lang="zh-TW" altLang="zh-TW" dirty="0"/>
              <a:t>般聽從入侵者的命令</a:t>
            </a:r>
            <a:endParaRPr lang="en-US" altLang="zh-TW" dirty="0"/>
          </a:p>
          <a:p>
            <a:pPr lvl="1"/>
            <a:r>
              <a:rPr lang="zh-TW" altLang="zh-TW" dirty="0"/>
              <a:t>送出一堆垃圾電子郵件</a:t>
            </a:r>
            <a:endParaRPr lang="en-US" altLang="zh-TW" dirty="0"/>
          </a:p>
          <a:p>
            <a:pPr lvl="1"/>
            <a:r>
              <a:rPr lang="zh-TW" altLang="zh-TW" dirty="0"/>
              <a:t>持續對網路的某台伺服器送出攻擊性的封包</a:t>
            </a:r>
            <a:endParaRPr lang="en-US" altLang="zh-TW" dirty="0"/>
          </a:p>
          <a:p>
            <a:pPr lvl="1"/>
            <a:r>
              <a:rPr lang="zh-TW" altLang="zh-TW" dirty="0"/>
              <a:t>瀏覽器的首頁被強迫引導至另一個特定的頁面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6.7</a:t>
            </a:r>
            <a:r>
              <a:rPr lang="zh-TW" altLang="zh-TW" dirty="0" smtClean="0"/>
              <a:t>網路</a:t>
            </a:r>
            <a:r>
              <a:rPr lang="zh-TW" altLang="zh-TW" dirty="0"/>
              <a:t>安全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>
                <a:solidFill>
                  <a:srgbClr val="0070C0"/>
                </a:solidFill>
              </a:rPr>
              <a:t>網路服務中斷</a:t>
            </a:r>
            <a:r>
              <a:rPr lang="zh-TW" altLang="zh-TW" dirty="0"/>
              <a:t>：如果遭破壞的是一台網路伺服器，則會造成這台伺服器服務的中斷</a:t>
            </a:r>
            <a:r>
              <a:rPr lang="zh-TW" altLang="en-US" dirty="0"/>
              <a:t>，</a:t>
            </a:r>
            <a:r>
              <a:rPr lang="zh-TW" altLang="zh-TW" dirty="0"/>
              <a:t>這種造成服務中斷的攻擊簡稱</a:t>
            </a:r>
            <a:r>
              <a:rPr lang="en-US" altLang="zh-TW" dirty="0" err="1"/>
              <a:t>DoS</a:t>
            </a:r>
            <a:r>
              <a:rPr lang="zh-TW" altLang="en-US" dirty="0"/>
              <a:t> </a:t>
            </a:r>
            <a:r>
              <a:rPr lang="en-US" altLang="zh-TW" dirty="0"/>
              <a:t>(Denial-of-Service)</a:t>
            </a:r>
            <a:r>
              <a:rPr lang="zh-TW" altLang="en-US" dirty="0"/>
              <a:t> </a:t>
            </a:r>
            <a:r>
              <a:rPr lang="zh-TW" altLang="zh-TW" dirty="0"/>
              <a:t>攻擊</a:t>
            </a:r>
          </a:p>
          <a:p>
            <a:r>
              <a:rPr lang="zh-TW" altLang="zh-TW" dirty="0">
                <a:solidFill>
                  <a:srgbClr val="0070C0"/>
                </a:solidFill>
              </a:rPr>
              <a:t>色情與商業廣告充斥</a:t>
            </a:r>
            <a:r>
              <a:rPr lang="zh-TW" altLang="zh-TW" dirty="0"/>
              <a:t>：電腦被植入一些非法軟體，導致電腦桌面或是瀏覽器彈跳出充斥色情或商業廣告的內容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6.7</a:t>
            </a:r>
            <a:r>
              <a:rPr lang="zh-TW" altLang="zh-TW" dirty="0"/>
              <a:t>網路安全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zh-TW" altLang="en-US" dirty="0"/>
              <a:t>惡意軟體 </a:t>
            </a:r>
            <a:r>
              <a:rPr lang="en-US" altLang="zh-TW" dirty="0"/>
              <a:t>(malicious software</a:t>
            </a:r>
            <a:r>
              <a:rPr lang="en-US" altLang="zh-TW" dirty="0" smtClean="0"/>
              <a:t>)</a:t>
            </a:r>
            <a:r>
              <a:rPr lang="zh-TW" altLang="en-US" dirty="0"/>
              <a:t>存在與執行的方式略有</a:t>
            </a:r>
            <a:r>
              <a:rPr lang="zh-TW" altLang="en-US" dirty="0" smtClean="0"/>
              <a:t>不同</a:t>
            </a:r>
            <a:r>
              <a:rPr lang="en-US" altLang="zh-TW" dirty="0" smtClean="0"/>
              <a:t>: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r>
              <a:rPr lang="zh-TW" altLang="zh-TW" dirty="0" smtClean="0">
                <a:solidFill>
                  <a:srgbClr val="0070C0"/>
                </a:solidFill>
              </a:rPr>
              <a:t>病毒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(virus)</a:t>
            </a:r>
            <a:r>
              <a:rPr lang="zh-TW" altLang="zh-TW" dirty="0"/>
              <a:t>：存在於執行檔案內，當這個被附身的檔案執行時，病毒也開始起作用，且會繼續找機會將自己附著在更多的檔案上</a:t>
            </a:r>
          </a:p>
          <a:p>
            <a:r>
              <a:rPr lang="zh-TW" altLang="zh-TW" dirty="0">
                <a:solidFill>
                  <a:srgbClr val="0070C0"/>
                </a:solidFill>
              </a:rPr>
              <a:t>蠕蟲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(worm)</a:t>
            </a:r>
            <a:r>
              <a:rPr lang="zh-TW" altLang="zh-TW" dirty="0"/>
              <a:t>：以單一檔案的形式自我存在，將自己命名成常見的系統檔名。蠕蟲也會利用各種網路的管道</a:t>
            </a:r>
            <a:r>
              <a:rPr lang="zh-TW" altLang="zh-TW" dirty="0" smtClean="0"/>
              <a:t>散</a:t>
            </a:r>
            <a:r>
              <a:rPr lang="zh-TW" altLang="en-US" dirty="0" smtClean="0"/>
              <a:t>布</a:t>
            </a:r>
            <a:r>
              <a:rPr lang="zh-TW" altLang="zh-TW" dirty="0" smtClean="0"/>
              <a:t>自己</a:t>
            </a:r>
            <a:endParaRPr lang="zh-TW" altLang="zh-TW" dirty="0"/>
          </a:p>
          <a:p>
            <a:r>
              <a:rPr lang="zh-TW" altLang="zh-TW" dirty="0">
                <a:solidFill>
                  <a:srgbClr val="0070C0"/>
                </a:solidFill>
              </a:rPr>
              <a:t>特洛伊木馬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(Trojan horse)</a:t>
            </a:r>
            <a:r>
              <a:rPr lang="zh-TW" altLang="zh-TW" dirty="0"/>
              <a:t>：電腦被植入這種程式後，會隱藏起來，在用戶不知情的狀況下，利用鍵盤記錄的方式蒐集帳號與密碼，或是執行對其他電腦的攻擊，成為</a:t>
            </a:r>
            <a:r>
              <a:rPr lang="zh-TW" altLang="zh-TW" dirty="0">
                <a:solidFill>
                  <a:srgbClr val="0070C0"/>
                </a:solidFill>
              </a:rPr>
              <a:t>僵屍網路</a:t>
            </a:r>
            <a:r>
              <a:rPr lang="en-US" altLang="zh-TW" dirty="0"/>
              <a:t>(botnet)</a:t>
            </a:r>
            <a:r>
              <a:rPr lang="zh-TW" altLang="en-US" dirty="0"/>
              <a:t> </a:t>
            </a:r>
            <a:r>
              <a:rPr lang="zh-TW" altLang="zh-TW" dirty="0"/>
              <a:t>的一員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6.7</a:t>
            </a:r>
            <a:r>
              <a:rPr lang="zh-TW" altLang="zh-TW" dirty="0"/>
              <a:t>網路安全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惡意軟體的入侵管道有幾種形式：</a:t>
            </a:r>
          </a:p>
          <a:p>
            <a:pPr lvl="0">
              <a:buFont typeface="Wingdings" pitchFamily="2" charset="2"/>
              <a:buChar char="ü"/>
            </a:pPr>
            <a:r>
              <a:rPr lang="zh-TW" altLang="zh-TW" dirty="0"/>
              <a:t>安裝號稱破解而免費的合法軟體</a:t>
            </a:r>
          </a:p>
          <a:p>
            <a:pPr lvl="0">
              <a:buFont typeface="Wingdings" pitchFamily="2" charset="2"/>
              <a:buChar char="ü"/>
            </a:pPr>
            <a:r>
              <a:rPr lang="zh-TW" altLang="zh-TW" dirty="0"/>
              <a:t>打開不知名人士寄來信件的附加檔案</a:t>
            </a:r>
          </a:p>
          <a:p>
            <a:pPr lvl="0">
              <a:buFont typeface="Wingdings" pitchFamily="2" charset="2"/>
              <a:buChar char="ü"/>
            </a:pPr>
            <a:r>
              <a:rPr lang="zh-TW" altLang="zh-TW" dirty="0"/>
              <a:t>插入已遭病毒入侵的行動碟</a:t>
            </a:r>
          </a:p>
          <a:p>
            <a:pPr lvl="0">
              <a:buFont typeface="Wingdings" pitchFamily="2" charset="2"/>
              <a:buChar char="ü"/>
            </a:pPr>
            <a:r>
              <a:rPr lang="zh-TW" altLang="zh-TW" dirty="0"/>
              <a:t>瀏覽一些號稱提供免費電影的網站</a:t>
            </a:r>
            <a:endParaRPr lang="en-US" altLang="zh-TW" dirty="0"/>
          </a:p>
          <a:p>
            <a:pPr lvl="0">
              <a:buFont typeface="Wingdings" pitchFamily="2" charset="2"/>
              <a:buChar char="ü"/>
            </a:pPr>
            <a:r>
              <a:rPr lang="zh-TW" altLang="zh-TW" dirty="0"/>
              <a:t>一些網站甚至會偽裝成合法的網站，勾引用戶上鉤，這種稱為</a:t>
            </a:r>
            <a:r>
              <a:rPr lang="zh-TW" altLang="zh-TW" dirty="0">
                <a:solidFill>
                  <a:srgbClr val="0070C0"/>
                </a:solidFill>
              </a:rPr>
              <a:t>釣魚網站</a:t>
            </a:r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6.7</a:t>
            </a:r>
            <a:r>
              <a:rPr lang="zh-TW" altLang="zh-TW" dirty="0"/>
              <a:t>網路安全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該</a:t>
            </a:r>
            <a:r>
              <a:rPr lang="zh-TW" altLang="en-US" dirty="0"/>
              <a:t>如何</a:t>
            </a:r>
            <a:r>
              <a:rPr lang="zh-TW" altLang="en-US" dirty="0" smtClean="0"/>
              <a:t>防範惡意軟體的入侵？</a:t>
            </a:r>
            <a:endParaRPr lang="en-US" altLang="zh-TW" dirty="0" smtClean="0"/>
          </a:p>
          <a:p>
            <a:pPr>
              <a:buFont typeface="Wingdings" pitchFamily="2" charset="2"/>
              <a:buChar char="ü"/>
            </a:pPr>
            <a:r>
              <a:rPr lang="zh-TW" altLang="en-US" dirty="0"/>
              <a:t>不要</a:t>
            </a:r>
            <a:r>
              <a:rPr lang="zh-TW" altLang="en-US" dirty="0" smtClean="0"/>
              <a:t>隨意瀏覽</a:t>
            </a:r>
            <a:r>
              <a:rPr lang="zh-TW" altLang="en-US" dirty="0"/>
              <a:t>來源不明的檔案與</a:t>
            </a:r>
            <a:r>
              <a:rPr lang="zh-TW" altLang="en-US" dirty="0" smtClean="0"/>
              <a:t>網頁</a:t>
            </a:r>
            <a:endParaRPr lang="en-US" altLang="zh-TW" dirty="0" smtClean="0"/>
          </a:p>
          <a:p>
            <a:pPr>
              <a:buFont typeface="Wingdings" pitchFamily="2" charset="2"/>
              <a:buChar char="ü"/>
            </a:pPr>
            <a:r>
              <a:rPr lang="zh-TW" altLang="en-US" dirty="0"/>
              <a:t>安裝防毒</a:t>
            </a:r>
            <a:r>
              <a:rPr lang="zh-TW" altLang="en-US" dirty="0" smtClean="0"/>
              <a:t>軟體</a:t>
            </a:r>
            <a:endParaRPr lang="en-US" altLang="zh-TW" dirty="0"/>
          </a:p>
          <a:p>
            <a:pPr lvl="1">
              <a:buFont typeface="新細明體" pitchFamily="18" charset="-120"/>
              <a:buChar char="。"/>
            </a:pPr>
            <a:r>
              <a:rPr lang="zh-TW" altLang="en-US" dirty="0" smtClean="0"/>
              <a:t>電腦</a:t>
            </a:r>
            <a:r>
              <a:rPr lang="zh-TW" altLang="en-US" dirty="0"/>
              <a:t>作業系統免費提供的</a:t>
            </a:r>
            <a:r>
              <a:rPr lang="zh-TW" altLang="en-US" dirty="0" smtClean="0"/>
              <a:t>安全機制</a:t>
            </a:r>
            <a:r>
              <a:rPr lang="zh-TW" altLang="en-US" dirty="0"/>
              <a:t>，例如：</a:t>
            </a:r>
            <a:r>
              <a:rPr lang="en-US" altLang="zh-TW" dirty="0"/>
              <a:t>Windows </a:t>
            </a:r>
            <a:r>
              <a:rPr lang="zh-TW" altLang="en-US" dirty="0"/>
              <a:t>系統提供防火牆 </a:t>
            </a:r>
            <a:r>
              <a:rPr lang="en-US" altLang="zh-TW" dirty="0"/>
              <a:t>(firewall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>
              <a:buFont typeface="Wingdings" pitchFamily="2" charset="2"/>
              <a:buChar char="ü"/>
            </a:pPr>
            <a:r>
              <a:rPr lang="zh-TW" altLang="en-US" dirty="0"/>
              <a:t>過一段時間更換密碼</a:t>
            </a:r>
            <a:r>
              <a:rPr lang="zh-TW" altLang="en-US" dirty="0" smtClean="0"/>
              <a:t>，密碼</a:t>
            </a:r>
            <a:r>
              <a:rPr lang="zh-TW" altLang="en-US" dirty="0"/>
              <a:t>的長度</a:t>
            </a:r>
            <a:r>
              <a:rPr lang="zh-TW" altLang="en-US" dirty="0" smtClean="0"/>
              <a:t>至少</a:t>
            </a:r>
            <a:r>
              <a:rPr lang="en-US" altLang="zh-TW" dirty="0"/>
              <a:t>8 </a:t>
            </a:r>
            <a:r>
              <a:rPr lang="zh-TW" altLang="en-US" dirty="0"/>
              <a:t>個字元 </a:t>
            </a:r>
            <a:r>
              <a:rPr lang="en-US" altLang="zh-TW" dirty="0"/>
              <a:t>( </a:t>
            </a:r>
            <a:r>
              <a:rPr lang="zh-TW" altLang="en-US" dirty="0"/>
              <a:t>結合數字與大小寫英文字 </a:t>
            </a:r>
            <a:r>
              <a:rPr lang="en-US" altLang="zh-TW" dirty="0"/>
              <a:t>) </a:t>
            </a:r>
            <a:endParaRPr lang="en-US" altLang="zh-TW" dirty="0" smtClean="0"/>
          </a:p>
          <a:p>
            <a:pPr>
              <a:buFont typeface="Wingdings" pitchFamily="2" charset="2"/>
              <a:buChar char="ü"/>
            </a:pPr>
            <a:r>
              <a:rPr lang="zh-TW" altLang="en-US" dirty="0" smtClean="0"/>
              <a:t>作業系統定時更新</a:t>
            </a:r>
            <a:endParaRPr lang="en-US" altLang="zh-TW" dirty="0" smtClean="0"/>
          </a:p>
          <a:p>
            <a:pPr>
              <a:buFont typeface="Wingdings" pitchFamily="2" charset="2"/>
              <a:buChar char="ü"/>
            </a:pPr>
            <a:r>
              <a:rPr lang="zh-TW" altLang="en-US" dirty="0"/>
              <a:t>瀏覽網路在需要</a:t>
            </a:r>
            <a:r>
              <a:rPr lang="zh-TW" altLang="en-US" dirty="0" smtClean="0"/>
              <a:t>輸入</a:t>
            </a:r>
            <a:r>
              <a:rPr lang="zh-TW" altLang="en-US" dirty="0"/>
              <a:t>銀行帳號與信用卡號碼的時候，留意網路連線是否有經過資料加</a:t>
            </a:r>
            <a:r>
              <a:rPr lang="zh-TW" altLang="en-US" dirty="0" smtClean="0"/>
              <a:t>密的處理</a:t>
            </a:r>
            <a:endParaRPr lang="en-US" altLang="zh-TW" dirty="0" smtClean="0"/>
          </a:p>
          <a:p>
            <a:pPr lvl="1">
              <a:buFont typeface="新細明體" pitchFamily="18" charset="-120"/>
              <a:buChar char="。"/>
            </a:pPr>
            <a:r>
              <a:rPr lang="zh-TW" altLang="en-US" dirty="0"/>
              <a:t>金融交易的平台會</a:t>
            </a:r>
            <a:r>
              <a:rPr lang="zh-TW" altLang="en-US" dirty="0" smtClean="0"/>
              <a:t>出現</a:t>
            </a:r>
            <a:r>
              <a:rPr lang="zh-TW" altLang="en-US" dirty="0"/>
              <a:t>網路安全認證的徽章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6.7</a:t>
            </a:r>
            <a:r>
              <a:rPr lang="zh-TW" altLang="zh-TW" dirty="0"/>
              <a:t>網路安全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462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6.7</a:t>
            </a:r>
            <a:r>
              <a:rPr lang="zh-TW" altLang="zh-TW" dirty="0"/>
              <a:t>網路安全</a:t>
            </a:r>
            <a:endParaRPr lang="zh-TW" alt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00808"/>
            <a:ext cx="513161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867645" y="5877272"/>
            <a:ext cx="529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6.30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網路安全認證徽章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圖片來源：高立圖書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48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637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1952</TotalTime>
  <Words>3558</Words>
  <Application>Microsoft Office PowerPoint</Application>
  <PresentationFormat>如螢幕大小 (4:3)</PresentationFormat>
  <Paragraphs>342</Paragraphs>
  <Slides>68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68</vt:i4>
      </vt:variant>
    </vt:vector>
  </HeadingPairs>
  <TitlesOfParts>
    <vt:vector size="69" baseType="lpstr">
      <vt:lpstr>匯合</vt:lpstr>
      <vt:lpstr>Ch06 網際網路</vt:lpstr>
      <vt:lpstr>PowerPoint 簡報</vt:lpstr>
      <vt:lpstr>6.1緣起與組成方式</vt:lpstr>
      <vt:lpstr>6.1緣起與組成方式</vt:lpstr>
      <vt:lpstr>6.1緣起與組成方式</vt:lpstr>
      <vt:lpstr>6.1緣起與組成方式</vt:lpstr>
      <vt:lpstr>6.1緣起與組成方式</vt:lpstr>
      <vt:lpstr>6.1緣起與組成方式</vt:lpstr>
      <vt:lpstr>6.2上網方式</vt:lpstr>
      <vt:lpstr>6.2上網方式</vt:lpstr>
      <vt:lpstr>6.2上網方式</vt:lpstr>
      <vt:lpstr>6.2上網方式</vt:lpstr>
      <vt:lpstr>6.2上網方式</vt:lpstr>
      <vt:lpstr>6.2上網方式</vt:lpstr>
      <vt:lpstr>6.3網路運作方式</vt:lpstr>
      <vt:lpstr>6.3網路運作方式</vt:lpstr>
      <vt:lpstr>6.4網路協定</vt:lpstr>
      <vt:lpstr>6.4網路協定</vt:lpstr>
      <vt:lpstr>6.4網路協定</vt:lpstr>
      <vt:lpstr>6.4網路協定</vt:lpstr>
      <vt:lpstr>6.4網路協定</vt:lpstr>
      <vt:lpstr>6.4網路協定</vt:lpstr>
      <vt:lpstr>6.4網路協定</vt:lpstr>
      <vt:lpstr>6.4網路協定</vt:lpstr>
      <vt:lpstr>6.4網路協定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6.5常見協定介紹</vt:lpstr>
      <vt:lpstr>PowerPoint 簡報</vt:lpstr>
      <vt:lpstr>6.5常見協定介紹</vt:lpstr>
      <vt:lpstr>6.5常見協定介紹</vt:lpstr>
      <vt:lpstr>6.5常見協定介紹</vt:lpstr>
      <vt:lpstr>6.5常見協定介紹</vt:lpstr>
      <vt:lpstr>6.5常見協定介紹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6.6全球資訊網</vt:lpstr>
      <vt:lpstr>6.7網路安全</vt:lpstr>
      <vt:lpstr>6.7網路安全</vt:lpstr>
      <vt:lpstr>6.7網路安全</vt:lpstr>
      <vt:lpstr>6.7網路安全</vt:lpstr>
      <vt:lpstr>6.7網路安全</vt:lpstr>
      <vt:lpstr>6.7網路安全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winx</cp:lastModifiedBy>
  <cp:revision>268</cp:revision>
  <dcterms:created xsi:type="dcterms:W3CDTF">2014-07-06T07:33:00Z</dcterms:created>
  <dcterms:modified xsi:type="dcterms:W3CDTF">2022-06-28T05:48:29Z</dcterms:modified>
</cp:coreProperties>
</file>