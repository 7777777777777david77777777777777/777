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5"/>
  </p:notesMasterIdLst>
  <p:sldIdLst>
    <p:sldId id="256" r:id="rId2"/>
    <p:sldId id="257" r:id="rId3"/>
    <p:sldId id="259" r:id="rId4"/>
    <p:sldId id="260" r:id="rId5"/>
    <p:sldId id="326" r:id="rId6"/>
    <p:sldId id="262" r:id="rId7"/>
    <p:sldId id="263" r:id="rId8"/>
    <p:sldId id="264" r:id="rId9"/>
    <p:sldId id="265" r:id="rId10"/>
    <p:sldId id="266" r:id="rId11"/>
    <p:sldId id="267" r:id="rId12"/>
    <p:sldId id="318" r:id="rId13"/>
    <p:sldId id="319" r:id="rId14"/>
    <p:sldId id="268" r:id="rId15"/>
    <p:sldId id="269" r:id="rId16"/>
    <p:sldId id="270" r:id="rId17"/>
    <p:sldId id="271" r:id="rId18"/>
    <p:sldId id="320" r:id="rId19"/>
    <p:sldId id="272" r:id="rId20"/>
    <p:sldId id="273" r:id="rId21"/>
    <p:sldId id="274" r:id="rId22"/>
    <p:sldId id="327" r:id="rId23"/>
    <p:sldId id="275" r:id="rId24"/>
    <p:sldId id="276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321" r:id="rId33"/>
    <p:sldId id="328" r:id="rId34"/>
    <p:sldId id="285" r:id="rId35"/>
    <p:sldId id="286" r:id="rId36"/>
    <p:sldId id="287" r:id="rId37"/>
    <p:sldId id="288" r:id="rId38"/>
    <p:sldId id="289" r:id="rId39"/>
    <p:sldId id="304" r:id="rId40"/>
    <p:sldId id="329" r:id="rId41"/>
    <p:sldId id="330" r:id="rId42"/>
    <p:sldId id="292" r:id="rId43"/>
    <p:sldId id="303" r:id="rId44"/>
    <p:sldId id="293" r:id="rId45"/>
    <p:sldId id="294" r:id="rId46"/>
    <p:sldId id="295" r:id="rId47"/>
    <p:sldId id="323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31" r:id="rId56"/>
    <p:sldId id="324" r:id="rId57"/>
    <p:sldId id="332" r:id="rId58"/>
    <p:sldId id="333" r:id="rId59"/>
    <p:sldId id="325" r:id="rId60"/>
    <p:sldId id="334" r:id="rId61"/>
    <p:sldId id="335" r:id="rId62"/>
    <p:sldId id="336" r:id="rId63"/>
    <p:sldId id="337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>
        <p:scale>
          <a:sx n="70" d="100"/>
          <a:sy n="70" d="100"/>
        </p:scale>
        <p:origin x="-1302" y="-72"/>
      </p:cViewPr>
      <p:guideLst>
        <p:guide orient="horz" pos="1026"/>
        <p:guide pos="5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149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70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8032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12568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25050"/>
            <a:ext cx="4940624" cy="54096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24233"/>
            <a:ext cx="3690451" cy="5482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237311"/>
            <a:ext cx="3402314" cy="634809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237311"/>
            <a:ext cx="3402314" cy="63481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://www.top500.org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02624" cy="1829761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Ch01 </a:t>
            </a:r>
            <a:r>
              <a:rPr lang="zh-TW" altLang="en-US" dirty="0">
                <a:solidFill>
                  <a:srgbClr val="0070C0"/>
                </a:solidFill>
              </a:rPr>
              <a:t>電腦簡介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630616" cy="1199704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b="1" dirty="0">
                <a:solidFill>
                  <a:schemeClr val="tx1"/>
                </a:solidFill>
              </a:rPr>
              <a:t>李官陵 彭勝龍 羅壽之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0602"/>
            <a:ext cx="3816424" cy="5186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「電腦」的英文名稱是</a:t>
            </a:r>
            <a:r>
              <a:rPr lang="en-US" altLang="zh-TW" dirty="0"/>
              <a:t>computer</a:t>
            </a:r>
            <a:r>
              <a:rPr lang="zh-TW" altLang="zh-TW" dirty="0"/>
              <a:t>，意思是一台能計算的機器，因此也稱為「計算機」</a:t>
            </a:r>
            <a:endParaRPr lang="en-US" altLang="zh-TW" dirty="0"/>
          </a:p>
          <a:p>
            <a:r>
              <a:rPr lang="zh-TW" altLang="zh-TW" dirty="0"/>
              <a:t>電腦扮演一個重要的角色：「</a:t>
            </a:r>
            <a:r>
              <a:rPr lang="zh-TW" altLang="zh-TW" dirty="0">
                <a:solidFill>
                  <a:srgbClr val="0070C0"/>
                </a:solidFill>
              </a:rPr>
              <a:t>處理資料、產生資訊與傳遞資訊</a:t>
            </a:r>
            <a:r>
              <a:rPr lang="zh-TW" altLang="zh-TW" dirty="0"/>
              <a:t>」</a:t>
            </a:r>
            <a:endParaRPr lang="en-US" altLang="zh-TW" dirty="0"/>
          </a:p>
          <a:p>
            <a:r>
              <a:rPr lang="zh-TW" altLang="zh-TW" dirty="0"/>
              <a:t>電腦是一台能將</a:t>
            </a:r>
            <a:r>
              <a:rPr lang="zh-TW" altLang="zh-TW" dirty="0">
                <a:solidFill>
                  <a:srgbClr val="0070C0"/>
                </a:solidFill>
              </a:rPr>
              <a:t>資料</a:t>
            </a:r>
            <a:r>
              <a:rPr lang="zh-TW" altLang="zh-TW" dirty="0"/>
              <a:t>變成</a:t>
            </a:r>
            <a:r>
              <a:rPr lang="zh-TW" altLang="zh-TW" dirty="0">
                <a:solidFill>
                  <a:srgbClr val="0070C0"/>
                </a:solidFill>
              </a:rPr>
              <a:t>資訊</a:t>
            </a:r>
            <a:r>
              <a:rPr lang="zh-TW" altLang="zh-TW" dirty="0"/>
              <a:t>的設備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645024"/>
            <a:ext cx="5040560" cy="26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發明阿拉伯與羅馬數字等表示符號</a:t>
            </a:r>
            <a:endParaRPr lang="en-US" altLang="zh-TW" dirty="0"/>
          </a:p>
          <a:p>
            <a:r>
              <a:rPr lang="zh-TW" altLang="en-US" dirty="0"/>
              <a:t>演進</a:t>
            </a:r>
            <a:r>
              <a:rPr lang="zh-TW" altLang="zh-TW" dirty="0" smtClean="0"/>
              <a:t>加減乘除</a:t>
            </a:r>
            <a:r>
              <a:rPr lang="zh-TW" altLang="zh-TW" dirty="0"/>
              <a:t>的四則</a:t>
            </a:r>
            <a:r>
              <a:rPr lang="zh-TW" altLang="en-US" dirty="0"/>
              <a:t>基礎</a:t>
            </a:r>
            <a:r>
              <a:rPr lang="zh-TW" altLang="zh-TW" dirty="0"/>
              <a:t>算術運算</a:t>
            </a:r>
            <a:endParaRPr lang="en-US" altLang="zh-TW" dirty="0"/>
          </a:p>
          <a:p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處理</a:t>
            </a:r>
            <a:r>
              <a:rPr lang="zh-TW" altLang="zh-TW" dirty="0"/>
              <a:t>天文與建築測量，</a:t>
            </a:r>
            <a:r>
              <a:rPr lang="zh-TW" altLang="en-US" dirty="0"/>
              <a:t>需要能處理</a:t>
            </a:r>
            <a:r>
              <a:rPr lang="zh-TW" altLang="zh-TW" dirty="0"/>
              <a:t>複雜運算</a:t>
            </a:r>
            <a:r>
              <a:rPr lang="zh-TW" altLang="en-US" dirty="0"/>
              <a:t>的</a:t>
            </a:r>
            <a:r>
              <a:rPr lang="zh-TW" altLang="zh-TW" dirty="0"/>
              <a:t>計算工具</a:t>
            </a:r>
            <a:endParaRPr lang="en-US" altLang="zh-TW" dirty="0"/>
          </a:p>
          <a:p>
            <a:r>
              <a:rPr lang="zh-TW" altLang="zh-TW" dirty="0"/>
              <a:t>計算工具經歷三個階段</a:t>
            </a:r>
            <a:r>
              <a:rPr lang="zh-TW" altLang="en-US" dirty="0"/>
              <a:t>的發展</a:t>
            </a:r>
            <a:r>
              <a:rPr lang="zh-TW" altLang="zh-TW" dirty="0"/>
              <a:t>： </a:t>
            </a:r>
          </a:p>
          <a:p>
            <a:pPr lvl="1"/>
            <a:r>
              <a:rPr lang="zh-TW" altLang="zh-TW" dirty="0">
                <a:solidFill>
                  <a:srgbClr val="0070C0"/>
                </a:solidFill>
              </a:rPr>
              <a:t>機械式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mechanical</a:t>
            </a:r>
            <a:r>
              <a:rPr lang="en-US" altLang="zh-TW" dirty="0"/>
              <a:t>)</a:t>
            </a:r>
            <a:r>
              <a:rPr lang="zh-TW" altLang="zh-TW" dirty="0"/>
              <a:t>：使用齒輪、槓桿與滾輪等機械零件的運作</a:t>
            </a:r>
          </a:p>
          <a:p>
            <a:pPr lvl="1"/>
            <a:r>
              <a:rPr lang="zh-TW" altLang="zh-TW" dirty="0">
                <a:solidFill>
                  <a:srgbClr val="0070C0"/>
                </a:solidFill>
              </a:rPr>
              <a:t>電機式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electromechanical</a:t>
            </a:r>
            <a:r>
              <a:rPr lang="en-US" altLang="zh-TW" dirty="0"/>
              <a:t>)</a:t>
            </a:r>
            <a:r>
              <a:rPr lang="zh-TW" altLang="zh-TW" dirty="0"/>
              <a:t>：使用電力自動切換開關以驅動機械的運轉</a:t>
            </a:r>
          </a:p>
          <a:p>
            <a:pPr lvl="1"/>
            <a:r>
              <a:rPr lang="zh-TW" altLang="zh-TW" dirty="0">
                <a:solidFill>
                  <a:srgbClr val="0070C0"/>
                </a:solidFill>
              </a:rPr>
              <a:t>電子式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electronic</a:t>
            </a:r>
            <a:r>
              <a:rPr lang="en-US" altLang="zh-TW" dirty="0"/>
              <a:t>)</a:t>
            </a:r>
            <a:r>
              <a:rPr lang="zh-TW" altLang="zh-TW" dirty="0"/>
              <a:t>：利用電子電路做精密的控制</a:t>
            </a:r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1.1</a:t>
            </a:r>
            <a:r>
              <a:rPr lang="zh-TW" altLang="en-US" dirty="0" smtClean="0"/>
              <a:t>計算機</a:t>
            </a:r>
            <a:r>
              <a:rPr lang="zh-TW" altLang="en-US" dirty="0"/>
              <a:t>的發明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zh-TW" dirty="0"/>
              <a:t>計算工具</a:t>
            </a:r>
            <a:r>
              <a:rPr lang="zh-TW" altLang="en-US" dirty="0" smtClean="0"/>
              <a:t>依據</a:t>
            </a:r>
            <a:r>
              <a:rPr lang="zh-TW" altLang="en-US" dirty="0"/>
              <a:t>處理的數值形式區分成兩大類：</a:t>
            </a:r>
            <a:endParaRPr lang="en-US" altLang="zh-TW" u="wavyDbl" dirty="0" smtClean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 smtClean="0">
                <a:solidFill>
                  <a:srgbClr val="0070C0"/>
                </a:solidFill>
              </a:rPr>
              <a:t>類比式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zh-TW" dirty="0" smtClean="0"/>
              <a:t>analog</a:t>
            </a:r>
            <a:r>
              <a:rPr lang="en-US" altLang="zh-TW" dirty="0" smtClean="0"/>
              <a:t>)</a:t>
            </a:r>
            <a:r>
              <a:rPr lang="zh-TW" altLang="zh-TW" dirty="0" smtClean="0"/>
              <a:t>：處理的數值可</a:t>
            </a:r>
            <a:r>
              <a:rPr lang="zh-TW" altLang="zh-TW" dirty="0" smtClean="0">
                <a:solidFill>
                  <a:srgbClr val="00B050"/>
                </a:solidFill>
              </a:rPr>
              <a:t>連續變化</a:t>
            </a:r>
            <a:r>
              <a:rPr lang="zh-TW" altLang="zh-TW" dirty="0" smtClean="0"/>
              <a:t>，這種設計的方式較為直覺，因為機械的運轉與電力的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控制</a:t>
            </a:r>
            <a:r>
              <a:rPr lang="zh-TW" altLang="zh-TW" dirty="0" smtClean="0"/>
              <a:t>均是類比式。缺點是很難掌握精準度，相同的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數值</a:t>
            </a:r>
            <a:r>
              <a:rPr lang="zh-TW" altLang="zh-TW" dirty="0" smtClean="0"/>
              <a:t>經過類比式計算會產生些微的差異</a:t>
            </a:r>
            <a:r>
              <a:rPr lang="zh-TW" altLang="en-US" dirty="0" smtClean="0"/>
              <a:t>。</a:t>
            </a:r>
            <a:endParaRPr lang="zh-TW" altLang="zh-TW" dirty="0" smtClean="0"/>
          </a:p>
          <a:p>
            <a:r>
              <a:rPr lang="zh-TW" altLang="zh-TW" dirty="0" smtClean="0">
                <a:solidFill>
                  <a:srgbClr val="0070C0"/>
                </a:solidFill>
              </a:rPr>
              <a:t>數位式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zh-TW" dirty="0" smtClean="0"/>
              <a:t>digital</a:t>
            </a:r>
            <a:r>
              <a:rPr lang="en-US" altLang="zh-TW" dirty="0" smtClean="0"/>
              <a:t>)</a:t>
            </a:r>
            <a:r>
              <a:rPr lang="zh-TW" altLang="zh-TW" dirty="0" smtClean="0"/>
              <a:t>：處理的數值是</a:t>
            </a:r>
            <a:r>
              <a:rPr lang="zh-TW" altLang="zh-TW" dirty="0" smtClean="0">
                <a:solidFill>
                  <a:srgbClr val="00B050"/>
                </a:solidFill>
              </a:rPr>
              <a:t>不連續的變化</a:t>
            </a:r>
            <a:r>
              <a:rPr lang="zh-TW" altLang="zh-TW" dirty="0" smtClean="0"/>
              <a:t>，</a:t>
            </a:r>
            <a:r>
              <a:rPr lang="zh-TW" altLang="en-US" dirty="0" smtClean="0"/>
              <a:t>較</a:t>
            </a:r>
            <a:r>
              <a:rPr lang="zh-TW" altLang="zh-TW" dirty="0" smtClean="0"/>
              <a:t>容易進行運算且不會產生計算誤差。</a:t>
            </a:r>
            <a:r>
              <a:rPr lang="zh-TW" altLang="en-US" dirty="0"/>
              <a:t>必須先將這些輸入的數值用近似的整數表示</a:t>
            </a:r>
            <a:r>
              <a:rPr lang="zh-TW" altLang="zh-TW" dirty="0" smtClean="0"/>
              <a:t>，會有誤差的發生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1.1</a:t>
            </a:r>
            <a:r>
              <a:rPr lang="zh-TW" altLang="en-US" dirty="0" smtClean="0"/>
              <a:t>計算機</a:t>
            </a:r>
            <a:r>
              <a:rPr lang="zh-TW" altLang="en-US" dirty="0"/>
              <a:t>的</a:t>
            </a:r>
            <a:r>
              <a:rPr lang="zh-TW" altLang="en-US" dirty="0" smtClean="0"/>
              <a:t>發明 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493215"/>
              </p:ext>
            </p:extLst>
          </p:nvPr>
        </p:nvGraphicFramePr>
        <p:xfrm>
          <a:off x="683568" y="4869160"/>
          <a:ext cx="7848872" cy="10058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848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r>
                        <a:rPr lang="zh-TW" altLang="zh-TW" sz="2400" baseline="0" dirty="0" smtClean="0">
                          <a:ea typeface="標楷體" pitchFamily="65" charset="-120"/>
                        </a:rPr>
                        <a:t>電腦是一台</a:t>
                      </a:r>
                      <a:r>
                        <a:rPr lang="zh-TW" altLang="zh-TW" sz="2400" baseline="0" dirty="0" smtClean="0">
                          <a:solidFill>
                            <a:srgbClr val="0070C0"/>
                          </a:solidFill>
                          <a:ea typeface="標楷體" pitchFamily="65" charset="-120"/>
                        </a:rPr>
                        <a:t>多功能電子數位式計算機</a:t>
                      </a:r>
                      <a:r>
                        <a:rPr lang="zh-TW" altLang="zh-TW" sz="2400" baseline="0" dirty="0" smtClean="0">
                          <a:ea typeface="標楷體" pitchFamily="65" charset="-120"/>
                        </a:rPr>
                        <a:t>，內部只處理兩種數字，即</a:t>
                      </a:r>
                      <a:r>
                        <a:rPr lang="zh-TW" altLang="zh-TW" sz="2400" baseline="0" dirty="0" smtClean="0">
                          <a:solidFill>
                            <a:srgbClr val="0070C0"/>
                          </a:solidFill>
                          <a:ea typeface="標楷體" pitchFamily="65" charset="-120"/>
                        </a:rPr>
                        <a:t>0與1</a:t>
                      </a:r>
                      <a:r>
                        <a:rPr lang="zh-TW" altLang="en-US" sz="2400" baseline="0" dirty="0" smtClean="0">
                          <a:ea typeface="標楷體" pitchFamily="65" charset="-120"/>
                        </a:rPr>
                        <a:t> </a:t>
                      </a:r>
                      <a:r>
                        <a:rPr lang="en-US" altLang="zh-TW" sz="2400" baseline="0" dirty="0" smtClean="0">
                          <a:ea typeface="標楷體" pitchFamily="65" charset="-120"/>
                        </a:rPr>
                        <a:t>(</a:t>
                      </a:r>
                      <a:r>
                        <a:rPr lang="zh-TW" altLang="zh-TW" sz="2400" baseline="0" dirty="0" smtClean="0">
                          <a:ea typeface="標楷體" pitchFamily="65" charset="-120"/>
                        </a:rPr>
                        <a:t>二進位數字系統</a:t>
                      </a:r>
                      <a:r>
                        <a:rPr lang="en-US" altLang="zh-TW" sz="2400" baseline="0" dirty="0" smtClean="0">
                          <a:ea typeface="標楷體" pitchFamily="65" charset="-120"/>
                        </a:rPr>
                        <a:t>, </a:t>
                      </a:r>
                      <a:r>
                        <a:rPr lang="zh-TW" altLang="zh-TW" sz="2400" baseline="0" dirty="0" smtClean="0">
                          <a:ea typeface="標楷體" pitchFamily="65" charset="-120"/>
                        </a:rPr>
                        <a:t>binary number system</a:t>
                      </a:r>
                      <a:r>
                        <a:rPr lang="en-US" altLang="zh-TW" sz="2400" baseline="0" dirty="0" smtClean="0">
                          <a:ea typeface="標楷體" pitchFamily="65" charset="-120"/>
                        </a:rPr>
                        <a:t>)</a:t>
                      </a:r>
                      <a:endParaRPr lang="zh-TW" altLang="en-US" sz="2400" baseline="0" dirty="0" smtClean="0">
                        <a:ea typeface="標楷體" pitchFamily="65" charset="-120"/>
                      </a:endParaRPr>
                    </a:p>
                    <a:p>
                      <a:pPr marL="0" lvl="1"/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8517385" cy="3928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556327" y="2564904"/>
            <a:ext cx="7976113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63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Pascaline</a:t>
            </a:r>
            <a:r>
              <a:rPr lang="zh-TW" altLang="zh-TW" dirty="0"/>
              <a:t>加法器</a:t>
            </a:r>
          </a:p>
          <a:p>
            <a:pPr lvl="1"/>
            <a:r>
              <a:rPr lang="zh-TW" altLang="zh-TW" dirty="0"/>
              <a:t>1642年法國數學家帕斯卡爾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Blaise Pascal</a:t>
            </a:r>
            <a:r>
              <a:rPr lang="en-US" altLang="zh-TW" dirty="0"/>
              <a:t>) </a:t>
            </a:r>
            <a:r>
              <a:rPr lang="zh-TW" altLang="zh-TW" dirty="0"/>
              <a:t>為了減輕父親在稅務工作的辛勞，</a:t>
            </a:r>
            <a:r>
              <a:rPr lang="zh-TW" altLang="en-US" dirty="0"/>
              <a:t>所</a:t>
            </a:r>
            <a:r>
              <a:rPr lang="zh-TW" altLang="zh-TW" dirty="0"/>
              <a:t>發明</a:t>
            </a:r>
            <a:r>
              <a:rPr lang="zh-TW" altLang="en-US" dirty="0"/>
              <a:t>的</a:t>
            </a:r>
            <a:r>
              <a:rPr lang="zh-TW" altLang="zh-TW" dirty="0"/>
              <a:t>機械式加法器</a:t>
            </a:r>
            <a:endParaRPr lang="en-US" altLang="zh-TW" dirty="0"/>
          </a:p>
          <a:p>
            <a:pPr lvl="1"/>
            <a:r>
              <a:rPr lang="zh-TW" altLang="zh-TW" dirty="0"/>
              <a:t>利用齒輪的齧合、旋轉與平移等方式進行數字運算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1.1</a:t>
            </a:r>
            <a:r>
              <a:rPr lang="zh-TW" altLang="en-US" dirty="0"/>
              <a:t>計算機的發明 </a:t>
            </a:r>
          </a:p>
        </p:txBody>
      </p:sp>
      <p:pic>
        <p:nvPicPr>
          <p:cNvPr id="6" name="officeArt object" descr="Arts_et_Metiers_Pascaline_dsc03869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808" y="3501008"/>
            <a:ext cx="3384376" cy="1728192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1793034" y="5373216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1.2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Pascaline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加法器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</a:t>
            </a:r>
            <a:r>
              <a:rPr lang="zh-TW" altLang="zh-TW" dirty="0"/>
              <a:t>控制編織流程的織布機</a:t>
            </a:r>
          </a:p>
          <a:p>
            <a:pPr lvl="1"/>
            <a:r>
              <a:rPr lang="en-US" altLang="zh-TW" dirty="0"/>
              <a:t>1801</a:t>
            </a:r>
            <a:r>
              <a:rPr lang="zh-TW" altLang="zh-TW" dirty="0"/>
              <a:t>年法國人傑夸德</a:t>
            </a:r>
            <a:r>
              <a:rPr lang="zh-TW" altLang="en-US" dirty="0"/>
              <a:t> </a:t>
            </a:r>
            <a:r>
              <a:rPr lang="en-US" altLang="zh-TW" dirty="0"/>
              <a:t>(Joseph-Marie Jacquard) </a:t>
            </a:r>
            <a:r>
              <a:rPr lang="zh-TW" altLang="zh-TW" dirty="0"/>
              <a:t>發明，使用打孔卡片</a:t>
            </a:r>
            <a:r>
              <a:rPr lang="zh-TW" altLang="en-US" dirty="0"/>
              <a:t> </a:t>
            </a:r>
            <a:r>
              <a:rPr lang="en-US" altLang="zh-TW" dirty="0"/>
              <a:t>(punched card) </a:t>
            </a:r>
            <a:endParaRPr lang="en-US" altLang="zh-TW" u="wavyDbl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啟發電腦將處理程序儲存起來的作法</a:t>
            </a:r>
            <a:r>
              <a:rPr lang="zh-TW" altLang="en-US" dirty="0"/>
              <a:t>，</a:t>
            </a:r>
            <a:r>
              <a:rPr lang="zh-TW" altLang="zh-TW" dirty="0"/>
              <a:t>儲存的程序內容稱為</a:t>
            </a:r>
            <a:r>
              <a:rPr lang="zh-TW" altLang="zh-TW" dirty="0">
                <a:solidFill>
                  <a:srgbClr val="0070C0"/>
                </a:solidFill>
              </a:rPr>
              <a:t>程式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program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1.1</a:t>
            </a:r>
            <a:r>
              <a:rPr lang="zh-TW" altLang="en-US" dirty="0"/>
              <a:t>計算機的發明 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827584" y="6093296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1.3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Jacquard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織布機；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讀取打孔卡片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[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共享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b) ]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officeArt object" descr="Jacquard Loo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616" y="3429000"/>
            <a:ext cx="3096344" cy="237626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9" name="圖片 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3429000"/>
            <a:ext cx="2952328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411760" y="57420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278270" y="574200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差分機</a:t>
            </a:r>
            <a:r>
              <a:rPr lang="zh-TW" altLang="en-US" dirty="0"/>
              <a:t> </a:t>
            </a:r>
            <a:r>
              <a:rPr lang="en-US" altLang="zh-TW" dirty="0"/>
              <a:t>(Difference Engine)</a:t>
            </a:r>
            <a:r>
              <a:rPr lang="zh-TW" altLang="zh-TW" dirty="0"/>
              <a:t> </a:t>
            </a:r>
            <a:endParaRPr lang="en-US" altLang="zh-TW" dirty="0"/>
          </a:p>
          <a:p>
            <a:pPr lvl="1"/>
            <a:r>
              <a:rPr lang="en-US" altLang="zh-TW" dirty="0"/>
              <a:t>1823</a:t>
            </a:r>
            <a:r>
              <a:rPr lang="zh-TW" altLang="zh-TW" dirty="0"/>
              <a:t>年英國數學家巴貝奇</a:t>
            </a:r>
            <a:r>
              <a:rPr lang="zh-TW" altLang="en-US" dirty="0"/>
              <a:t> </a:t>
            </a:r>
            <a:r>
              <a:rPr lang="en-US" altLang="zh-TW" dirty="0"/>
              <a:t>(Charles Babbage) </a:t>
            </a:r>
            <a:r>
              <a:rPr lang="zh-TW" altLang="zh-TW" dirty="0"/>
              <a:t>設計</a:t>
            </a:r>
            <a:endParaRPr lang="en-US" altLang="zh-TW" dirty="0"/>
          </a:p>
          <a:p>
            <a:pPr lvl="1"/>
            <a:r>
              <a:rPr lang="zh-TW" altLang="zh-TW" dirty="0"/>
              <a:t>能處理數字的四則運算，還可以對多項式方程式利用加減法求值</a:t>
            </a:r>
            <a:endParaRPr lang="en-US" altLang="zh-TW" dirty="0"/>
          </a:p>
          <a:p>
            <a:pPr lvl="1"/>
            <a:r>
              <a:rPr lang="zh-TW" altLang="zh-TW" dirty="0"/>
              <a:t>這台機器的設計包含兩個區域：</a:t>
            </a:r>
            <a:r>
              <a:rPr lang="zh-TW" altLang="zh-TW" dirty="0" smtClean="0"/>
              <a:t>儲存</a:t>
            </a:r>
            <a:r>
              <a:rPr lang="zh-TW" altLang="en-US" dirty="0" smtClean="0"/>
              <a:t>多組</a:t>
            </a:r>
            <a:r>
              <a:rPr lang="zh-TW" altLang="zh-TW" dirty="0" smtClean="0"/>
              <a:t>數字</a:t>
            </a:r>
            <a:r>
              <a:rPr lang="zh-TW" altLang="zh-TW" dirty="0"/>
              <a:t>的儲存區</a:t>
            </a:r>
            <a:r>
              <a:rPr lang="zh-TW" altLang="en-US" dirty="0"/>
              <a:t>與</a:t>
            </a:r>
            <a:r>
              <a:rPr lang="zh-TW" altLang="zh-TW" dirty="0"/>
              <a:t>進行數字運算的運算區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1.1</a:t>
            </a:r>
            <a:r>
              <a:rPr lang="zh-TW" altLang="en-US" dirty="0"/>
              <a:t>計算機的發明 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2051720" y="6156012"/>
            <a:ext cx="491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1.4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差分機模型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officeArt object" descr="File:Babbage Difference Engine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9832" y="3933056"/>
            <a:ext cx="3024336" cy="216024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5200"/>
            <a:ext cx="8568952" cy="4738531"/>
          </a:xfrm>
        </p:spPr>
        <p:txBody>
          <a:bodyPr/>
          <a:lstStyle/>
          <a:p>
            <a:r>
              <a:rPr lang="zh-TW" altLang="en-US" dirty="0"/>
              <a:t>製表機</a:t>
            </a:r>
            <a:r>
              <a:rPr lang="zh-TW" altLang="zh-TW" dirty="0"/>
              <a:t> </a:t>
            </a:r>
            <a:endParaRPr lang="en-US" altLang="zh-TW" dirty="0"/>
          </a:p>
          <a:p>
            <a:pPr lvl="1"/>
            <a:r>
              <a:rPr lang="en-US" altLang="zh-TW" dirty="0"/>
              <a:t>1880</a:t>
            </a:r>
            <a:r>
              <a:rPr lang="zh-TW" altLang="zh-TW" dirty="0"/>
              <a:t>年德裔美籍的發明家霍爾瑞斯</a:t>
            </a:r>
            <a:r>
              <a:rPr lang="zh-TW" altLang="en-US" dirty="0"/>
              <a:t> </a:t>
            </a:r>
            <a:r>
              <a:rPr lang="en-US" altLang="zh-TW" dirty="0"/>
              <a:t>(Herman Hollerith) </a:t>
            </a:r>
            <a:r>
              <a:rPr lang="zh-TW" altLang="zh-TW" dirty="0"/>
              <a:t>設計</a:t>
            </a:r>
            <a:endParaRPr lang="en-US" altLang="zh-TW" dirty="0"/>
          </a:p>
          <a:p>
            <a:pPr lvl="1"/>
            <a:r>
              <a:rPr lang="zh-TW" altLang="zh-TW" dirty="0"/>
              <a:t>能將一堆記錄於打孔卡片的資料讀入，進行統計的計算</a:t>
            </a:r>
            <a:endParaRPr lang="en-US" altLang="zh-TW" dirty="0"/>
          </a:p>
          <a:p>
            <a:pPr lvl="1"/>
            <a:r>
              <a:rPr lang="zh-TW" altLang="zh-TW" dirty="0"/>
              <a:t>霍爾瑞斯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成立一家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公司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，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1924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年改名為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IBM</a:t>
            </a:r>
            <a:endParaRPr lang="zh-TW" altLang="en-US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1.1</a:t>
            </a:r>
            <a:r>
              <a:rPr lang="zh-TW" altLang="en-US" dirty="0"/>
              <a:t>計算機的發明 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763688" y="6011996"/>
            <a:ext cx="5211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1.5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Hollerith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製表機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officeArt object" descr="File:HollerithMachine.CHM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800" y="3645024"/>
            <a:ext cx="3456384" cy="2304256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1938</a:t>
            </a:r>
            <a:r>
              <a:rPr lang="zh-TW" altLang="zh-TW" dirty="0"/>
              <a:t>年德國數學家楚澤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Konrad</a:t>
            </a:r>
            <a:r>
              <a:rPr lang="en-US" altLang="zh-TW" dirty="0"/>
              <a:t> </a:t>
            </a:r>
            <a:r>
              <a:rPr lang="en-US" altLang="zh-TW" dirty="0" err="1"/>
              <a:t>Zuse</a:t>
            </a:r>
            <a:r>
              <a:rPr lang="en-US" altLang="zh-TW" dirty="0"/>
              <a:t>)</a:t>
            </a:r>
            <a:r>
              <a:rPr lang="zh-TW" altLang="zh-TW" dirty="0"/>
              <a:t> </a:t>
            </a:r>
            <a:r>
              <a:rPr lang="zh-TW" altLang="en-US" dirty="0"/>
              <a:t>設計</a:t>
            </a:r>
            <a:r>
              <a:rPr lang="en-US" altLang="zh-TW" dirty="0"/>
              <a:t>Z1</a:t>
            </a:r>
            <a:r>
              <a:rPr lang="zh-TW" altLang="zh-TW" dirty="0"/>
              <a:t>，是世界第一台數位式的計算機 </a:t>
            </a:r>
            <a:endParaRPr lang="en-US" altLang="zh-TW" dirty="0"/>
          </a:p>
          <a:p>
            <a:r>
              <a:rPr lang="en-US" altLang="zh-TW" dirty="0"/>
              <a:t>1944</a:t>
            </a:r>
            <a:r>
              <a:rPr lang="zh-TW" altLang="zh-TW" dirty="0"/>
              <a:t>年美國科學家艾肯</a:t>
            </a:r>
            <a:r>
              <a:rPr lang="zh-TW" altLang="en-US" dirty="0"/>
              <a:t> </a:t>
            </a:r>
            <a:r>
              <a:rPr lang="en-US" altLang="zh-TW" dirty="0"/>
              <a:t>(Howard Aiken) </a:t>
            </a:r>
            <a:r>
              <a:rPr lang="zh-TW" altLang="zh-TW" dirty="0"/>
              <a:t>設計</a:t>
            </a:r>
            <a:r>
              <a:rPr lang="en-US" altLang="zh-TW" dirty="0"/>
              <a:t>Harvard Mark I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1.1</a:t>
            </a:r>
            <a:r>
              <a:rPr lang="zh-TW" altLang="en-US" dirty="0"/>
              <a:t>計算機的發明 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11560" y="5445224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1.6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柏林博物館展示的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Z1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複製機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圖片 8" descr="File:Zuse Z1-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068960"/>
            <a:ext cx="3672408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圖片 9" descr="File:Harvard Mark I Computer - Right Segment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2996952"/>
            <a:ext cx="3528392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字方塊 7"/>
          <p:cNvSpPr txBox="1"/>
          <p:nvPr/>
        </p:nvSpPr>
        <p:spPr>
          <a:xfrm>
            <a:off x="4716016" y="5445224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1.7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Harvard Mark I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計算機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6752"/>
            <a:ext cx="5760640" cy="5472608"/>
          </a:xfrm>
        </p:spPr>
        <p:txBody>
          <a:bodyPr>
            <a:normAutofit/>
          </a:bodyPr>
          <a:lstStyle/>
          <a:p>
            <a:r>
              <a:rPr lang="zh-TW" altLang="zh-TW" b="1" dirty="0"/>
              <a:t>第一代電腦：以</a:t>
            </a:r>
            <a:r>
              <a:rPr lang="zh-TW" altLang="zh-TW" b="1" dirty="0">
                <a:solidFill>
                  <a:srgbClr val="0070C0"/>
                </a:solidFill>
              </a:rPr>
              <a:t>真空管</a:t>
            </a:r>
            <a:r>
              <a:rPr lang="zh-TW" altLang="zh-TW" b="1" dirty="0"/>
              <a:t>為主要電子元件</a:t>
            </a:r>
            <a:endParaRPr lang="en-US" altLang="zh-TW" b="1" dirty="0"/>
          </a:p>
          <a:p>
            <a:pPr lvl="1"/>
            <a:r>
              <a:rPr lang="zh-TW" altLang="zh-TW" dirty="0"/>
              <a:t>真空管能控制電子的流動，產生關閉與開啟的狀態</a:t>
            </a:r>
            <a:endParaRPr lang="en-US" altLang="zh-TW" dirty="0"/>
          </a:p>
          <a:p>
            <a:pPr lvl="1"/>
            <a:r>
              <a:rPr lang="zh-TW" altLang="zh-TW" dirty="0"/>
              <a:t>真空管體積較大、耗電高且會發熱</a:t>
            </a:r>
            <a:endParaRPr lang="en-US" altLang="zh-TW" dirty="0"/>
          </a:p>
          <a:p>
            <a:pPr lvl="1"/>
            <a:r>
              <a:rPr lang="zh-TW" altLang="zh-TW" dirty="0"/>
              <a:t>1946年美國陸軍出資賓州大學建造ENIAC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Electronic Numerical Integrator And Computer</a:t>
            </a:r>
            <a:r>
              <a:rPr lang="en-US" altLang="zh-TW" dirty="0"/>
              <a:t>)</a:t>
            </a:r>
            <a:r>
              <a:rPr lang="zh-TW" altLang="zh-TW" dirty="0"/>
              <a:t>，使用超過一萬個真空管</a:t>
            </a:r>
            <a:endParaRPr lang="en-US" altLang="zh-TW" dirty="0"/>
          </a:p>
          <a:p>
            <a:pPr lvl="1"/>
            <a:r>
              <a:rPr lang="en-US" altLang="zh-TW" dirty="0"/>
              <a:t>1951</a:t>
            </a:r>
            <a:r>
              <a:rPr lang="zh-TW" altLang="zh-TW" dirty="0"/>
              <a:t>年運作的</a:t>
            </a:r>
            <a:r>
              <a:rPr lang="en-US" altLang="zh-TW" dirty="0"/>
              <a:t>EDVAC</a:t>
            </a:r>
            <a:r>
              <a:rPr lang="zh-TW" altLang="en-US" dirty="0"/>
              <a:t> </a:t>
            </a:r>
            <a:r>
              <a:rPr lang="en-US" altLang="zh-TW" dirty="0"/>
              <a:t>(Electronic Discrete Variable Automatic Computer) </a:t>
            </a:r>
            <a:r>
              <a:rPr lang="zh-TW" altLang="zh-TW" dirty="0"/>
              <a:t>是一台能將程式載入至記憶體，並可進一步修改程式內容的機器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1.2</a:t>
            </a:r>
            <a:r>
              <a:rPr lang="zh-TW" altLang="en-US" dirty="0" smtClean="0"/>
              <a:t>電腦</a:t>
            </a:r>
            <a:r>
              <a:rPr lang="zh-TW" altLang="en-US" dirty="0"/>
              <a:t>的演進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614" y="1670100"/>
            <a:ext cx="2790874" cy="3487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6228184" y="5230941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1.8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真空管元件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圖片來源：林士凱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95337"/>
            <a:ext cx="8208912" cy="4081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684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9216"/>
            <a:ext cx="8424936" cy="3700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760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第二代電腦：以</a:t>
            </a:r>
            <a:r>
              <a:rPr lang="zh-TW" altLang="zh-TW" b="1" dirty="0">
                <a:solidFill>
                  <a:srgbClr val="0070C0"/>
                </a:solidFill>
              </a:rPr>
              <a:t>電晶體</a:t>
            </a:r>
            <a:r>
              <a:rPr lang="zh-TW" altLang="zh-TW" b="1" dirty="0"/>
              <a:t>為主要電子元件</a:t>
            </a:r>
            <a:endParaRPr lang="en-US" altLang="zh-TW" b="1" dirty="0"/>
          </a:p>
          <a:p>
            <a:pPr lvl="1"/>
            <a:r>
              <a:rPr lang="zh-TW" altLang="zh-TW" dirty="0"/>
              <a:t>利用半導體材料製作，類似真空管</a:t>
            </a:r>
            <a:r>
              <a:rPr lang="zh-TW" altLang="zh-TW" dirty="0" smtClean="0"/>
              <a:t>可</a:t>
            </a:r>
            <a:r>
              <a:rPr lang="zh-TW" altLang="en-US" dirty="0" smtClean="0"/>
              <a:t>作</a:t>
            </a:r>
            <a:r>
              <a:rPr lang="zh-TW" altLang="zh-TW" dirty="0" smtClean="0"/>
              <a:t>為</a:t>
            </a:r>
            <a:r>
              <a:rPr lang="zh-TW" altLang="zh-TW" dirty="0"/>
              <a:t>電流的開關，但體積很小、沒有過熱問題</a:t>
            </a:r>
            <a:endParaRPr lang="en-US" altLang="zh-TW" dirty="0"/>
          </a:p>
          <a:p>
            <a:pPr lvl="1"/>
            <a:r>
              <a:rPr lang="zh-TW" altLang="zh-TW" dirty="0"/>
              <a:t>美國Honeywell公司生產的Hon</a:t>
            </a:r>
            <a:r>
              <a:rPr lang="en-US" altLang="zh-TW" dirty="0"/>
              <a:t>e</a:t>
            </a:r>
            <a:r>
              <a:rPr lang="zh-TW" altLang="zh-TW" dirty="0"/>
              <a:t>ywell 400電腦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pic>
        <p:nvPicPr>
          <p:cNvPr id="8" name="圖片 7" descr="http://www.computermuseum.li/Testpage/Honeywell400-MF-1964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3140968"/>
            <a:ext cx="324036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/>
          <p:cNvSpPr txBox="1"/>
          <p:nvPr/>
        </p:nvSpPr>
        <p:spPr>
          <a:xfrm>
            <a:off x="635633" y="5805264"/>
            <a:ext cx="7872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1.11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電晶體元件；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Honeywell 400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電腦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[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圖片來源：林士凱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、維基</a:t>
            </a:r>
          </a:p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]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205849"/>
            <a:ext cx="3600400" cy="223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339752" y="544522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228184" y="55172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第三代電腦：以</a:t>
            </a:r>
            <a:r>
              <a:rPr lang="zh-TW" altLang="zh-TW" b="1" dirty="0">
                <a:solidFill>
                  <a:srgbClr val="0070C0"/>
                </a:solidFill>
              </a:rPr>
              <a:t>積體電路</a:t>
            </a:r>
            <a:r>
              <a:rPr lang="zh-TW" altLang="en-US" b="1" dirty="0"/>
              <a:t> </a:t>
            </a:r>
            <a:r>
              <a:rPr lang="en-US" altLang="zh-TW" b="1" dirty="0"/>
              <a:t>(IC) </a:t>
            </a:r>
            <a:r>
              <a:rPr lang="zh-TW" altLang="zh-TW" b="1" dirty="0"/>
              <a:t>為主要電子元件</a:t>
            </a:r>
            <a:endParaRPr lang="en-US" altLang="zh-TW" b="1" dirty="0"/>
          </a:p>
          <a:p>
            <a:pPr lvl="1"/>
            <a:r>
              <a:rPr lang="zh-TW" altLang="zh-TW" dirty="0"/>
              <a:t>將電路與許多電晶體元件製作在一片小的晶片上</a:t>
            </a:r>
            <a:endParaRPr lang="en-US" altLang="zh-TW" dirty="0"/>
          </a:p>
          <a:p>
            <a:pPr lvl="1"/>
            <a:r>
              <a:rPr lang="zh-TW" altLang="zh-TW" dirty="0"/>
              <a:t>微小化的技術讓電腦體積更小、售價更低廉</a:t>
            </a:r>
            <a:endParaRPr lang="en-US" altLang="zh-TW" dirty="0"/>
          </a:p>
          <a:p>
            <a:pPr lvl="1"/>
            <a:r>
              <a:rPr lang="zh-TW" altLang="zh-TW" dirty="0"/>
              <a:t>大型電腦</a:t>
            </a:r>
            <a:r>
              <a:rPr lang="zh-TW" altLang="en-US" dirty="0"/>
              <a:t> </a:t>
            </a:r>
            <a:r>
              <a:rPr lang="en-US" altLang="zh-TW" dirty="0"/>
              <a:t>(mainframe)</a:t>
            </a:r>
          </a:p>
          <a:p>
            <a:pPr lvl="1"/>
            <a:r>
              <a:rPr lang="zh-TW" altLang="zh-TW" dirty="0"/>
              <a:t>迷你電腦</a:t>
            </a:r>
            <a:r>
              <a:rPr lang="zh-TW" altLang="en-US" dirty="0"/>
              <a:t> </a:t>
            </a:r>
            <a:r>
              <a:rPr lang="en-US" altLang="zh-TW" dirty="0"/>
              <a:t>(minicomputer)</a:t>
            </a:r>
          </a:p>
          <a:p>
            <a:pPr lvl="1"/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107504" y="5949280"/>
            <a:ext cx="9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1.12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IC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元件；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IBM System/360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電腦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[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圖片來源：林士凱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、維基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]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圖片 10" descr="http://upload.wikimedia.org/wikipedia/commons/thumb/a/a0/IBM_system_360.JPG/220px-IBM_system_360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3573016"/>
            <a:ext cx="2952328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573016"/>
            <a:ext cx="2808312" cy="210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字方塊 12"/>
          <p:cNvSpPr txBox="1"/>
          <p:nvPr/>
        </p:nvSpPr>
        <p:spPr>
          <a:xfrm>
            <a:off x="2339752" y="565195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228184" y="566124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5200"/>
            <a:ext cx="8496944" cy="5400600"/>
          </a:xfrm>
        </p:spPr>
        <p:txBody>
          <a:bodyPr>
            <a:noAutofit/>
          </a:bodyPr>
          <a:lstStyle/>
          <a:p>
            <a:r>
              <a:rPr lang="en-US" altLang="zh-TW" dirty="0" smtClean="0"/>
              <a:t>IC</a:t>
            </a:r>
            <a:r>
              <a:rPr lang="zh-TW" altLang="en-US" dirty="0" smtClean="0"/>
              <a:t>晶片的</a:t>
            </a:r>
            <a:r>
              <a:rPr lang="zh-TW" altLang="en-US" dirty="0"/>
              <a:t>規模</a:t>
            </a:r>
            <a:r>
              <a:rPr lang="zh-TW" altLang="en-US" dirty="0" smtClean="0"/>
              <a:t>大小，利用</a:t>
            </a:r>
            <a:r>
              <a:rPr lang="zh-TW" altLang="en-US" dirty="0"/>
              <a:t>所包含的電晶體數量來區分。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>
              <a:lnSpc>
                <a:spcPts val="2000"/>
              </a:lnSpc>
            </a:pP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201" y="1986466"/>
            <a:ext cx="4721597" cy="2885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第四代電腦：以</a:t>
            </a:r>
            <a:r>
              <a:rPr lang="zh-TW" altLang="zh-TW" b="1" dirty="0">
                <a:solidFill>
                  <a:srgbClr val="0070C0"/>
                </a:solidFill>
              </a:rPr>
              <a:t>VLSI</a:t>
            </a:r>
            <a:r>
              <a:rPr lang="zh-TW" altLang="zh-TW" b="1" dirty="0" smtClean="0">
                <a:solidFill>
                  <a:srgbClr val="0070C0"/>
                </a:solidFill>
              </a:rPr>
              <a:t>等級</a:t>
            </a:r>
            <a:r>
              <a:rPr lang="zh-TW" altLang="en-US" b="1" dirty="0" smtClean="0">
                <a:solidFill>
                  <a:srgbClr val="0070C0"/>
                </a:solidFill>
              </a:rPr>
              <a:t>或以上</a:t>
            </a:r>
            <a:r>
              <a:rPr lang="zh-TW" altLang="zh-TW" b="1" dirty="0" smtClean="0">
                <a:solidFill>
                  <a:srgbClr val="0070C0"/>
                </a:solidFill>
              </a:rPr>
              <a:t>的</a:t>
            </a:r>
            <a:r>
              <a:rPr lang="zh-TW" altLang="zh-TW" b="1" dirty="0">
                <a:solidFill>
                  <a:srgbClr val="0070C0"/>
                </a:solidFill>
              </a:rPr>
              <a:t>IC</a:t>
            </a:r>
            <a:r>
              <a:rPr lang="zh-TW" altLang="zh-TW" b="1" dirty="0"/>
              <a:t>為主要電子元件</a:t>
            </a:r>
            <a:endParaRPr lang="en-US" altLang="zh-TW" b="1" dirty="0"/>
          </a:p>
          <a:p>
            <a:pPr lvl="1"/>
            <a:r>
              <a:rPr lang="zh-TW" altLang="zh-TW" dirty="0"/>
              <a:t>微電腦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microcomputer</a:t>
            </a:r>
            <a:r>
              <a:rPr lang="en-US" altLang="zh-TW" dirty="0"/>
              <a:t>)</a:t>
            </a:r>
            <a:r>
              <a:rPr lang="zh-TW" altLang="zh-TW" dirty="0"/>
              <a:t>，開始應用於個人用途</a:t>
            </a:r>
            <a:r>
              <a:rPr lang="zh-TW" altLang="en-US" dirty="0"/>
              <a:t>，</a:t>
            </a:r>
            <a:r>
              <a:rPr lang="zh-TW" altLang="zh-TW" dirty="0"/>
              <a:t>亦稱為個人電腦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Personal Computer，PC</a:t>
            </a:r>
            <a:r>
              <a:rPr lang="en-US" altLang="zh-TW" dirty="0"/>
              <a:t>)</a:t>
            </a:r>
          </a:p>
          <a:p>
            <a:pPr lvl="1"/>
            <a:r>
              <a:rPr lang="zh-TW" altLang="zh-TW" dirty="0"/>
              <a:t>使用微處理器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micropr</a:t>
            </a:r>
            <a:r>
              <a:rPr lang="en-US" altLang="zh-TW" dirty="0"/>
              <a:t>o</a:t>
            </a:r>
            <a:r>
              <a:rPr lang="zh-TW" altLang="zh-TW" dirty="0"/>
              <a:t>cessor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50585"/>
              </p:ext>
            </p:extLst>
          </p:nvPr>
        </p:nvGraphicFramePr>
        <p:xfrm>
          <a:off x="395536" y="3717032"/>
          <a:ext cx="5976664" cy="8229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9766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r>
                        <a:rPr lang="zh-TW" altLang="zh-TW" b="1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摩爾定律</a:t>
                      </a:r>
                      <a:r>
                        <a:rPr lang="zh-TW" altLang="en-US" b="1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lang="en-US" altLang="zh-TW" b="1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lang="zh-TW" altLang="zh-TW" b="1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Moore</a:t>
                      </a:r>
                      <a:r>
                        <a:rPr lang="en-US" altLang="zh-TW" b="1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’</a:t>
                      </a:r>
                      <a:r>
                        <a:rPr lang="zh-TW" altLang="zh-TW" b="1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s law</a:t>
                      </a:r>
                      <a:r>
                        <a:rPr lang="en-US" altLang="zh-TW" b="1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</a:t>
                      </a:r>
                      <a:endParaRPr lang="zh-TW" altLang="zh-TW" b="1" dirty="0" smtClean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  <a:p>
                      <a:pPr marL="0" lvl="1"/>
                      <a:r>
                        <a:rPr lang="zh-TW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積體電路內部的電晶體個數大概兩年</a:t>
                      </a:r>
                      <a:r>
                        <a:rPr lang="zh-TW" altLang="en-US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lang="zh-TW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或說</a:t>
                      </a:r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18</a:t>
                      </a:r>
                      <a:r>
                        <a:rPr lang="zh-TW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個月</a:t>
                      </a:r>
                      <a:r>
                        <a:rPr lang="en-US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 </a:t>
                      </a:r>
                      <a:r>
                        <a:rPr lang="zh-TW" altLang="zh-TW" dirty="0" smtClean="0"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就會增加一倍</a:t>
                      </a:r>
                      <a:endParaRPr lang="zh-TW" altLang="en-US" dirty="0"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498" y="2996952"/>
            <a:ext cx="2032974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Intel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在</a:t>
            </a:r>
            <a:r>
              <a:rPr lang="zh-TW" altLang="en-US" dirty="0" smtClean="0"/>
              <a:t>微處理器</a:t>
            </a:r>
            <a:r>
              <a:rPr lang="zh-TW" altLang="en-US" dirty="0"/>
              <a:t>的發展占有舉足輕重的地位</a:t>
            </a:r>
            <a:r>
              <a:rPr lang="en-US" altLang="zh-TW" dirty="0" smtClean="0"/>
              <a:t>(</a:t>
            </a:r>
            <a:r>
              <a:rPr lang="en-US" altLang="zh-TW" dirty="0"/>
              <a:t>4</a:t>
            </a:r>
            <a:r>
              <a:rPr lang="zh-TW" altLang="en-US" dirty="0"/>
              <a:t>位元處理器、</a:t>
            </a:r>
            <a:r>
              <a:rPr lang="en-US" altLang="zh-TW" dirty="0"/>
              <a:t>8</a:t>
            </a:r>
            <a:r>
              <a:rPr lang="zh-TW" altLang="en-US" dirty="0"/>
              <a:t>位元處理器、</a:t>
            </a:r>
            <a:r>
              <a:rPr lang="en-US" altLang="zh-TW" dirty="0"/>
              <a:t>16</a:t>
            </a:r>
            <a:r>
              <a:rPr lang="zh-TW" altLang="en-US" dirty="0"/>
              <a:t>位元處理器、</a:t>
            </a:r>
            <a:r>
              <a:rPr lang="en-US" altLang="zh-TW" dirty="0"/>
              <a:t>32</a:t>
            </a:r>
            <a:r>
              <a:rPr lang="zh-TW" altLang="en-US" dirty="0"/>
              <a:t>位元處理器、</a:t>
            </a:r>
            <a:r>
              <a:rPr lang="en-US" altLang="zh-TW" dirty="0"/>
              <a:t>64</a:t>
            </a:r>
            <a:r>
              <a:rPr lang="zh-TW" altLang="en-US" dirty="0"/>
              <a:t>位元處理器</a:t>
            </a:r>
            <a:r>
              <a:rPr lang="en-US" altLang="zh-TW" dirty="0"/>
              <a:t>)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848500"/>
              </p:ext>
            </p:extLst>
          </p:nvPr>
        </p:nvGraphicFramePr>
        <p:xfrm>
          <a:off x="1583668" y="5538936"/>
          <a:ext cx="5976664" cy="914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9766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2000" b="1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位元</a:t>
                      </a:r>
                      <a:r>
                        <a:rPr lang="zh-TW" altLang="en-US" sz="2000" b="1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 </a:t>
                      </a:r>
                      <a:r>
                        <a:rPr lang="en-US" altLang="zh-TW" sz="2000" b="1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(</a:t>
                      </a:r>
                      <a:r>
                        <a:rPr lang="zh-TW" sz="2000" b="1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bit</a:t>
                      </a:r>
                      <a:r>
                        <a:rPr lang="en-US" altLang="zh-TW" sz="2000" b="1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) </a:t>
                      </a:r>
                      <a:r>
                        <a:rPr lang="zh-TW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是電腦表示</a:t>
                      </a:r>
                      <a:r>
                        <a:rPr lang="zh-TW" altLang="en-US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二進位</a:t>
                      </a:r>
                      <a:r>
                        <a:rPr lang="zh-TW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數字的位數單位</a:t>
                      </a:r>
                      <a:r>
                        <a:rPr lang="zh-TW" altLang="en-US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，如</a:t>
                      </a:r>
                      <a:r>
                        <a:rPr lang="zh-TW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一位元數</a:t>
                      </a:r>
                      <a:r>
                        <a:rPr lang="zh-TW" altLang="en-US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表示</a:t>
                      </a:r>
                      <a:r>
                        <a:rPr lang="zh-TW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只使用一個位元</a:t>
                      </a:r>
                      <a:r>
                        <a:rPr lang="zh-TW" altLang="en-US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，</a:t>
                      </a:r>
                      <a:r>
                        <a:rPr lang="zh-TW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二位元數</a:t>
                      </a:r>
                      <a:r>
                        <a:rPr lang="zh-TW" altLang="en-US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則</a:t>
                      </a:r>
                      <a:r>
                        <a:rPr lang="zh-TW" sz="2000" kern="1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itchFamily="18" charset="0"/>
                          <a:ea typeface="標楷體" pitchFamily="65" charset="-120"/>
                          <a:cs typeface="Times New Roman" pitchFamily="18" charset="0"/>
                        </a:rPr>
                        <a:t>同時使用兩個位元。</a:t>
                      </a:r>
                      <a:endParaRPr lang="zh-TW" sz="2000" kern="100" dirty="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Times New Roman" pitchFamily="18" charset="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577084"/>
            <a:ext cx="7560840" cy="2796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96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早期的個人電腦</a:t>
            </a:r>
            <a:endParaRPr lang="en-US" altLang="zh-TW" dirty="0"/>
          </a:p>
          <a:p>
            <a:pPr lvl="1"/>
            <a:r>
              <a:rPr lang="zh-TW" altLang="zh-TW" dirty="0"/>
              <a:t>1975年</a:t>
            </a:r>
            <a:r>
              <a:rPr lang="zh-TW" altLang="zh-TW" dirty="0" smtClean="0"/>
              <a:t>出現個人電腦</a:t>
            </a:r>
            <a:r>
              <a:rPr lang="zh-TW" altLang="zh-TW" dirty="0"/>
              <a:t>Altair 8800，使用Intel 8080處理器</a:t>
            </a:r>
            <a:endParaRPr lang="en-US" altLang="zh-TW" dirty="0"/>
          </a:p>
          <a:p>
            <a:pPr lvl="1"/>
            <a:r>
              <a:rPr lang="zh-TW" altLang="zh-TW" dirty="0"/>
              <a:t>比爾蓋茲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Bill Gates</a:t>
            </a:r>
            <a:r>
              <a:rPr lang="en-US" altLang="zh-TW" dirty="0"/>
              <a:t>) </a:t>
            </a:r>
            <a:r>
              <a:rPr lang="zh-TW" altLang="zh-TW" dirty="0"/>
              <a:t>與保羅艾倫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Paul Allen</a:t>
            </a:r>
            <a:r>
              <a:rPr lang="en-US" altLang="zh-TW" dirty="0"/>
              <a:t>) 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撰寫了一個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程式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工具</a:t>
            </a:r>
            <a:r>
              <a:rPr lang="zh-TW" altLang="en-US" dirty="0"/>
              <a:t>，</a:t>
            </a:r>
            <a:r>
              <a:rPr lang="zh-TW" altLang="zh-TW" dirty="0"/>
              <a:t>稱為BASIC程式語言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pic>
        <p:nvPicPr>
          <p:cNvPr id="8" name="圖片 7" descr="http://oldcomputers.net/pics/Altair_8800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3789040"/>
            <a:ext cx="3384376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/>
          <p:cNvSpPr txBox="1"/>
          <p:nvPr/>
        </p:nvSpPr>
        <p:spPr>
          <a:xfrm>
            <a:off x="2123728" y="5877272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1.15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Altair 8800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電腦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基共享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早期的</a:t>
            </a:r>
            <a:r>
              <a:rPr lang="zh-TW" altLang="en-US" b="1" dirty="0" smtClean="0"/>
              <a:t>個人電腦</a:t>
            </a:r>
            <a:endParaRPr lang="en-US" altLang="zh-TW" dirty="0" smtClean="0"/>
          </a:p>
          <a:p>
            <a:pPr lvl="1"/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197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6</a:t>
            </a:r>
            <a:r>
              <a:rPr lang="zh-TW" altLang="zh-TW" dirty="0" smtClean="0"/>
              <a:t>年賈伯斯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zh-TW" dirty="0" smtClean="0"/>
              <a:t>Steve Jobs</a:t>
            </a:r>
            <a:r>
              <a:rPr lang="en-US" altLang="zh-TW" dirty="0" smtClean="0"/>
              <a:t>) </a:t>
            </a:r>
            <a:r>
              <a:rPr lang="zh-TW" altLang="zh-TW" dirty="0" smtClean="0"/>
              <a:t>與沃茲尼亞克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zh-TW" dirty="0" smtClean="0"/>
              <a:t>Steve Wozniak</a:t>
            </a:r>
            <a:r>
              <a:rPr lang="en-US" altLang="zh-TW" dirty="0" smtClean="0"/>
              <a:t>) 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陸續發表</a:t>
            </a:r>
            <a:r>
              <a:rPr lang="en-US" altLang="zh-TW" dirty="0"/>
              <a:t>Apple I </a:t>
            </a:r>
            <a:r>
              <a:rPr lang="zh-TW" altLang="en-US" dirty="0"/>
              <a:t>與</a:t>
            </a:r>
            <a:r>
              <a:rPr lang="en-US" altLang="zh-TW" dirty="0"/>
              <a:t>Apple II</a:t>
            </a:r>
            <a:endParaRPr lang="en-US" altLang="zh-TW" dirty="0" smtClean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 smtClean="0"/>
              <a:t>1980年推出麥金塔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zh-TW" dirty="0" smtClean="0"/>
              <a:t>Macintoch</a:t>
            </a:r>
            <a:r>
              <a:rPr lang="en-US" altLang="zh-TW" dirty="0" smtClean="0"/>
              <a:t>) </a:t>
            </a:r>
            <a:r>
              <a:rPr lang="zh-TW" altLang="zh-TW" dirty="0" smtClean="0"/>
              <a:t>個人電腦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748000" y="5949280"/>
            <a:ext cx="771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1.16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Apple II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電腦；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麥金塔電腦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[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b) ]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圖片 9" descr="http://oldcomputers.net/pics/appleii-system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3140968"/>
            <a:ext cx="3168352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圖片 10" descr="http://oldcomputers.net/pics/macintosh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212976"/>
            <a:ext cx="3312368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字方塊 7"/>
          <p:cNvSpPr txBox="1"/>
          <p:nvPr/>
        </p:nvSpPr>
        <p:spPr>
          <a:xfrm>
            <a:off x="2411760" y="551723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278270" y="55172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早期的個人電腦</a:t>
            </a:r>
            <a:endParaRPr lang="en-US" altLang="zh-TW" dirty="0"/>
          </a:p>
          <a:p>
            <a:pPr lvl="1"/>
            <a:r>
              <a:rPr lang="en-US" altLang="zh-TW" dirty="0"/>
              <a:t>1981</a:t>
            </a:r>
            <a:r>
              <a:rPr lang="zh-TW" altLang="en-US" dirty="0"/>
              <a:t>年</a:t>
            </a:r>
            <a:r>
              <a:rPr lang="en-US" altLang="zh-TW" dirty="0"/>
              <a:t>IBM</a:t>
            </a:r>
            <a:r>
              <a:rPr lang="zh-TW" altLang="en-US" dirty="0" smtClean="0"/>
              <a:t>推出第一代個人電腦 </a:t>
            </a:r>
            <a:r>
              <a:rPr lang="en-US" altLang="zh-TW" dirty="0" smtClean="0"/>
              <a:t>IBM</a:t>
            </a:r>
            <a:r>
              <a:rPr lang="zh-TW" altLang="en-US" dirty="0"/>
              <a:t> </a:t>
            </a:r>
            <a:r>
              <a:rPr lang="en-US" altLang="zh-TW" dirty="0" smtClean="0"/>
              <a:t>PC</a:t>
            </a:r>
            <a:endParaRPr lang="en-US" altLang="zh-TW" dirty="0"/>
          </a:p>
          <a:p>
            <a:pPr lvl="1"/>
            <a:r>
              <a:rPr lang="zh-TW" altLang="zh-TW" dirty="0" smtClean="0"/>
              <a:t>採用</a:t>
            </a:r>
            <a:r>
              <a:rPr lang="zh-TW" altLang="zh-TW" dirty="0"/>
              <a:t>開放架構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open architecture</a:t>
            </a:r>
            <a:r>
              <a:rPr lang="en-US" altLang="zh-TW" dirty="0"/>
              <a:t>)</a:t>
            </a:r>
            <a:r>
              <a:rPr lang="zh-TW" altLang="en-US" dirty="0" smtClean="0"/>
              <a:t>，</a:t>
            </a:r>
            <a:r>
              <a:rPr lang="zh-TW" altLang="en-US" dirty="0"/>
              <a:t>基於公開的標準，其他的廠商</a:t>
            </a:r>
            <a:r>
              <a:rPr lang="zh-TW" altLang="en-US" dirty="0" smtClean="0"/>
              <a:t>也可以</a:t>
            </a:r>
            <a:r>
              <a:rPr lang="zh-TW" altLang="en-US" dirty="0"/>
              <a:t>生產相容的硬體元件，使用者更可以</a:t>
            </a:r>
            <a:r>
              <a:rPr lang="zh-TW" altLang="en-US" dirty="0" smtClean="0"/>
              <a:t>購買不同</a:t>
            </a:r>
            <a:r>
              <a:rPr lang="zh-TW" altLang="en-US" dirty="0"/>
              <a:t>廠牌的元件組裝自己的電腦。</a:t>
            </a:r>
            <a:endParaRPr lang="zh-TW" altLang="en-US" u="wavyDbl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1.2</a:t>
            </a:r>
            <a:r>
              <a:rPr lang="zh-TW" altLang="en-US" dirty="0"/>
              <a:t>電腦的演進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3059832" y="5526757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1.17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IBM PC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175" y="3789040"/>
            <a:ext cx="2220945" cy="1665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52557"/>
            <a:ext cx="7833631" cy="4482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043609" y="3501008"/>
            <a:ext cx="7056784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517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現代電腦運作的架構源自</a:t>
            </a:r>
            <a:r>
              <a:rPr lang="en-US" altLang="zh-TW" dirty="0"/>
              <a:t>1945</a:t>
            </a:r>
            <a:r>
              <a:rPr lang="zh-TW" altLang="zh-TW" dirty="0"/>
              <a:t>年數學家范紐曼</a:t>
            </a:r>
            <a:r>
              <a:rPr lang="zh-TW" altLang="en-US" dirty="0"/>
              <a:t> </a:t>
            </a:r>
            <a:r>
              <a:rPr lang="en-US" altLang="zh-TW" dirty="0"/>
              <a:t>(John von Neumann) </a:t>
            </a:r>
            <a:r>
              <a:rPr lang="zh-TW" altLang="zh-TW" dirty="0"/>
              <a:t>的想法</a:t>
            </a:r>
            <a:endParaRPr lang="en-US" altLang="zh-TW" dirty="0"/>
          </a:p>
          <a:p>
            <a:r>
              <a:rPr lang="zh-TW" altLang="zh-TW" dirty="0"/>
              <a:t>資料利用</a:t>
            </a:r>
            <a:r>
              <a:rPr lang="zh-TW" altLang="zh-TW" dirty="0" smtClean="0">
                <a:solidFill>
                  <a:srgbClr val="0070C0"/>
                </a:solidFill>
              </a:rPr>
              <a:t>輸入</a:t>
            </a:r>
            <a:r>
              <a:rPr lang="zh-TW" altLang="en-US" dirty="0">
                <a:solidFill>
                  <a:srgbClr val="0070C0"/>
                </a:solidFill>
              </a:rPr>
              <a:t>單元</a:t>
            </a:r>
            <a:r>
              <a:rPr lang="zh-TW" altLang="zh-TW" dirty="0" smtClean="0"/>
              <a:t>讀</a:t>
            </a:r>
            <a:r>
              <a:rPr lang="zh-TW" altLang="zh-TW" dirty="0"/>
              <a:t>至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電腦</a:t>
            </a:r>
            <a:r>
              <a:rPr lang="zh-TW" altLang="zh-TW" dirty="0"/>
              <a:t>儲存區域的</a:t>
            </a:r>
            <a:r>
              <a:rPr lang="zh-TW" altLang="zh-TW" dirty="0">
                <a:solidFill>
                  <a:srgbClr val="0070C0"/>
                </a:solidFill>
              </a:rPr>
              <a:t>記憶單元</a:t>
            </a:r>
            <a:r>
              <a:rPr lang="zh-TW" altLang="en-US" dirty="0" smtClean="0"/>
              <a:t>，</a:t>
            </a:r>
            <a:r>
              <a:rPr lang="zh-TW" altLang="zh-TW" dirty="0" smtClean="0"/>
              <a:t>接著</a:t>
            </a:r>
            <a:r>
              <a:rPr lang="zh-TW" altLang="zh-TW" dirty="0"/>
              <a:t>透過處理器的處理，將計算後的資訊利用</a:t>
            </a:r>
            <a:r>
              <a:rPr lang="zh-TW" altLang="zh-TW" dirty="0">
                <a:solidFill>
                  <a:srgbClr val="0070C0"/>
                </a:solidFill>
              </a:rPr>
              <a:t>輸出</a:t>
            </a:r>
            <a:r>
              <a:rPr lang="zh-TW" altLang="en-US" dirty="0">
                <a:solidFill>
                  <a:srgbClr val="0070C0"/>
                </a:solidFill>
              </a:rPr>
              <a:t>單元</a:t>
            </a:r>
            <a:r>
              <a:rPr lang="zh-TW" altLang="zh-TW" dirty="0" smtClean="0"/>
              <a:t>顯示</a:t>
            </a:r>
            <a:r>
              <a:rPr lang="zh-TW" altLang="zh-TW" dirty="0"/>
              <a:t>給使用者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1.3</a:t>
            </a:r>
            <a:r>
              <a:rPr lang="zh-TW" altLang="zh-TW" dirty="0" smtClean="0"/>
              <a:t>認識</a:t>
            </a:r>
            <a:r>
              <a:rPr lang="zh-TW" altLang="zh-TW" dirty="0"/>
              <a:t>電腦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924944"/>
            <a:ext cx="4536232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處理器是電腦執行計算與資料處理的核心，</a:t>
            </a:r>
            <a:r>
              <a:rPr lang="zh-TW" altLang="en-US" dirty="0"/>
              <a:t>又稱</a:t>
            </a:r>
            <a:r>
              <a:rPr lang="zh-TW" altLang="zh-TW" dirty="0">
                <a:solidFill>
                  <a:srgbClr val="0070C0"/>
                </a:solidFill>
              </a:rPr>
              <a:t>中央處理器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Central </a:t>
            </a:r>
            <a:r>
              <a:rPr lang="en-US" altLang="zh-TW" dirty="0"/>
              <a:t>Processing</a:t>
            </a:r>
            <a:r>
              <a:rPr lang="zh-TW" altLang="zh-TW" dirty="0"/>
              <a:t> Unit, </a:t>
            </a:r>
            <a:r>
              <a:rPr lang="zh-TW" altLang="zh-TW" dirty="0">
                <a:solidFill>
                  <a:srgbClr val="0070C0"/>
                </a:solidFill>
              </a:rPr>
              <a:t>CPU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組成電腦的實體設備統稱為</a:t>
            </a:r>
            <a:r>
              <a:rPr lang="zh-TW" altLang="zh-TW" dirty="0">
                <a:solidFill>
                  <a:srgbClr val="0070C0"/>
                </a:solidFill>
              </a:rPr>
              <a:t>硬體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hardware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控制電腦執行的程式，則統稱為</a:t>
            </a:r>
            <a:r>
              <a:rPr lang="zh-TW" altLang="zh-TW" dirty="0">
                <a:solidFill>
                  <a:srgbClr val="0070C0"/>
                </a:solidFill>
              </a:rPr>
              <a:t>軟體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software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電腦軟體大致可區分成兩大類：</a:t>
            </a:r>
            <a:r>
              <a:rPr lang="zh-TW" altLang="zh-TW" dirty="0">
                <a:solidFill>
                  <a:srgbClr val="0070C0"/>
                </a:solidFill>
              </a:rPr>
              <a:t>系統軟體</a:t>
            </a:r>
            <a:r>
              <a:rPr lang="zh-TW" altLang="en-US" dirty="0"/>
              <a:t> </a:t>
            </a:r>
            <a:r>
              <a:rPr lang="en-US" altLang="zh-TW" dirty="0"/>
              <a:t>(system software)</a:t>
            </a:r>
            <a:r>
              <a:rPr lang="zh-TW" altLang="zh-TW" dirty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應用軟體</a:t>
            </a:r>
            <a:r>
              <a:rPr lang="zh-TW" altLang="en-US" dirty="0"/>
              <a:t> </a:t>
            </a:r>
            <a:r>
              <a:rPr lang="en-US" altLang="zh-TW" dirty="0"/>
              <a:t>(application software)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</a:t>
            </a:r>
            <a:r>
              <a:rPr lang="zh-TW" altLang="zh-TW" dirty="0"/>
              <a:t>認識電腦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933056"/>
            <a:ext cx="3096344" cy="2756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系統軟體直接操控電腦各個硬體設備</a:t>
            </a:r>
            <a:endParaRPr lang="en-US" altLang="zh-TW" dirty="0"/>
          </a:p>
          <a:p>
            <a:pPr lvl="1"/>
            <a:r>
              <a:rPr lang="zh-TW" altLang="en-US" dirty="0"/>
              <a:t>類似</a:t>
            </a:r>
            <a:r>
              <a:rPr lang="zh-TW" altLang="zh-TW" dirty="0"/>
              <a:t>操作廚具的廚師</a:t>
            </a:r>
            <a:endParaRPr lang="en-US" altLang="zh-TW" dirty="0"/>
          </a:p>
          <a:p>
            <a:r>
              <a:rPr lang="zh-TW" altLang="zh-TW" dirty="0"/>
              <a:t>應用軟體直接面對使用者提供互動服務</a:t>
            </a:r>
            <a:endParaRPr lang="en-US" altLang="zh-TW" dirty="0"/>
          </a:p>
          <a:p>
            <a:pPr lvl="1"/>
            <a:r>
              <a:rPr lang="zh-TW" altLang="en-US" dirty="0"/>
              <a:t>類似</a:t>
            </a:r>
            <a:r>
              <a:rPr lang="zh-TW" altLang="zh-TW" dirty="0"/>
              <a:t>招呼客人的服務生</a:t>
            </a:r>
            <a:endParaRPr lang="en-US" altLang="zh-TW" dirty="0"/>
          </a:p>
          <a:p>
            <a:pPr marL="109728" indent="0">
              <a:buNone/>
            </a:pPr>
            <a:endParaRPr lang="en-US" altLang="zh-TW" dirty="0" smtClean="0"/>
          </a:p>
          <a:p>
            <a:pPr marL="109728" indent="0">
              <a:buNone/>
            </a:pPr>
            <a:r>
              <a:rPr lang="zh-TW" altLang="zh-TW" dirty="0" smtClean="0">
                <a:solidFill>
                  <a:schemeClr val="accent3"/>
                </a:solidFill>
              </a:rPr>
              <a:t>服務生</a:t>
            </a:r>
            <a:r>
              <a:rPr lang="zh-TW" altLang="en-US" dirty="0" smtClean="0">
                <a:solidFill>
                  <a:schemeClr val="accent3"/>
                </a:solidFill>
              </a:rPr>
              <a:t> </a:t>
            </a:r>
            <a:r>
              <a:rPr lang="en-US" altLang="zh-TW" dirty="0">
                <a:solidFill>
                  <a:schemeClr val="accent3"/>
                </a:solidFill>
              </a:rPr>
              <a:t>(</a:t>
            </a:r>
            <a:r>
              <a:rPr lang="zh-TW" altLang="zh-TW" dirty="0">
                <a:solidFill>
                  <a:schemeClr val="accent3"/>
                </a:solidFill>
              </a:rPr>
              <a:t>應用軟體</a:t>
            </a:r>
            <a:r>
              <a:rPr lang="en-US" altLang="zh-TW" dirty="0">
                <a:solidFill>
                  <a:schemeClr val="accent3"/>
                </a:solidFill>
              </a:rPr>
              <a:t>) </a:t>
            </a:r>
            <a:r>
              <a:rPr lang="zh-TW" altLang="zh-TW" dirty="0">
                <a:solidFill>
                  <a:schemeClr val="accent3"/>
                </a:solidFill>
              </a:rPr>
              <a:t>招呼客人、安排</a:t>
            </a:r>
            <a:r>
              <a:rPr lang="zh-TW" altLang="zh-TW" dirty="0" smtClean="0">
                <a:solidFill>
                  <a:schemeClr val="accent3"/>
                </a:solidFill>
              </a:rPr>
              <a:t>座位並</a:t>
            </a:r>
            <a:r>
              <a:rPr lang="zh-TW" altLang="zh-TW" dirty="0">
                <a:solidFill>
                  <a:schemeClr val="accent3"/>
                </a:solidFill>
              </a:rPr>
              <a:t>接受客人的點餐要求</a:t>
            </a:r>
            <a:r>
              <a:rPr lang="zh-TW" altLang="en-US" dirty="0">
                <a:solidFill>
                  <a:schemeClr val="accent3"/>
                </a:solidFill>
              </a:rPr>
              <a:t> </a:t>
            </a:r>
            <a:r>
              <a:rPr lang="en-US" altLang="zh-TW" dirty="0">
                <a:solidFill>
                  <a:schemeClr val="accent3"/>
                </a:solidFill>
              </a:rPr>
              <a:t>(</a:t>
            </a:r>
            <a:r>
              <a:rPr lang="zh-TW" altLang="zh-TW" dirty="0">
                <a:solidFill>
                  <a:schemeClr val="accent3"/>
                </a:solidFill>
              </a:rPr>
              <a:t>輸入資料</a:t>
            </a:r>
            <a:r>
              <a:rPr lang="en-US" altLang="zh-TW" dirty="0" smtClean="0">
                <a:solidFill>
                  <a:schemeClr val="accent3"/>
                </a:solidFill>
              </a:rPr>
              <a:t>)</a:t>
            </a:r>
          </a:p>
          <a:p>
            <a:pPr marL="109728" indent="0">
              <a:buNone/>
            </a:pPr>
            <a:r>
              <a:rPr lang="zh-TW" altLang="zh-TW" dirty="0" smtClean="0">
                <a:solidFill>
                  <a:schemeClr val="accent3"/>
                </a:solidFill>
              </a:rPr>
              <a:t>遞交</a:t>
            </a:r>
            <a:r>
              <a:rPr lang="zh-TW" altLang="zh-TW" dirty="0">
                <a:solidFill>
                  <a:schemeClr val="accent3"/>
                </a:solidFill>
              </a:rPr>
              <a:t>廚師</a:t>
            </a:r>
            <a:r>
              <a:rPr lang="zh-TW" altLang="en-US" dirty="0">
                <a:solidFill>
                  <a:schemeClr val="accent3"/>
                </a:solidFill>
              </a:rPr>
              <a:t> </a:t>
            </a:r>
            <a:r>
              <a:rPr lang="en-US" altLang="zh-TW" dirty="0">
                <a:solidFill>
                  <a:schemeClr val="accent3"/>
                </a:solidFill>
              </a:rPr>
              <a:t>(</a:t>
            </a:r>
            <a:r>
              <a:rPr lang="zh-TW" altLang="zh-TW" dirty="0">
                <a:solidFill>
                  <a:schemeClr val="accent3"/>
                </a:solidFill>
              </a:rPr>
              <a:t>系統軟體</a:t>
            </a:r>
            <a:r>
              <a:rPr lang="en-US" altLang="zh-TW" dirty="0">
                <a:solidFill>
                  <a:schemeClr val="accent3"/>
                </a:solidFill>
              </a:rPr>
              <a:t>) </a:t>
            </a:r>
            <a:r>
              <a:rPr lang="zh-TW" altLang="zh-TW" dirty="0" smtClean="0">
                <a:solidFill>
                  <a:schemeClr val="accent3"/>
                </a:solidFill>
              </a:rPr>
              <a:t>處理</a:t>
            </a:r>
            <a:endParaRPr lang="en-US" altLang="zh-TW" dirty="0" smtClean="0">
              <a:solidFill>
                <a:schemeClr val="accent3"/>
              </a:solidFill>
            </a:endParaRPr>
          </a:p>
          <a:p>
            <a:pPr marL="109728" indent="0">
              <a:buNone/>
            </a:pPr>
            <a:r>
              <a:rPr lang="zh-TW" altLang="zh-TW" dirty="0" smtClean="0">
                <a:solidFill>
                  <a:schemeClr val="accent3"/>
                </a:solidFill>
              </a:rPr>
              <a:t>最後</a:t>
            </a:r>
            <a:r>
              <a:rPr lang="zh-TW" altLang="zh-TW" dirty="0">
                <a:solidFill>
                  <a:schemeClr val="accent3"/>
                </a:solidFill>
              </a:rPr>
              <a:t>將餐點端至客人面前</a:t>
            </a:r>
            <a:r>
              <a:rPr lang="zh-TW" altLang="en-US" dirty="0">
                <a:solidFill>
                  <a:schemeClr val="accent3"/>
                </a:solidFill>
              </a:rPr>
              <a:t> </a:t>
            </a:r>
            <a:r>
              <a:rPr lang="en-US" altLang="zh-TW" dirty="0">
                <a:solidFill>
                  <a:schemeClr val="accent3"/>
                </a:solidFill>
              </a:rPr>
              <a:t>(</a:t>
            </a:r>
            <a:r>
              <a:rPr lang="zh-TW" altLang="zh-TW" dirty="0">
                <a:solidFill>
                  <a:schemeClr val="accent3"/>
                </a:solidFill>
              </a:rPr>
              <a:t>輸出資料</a:t>
            </a:r>
            <a:r>
              <a:rPr lang="en-US" altLang="zh-TW" dirty="0" smtClean="0">
                <a:solidFill>
                  <a:schemeClr val="accent3"/>
                </a:solidFill>
              </a:rPr>
              <a:t>)</a:t>
            </a:r>
            <a:endParaRPr lang="zh-TW" altLang="en-US" dirty="0">
              <a:solidFill>
                <a:schemeClr val="accent3"/>
              </a:solid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</a:t>
            </a:r>
            <a:r>
              <a:rPr lang="zh-TW" altLang="zh-TW" dirty="0"/>
              <a:t>認識電腦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系統軟體中最重要的就是支配電腦硬體與掌控程式執行的</a:t>
            </a:r>
            <a:r>
              <a:rPr lang="zh-TW" altLang="zh-TW" dirty="0">
                <a:solidFill>
                  <a:srgbClr val="0070C0"/>
                </a:solidFill>
              </a:rPr>
              <a:t>作業系統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Operati</a:t>
            </a:r>
            <a:r>
              <a:rPr lang="en-US" altLang="zh-TW" dirty="0"/>
              <a:t>ng</a:t>
            </a:r>
            <a:r>
              <a:rPr lang="zh-TW" altLang="zh-TW" dirty="0"/>
              <a:t> System，</a:t>
            </a:r>
            <a:r>
              <a:rPr lang="zh-TW" altLang="zh-TW" dirty="0">
                <a:solidFill>
                  <a:srgbClr val="0070C0"/>
                </a:solidFill>
              </a:rPr>
              <a:t>OS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最早使用於個人電腦的作業系統是CP/M 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Control Program for Microcomputers</a:t>
            </a:r>
            <a:r>
              <a:rPr lang="en-US" altLang="zh-TW" dirty="0"/>
              <a:t>)</a:t>
            </a:r>
            <a:r>
              <a:rPr lang="zh-TW" altLang="zh-TW" dirty="0"/>
              <a:t>，提供使用者利用命令列的方式輸入文字指令</a:t>
            </a:r>
            <a:endParaRPr lang="en-US" altLang="zh-TW" dirty="0"/>
          </a:p>
          <a:p>
            <a:r>
              <a:rPr lang="zh-TW" altLang="zh-TW" dirty="0"/>
              <a:t>16位元處理器的電腦，漸漸被另一個由微軟公司開發的作業系統MS-DOS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Microsoft Disk Operating System</a:t>
            </a:r>
            <a:r>
              <a:rPr lang="en-US" altLang="zh-TW" dirty="0"/>
              <a:t>) </a:t>
            </a:r>
            <a:r>
              <a:rPr lang="zh-TW" altLang="zh-TW" dirty="0"/>
              <a:t>所取代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</a:t>
            </a:r>
            <a:r>
              <a:rPr lang="zh-TW" altLang="zh-TW" dirty="0"/>
              <a:t>認識電腦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MS-DOS仍使用命令列的操作方式，</a:t>
            </a:r>
            <a:r>
              <a:rPr lang="zh-TW" altLang="zh-TW" dirty="0" smtClean="0"/>
              <a:t>不如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1984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年後</a:t>
            </a:r>
            <a:r>
              <a:rPr lang="zh-TW" altLang="zh-TW" dirty="0" smtClean="0"/>
              <a:t>用於</a:t>
            </a:r>
            <a:r>
              <a:rPr lang="zh-TW" altLang="zh-TW" dirty="0"/>
              <a:t>麥金塔電腦的圖形使用者介面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Graphical User Interface, GUI</a:t>
            </a:r>
            <a:r>
              <a:rPr lang="en-US" altLang="zh-TW" dirty="0"/>
              <a:t>) </a:t>
            </a:r>
            <a:r>
              <a:rPr lang="zh-TW" altLang="zh-TW" dirty="0"/>
              <a:t>來的方便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</a:t>
            </a:r>
            <a:r>
              <a:rPr lang="zh-TW" altLang="zh-TW" dirty="0"/>
              <a:t>認識電腦</a:t>
            </a:r>
            <a:endParaRPr lang="zh-TW" altLang="en-US" dirty="0"/>
          </a:p>
        </p:txBody>
      </p:sp>
      <p:pic>
        <p:nvPicPr>
          <p:cNvPr id="6" name="圖片 5" descr="http://images2.wikia.nocookie.net/__cb20100205075913/oldbit/pl/images/7/7a/Ms-dos-prompt.jpg"/>
          <p:cNvPicPr/>
          <p:nvPr/>
        </p:nvPicPr>
        <p:blipFill>
          <a:blip r:embed="rId2" cstate="print"/>
          <a:srcRect l="19797" t="17450" r="14044" b="11583"/>
          <a:stretch>
            <a:fillRect/>
          </a:stretch>
        </p:blipFill>
        <p:spPr bwMode="auto">
          <a:xfrm>
            <a:off x="323528" y="2708920"/>
            <a:ext cx="3672408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圖片 6" descr="http://apple2history.org/wp-content/gallery/screen-shots/a2gsfinder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2708920"/>
            <a:ext cx="4392488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95536" y="5590981"/>
            <a:ext cx="826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1.20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MS-DOS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命令列操作介面；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麥金塔電腦的圖形使用者介面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[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</a:t>
            </a:r>
          </a:p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b) ]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691680" y="515719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516216" y="515719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圖形使用者介面提供圖像式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iconized</a:t>
            </a:r>
            <a:r>
              <a:rPr lang="en-US" altLang="zh-TW" dirty="0"/>
              <a:t>) </a:t>
            </a:r>
            <a:r>
              <a:rPr lang="zh-TW" altLang="zh-TW" dirty="0"/>
              <a:t>的操作</a:t>
            </a:r>
            <a:endParaRPr lang="en-US" altLang="zh-TW" dirty="0"/>
          </a:p>
          <a:p>
            <a:r>
              <a:rPr lang="zh-TW" altLang="zh-TW" dirty="0"/>
              <a:t>利用控制游標移動的滑鼠，點擊圖像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icon</a:t>
            </a:r>
            <a:r>
              <a:rPr lang="en-US" altLang="zh-TW" dirty="0"/>
              <a:t>) </a:t>
            </a:r>
            <a:r>
              <a:rPr lang="zh-TW" altLang="zh-TW" dirty="0"/>
              <a:t>啟動程式的執行</a:t>
            </a:r>
            <a:endParaRPr lang="en-US" altLang="zh-TW" dirty="0"/>
          </a:p>
          <a:p>
            <a:r>
              <a:rPr lang="zh-TW" altLang="zh-TW" dirty="0"/>
              <a:t>點選功能選單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menu</a:t>
            </a:r>
            <a:r>
              <a:rPr lang="en-US" altLang="zh-TW" dirty="0"/>
              <a:t>) </a:t>
            </a:r>
            <a:r>
              <a:rPr lang="zh-TW" altLang="zh-TW" dirty="0"/>
              <a:t>與工具列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toolbar</a:t>
            </a:r>
            <a:r>
              <a:rPr lang="en-US" altLang="zh-TW" dirty="0"/>
              <a:t>) </a:t>
            </a:r>
            <a:r>
              <a:rPr lang="zh-TW" altLang="zh-TW" dirty="0"/>
              <a:t>設定電腦</a:t>
            </a:r>
            <a:endParaRPr lang="en-US" altLang="zh-TW" dirty="0"/>
          </a:p>
          <a:p>
            <a:r>
              <a:rPr lang="zh-TW" altLang="zh-TW" dirty="0"/>
              <a:t>硬碟的資料則利用公文櫃的整理方式，硬碟中有許多的資料夾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folder</a:t>
            </a:r>
            <a:r>
              <a:rPr lang="en-US" altLang="zh-TW" dirty="0"/>
              <a:t>)</a:t>
            </a:r>
            <a:r>
              <a:rPr lang="zh-TW" altLang="zh-TW" dirty="0"/>
              <a:t>，每一個資料夾包含數個文件檔案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file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文件檔案可以透過滑鼠拖曳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drap and drop</a:t>
            </a:r>
            <a:r>
              <a:rPr lang="en-US" altLang="zh-TW" dirty="0"/>
              <a:t>) </a:t>
            </a:r>
            <a:r>
              <a:rPr lang="zh-TW" altLang="zh-TW" dirty="0"/>
              <a:t>的方式搬移或複製至其他資料夾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</a:t>
            </a:r>
            <a:r>
              <a:rPr lang="zh-TW" altLang="zh-TW" dirty="0"/>
              <a:t>認識電腦</a:t>
            </a:r>
            <a:endParaRPr lang="zh-TW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077072"/>
            <a:ext cx="2980323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zh-TW" dirty="0"/>
              <a:t>微軟公司直到Windows 3.1之後才開始</a:t>
            </a:r>
            <a:r>
              <a:rPr lang="zh-TW" altLang="zh-TW" dirty="0" smtClean="0"/>
              <a:t>盛行</a:t>
            </a:r>
            <a:r>
              <a:rPr lang="zh-TW" altLang="en-US" dirty="0" smtClean="0"/>
              <a:t>圖形使用者介面</a:t>
            </a:r>
            <a:endParaRPr lang="en-US" altLang="zh-TW" dirty="0"/>
          </a:p>
          <a:p>
            <a:r>
              <a:rPr lang="zh-TW" altLang="en-US" dirty="0"/>
              <a:t>蘋果公司的訴訟也因此</a:t>
            </a:r>
            <a:r>
              <a:rPr lang="zh-TW" altLang="en-US" dirty="0" smtClean="0"/>
              <a:t>展開</a:t>
            </a:r>
            <a:endParaRPr lang="en-US" altLang="zh-TW" dirty="0"/>
          </a:p>
          <a:p>
            <a:r>
              <a:rPr lang="zh-TW" altLang="zh-TW" dirty="0" smtClean="0"/>
              <a:t>大部分</a:t>
            </a:r>
            <a:r>
              <a:rPr lang="zh-TW" altLang="zh-TW" dirty="0"/>
              <a:t>的PC使用微軟的視窗作業系統，中央處理器則使用英特爾公司的產品，這種組合簡稱</a:t>
            </a:r>
            <a:r>
              <a:rPr lang="zh-TW" altLang="zh-TW" sz="2200" dirty="0">
                <a:solidFill>
                  <a:srgbClr val="0070C0"/>
                </a:solidFill>
              </a:rPr>
              <a:t>Wintel</a:t>
            </a:r>
            <a:r>
              <a:rPr lang="zh-TW" altLang="en-US" sz="2200" dirty="0">
                <a:solidFill>
                  <a:srgbClr val="0070C0"/>
                </a:solidFill>
              </a:rPr>
              <a:t> </a:t>
            </a:r>
            <a:r>
              <a:rPr lang="en-US" altLang="zh-TW" sz="2200" dirty="0">
                <a:solidFill>
                  <a:srgbClr val="0070C0"/>
                </a:solidFill>
              </a:rPr>
              <a:t>(</a:t>
            </a:r>
            <a:r>
              <a:rPr lang="zh-TW" altLang="zh-TW" sz="2200" dirty="0">
                <a:solidFill>
                  <a:srgbClr val="0070C0"/>
                </a:solidFill>
              </a:rPr>
              <a:t>Windows</a:t>
            </a:r>
            <a:r>
              <a:rPr lang="en-US" altLang="zh-TW" sz="2200" dirty="0">
                <a:solidFill>
                  <a:srgbClr val="0070C0"/>
                </a:solidFill>
              </a:rPr>
              <a:t> </a:t>
            </a:r>
            <a:r>
              <a:rPr lang="zh-TW" altLang="zh-TW" sz="2200" dirty="0">
                <a:solidFill>
                  <a:srgbClr val="0070C0"/>
                </a:solidFill>
              </a:rPr>
              <a:t>+</a:t>
            </a:r>
            <a:r>
              <a:rPr lang="en-US" altLang="zh-TW" sz="2200" dirty="0">
                <a:solidFill>
                  <a:srgbClr val="0070C0"/>
                </a:solidFill>
              </a:rPr>
              <a:t> </a:t>
            </a:r>
            <a:r>
              <a:rPr lang="zh-TW" altLang="zh-TW" sz="2200" dirty="0">
                <a:solidFill>
                  <a:srgbClr val="0070C0"/>
                </a:solidFill>
              </a:rPr>
              <a:t>Intel</a:t>
            </a:r>
            <a:r>
              <a:rPr lang="en-US" altLang="zh-TW" sz="2200" dirty="0">
                <a:solidFill>
                  <a:srgbClr val="0070C0"/>
                </a:solidFill>
              </a:rPr>
              <a:t>) </a:t>
            </a:r>
            <a:r>
              <a:rPr lang="zh-TW" altLang="zh-TW" sz="2200" dirty="0">
                <a:solidFill>
                  <a:srgbClr val="0070C0"/>
                </a:solidFill>
              </a:rPr>
              <a:t>系統</a:t>
            </a:r>
            <a:endParaRPr lang="en-US" altLang="zh-TW" sz="2200" dirty="0">
              <a:solidFill>
                <a:srgbClr val="0070C0"/>
              </a:solidFill>
            </a:endParaRPr>
          </a:p>
          <a:p>
            <a:r>
              <a:rPr lang="zh-TW" altLang="en-US" dirty="0"/>
              <a:t>微軟與蘋果公司推出的作業系統均屬於專屬與授權的 </a:t>
            </a:r>
            <a:r>
              <a:rPr lang="en-US" altLang="zh-TW" dirty="0"/>
              <a:t>(proprietary</a:t>
            </a:r>
          </a:p>
          <a:p>
            <a:pPr marL="109728" indent="0">
              <a:buNone/>
            </a:pPr>
            <a:r>
              <a:rPr lang="zh-TW" altLang="en-US" dirty="0" smtClean="0"/>
              <a:t>    </a:t>
            </a:r>
            <a:r>
              <a:rPr lang="en-US" altLang="zh-TW" dirty="0" smtClean="0"/>
              <a:t>and </a:t>
            </a:r>
            <a:r>
              <a:rPr lang="en-US" altLang="zh-TW" dirty="0"/>
              <a:t>licensed) </a:t>
            </a:r>
            <a:r>
              <a:rPr lang="zh-TW" altLang="en-US" dirty="0"/>
              <a:t>軟體，無法免費提供，也無法取得原先撰寫的程式 </a:t>
            </a:r>
            <a:endParaRPr lang="en-US" altLang="zh-TW" dirty="0" smtClean="0"/>
          </a:p>
          <a:p>
            <a:pPr marL="109728" indent="0">
              <a:buNone/>
            </a:pPr>
            <a:r>
              <a:rPr lang="zh-TW" altLang="en-US" dirty="0"/>
              <a:t> </a:t>
            </a:r>
            <a:r>
              <a:rPr lang="zh-TW" altLang="en-US" dirty="0" smtClean="0"/>
              <a:t>  </a:t>
            </a:r>
            <a:r>
              <a:rPr lang="en-US" altLang="zh-TW" dirty="0" smtClean="0"/>
              <a:t>( </a:t>
            </a:r>
            <a:r>
              <a:rPr lang="zh-TW" altLang="en-US" dirty="0" smtClean="0"/>
              <a:t>一般稱</a:t>
            </a:r>
            <a:r>
              <a:rPr lang="zh-TW" altLang="en-US" dirty="0"/>
              <a:t>原始程式碼 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免費的作業系統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365760" lvl="1" indent="0">
              <a:spcBef>
                <a:spcPts val="0"/>
              </a:spcBef>
              <a:buNone/>
            </a:pPr>
            <a:r>
              <a:rPr lang="en-US" altLang="zh-TW" dirty="0" smtClean="0"/>
              <a:t>Linux</a:t>
            </a:r>
            <a:r>
              <a:rPr lang="zh-TW" altLang="en-US" dirty="0"/>
              <a:t>，採取</a:t>
            </a:r>
            <a:r>
              <a:rPr lang="zh-TW" altLang="zh-TW" dirty="0"/>
              <a:t>自由</a:t>
            </a:r>
            <a:r>
              <a:rPr lang="zh-TW" altLang="zh-TW" dirty="0" smtClean="0"/>
              <a:t>與</a:t>
            </a:r>
            <a:endParaRPr lang="en-US" altLang="zh-TW" dirty="0" smtClean="0"/>
          </a:p>
          <a:p>
            <a:pPr marL="365760" lvl="1" indent="0">
              <a:spcBef>
                <a:spcPts val="0"/>
              </a:spcBef>
              <a:buNone/>
            </a:pPr>
            <a:r>
              <a:rPr lang="zh-TW" altLang="zh-TW" dirty="0" smtClean="0"/>
              <a:t>開放</a:t>
            </a:r>
            <a:r>
              <a:rPr lang="zh-TW" altLang="zh-TW" dirty="0"/>
              <a:t>軟體</a:t>
            </a:r>
            <a:r>
              <a:rPr lang="zh-TW" altLang="en-US" dirty="0"/>
              <a:t>方式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</a:t>
            </a:r>
            <a:r>
              <a:rPr lang="zh-TW" altLang="zh-TW" dirty="0"/>
              <a:t>認識電腦</a:t>
            </a:r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005064"/>
            <a:ext cx="3261507" cy="269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417646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zh-TW" altLang="zh-TW" dirty="0"/>
              <a:t>自由軟體</a:t>
            </a:r>
            <a:r>
              <a:rPr lang="zh-TW" altLang="en-US" dirty="0"/>
              <a:t> </a:t>
            </a:r>
            <a:r>
              <a:rPr lang="en-US" altLang="zh-TW" dirty="0"/>
              <a:t>(freeware)</a:t>
            </a:r>
            <a:r>
              <a:rPr lang="zh-TW" altLang="zh-TW" dirty="0"/>
              <a:t>：完全</a:t>
            </a:r>
            <a:r>
              <a:rPr lang="zh-TW" altLang="zh-TW" dirty="0" smtClean="0"/>
              <a:t>免費</a:t>
            </a:r>
            <a:r>
              <a:rPr lang="zh-TW" altLang="en-US" dirty="0" smtClean="0"/>
              <a:t>，</a:t>
            </a:r>
            <a:r>
              <a:rPr lang="zh-TW" altLang="zh-TW" dirty="0" smtClean="0"/>
              <a:t>但</a:t>
            </a:r>
            <a:r>
              <a:rPr lang="zh-TW" altLang="zh-TW" dirty="0"/>
              <a:t>不提供原始程式碼。</a:t>
            </a:r>
          </a:p>
          <a:p>
            <a:r>
              <a:rPr lang="zh-TW" altLang="zh-TW" dirty="0"/>
              <a:t>廣告軟體</a:t>
            </a:r>
            <a:r>
              <a:rPr lang="zh-TW" altLang="en-US" dirty="0"/>
              <a:t> </a:t>
            </a:r>
            <a:r>
              <a:rPr lang="en-US" altLang="zh-TW" dirty="0"/>
              <a:t>(adware)</a:t>
            </a:r>
            <a:r>
              <a:rPr lang="zh-TW" altLang="zh-TW" dirty="0"/>
              <a:t>：與自由軟體</a:t>
            </a:r>
            <a:r>
              <a:rPr lang="zh-TW" altLang="zh-TW" dirty="0" smtClean="0"/>
              <a:t>相同</a:t>
            </a:r>
            <a:r>
              <a:rPr lang="zh-TW" altLang="en-US" dirty="0" smtClean="0"/>
              <a:t>，</a:t>
            </a:r>
            <a:r>
              <a:rPr lang="zh-TW" altLang="zh-TW" dirty="0" smtClean="0"/>
              <a:t>但</a:t>
            </a:r>
            <a:r>
              <a:rPr lang="zh-TW" altLang="zh-TW" dirty="0"/>
              <a:t>會附帶商業廣告內容。</a:t>
            </a:r>
          </a:p>
          <a:p>
            <a:r>
              <a:rPr lang="zh-TW" altLang="zh-TW" dirty="0"/>
              <a:t>共享軟體</a:t>
            </a:r>
            <a:r>
              <a:rPr lang="zh-TW" altLang="en-US" dirty="0"/>
              <a:t> </a:t>
            </a:r>
            <a:r>
              <a:rPr lang="en-US" altLang="zh-TW" dirty="0"/>
              <a:t>(shareware)</a:t>
            </a:r>
            <a:r>
              <a:rPr lang="zh-TW" altLang="zh-TW" dirty="0"/>
              <a:t>：免費但有使用限制，同樣不提供原始程式碼。</a:t>
            </a:r>
          </a:p>
          <a:p>
            <a:r>
              <a:rPr lang="zh-TW" altLang="zh-TW" dirty="0"/>
              <a:t>開源軟體</a:t>
            </a:r>
            <a:r>
              <a:rPr lang="zh-TW" altLang="en-US" dirty="0"/>
              <a:t> </a:t>
            </a:r>
            <a:r>
              <a:rPr lang="en-US" altLang="zh-TW" dirty="0"/>
              <a:t>(open-source software)</a:t>
            </a:r>
            <a:r>
              <a:rPr lang="zh-TW" altLang="zh-TW" dirty="0"/>
              <a:t>：完全</a:t>
            </a:r>
            <a:r>
              <a:rPr lang="zh-TW" altLang="zh-TW" dirty="0" smtClean="0"/>
              <a:t>免費</a:t>
            </a:r>
            <a:r>
              <a:rPr lang="zh-TW" altLang="en-US" dirty="0" smtClean="0"/>
              <a:t>，</a:t>
            </a:r>
            <a:r>
              <a:rPr lang="zh-TW" altLang="zh-TW" dirty="0" smtClean="0"/>
              <a:t>且</a:t>
            </a:r>
            <a:r>
              <a:rPr lang="zh-TW" altLang="zh-TW" dirty="0"/>
              <a:t>提供原始程式碼。</a:t>
            </a:r>
          </a:p>
          <a:p>
            <a:r>
              <a:rPr lang="zh-TW" altLang="zh-TW" dirty="0"/>
              <a:t>商業軟體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commercial software </a:t>
            </a:r>
            <a:r>
              <a:rPr lang="en-US" altLang="zh-TW" dirty="0"/>
              <a:t>)</a:t>
            </a:r>
            <a:r>
              <a:rPr lang="zh-TW" altLang="zh-TW" dirty="0"/>
              <a:t>：付</a:t>
            </a:r>
            <a:r>
              <a:rPr lang="zh-TW" altLang="zh-TW" dirty="0" smtClean="0"/>
              <a:t>費</a:t>
            </a:r>
            <a:r>
              <a:rPr lang="zh-TW" altLang="en-US" dirty="0" smtClean="0"/>
              <a:t>，</a:t>
            </a:r>
            <a:r>
              <a:rPr lang="zh-TW" altLang="zh-TW" dirty="0" smtClean="0"/>
              <a:t>且</a:t>
            </a:r>
            <a:r>
              <a:rPr lang="zh-TW" altLang="zh-TW" dirty="0"/>
              <a:t>一般不提供原始程式碼。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軟體版權知多少？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195200"/>
            <a:ext cx="8568952" cy="554461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dirty="0" smtClean="0"/>
              <a:t>舉例幾種常見</a:t>
            </a:r>
            <a:r>
              <a:rPr lang="zh-TW" altLang="en-US" dirty="0"/>
              <a:t>的應用軟體</a:t>
            </a:r>
            <a:r>
              <a:rPr lang="en-US" altLang="zh-TW" dirty="0"/>
              <a:t>:</a:t>
            </a:r>
          </a:p>
          <a:p>
            <a:r>
              <a:rPr lang="zh-TW" altLang="zh-TW" sz="2400" dirty="0" smtClean="0">
                <a:solidFill>
                  <a:srgbClr val="0070C0"/>
                </a:solidFill>
              </a:rPr>
              <a:t>辦公</a:t>
            </a:r>
            <a:r>
              <a:rPr lang="zh-TW" altLang="zh-TW" sz="2400" dirty="0">
                <a:solidFill>
                  <a:srgbClr val="0070C0"/>
                </a:solidFill>
              </a:rPr>
              <a:t>用途</a:t>
            </a:r>
            <a:r>
              <a:rPr lang="zh-TW" altLang="zh-TW" sz="2400" dirty="0"/>
              <a:t>：</a:t>
            </a:r>
            <a:r>
              <a:rPr lang="zh-TW" altLang="en-US" sz="2400" dirty="0"/>
              <a:t>如</a:t>
            </a:r>
            <a:r>
              <a:rPr lang="zh-TW" altLang="zh-TW" sz="2400" dirty="0"/>
              <a:t>微軟的</a:t>
            </a:r>
            <a:r>
              <a:rPr lang="en-US" altLang="zh-TW" sz="2400" dirty="0"/>
              <a:t>Office</a:t>
            </a:r>
            <a:r>
              <a:rPr lang="zh-TW" altLang="en-US" sz="2400" dirty="0"/>
              <a:t>，包含</a:t>
            </a:r>
            <a:r>
              <a:rPr lang="zh-TW" altLang="zh-TW" sz="2400" dirty="0"/>
              <a:t>編排文件的</a:t>
            </a:r>
            <a:r>
              <a:rPr lang="en-US" altLang="zh-TW" sz="2400" dirty="0"/>
              <a:t>Word</a:t>
            </a:r>
            <a:r>
              <a:rPr lang="zh-TW" altLang="zh-TW" sz="2400" dirty="0"/>
              <a:t>、製作簡報的</a:t>
            </a:r>
            <a:r>
              <a:rPr lang="en-US" altLang="zh-TW" sz="2400" dirty="0"/>
              <a:t>PowerPoint</a:t>
            </a:r>
            <a:r>
              <a:rPr lang="zh-TW" altLang="zh-TW" sz="2400" dirty="0"/>
              <a:t>、整理數據與繪製圖表的</a:t>
            </a:r>
            <a:r>
              <a:rPr lang="en-US" altLang="zh-TW" sz="2400" dirty="0"/>
              <a:t>Excel</a:t>
            </a:r>
            <a:r>
              <a:rPr lang="zh-TW" altLang="zh-TW" sz="2400" dirty="0"/>
              <a:t>、以及管理大量資料的</a:t>
            </a:r>
            <a:r>
              <a:rPr lang="en-US" altLang="zh-TW" sz="2400" dirty="0"/>
              <a:t>Access</a:t>
            </a:r>
            <a:endParaRPr lang="zh-TW" altLang="zh-TW" sz="2400" dirty="0"/>
          </a:p>
          <a:p>
            <a:r>
              <a:rPr lang="zh-TW" altLang="zh-TW" sz="2400" dirty="0">
                <a:solidFill>
                  <a:srgbClr val="0070C0"/>
                </a:solidFill>
              </a:rPr>
              <a:t>多媒體用途</a:t>
            </a:r>
            <a:r>
              <a:rPr lang="zh-TW" altLang="zh-TW" sz="2400" dirty="0"/>
              <a:t>：多媒體指可以表示與傳遞資訊的媒體</a:t>
            </a:r>
            <a:r>
              <a:rPr lang="zh-TW" altLang="en-US" sz="2400" dirty="0"/>
              <a:t> </a:t>
            </a:r>
            <a:r>
              <a:rPr lang="en-US" altLang="zh-TW" sz="2400" dirty="0"/>
              <a:t>(medium)</a:t>
            </a:r>
            <a:r>
              <a:rPr lang="zh-TW" altLang="zh-TW" sz="2400" dirty="0"/>
              <a:t>，如：圖形</a:t>
            </a:r>
            <a:r>
              <a:rPr lang="zh-TW" altLang="en-US" sz="2400" dirty="0"/>
              <a:t> </a:t>
            </a:r>
            <a:r>
              <a:rPr lang="en-US" altLang="zh-TW" sz="2400" dirty="0"/>
              <a:t>(graph)</a:t>
            </a:r>
            <a:r>
              <a:rPr lang="zh-TW" altLang="zh-TW" sz="2400" dirty="0"/>
              <a:t>、影像</a:t>
            </a:r>
            <a:r>
              <a:rPr lang="zh-TW" altLang="en-US" sz="2400" dirty="0"/>
              <a:t> </a:t>
            </a:r>
            <a:r>
              <a:rPr lang="en-US" altLang="zh-TW" sz="2400" dirty="0"/>
              <a:t>(image)</a:t>
            </a:r>
            <a:r>
              <a:rPr lang="zh-TW" altLang="zh-TW" sz="2400" dirty="0"/>
              <a:t>、視訊</a:t>
            </a:r>
            <a:r>
              <a:rPr lang="zh-TW" altLang="en-US" sz="2400" dirty="0"/>
              <a:t> </a:t>
            </a:r>
            <a:r>
              <a:rPr lang="en-US" altLang="zh-TW" sz="2400" dirty="0"/>
              <a:t>(video) </a:t>
            </a:r>
            <a:r>
              <a:rPr lang="zh-TW" altLang="zh-TW" sz="2400" dirty="0"/>
              <a:t>與聲音</a:t>
            </a:r>
            <a:r>
              <a:rPr lang="zh-TW" altLang="en-US" sz="2400" dirty="0"/>
              <a:t> </a:t>
            </a:r>
            <a:r>
              <a:rPr lang="en-US" altLang="zh-TW" sz="2400" dirty="0"/>
              <a:t>(audio)</a:t>
            </a:r>
            <a:r>
              <a:rPr lang="zh-TW" altLang="zh-TW" sz="2400" dirty="0"/>
              <a:t>等。播放與編輯多媒體</a:t>
            </a:r>
            <a:r>
              <a:rPr lang="zh-TW" altLang="en-US" sz="2400" dirty="0"/>
              <a:t>的工具如</a:t>
            </a:r>
            <a:r>
              <a:rPr lang="en-US" altLang="zh-TW" sz="2400" dirty="0"/>
              <a:t>Media Player</a:t>
            </a:r>
            <a:r>
              <a:rPr lang="zh-TW" altLang="en-US" sz="2400" dirty="0"/>
              <a:t>與</a:t>
            </a:r>
            <a:r>
              <a:rPr lang="en-US" altLang="zh-TW" sz="2400" dirty="0"/>
              <a:t>Photoshop</a:t>
            </a:r>
            <a:endParaRPr lang="zh-TW" altLang="zh-TW" sz="2400" dirty="0"/>
          </a:p>
          <a:p>
            <a:r>
              <a:rPr lang="zh-TW" altLang="zh-TW" sz="2400" dirty="0">
                <a:solidFill>
                  <a:srgbClr val="0070C0"/>
                </a:solidFill>
              </a:rPr>
              <a:t>程式撰寫用途</a:t>
            </a:r>
            <a:r>
              <a:rPr lang="zh-TW" altLang="zh-TW" sz="2400" dirty="0"/>
              <a:t>：提供程式的編輯介面，並輔助找出程式內容可能的錯誤</a:t>
            </a:r>
            <a:r>
              <a:rPr lang="zh-TW" altLang="en-US" sz="2400" dirty="0"/>
              <a:t>，</a:t>
            </a:r>
            <a:r>
              <a:rPr lang="zh-TW" altLang="zh-TW" sz="2400" dirty="0"/>
              <a:t>例如：微軟推出的</a:t>
            </a:r>
            <a:r>
              <a:rPr lang="en-US" altLang="zh-TW" sz="2400" dirty="0"/>
              <a:t>Visual Studio </a:t>
            </a:r>
            <a:r>
              <a:rPr lang="zh-TW" altLang="zh-TW" sz="2400" dirty="0"/>
              <a:t>系列</a:t>
            </a:r>
          </a:p>
          <a:p>
            <a:r>
              <a:rPr lang="zh-TW" altLang="zh-TW" sz="2400" dirty="0">
                <a:solidFill>
                  <a:srgbClr val="0070C0"/>
                </a:solidFill>
              </a:rPr>
              <a:t>遊戲用途</a:t>
            </a:r>
            <a:r>
              <a:rPr lang="zh-TW" altLang="zh-TW" sz="2400" dirty="0"/>
              <a:t>：例如動作遊戲、紙牌遊戲、益智遊戲等。遊戲的畫面從文字模式進入圖形模式，從單色圖形到彩色圖形，又從平面圖形到立體</a:t>
            </a:r>
            <a:r>
              <a:rPr lang="zh-TW" altLang="zh-TW" sz="2400" dirty="0" smtClean="0"/>
              <a:t>圖形</a:t>
            </a:r>
            <a:r>
              <a:rPr lang="zh-TW" altLang="en-US" sz="2400" dirty="0" smtClean="0"/>
              <a:t>，</a:t>
            </a:r>
            <a:r>
              <a:rPr lang="zh-TW" altLang="zh-TW" sz="2400" dirty="0" smtClean="0"/>
              <a:t>從</a:t>
            </a:r>
            <a:r>
              <a:rPr lang="zh-TW" altLang="zh-TW" sz="2400" dirty="0"/>
              <a:t>單人操作到多人操作</a:t>
            </a:r>
            <a:endParaRPr lang="zh-TW" altLang="en-US" sz="2400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</a:t>
            </a:r>
            <a:r>
              <a:rPr lang="zh-TW" altLang="zh-TW" dirty="0"/>
              <a:t>認識電腦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</a:t>
            </a:r>
            <a:r>
              <a:rPr lang="zh-TW" altLang="zh-TW" dirty="0"/>
              <a:t>認識電腦</a:t>
            </a:r>
            <a:endParaRPr lang="zh-TW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61059"/>
            <a:ext cx="8352928" cy="4072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881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8640"/>
            <a:ext cx="5752365" cy="6287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759550" y="3717032"/>
            <a:ext cx="5332730" cy="2520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915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6752"/>
            <a:ext cx="8640960" cy="5112568"/>
          </a:xfrm>
        </p:spPr>
        <p:txBody>
          <a:bodyPr/>
          <a:lstStyle/>
          <a:p>
            <a:r>
              <a:rPr lang="zh-TW" altLang="zh-TW" b="1" dirty="0"/>
              <a:t>容易攜帶的膝上型電腦</a:t>
            </a:r>
            <a:endParaRPr lang="en-US" altLang="zh-TW" b="1" dirty="0"/>
          </a:p>
          <a:p>
            <a:pPr lvl="1"/>
            <a:r>
              <a:rPr lang="en-US" altLang="zh-TW" dirty="0"/>
              <a:t>1975</a:t>
            </a:r>
            <a:r>
              <a:rPr lang="zh-TW" altLang="zh-TW" dirty="0"/>
              <a:t>年由</a:t>
            </a:r>
            <a:r>
              <a:rPr lang="en-US" altLang="zh-TW" dirty="0"/>
              <a:t>IBM</a:t>
            </a:r>
            <a:r>
              <a:rPr lang="zh-TW" altLang="zh-TW" dirty="0"/>
              <a:t>設計的第一台膝上電腦</a:t>
            </a:r>
            <a:r>
              <a:rPr lang="en-US" altLang="zh-TW" dirty="0"/>
              <a:t>IBM 5100</a:t>
            </a:r>
            <a:r>
              <a:rPr lang="zh-TW" altLang="zh-TW" dirty="0"/>
              <a:t>，大小如行李箱，重量約</a:t>
            </a:r>
            <a:r>
              <a:rPr lang="en-US" altLang="zh-TW" dirty="0"/>
              <a:t>25</a:t>
            </a:r>
            <a:r>
              <a:rPr lang="zh-TW" altLang="zh-TW" dirty="0"/>
              <a:t>公斤</a:t>
            </a:r>
            <a:endParaRPr lang="en-US" altLang="zh-TW" dirty="0"/>
          </a:p>
          <a:p>
            <a:pPr lvl="1"/>
            <a:r>
              <a:rPr lang="zh-TW" altLang="zh-TW" dirty="0"/>
              <a:t>隨著技術的</a:t>
            </a:r>
            <a:r>
              <a:rPr lang="zh-TW" altLang="zh-TW" dirty="0" smtClean="0"/>
              <a:t>提升</a:t>
            </a:r>
            <a:r>
              <a:rPr lang="zh-TW" altLang="en-US" dirty="0" smtClean="0"/>
              <a:t>，</a:t>
            </a:r>
            <a:r>
              <a:rPr lang="zh-TW" altLang="zh-TW" dirty="0" smtClean="0"/>
              <a:t>膝上型電腦</a:t>
            </a:r>
            <a:r>
              <a:rPr lang="zh-TW" altLang="zh-TW" dirty="0"/>
              <a:t>可做成像筆記本一樣的大小，因此，膝上型電腦又稱筆記型電腦</a:t>
            </a:r>
            <a:r>
              <a:rPr lang="zh-TW" altLang="en-US" dirty="0"/>
              <a:t> </a:t>
            </a:r>
            <a:r>
              <a:rPr lang="en-US" altLang="zh-TW" dirty="0"/>
              <a:t>(notebook </a:t>
            </a:r>
            <a:r>
              <a:rPr lang="en-US" altLang="zh-TW" dirty="0" smtClean="0"/>
              <a:t>computer)</a:t>
            </a:r>
            <a:endParaRPr lang="en-US" altLang="zh-TW" dirty="0"/>
          </a:p>
          <a:p>
            <a:pPr lvl="1"/>
            <a:r>
              <a:rPr lang="zh-TW" altLang="zh-TW" dirty="0"/>
              <a:t>蘋果公司推出的</a:t>
            </a:r>
            <a:r>
              <a:rPr lang="en-US" altLang="zh-TW" dirty="0" err="1"/>
              <a:t>Macbook</a:t>
            </a:r>
            <a:r>
              <a:rPr lang="en-US" altLang="zh-TW" dirty="0"/>
              <a:t> Air</a:t>
            </a:r>
            <a:r>
              <a:rPr lang="zh-TW" altLang="zh-TW" dirty="0"/>
              <a:t>與英特爾公司倡導的</a:t>
            </a:r>
            <a:r>
              <a:rPr lang="en-US" altLang="zh-TW" dirty="0" err="1"/>
              <a:t>Ultrabook</a:t>
            </a:r>
            <a:r>
              <a:rPr lang="zh-TW" altLang="zh-TW" dirty="0"/>
              <a:t>，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重量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都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小於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1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公斤</a:t>
            </a:r>
            <a:endParaRPr lang="zh-TW" altLang="en-US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1.4</a:t>
            </a:r>
            <a:r>
              <a:rPr lang="zh-TW" altLang="zh-TW" dirty="0" smtClean="0"/>
              <a:t>電腦發展</a:t>
            </a:r>
            <a:r>
              <a:rPr lang="zh-TW" altLang="en-US" dirty="0"/>
              <a:t>的</a:t>
            </a:r>
            <a:r>
              <a:rPr lang="zh-TW" altLang="zh-TW" dirty="0" smtClean="0"/>
              <a:t>趨勢</a:t>
            </a:r>
            <a:endParaRPr lang="zh-TW" altLang="en-US" dirty="0"/>
          </a:p>
        </p:txBody>
      </p:sp>
      <p:pic>
        <p:nvPicPr>
          <p:cNvPr id="6" name="圖片 5" descr="File:IBM 5100 - MfK Bern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4653136"/>
            <a:ext cx="2160240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圖片 6" descr="File:Asus x21 ultrabook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4581128"/>
            <a:ext cx="2232248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4932040" y="62280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371214" y="621872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23528" y="5301208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1.24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最初的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IBM 5100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膝上型電腦；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近代的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Ultrabook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[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基共享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Asus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官網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容易輸入的平板型電腦</a:t>
            </a:r>
            <a:endParaRPr lang="en-US" altLang="zh-TW" b="1" dirty="0"/>
          </a:p>
          <a:p>
            <a:pPr lvl="1"/>
            <a:r>
              <a:rPr lang="en-US" altLang="zh-TW" dirty="0"/>
              <a:t>1983</a:t>
            </a:r>
            <a:r>
              <a:rPr lang="zh-TW" altLang="zh-TW" dirty="0"/>
              <a:t>年由</a:t>
            </a:r>
            <a:r>
              <a:rPr lang="en-US" altLang="zh-TW" dirty="0" err="1"/>
              <a:t>Pencept</a:t>
            </a:r>
            <a:r>
              <a:rPr lang="zh-TW" altLang="zh-TW" dirty="0"/>
              <a:t>公司設計的</a:t>
            </a:r>
            <a:r>
              <a:rPr lang="en-US" altLang="zh-TW" dirty="0" err="1"/>
              <a:t>Penpad</a:t>
            </a:r>
            <a:r>
              <a:rPr lang="zh-TW" altLang="zh-TW" dirty="0"/>
              <a:t>平板型電腦，利用一個手寫</a:t>
            </a:r>
            <a:r>
              <a:rPr lang="zh-TW" altLang="zh-TW" dirty="0" smtClean="0"/>
              <a:t>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平板</a:t>
            </a:r>
            <a:r>
              <a:rPr lang="zh-TW" altLang="en-US" dirty="0" smtClean="0"/>
              <a:t> </a:t>
            </a:r>
            <a:r>
              <a:rPr lang="en-US" altLang="zh-TW" dirty="0"/>
              <a:t>(tablet) </a:t>
            </a:r>
            <a:r>
              <a:rPr lang="zh-TW" altLang="zh-TW" dirty="0"/>
              <a:t>取代</a:t>
            </a:r>
            <a:r>
              <a:rPr lang="zh-TW" altLang="zh-TW" dirty="0" smtClean="0"/>
              <a:t>鍵盤</a:t>
            </a:r>
            <a:endParaRPr lang="en-US" altLang="zh-TW" dirty="0"/>
          </a:p>
          <a:p>
            <a:pPr lvl="1"/>
            <a:r>
              <a:rPr lang="zh-TW" altLang="zh-TW" dirty="0"/>
              <a:t>隨著觸控螢幕的出現，手寫的動作可以直接在螢幕上進行，讓平板型電腦比起筆記型電腦更輕、更容易攜帶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</a:t>
            </a:r>
            <a:r>
              <a:rPr lang="zh-TW" altLang="zh-TW" dirty="0"/>
              <a:t>電腦發展</a:t>
            </a:r>
            <a:r>
              <a:rPr lang="zh-TW" altLang="en-US" dirty="0"/>
              <a:t>的</a:t>
            </a:r>
            <a:r>
              <a:rPr lang="zh-TW" altLang="zh-TW" dirty="0"/>
              <a:t>趨勢</a:t>
            </a:r>
            <a:endParaRPr lang="zh-TW" altLang="en-US" dirty="0"/>
          </a:p>
        </p:txBody>
      </p:sp>
      <p:pic>
        <p:nvPicPr>
          <p:cNvPr id="6" name="圖片 5" descr="http://upload.wikimedia.org/wikipedia/en/thumb/3/3e/PenceptPenPad200.jpg/220px-PenceptPenPad200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3501008"/>
            <a:ext cx="2910563" cy="1879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圖片 6" descr="http://www.maximumpc.com/files/u46168/asus_tablet_02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01008"/>
            <a:ext cx="3384376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1331640" y="5805264"/>
            <a:ext cx="659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1.25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Penpad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200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平板型電腦；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Asus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平板型電腦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[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</a:t>
            </a:r>
          </a:p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Asus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官網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]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051720" y="544522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395034" y="544522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結合電腦功能的智慧型手機</a:t>
            </a:r>
            <a:endParaRPr lang="en-US" altLang="zh-TW" b="1" dirty="0"/>
          </a:p>
          <a:p>
            <a:pPr lvl="1"/>
            <a:r>
              <a:rPr lang="zh-TW" altLang="en-US" dirty="0" smtClean="0"/>
              <a:t>蘋果電腦</a:t>
            </a:r>
            <a:r>
              <a:rPr lang="zh-TW" altLang="en-US" dirty="0"/>
              <a:t>公司推出結合行動電話、網際網路、個人電腦三</a:t>
            </a:r>
            <a:r>
              <a:rPr lang="zh-TW" altLang="en-US" dirty="0" smtClean="0"/>
              <a:t>項特色</a:t>
            </a:r>
            <a:r>
              <a:rPr lang="zh-TW" altLang="en-US" dirty="0"/>
              <a:t>的數位行動裝置</a:t>
            </a:r>
            <a:r>
              <a:rPr lang="en-US" altLang="zh-TW" dirty="0"/>
              <a:t>iPhone </a:t>
            </a:r>
          </a:p>
          <a:p>
            <a:pPr lvl="1"/>
            <a:r>
              <a:rPr lang="zh-TW" altLang="en-US" dirty="0" smtClean="0"/>
              <a:t>全球</a:t>
            </a:r>
            <a:r>
              <a:rPr lang="zh-TW" altLang="en-US" dirty="0"/>
              <a:t>通訊架構也從第</a:t>
            </a:r>
            <a:r>
              <a:rPr lang="en-US" altLang="zh-TW" dirty="0"/>
              <a:t>4 </a:t>
            </a:r>
            <a:r>
              <a:rPr lang="zh-TW" altLang="en-US" dirty="0"/>
              <a:t>代行動通訊，進化到涵蓋物聯網架構的第</a:t>
            </a:r>
            <a:r>
              <a:rPr lang="en-US" altLang="zh-TW" dirty="0" smtClean="0"/>
              <a:t>5</a:t>
            </a:r>
            <a:r>
              <a:rPr lang="zh-TW" altLang="en-US" dirty="0" smtClean="0"/>
              <a:t>代</a:t>
            </a:r>
            <a:r>
              <a:rPr lang="zh-TW" altLang="en-US" dirty="0"/>
              <a:t>行動</a:t>
            </a:r>
            <a:r>
              <a:rPr lang="zh-TW" altLang="en-US" dirty="0" smtClean="0"/>
              <a:t>通訊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近期更以</a:t>
            </a:r>
            <a:r>
              <a:rPr lang="zh-TW" altLang="en-US" dirty="0"/>
              <a:t>方便收納與展延出最大顯示畫面的摺疊式螢幕設計</a:t>
            </a:r>
            <a:endParaRPr lang="en-US" altLang="zh-TW" u="wavyDbl" dirty="0" smtClean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</a:t>
            </a:r>
            <a:r>
              <a:rPr lang="zh-TW" altLang="zh-TW" dirty="0"/>
              <a:t>電腦發展</a:t>
            </a:r>
            <a:r>
              <a:rPr lang="zh-TW" altLang="en-US" dirty="0"/>
              <a:t>的</a:t>
            </a:r>
            <a:r>
              <a:rPr lang="zh-TW" altLang="zh-TW" dirty="0"/>
              <a:t>趨勢</a:t>
            </a:r>
            <a:endParaRPr lang="zh-TW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294" y="4005064"/>
            <a:ext cx="4464496" cy="2528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處理速度更快的超級電腦</a:t>
            </a:r>
            <a:endParaRPr lang="en-US" altLang="zh-TW" b="1" dirty="0"/>
          </a:p>
          <a:p>
            <a:pPr lvl="1"/>
            <a:r>
              <a:rPr lang="zh-TW" altLang="zh-TW" dirty="0"/>
              <a:t>開發超級快的超級電腦</a:t>
            </a:r>
            <a:r>
              <a:rPr lang="zh-TW" altLang="en-US" dirty="0"/>
              <a:t> </a:t>
            </a:r>
            <a:r>
              <a:rPr lang="en-US" altLang="zh-TW" dirty="0"/>
              <a:t>(supercomputer) </a:t>
            </a:r>
            <a:r>
              <a:rPr lang="zh-TW" altLang="zh-TW" dirty="0"/>
              <a:t>成為發展武器與太空科技的必要條件</a:t>
            </a:r>
            <a:endParaRPr lang="en-US" altLang="zh-TW" dirty="0"/>
          </a:p>
          <a:p>
            <a:pPr lvl="1"/>
            <a:r>
              <a:rPr lang="zh-TW" altLang="zh-TW" dirty="0"/>
              <a:t>美國史丹佛大學的教授費林</a:t>
            </a:r>
            <a:r>
              <a:rPr lang="zh-TW" altLang="en-US" dirty="0"/>
              <a:t> </a:t>
            </a:r>
            <a:r>
              <a:rPr lang="en-US" altLang="zh-TW" dirty="0"/>
              <a:t>(Michael J. Flynn) </a:t>
            </a:r>
            <a:r>
              <a:rPr lang="zh-TW" altLang="zh-TW" dirty="0"/>
              <a:t>依據電腦同時間能處理的指令與資料個數，區分四種計算架構：</a:t>
            </a:r>
            <a:r>
              <a:rPr lang="en-US" altLang="zh-TW" dirty="0"/>
              <a:t>SISD</a:t>
            </a:r>
            <a:r>
              <a:rPr lang="zh-TW" altLang="zh-TW" dirty="0"/>
              <a:t>、</a:t>
            </a:r>
            <a:r>
              <a:rPr lang="en-US" altLang="zh-TW" dirty="0"/>
              <a:t>SIMD</a:t>
            </a:r>
            <a:r>
              <a:rPr lang="zh-TW" altLang="zh-TW" dirty="0"/>
              <a:t>、</a:t>
            </a:r>
            <a:r>
              <a:rPr lang="en-US" altLang="zh-TW" dirty="0"/>
              <a:t>MISD</a:t>
            </a:r>
            <a:r>
              <a:rPr lang="zh-TW" altLang="zh-TW" dirty="0"/>
              <a:t>與</a:t>
            </a:r>
            <a:r>
              <a:rPr lang="en-US" altLang="zh-TW" dirty="0"/>
              <a:t>MIMD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</a:t>
            </a:r>
            <a:r>
              <a:rPr lang="zh-TW" altLang="zh-TW" dirty="0"/>
              <a:t>電腦發展</a:t>
            </a:r>
            <a:r>
              <a:rPr lang="zh-TW" altLang="en-US" dirty="0"/>
              <a:t>的</a:t>
            </a:r>
            <a:r>
              <a:rPr lang="zh-TW" altLang="zh-TW" dirty="0"/>
              <a:t>趨勢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77072"/>
            <a:ext cx="7996462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SISD</a:t>
            </a:r>
          </a:p>
          <a:p>
            <a:pPr lvl="1"/>
            <a:r>
              <a:rPr lang="zh-TW" altLang="zh-TW" dirty="0"/>
              <a:t>同一時間只能對單一資料流進行單一指令的處理</a:t>
            </a:r>
            <a:endParaRPr lang="en-US" altLang="zh-TW" dirty="0"/>
          </a:p>
          <a:p>
            <a:pPr lvl="1"/>
            <a:r>
              <a:rPr lang="zh-TW" altLang="en-US" dirty="0"/>
              <a:t>傳統</a:t>
            </a:r>
            <a:r>
              <a:rPr lang="zh-TW" altLang="zh-TW" dirty="0"/>
              <a:t>個人電腦</a:t>
            </a:r>
            <a:r>
              <a:rPr lang="zh-TW" altLang="en-US" dirty="0"/>
              <a:t>運作模式</a:t>
            </a:r>
            <a:endParaRPr lang="en-US" altLang="zh-TW" dirty="0"/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譬喻：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所有學生排成一列，依序接受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服裝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儀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容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的檢查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en-US" altLang="zh-TW" dirty="0"/>
              <a:t>SIMD</a:t>
            </a:r>
          </a:p>
          <a:p>
            <a:pPr lvl="1"/>
            <a:r>
              <a:rPr lang="zh-TW" altLang="zh-TW" dirty="0"/>
              <a:t>一群處理器同時間對不同的資料流執行相同的指令</a:t>
            </a:r>
            <a:endParaRPr lang="en-US" altLang="zh-TW" dirty="0"/>
          </a:p>
          <a:p>
            <a:pPr lvl="1"/>
            <a:r>
              <a:rPr lang="zh-TW" altLang="en-US" dirty="0"/>
              <a:t>譬喻：</a:t>
            </a:r>
            <a:r>
              <a:rPr lang="zh-TW" altLang="zh-TW" dirty="0"/>
              <a:t>學生分成數個隊伍，每一個隊伍有位老師</a:t>
            </a:r>
            <a:r>
              <a:rPr lang="zh-TW" altLang="en-US" dirty="0"/>
              <a:t>透過</a:t>
            </a:r>
            <a:r>
              <a:rPr lang="zh-TW" altLang="zh-TW" dirty="0"/>
              <a:t>統一</a:t>
            </a:r>
            <a:r>
              <a:rPr lang="zh-TW" altLang="en-US" dirty="0"/>
              <a:t>號令</a:t>
            </a:r>
            <a:r>
              <a:rPr lang="zh-TW" altLang="zh-TW" dirty="0"/>
              <a:t>同步</a:t>
            </a:r>
            <a:r>
              <a:rPr lang="zh-TW" altLang="en-US" dirty="0"/>
              <a:t>檢查</a:t>
            </a:r>
            <a:r>
              <a:rPr lang="zh-TW" altLang="zh-TW" dirty="0"/>
              <a:t>相同項目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</a:t>
            </a:r>
            <a:r>
              <a:rPr lang="zh-TW" altLang="zh-TW" dirty="0"/>
              <a:t>電腦發展</a:t>
            </a:r>
            <a:r>
              <a:rPr lang="zh-TW" altLang="en-US" dirty="0"/>
              <a:t>的</a:t>
            </a:r>
            <a:r>
              <a:rPr lang="zh-TW" altLang="zh-TW" dirty="0"/>
              <a:t>趨勢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MISD</a:t>
            </a:r>
          </a:p>
          <a:p>
            <a:pPr lvl="1"/>
            <a:r>
              <a:rPr lang="zh-TW" altLang="zh-TW" dirty="0"/>
              <a:t>具備一群處理器同時間處理相同的</a:t>
            </a:r>
            <a:r>
              <a:rPr lang="zh-TW" altLang="zh-TW" dirty="0" smtClean="0"/>
              <a:t>資料</a:t>
            </a:r>
            <a:endParaRPr lang="en-US" altLang="zh-TW" dirty="0"/>
          </a:p>
          <a:p>
            <a:pPr lvl="1"/>
            <a:r>
              <a:rPr lang="zh-TW" altLang="en-US" dirty="0" smtClean="0"/>
              <a:t>譬喻</a:t>
            </a:r>
            <a:r>
              <a:rPr lang="zh-TW" altLang="en-US" dirty="0"/>
              <a:t>：</a:t>
            </a:r>
            <a:r>
              <a:rPr lang="zh-TW" altLang="zh-TW" dirty="0"/>
              <a:t>每位學生必須同時接受多位老師的檢查</a:t>
            </a:r>
            <a:r>
              <a:rPr lang="zh-TW" altLang="zh-TW" dirty="0" smtClean="0"/>
              <a:t>，</a:t>
            </a:r>
            <a:r>
              <a:rPr lang="zh-TW" altLang="en-US" dirty="0"/>
              <a:t>以加快</a:t>
            </a:r>
            <a:r>
              <a:rPr lang="zh-TW" altLang="en-US" dirty="0" smtClean="0"/>
              <a:t>檢查</a:t>
            </a:r>
            <a:r>
              <a:rPr lang="zh-TW" altLang="en-US" dirty="0"/>
              <a:t>速度。</a:t>
            </a:r>
            <a:endParaRPr lang="en-US" altLang="zh-TW" u="wavyDbl" dirty="0">
              <a:uFill>
                <a:solidFill>
                  <a:srgbClr val="0000CC"/>
                </a:solidFill>
              </a:uFill>
            </a:endParaRPr>
          </a:p>
          <a:p>
            <a:r>
              <a:rPr lang="en-US" altLang="zh-TW" dirty="0"/>
              <a:t>MIMD</a:t>
            </a:r>
          </a:p>
          <a:p>
            <a:pPr lvl="1"/>
            <a:r>
              <a:rPr lang="zh-TW" altLang="zh-TW" dirty="0"/>
              <a:t>一群處理器各自運作，處理不同的資料</a:t>
            </a:r>
            <a:endParaRPr lang="en-US" altLang="zh-TW" dirty="0"/>
          </a:p>
          <a:p>
            <a:pPr lvl="1"/>
            <a:r>
              <a:rPr lang="zh-TW" altLang="en-US" dirty="0"/>
              <a:t>譬喻：</a:t>
            </a:r>
            <a:r>
              <a:rPr lang="zh-TW" altLang="zh-TW" dirty="0"/>
              <a:t>學生分成數個隊伍，每一個隊伍有位老師，依據學生的差異做不同的檢查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</a:t>
            </a:r>
            <a:r>
              <a:rPr lang="zh-TW" altLang="zh-TW" dirty="0"/>
              <a:t>電腦發展</a:t>
            </a:r>
            <a:r>
              <a:rPr lang="zh-TW" altLang="en-US" dirty="0"/>
              <a:t>的</a:t>
            </a:r>
            <a:r>
              <a:rPr lang="zh-TW" altLang="zh-TW" dirty="0"/>
              <a:t>趨勢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67602"/>
            <a:ext cx="8192243" cy="3776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043609" y="3284984"/>
            <a:ext cx="7056784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72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美國與德國大學幾位學者每年會公布兩</a:t>
            </a:r>
            <a:r>
              <a:rPr lang="zh-TW" altLang="en-US" dirty="0" smtClean="0"/>
              <a:t>次全球</a:t>
            </a:r>
            <a:r>
              <a:rPr lang="zh-TW" altLang="en-US" dirty="0"/>
              <a:t>前</a:t>
            </a:r>
            <a:r>
              <a:rPr lang="en-US" altLang="zh-TW" dirty="0"/>
              <a:t>500 (Top500) </a:t>
            </a:r>
            <a:r>
              <a:rPr lang="zh-TW" altLang="en-US" dirty="0"/>
              <a:t>快的超級電腦</a:t>
            </a:r>
            <a:r>
              <a:rPr lang="en-US" altLang="zh-TW" dirty="0" smtClean="0"/>
              <a:t>(</a:t>
            </a:r>
            <a:r>
              <a:rPr lang="en-US" altLang="zh-TW" dirty="0">
                <a:hlinkClick r:id="rId2"/>
              </a:rPr>
              <a:t>www.top500.org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</a:t>
            </a:r>
            <a:r>
              <a:rPr lang="zh-TW" altLang="zh-TW" dirty="0"/>
              <a:t>電腦發展</a:t>
            </a:r>
            <a:r>
              <a:rPr lang="zh-TW" altLang="en-US" dirty="0"/>
              <a:t>的</a:t>
            </a:r>
            <a:r>
              <a:rPr lang="zh-TW" altLang="zh-TW" dirty="0"/>
              <a:t>趨勢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58" y="2509320"/>
            <a:ext cx="8259898" cy="300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240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非電子式的未來電腦</a:t>
            </a:r>
            <a:endParaRPr lang="en-US" altLang="zh-TW" b="1" dirty="0"/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取代電晶體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/>
              <a:t>避免</a:t>
            </a:r>
            <a:r>
              <a:rPr lang="zh-TW" altLang="zh-TW" dirty="0">
                <a:solidFill>
                  <a:srgbClr val="0070C0"/>
                </a:solidFill>
              </a:rPr>
              <a:t>范紐曼瓶頸</a:t>
            </a:r>
            <a:r>
              <a:rPr lang="zh-TW" altLang="en-US" dirty="0"/>
              <a:t> </a:t>
            </a:r>
            <a:r>
              <a:rPr lang="en-US" altLang="zh-TW" dirty="0"/>
              <a:t>(Von Neumann bottleneck) 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問題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減少訊號傳輸的阻力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marL="624078" indent="-514350">
              <a:buFont typeface="+mj-lt"/>
              <a:buAutoNum type="arabicPeriod"/>
            </a:pPr>
            <a:endParaRPr lang="en-US" altLang="zh-TW" dirty="0"/>
          </a:p>
          <a:p>
            <a:pPr marL="360000" indent="-288000">
              <a:buFont typeface="+mj-lt"/>
              <a:buAutoNum type="arabicPeriod"/>
            </a:pPr>
            <a:r>
              <a:rPr lang="zh-TW" altLang="en-US" dirty="0">
                <a:solidFill>
                  <a:srgbClr val="0070C0"/>
                </a:solidFill>
              </a:rPr>
              <a:t>量子電腦</a:t>
            </a:r>
            <a:r>
              <a:rPr lang="zh-TW" altLang="en-US" dirty="0"/>
              <a:t> </a:t>
            </a:r>
            <a:r>
              <a:rPr lang="en-US" altLang="zh-TW" dirty="0"/>
              <a:t>(quantum computer)</a:t>
            </a:r>
            <a:r>
              <a:rPr lang="zh-TW" altLang="en-US" dirty="0"/>
              <a:t>：</a:t>
            </a:r>
            <a:r>
              <a:rPr lang="zh-TW" altLang="zh-TW" dirty="0"/>
              <a:t>利用小至原子大小的</a:t>
            </a:r>
            <a:r>
              <a:rPr lang="zh-TW" altLang="zh-TW" dirty="0" smtClean="0"/>
              <a:t>粒子</a:t>
            </a:r>
            <a:r>
              <a:rPr lang="en-US" altLang="zh-TW" dirty="0" smtClean="0"/>
              <a:t> (</a:t>
            </a:r>
            <a:r>
              <a:rPr lang="zh-TW" altLang="en-US" dirty="0"/>
              <a:t>如電子、光子、離子</a:t>
            </a:r>
            <a:r>
              <a:rPr lang="en-US" altLang="zh-TW" dirty="0"/>
              <a:t>)</a:t>
            </a:r>
            <a:r>
              <a:rPr lang="zh-TW" altLang="zh-TW" dirty="0"/>
              <a:t>，當成基礎的</a:t>
            </a:r>
            <a:r>
              <a:rPr lang="zh-TW" altLang="zh-TW" dirty="0" smtClean="0"/>
              <a:t>電晶體，</a:t>
            </a:r>
            <a:r>
              <a:rPr lang="zh-TW" altLang="zh-TW" dirty="0"/>
              <a:t>進行資訊的儲存與運作</a:t>
            </a:r>
            <a:endParaRPr lang="en-US" altLang="zh-TW" dirty="0"/>
          </a:p>
          <a:p>
            <a:pPr marL="360000" indent="-288000">
              <a:buFont typeface="+mj-lt"/>
              <a:buAutoNum type="arabicPeriod"/>
            </a:pPr>
            <a:r>
              <a:rPr lang="zh-TW" altLang="zh-TW" dirty="0">
                <a:solidFill>
                  <a:srgbClr val="0070C0"/>
                </a:solidFill>
              </a:rPr>
              <a:t>光電腦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(optical computer)</a:t>
            </a:r>
            <a:r>
              <a:rPr lang="zh-TW" altLang="en-US" dirty="0"/>
              <a:t>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利用光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進行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資訊處理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</a:t>
            </a:r>
            <a:r>
              <a:rPr lang="zh-TW" altLang="zh-TW" dirty="0"/>
              <a:t>電腦發展</a:t>
            </a:r>
            <a:r>
              <a:rPr lang="zh-TW" altLang="en-US" dirty="0"/>
              <a:t>的</a:t>
            </a:r>
            <a:r>
              <a:rPr lang="zh-TW" altLang="zh-TW" dirty="0"/>
              <a:t>趨勢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000" indent="-288000">
              <a:buFont typeface="+mj-lt"/>
              <a:buAutoNum type="arabicPeriod" startAt="3"/>
            </a:pPr>
            <a:r>
              <a:rPr lang="zh-TW" altLang="zh-TW" dirty="0">
                <a:solidFill>
                  <a:srgbClr val="0070C0"/>
                </a:solidFill>
              </a:rPr>
              <a:t>化學電腦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(chemical computer)</a:t>
            </a:r>
            <a:r>
              <a:rPr lang="zh-TW" altLang="en-US" dirty="0"/>
              <a:t>：</a:t>
            </a:r>
            <a:r>
              <a:rPr lang="zh-TW" altLang="zh-TW" dirty="0"/>
              <a:t>利用混合化學物質產生振盪反應的方式所設計的計算模式</a:t>
            </a:r>
            <a:endParaRPr lang="en-US" altLang="zh-TW" dirty="0"/>
          </a:p>
          <a:p>
            <a:pPr marL="360000" indent="-288000">
              <a:buFont typeface="+mj-lt"/>
              <a:buAutoNum type="arabicPeriod" startAt="3"/>
            </a:pPr>
            <a:r>
              <a:rPr lang="zh-TW" altLang="zh-TW" dirty="0">
                <a:solidFill>
                  <a:srgbClr val="0070C0"/>
                </a:solidFill>
              </a:rPr>
              <a:t>生物電腦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(biological computer)</a:t>
            </a:r>
            <a:r>
              <a:rPr lang="zh-TW" altLang="en-US" dirty="0"/>
              <a:t>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利用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DNA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生物分子的相互反應，進行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資訊的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處理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marL="624078" indent="-514350">
              <a:buFont typeface="+mj-lt"/>
              <a:buAutoNum type="arabicPeriod" startAt="3"/>
            </a:pPr>
            <a:endParaRPr lang="en-US" altLang="zh-TW" dirty="0"/>
          </a:p>
          <a:p>
            <a:pPr marL="624078" indent="-514350">
              <a:buFont typeface="+mj-lt"/>
              <a:buAutoNum type="arabicPeriod" startAt="3"/>
            </a:pPr>
            <a:endParaRPr lang="en-US" altLang="zh-TW" dirty="0"/>
          </a:p>
          <a:p>
            <a:pPr marL="624078" indent="-514350">
              <a:buFont typeface="+mj-lt"/>
              <a:buAutoNum type="arabicPeriod" startAt="3"/>
            </a:pP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</a:t>
            </a:r>
            <a:r>
              <a:rPr lang="zh-TW" altLang="zh-TW" dirty="0"/>
              <a:t>電腦發展</a:t>
            </a:r>
            <a:r>
              <a:rPr lang="zh-TW" altLang="en-US" dirty="0"/>
              <a:t>的</a:t>
            </a:r>
            <a:r>
              <a:rPr lang="zh-TW" altLang="zh-TW" dirty="0"/>
              <a:t>趨勢</a:t>
            </a:r>
            <a:endParaRPr lang="zh-TW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84984"/>
            <a:ext cx="4203233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人與人的互動能激發出更多的活動形式與娛樂方式</a:t>
            </a:r>
            <a:endParaRPr lang="en-US" altLang="zh-TW" dirty="0"/>
          </a:p>
          <a:p>
            <a:r>
              <a:rPr lang="zh-TW" altLang="zh-TW" dirty="0"/>
              <a:t>將每個人使用的電腦都連結在一起，就可以形成宛如電腦的社會，彼此間可以相互交換資料、產生互動</a:t>
            </a:r>
            <a:endParaRPr lang="en-US" altLang="zh-TW" dirty="0"/>
          </a:p>
          <a:p>
            <a:r>
              <a:rPr lang="zh-TW" altLang="zh-TW" dirty="0"/>
              <a:t>這種連接電腦的技術稱為網路</a:t>
            </a:r>
            <a:r>
              <a:rPr lang="zh-TW" altLang="en-US" dirty="0"/>
              <a:t> </a:t>
            </a:r>
            <a:r>
              <a:rPr lang="en-US" altLang="zh-TW" dirty="0"/>
              <a:t>(network)</a:t>
            </a:r>
          </a:p>
          <a:p>
            <a:r>
              <a:rPr lang="zh-TW" altLang="zh-TW" dirty="0"/>
              <a:t>網際網路</a:t>
            </a:r>
            <a:r>
              <a:rPr lang="zh-TW" altLang="en-US" dirty="0"/>
              <a:t> </a:t>
            </a:r>
            <a:r>
              <a:rPr lang="en-US" altLang="zh-TW" dirty="0"/>
              <a:t>(Internet) </a:t>
            </a:r>
            <a:r>
              <a:rPr lang="zh-TW" altLang="en-US" dirty="0"/>
              <a:t>是連</a:t>
            </a:r>
            <a:r>
              <a:rPr lang="zh-TW" altLang="zh-TW" dirty="0"/>
              <a:t>結世界各地電腦</a:t>
            </a:r>
            <a:r>
              <a:rPr lang="zh-TW" altLang="en-US" dirty="0"/>
              <a:t>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大型網路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1.5</a:t>
            </a:r>
            <a:r>
              <a:rPr lang="zh-TW" altLang="en-US" dirty="0" smtClean="0"/>
              <a:t>網路</a:t>
            </a:r>
            <a:r>
              <a:rPr lang="zh-TW" altLang="en-US" dirty="0"/>
              <a:t>的興起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早期網路的應用</a:t>
            </a:r>
            <a:r>
              <a:rPr lang="zh-TW" altLang="en-US" dirty="0"/>
              <a:t>以</a:t>
            </a:r>
            <a:r>
              <a:rPr lang="zh-TW" altLang="zh-TW" dirty="0"/>
              <a:t>電子郵件</a:t>
            </a:r>
            <a:r>
              <a:rPr lang="zh-TW" altLang="en-US" dirty="0"/>
              <a:t> </a:t>
            </a:r>
            <a:r>
              <a:rPr lang="en-US" altLang="zh-TW" dirty="0"/>
              <a:t>(email) </a:t>
            </a:r>
            <a:r>
              <a:rPr lang="zh-TW" altLang="en-US" dirty="0"/>
              <a:t>為主</a:t>
            </a:r>
            <a:endParaRPr lang="en-US" altLang="zh-TW" dirty="0"/>
          </a:p>
          <a:p>
            <a:r>
              <a:rPr lang="zh-TW" altLang="zh-TW" dirty="0"/>
              <a:t>全球資訊網</a:t>
            </a:r>
            <a:r>
              <a:rPr lang="zh-TW" altLang="en-US" dirty="0"/>
              <a:t> </a:t>
            </a:r>
            <a:r>
              <a:rPr lang="en-US" altLang="zh-TW" dirty="0"/>
              <a:t>(World Wide Web, WWW) </a:t>
            </a:r>
            <a:r>
              <a:rPr lang="zh-TW" altLang="zh-TW" dirty="0"/>
              <a:t>的技術</a:t>
            </a:r>
            <a:r>
              <a:rPr lang="zh-TW" altLang="en-US" dirty="0"/>
              <a:t>，將</a:t>
            </a:r>
            <a:r>
              <a:rPr lang="zh-TW" altLang="zh-TW" dirty="0"/>
              <a:t>分享的訊息寫成網頁</a:t>
            </a:r>
            <a:r>
              <a:rPr lang="zh-TW" altLang="en-US" dirty="0"/>
              <a:t> </a:t>
            </a:r>
            <a:r>
              <a:rPr lang="en-US" altLang="zh-TW" dirty="0"/>
              <a:t>(webpage)</a:t>
            </a:r>
            <a:r>
              <a:rPr lang="zh-TW" altLang="zh-TW" dirty="0"/>
              <a:t>，並置於網站</a:t>
            </a:r>
            <a:r>
              <a:rPr lang="zh-TW" altLang="en-US" dirty="0"/>
              <a:t> </a:t>
            </a:r>
            <a:r>
              <a:rPr lang="en-US" altLang="zh-TW" dirty="0"/>
              <a:t>(website) </a:t>
            </a:r>
            <a:r>
              <a:rPr lang="zh-TW" altLang="zh-TW" dirty="0"/>
              <a:t>上，其他人利用瀏覽器</a:t>
            </a:r>
            <a:r>
              <a:rPr lang="zh-TW" altLang="en-US" dirty="0"/>
              <a:t> </a:t>
            </a:r>
            <a:r>
              <a:rPr lang="en-US" altLang="zh-TW" dirty="0"/>
              <a:t>(browser) </a:t>
            </a:r>
            <a:r>
              <a:rPr lang="zh-TW" altLang="zh-TW" dirty="0"/>
              <a:t>觀看</a:t>
            </a:r>
            <a:endParaRPr lang="en-US" altLang="zh-TW" dirty="0"/>
          </a:p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各種型態的網頁：資料呈現</a:t>
            </a:r>
            <a:r>
              <a:rPr lang="zh-TW" altLang="en-US" dirty="0"/>
              <a:t>、線上</a:t>
            </a:r>
            <a:r>
              <a:rPr lang="zh-TW" altLang="en-US" dirty="0" smtClean="0"/>
              <a:t>互動</a:t>
            </a:r>
            <a:endParaRPr lang="en-US" altLang="zh-TW" dirty="0" smtClean="0"/>
          </a:p>
          <a:p>
            <a:r>
              <a:rPr lang="zh-TW" altLang="en-US" dirty="0"/>
              <a:t>以下讓我們看看全球幾個熱門的網站：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谷歌</a:t>
            </a:r>
            <a:r>
              <a:rPr lang="zh-TW" altLang="en-US" b="1" dirty="0"/>
              <a:t> </a:t>
            </a:r>
            <a:r>
              <a:rPr lang="en-US" altLang="zh-TW" b="1" dirty="0"/>
              <a:t>(Google)</a:t>
            </a:r>
          </a:p>
          <a:p>
            <a:pPr lvl="1"/>
            <a:r>
              <a:rPr lang="zh-TW" altLang="zh-TW" dirty="0"/>
              <a:t>提供</a:t>
            </a:r>
            <a:r>
              <a:rPr lang="zh-TW" altLang="zh-TW" dirty="0">
                <a:solidFill>
                  <a:srgbClr val="0070C0"/>
                </a:solidFill>
              </a:rPr>
              <a:t>搜尋引擎</a:t>
            </a:r>
            <a:r>
              <a:rPr lang="zh-TW" altLang="en-US" dirty="0"/>
              <a:t> </a:t>
            </a:r>
            <a:r>
              <a:rPr lang="en-US" altLang="zh-TW" dirty="0"/>
              <a:t>(search engine) </a:t>
            </a:r>
            <a:r>
              <a:rPr lang="zh-TW" altLang="zh-TW" dirty="0"/>
              <a:t>服務，利用輸入關鍵字</a:t>
            </a:r>
            <a:r>
              <a:rPr lang="zh-TW" altLang="en-US" dirty="0"/>
              <a:t> </a:t>
            </a:r>
            <a:r>
              <a:rPr lang="en-US" altLang="zh-TW" dirty="0"/>
              <a:t>(keyword) </a:t>
            </a:r>
            <a:r>
              <a:rPr lang="zh-TW" altLang="zh-TW" dirty="0"/>
              <a:t>的方式搜尋相關的網頁</a:t>
            </a:r>
            <a:endParaRPr lang="en-US" altLang="zh-TW" dirty="0"/>
          </a:p>
          <a:p>
            <a:pPr lvl="1"/>
            <a:r>
              <a:rPr lang="en-US" altLang="zh-TW" dirty="0"/>
              <a:t>1998</a:t>
            </a:r>
            <a:r>
              <a:rPr lang="zh-TW" altLang="zh-TW" dirty="0"/>
              <a:t>年由史丹佛大學兩位博士生佩吉</a:t>
            </a:r>
            <a:r>
              <a:rPr lang="zh-TW" altLang="en-US" dirty="0"/>
              <a:t> </a:t>
            </a:r>
            <a:r>
              <a:rPr lang="en-US" altLang="zh-TW" dirty="0"/>
              <a:t>(Larry Page) </a:t>
            </a:r>
            <a:r>
              <a:rPr lang="zh-TW" altLang="zh-TW" dirty="0"/>
              <a:t>與布林</a:t>
            </a:r>
            <a:r>
              <a:rPr lang="zh-TW" altLang="en-US" dirty="0"/>
              <a:t> </a:t>
            </a:r>
            <a:r>
              <a:rPr lang="en-US" altLang="zh-TW" dirty="0"/>
              <a:t>(Sergey Brin) </a:t>
            </a:r>
            <a:r>
              <a:rPr lang="zh-TW" altLang="zh-TW" dirty="0"/>
              <a:t>成立</a:t>
            </a:r>
            <a:endParaRPr lang="en-US" altLang="zh-TW" dirty="0"/>
          </a:p>
          <a:p>
            <a:pPr lvl="1"/>
            <a:r>
              <a:rPr lang="zh-TW" altLang="zh-TW" dirty="0"/>
              <a:t>參考一個代表</a:t>
            </a:r>
            <a:r>
              <a:rPr lang="en-US" altLang="zh-TW" dirty="0"/>
              <a:t>10</a:t>
            </a:r>
            <a:r>
              <a:rPr lang="zh-TW" altLang="zh-TW" dirty="0"/>
              <a:t>的</a:t>
            </a:r>
            <a:r>
              <a:rPr lang="en-US" altLang="zh-TW" dirty="0"/>
              <a:t>100</a:t>
            </a:r>
            <a:r>
              <a:rPr lang="zh-TW" altLang="zh-TW" dirty="0"/>
              <a:t>次方這個數字的代稱：古戈爾</a:t>
            </a:r>
            <a:r>
              <a:rPr lang="zh-TW" altLang="en-US" dirty="0"/>
              <a:t> </a:t>
            </a:r>
            <a:r>
              <a:rPr lang="en-US" altLang="zh-TW" dirty="0"/>
              <a:t>(googol)</a:t>
            </a:r>
            <a:r>
              <a:rPr lang="zh-TW" altLang="zh-TW" dirty="0"/>
              <a:t>，意謂能在巨量的資料中撈取所興趣的資料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  <p:pic>
        <p:nvPicPr>
          <p:cNvPr id="4" name="圖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340768"/>
            <a:ext cx="3744416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圖片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4077072"/>
            <a:ext cx="3672408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928305"/>
            <a:ext cx="3456384" cy="114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1200105" y="327569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1.28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谷歌文字搜尋介面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580112" y="327569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1.29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谷歌語音搜尋介面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3275856" y="623731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1.30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谷歌圖片搜尋介面</a:t>
            </a:r>
          </a:p>
        </p:txBody>
      </p:sp>
    </p:spTree>
    <p:extLst>
      <p:ext uri="{BB962C8B-B14F-4D97-AF65-F5344CB8AC3E}">
        <p14:creationId xmlns:p14="http://schemas.microsoft.com/office/powerpoint/2010/main" val="291504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雅虎</a:t>
            </a:r>
            <a:r>
              <a:rPr lang="zh-TW" altLang="en-US" b="1" dirty="0"/>
              <a:t> </a:t>
            </a:r>
            <a:r>
              <a:rPr lang="en-US" altLang="zh-TW" b="1" dirty="0"/>
              <a:t>(Yahoo)</a:t>
            </a:r>
          </a:p>
          <a:p>
            <a:pPr lvl="1"/>
            <a:r>
              <a:rPr lang="zh-TW" altLang="zh-TW" dirty="0"/>
              <a:t>提供搜尋服務與新聞頁面的整理</a:t>
            </a:r>
            <a:endParaRPr lang="en-US" altLang="zh-TW" dirty="0"/>
          </a:p>
          <a:p>
            <a:pPr lvl="1"/>
            <a:r>
              <a:rPr lang="en-US" altLang="zh-TW" dirty="0"/>
              <a:t>1994</a:t>
            </a:r>
            <a:r>
              <a:rPr lang="zh-TW" altLang="zh-TW" dirty="0"/>
              <a:t>年由史丹佛大學兩位研究生楊致遠</a:t>
            </a:r>
            <a:r>
              <a:rPr lang="zh-TW" altLang="en-US" dirty="0"/>
              <a:t> </a:t>
            </a:r>
            <a:r>
              <a:rPr lang="en-US" altLang="zh-TW" dirty="0"/>
              <a:t>(Jerry Yang) </a:t>
            </a:r>
            <a:r>
              <a:rPr lang="zh-TW" altLang="zh-TW" dirty="0"/>
              <a:t>與費羅</a:t>
            </a:r>
            <a:r>
              <a:rPr lang="zh-TW" altLang="en-US" dirty="0"/>
              <a:t> </a:t>
            </a:r>
            <a:r>
              <a:rPr lang="en-US" altLang="zh-TW" dirty="0"/>
              <a:t>(David Filo) </a:t>
            </a:r>
            <a:r>
              <a:rPr lang="zh-TW" altLang="zh-TW" dirty="0"/>
              <a:t>成立</a:t>
            </a:r>
            <a:endParaRPr lang="en-US" altLang="zh-TW" dirty="0"/>
          </a:p>
          <a:p>
            <a:pPr lvl="1"/>
            <a:r>
              <a:rPr lang="en-US" altLang="zh-TW" dirty="0"/>
              <a:t>"Yet Another Hierarchical Officious Oracle"</a:t>
            </a:r>
            <a:r>
              <a:rPr lang="zh-TW" altLang="zh-TW" dirty="0"/>
              <a:t>的縮寫，意指一種新的資料管理技術，能讓待在辦公室的人於瀏覽網頁之際獲得智慧與了解真理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  <p:sp>
        <p:nvSpPr>
          <p:cNvPr id="53250" name="AutoShape 2" descr="data:image/jpeg;base64,/9j/4AAQSkZJRgABAQAAAQABAAD/2wCEAAkGBwgHBhUIBxQWFhUXFSAXFxUVGR0bHhshGhcfHyAkIB4gICglHx4nJxcYJDciJzUrLi4uHCIzODMtOCgtLi0BCgoKDg0OGxAQGzAkICQuLCw3NCw0LCwsNCwsLCwsLCwsLCwtLCwsLCwsLCwsLCwsLCwsLCwsLCwsLCwsLCwsLP/AABEIAK4BIgMBEQACEQEDEQH/xAAcAAEAAgIDAQAAAAAAAAAAAAAABgcEBQIDCAH/xABKEAACAQIDBAcCCQcJCQAAAAAAAQIDEQQFBgcSITETIkFRYXGBkaEUIzJCYnKSsbIWUmOTo8LRCBUlU1Rzs8HSFzM0NUR0guLx/8QAGQEBAAMBAQAAAAAAAAAAAAAAAAMEBQIB/8QALREBAAICAQMCBgEEAwEAAAAAAAECAwQREiExE1EUIjIzQWGxQlJxoYGR8GL/2gAMAwEAAhEDEQA/ALx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I7n+tsi09mCwObVJQk4qa6kpKzbXOKfcyWmG945hNjwXvHNYdeF2gaUxS+LxdNfX3ofiSE4MkfgnXyx+EmIkIAAAAK1zvZhjcdmFTGYPH1IdJUlPcalaO9JuyamuCvbkWqbERHE1XKbVYiImqBay0tqfSlJV8RXnUpN26SnOdk+xST5X9UWMWTHftx3W8OXFk7ccSiTzHHf1tT7cv4k/RX2WfTr7LV0xs+oZ7lFPMqGY13Ga4qKs4vti+u+KfApXzdM8dMM7JsdFpr0QsbSun6em8veDp1atXem5uVV3fGKVl4dXl4srXv1zzwqZMnXPPHDuzfUGUZLOMM1rQpOSbipu17c7e1HlaWt4h5XHa30wwFrnSz5Yyj9o69K/s69DJ/bLktb6Xf/WUPtoelf2PQyf2y+/ltpf8AtlD7aHpX9j0cn9st5Rq069FVqLTjJJprk0+TI/CKY4cwAAAAA0OrNQ1tPYeFajhquI3pNNUk3u2V7uyZJjp1fnhLix9c8c8IZV2yYWhPo8Tg60X3SaT9jSJo1ZnxKxGlafEwzct2oSzV2y7L8TU8Y2a9vJHltfp82hzbV6fqtCxCsqAAAAAAY2Y5hg8swrxWYTjTgucpOy/++B7FZmeIe1rNp4hXmc7ZMows3TyulUrNfOdqcX5XvL3Is11LT57LlNG8/VPDQ/7Yc9xLfwLCU7eG/P7rEnwtY8yl+CpHmwtsmc4epu4zC0/K84P33HwlZ8SfA1nxZKtObWMjzWqsPj1LDzfBObThf665eqSIr61q947oMmneneO6fppq6Kyoo7bwktSUX+g/fkaGn9MtTQ+mUV2f5V/POr8PhJK8VPfn9WHWftsl6k2e3TSZWNi/RjmXpwyWGAAAAAB04zC0MdhZYXFxUoTW7KMuKaZ7EzE8w9iZieYectoOjq+k80tC8qFRt0p/uy+kveuPelqYM0Xj9tnXzxkr+2Vsy1lLS+a9Bi2/g9VpT+g+SmvLt715I52MPXHMeXO1g9SvMeYeiISjOCnB3TV012mYx2n1HpfJ9Sxgs4p7+5fdalKLW9a/JruR3TJan0pMeW+P6ZUptNyPTGnsRHBZLKo6971IuSlGEbcnwvvPg7X5c+aL+C+S/e3hp62TJfvbw56K2ZZjqGmsbj26FB8Ytrrz+rF8l9J+iYy7MU7R3kzbdadq95TyOzzRGnYwr5xO/WVpYiqoxbXG1lup8uTuVvXy38f6VPic1+1f9JYtWabtwxmG/XQ/iRelf2lB6OT+2f8Ap24TUeR43ErDYPE0Jzl8mEKkZN2V+CTu+CbPJx2iOZhzOK9Y5mJdme5VRzvK5ZfiJTjGVutTe7JWafB+h5W3TPLyl5rPMKt11oKnp/TlTNcJisTJwcerOd096aj2W7y3izddorMQv4M/qXis1hD9A5TiNVZ//N1evVhFU5TcoybfCy7X3yRPmmMdeYhY2LRjpzEQuPTWgcHkGZLH06+IqSimkqk048VblYo3zTaOOIZuTYm8ccRCXkKBTv8AKAl8dg4+FV++n/Avaf5aOh/V/wAJ5s0aehcLb+r/AHmVs33JVNj7lmdqjUuW6Yy/4XmcufCEI8ZTfcl/nyRzTHN54hzjxWyTxVVOI2j6t1NjXg9MUtzuUI78ku+UpLdS9F5lyNfHSObyvxq4scc5JZlPRu0nHLpMVjXTv8116i90FY59XDHirn19eviv+n2rpjablUXWweLdW3zVWlJ/Zqqw9TBbzB6utbtNeP8A36d+l9q2Jo4/+bNYU9xp7rqqLi4v6cOzzVrd3aeZNaOOqjnLpxx1Y5WdmWZYbLcrnmWIfxcIOba43SV+Hffs8ypFZmeFKtZtPTDzXqbUWZ6vzjpcRd3lu0qMeUbuySXbJ8Lvm36I1ceOuOraxYq4qrf0VswyvKMNHEZ1CNau1dqSvCHgo8m1+c/SxSy7FrTxHaGdm27XnivaE/p04UoblJJJcklZFZUdeKwmGxlF0cXCM4vnGcVJP0Z7EzHh7EzHeFQbU9nmEy7AyzzIo7kYtdLSXJJu29Hus2rrlbjwtxu6+eZnps0dXZmZ6LMrYjqiviHLT2Nk5KMd+i32JNKUfJXTXdx8DnaxxHzQ53cMR88NXt6X9P4d/oH+Nnen4l3ofTLt2C5d0maYjMpL5FNU4vxm7v8AAvaNy3aIN+3aKrqKDMAAAAAAAa7P8mwef5VPLswV4yXNc4vsku5o6peazzDul5pbqh5n1NkOL03nE8tx3NcYyXKcXykvB29Gmuw1seSL15ht4skZK9ULK2Oa15abzSX9xN/gf3r2dxU2cP8AXCjua/8AXVl6+2mOlVeTaV69VvclWj1rN8N2ml8qXZfl3XfLnDr8/Nfw5wavMdV/Ds0DszjhprONULpKz6ypS4qLfG8/zp+HJeL5M2xz8tPBn2uflp4WgVFFotaQyb8nqmJ1BTjUpU4ue7Lne1kovsk291W7yTF1dXFUuHr64inl5+lprET0hLUyW7Dp+jUOzdfzr9yk1E0vUjr6GtGaIyen+lp7F8NkuKyFYylRprE0pShOpa8uPJpvleLtw7mU9mbRbjnso7k3i/Ez2lZZVUkQ2spPQOIv9D/FiTa/3IWNX7sKT0LqaOk86eYzp9Jem4bqlu83F3vZ/m+80M2P1K8NTYxerXjnhPntuhfq4N/rv/QrfB/tT+A/+nOO2HGVVejl8n5VG/upnnwsR5s8+CrHmyGbRdU4vU9ajPGYaWH6NSUVJt728435xjy3V7SfBjinPE8rWthrj54nlcGyqe/oLDeUl7Kkilsfclm7McZZUltDzutnmq61ao+rCTp012KMG1w83d+pfwUitIamvjimOF/6PyDCacyOGCwiV91OpLtnJri2/u7kZuS83tzLIy5JvbmW7OEYBTG3vL6FLG4bMKaSlUjOE337m64/ia9he07dphpaFp4mHzCY3E5rsMrUlduhUVN/VjUpz9iU16RExFdiP2TWK7UftCNAypR1phHXtbpo8++/D32LGfn054Wtjn0p4enzJYYAA0Gv6kKWisXKry6CS498lZe9okxfXCXB9yv+VJ7IaVapr6hKje0VNz8uikuPq4r1Rf2ePTlqbkx6Ut7t7/57h/7l/jZHp+JQ6H0ymWxfL/gejFXkrOtUlP0XVX4b+pBs25urblucnHsnhXVQAAAAAAACFbWNPYbONLVMZPhUw8HUhLwSvKL8Gl7UifXyTW/Hus6uWaXiPd53Tad0ajZXVsU0vgoZYtRV1vVZSlGndcIKL3W19J2fHu4d98/ayTz0svczTNuiPC0yoogFNbbtRyxGLhpzBO6jadVLtk/kR9E72+lHuL2rj4jrlo6WLiJvLKlqfL6+j3pzD5fjtzoejTVJPjbhLnz3ut5nHpzF+qbQ49K0ZOubQjOyDOpZNq74DibxhXXRST4Wmn1b+N7x/wDIn2adVOY/Czt068fVH4egTNZCHbXZbugMR5wX7WJPr/chZ1Puwq/YtToVtZOniYxknQnZSSfFSi+3ttct7XPR2Xt2ZjH291+ww9GHyIxXkkZvLJ5lzSS5B4p7+UAvj8G/Cr99Mvaf5aOh/V/wl+yCTloGhfslUX7WRBs/clX2/uypDW+V18o1TiMLiE18ZKcX3xm24teHG3mn3F/DaLUhp4LxbHHC+dn+q8JqXJIOMl00IqNWn2ppWul2xfO/p2GdmxzS36ZWfDOO36SkiQD4cWBRG2nUGCznN6WBy6SmqCkpSjxTlNxuk+224uXa7dho6tJrEzP5auljmlZmfysbZ7phZZodZbmcONZSnVg/0itZ+O6op+JUzZOrJzClsZerJ1R+FQa10Vmekcd09PelQ3r068ezjwUrfJku/k+zuV7FmrkjifLRw565Y4nysfRm1TLMfhY4bUElRrJWc2upPxv81997LufYVcutaJ5r3hSzadqzzXvCe0M1y7EQ38PWpSXfGcWvcytNZjzCrNLR5hh5lqrIMsg543E0o27FNSl6Rjdv2HVcd7eIdVxXt4hUWvtb4jWdeOR6dpzdJyXC3WqtPhw7Irnx83axdw4Yx/NdoYMEYvnun2zHRT0tgHicdZ4iqutbioR5qKfa+1vvt3XdbPm657eFTZz+pPEeIdW0PQFfV2Pp4ujXjT3Ke5uyg3frN3umu/uPcOf0444e6+x6UTHCW5Dl0coyWjl0XfoqcYX72lZv1d36kNrdVplXvbqtMs85cgAAAAAAAGk1ur6Nxn/bVP8ADZ3i+uP8pMP3K/5eXTYbz0VsflF7P6Cj2SqJ/rp/xRl7H3JY2392UzIFZCtSbTMgyV1MNTk6taF49HCLspLhZydlZPna5PTXvbv+FnHq5L8T4hWOzrO8noapqZ3qur8Y+tCTjKS35t70uqnay4L63gW89LdEVpC9sY79EUpHZ6Bp1I1aaqU+Kaun4MzWQoTa/kU8j1Us1wa3YVn0ia+bUi1verdpebZo61+qnTLW1MnXTpn8fwtHCZjjdX6DjickqqlXqQSc7tbk4yW/yTfY7eDRUmsY8nFvChNYxZeLR2QvH7NNZZlB08fj41IvnGdSq1w8GrE8bGOPFVqu1ir4r/DEwmyHUeCrqvg8VShNcpQlUi1fxUbnU7VJ7TDq27jtHE1TPRum9WZRmnTZ3jenpbjW5vTk78LPrLz7SvlyY7R8scSq5suK0fLXiW61dlGa5xgoUcmxLw0lO8pRu95Watwa7bP0OMdq1nvHKPFetZ5tHKvsx2T5/mU1PMMf0rXJ1N+Vr87Xk7clyLNdqtfFVuu5SvivDZ5FoHVOSblLBZju04yv0ai919a7Vm2uPH2nF81Leao8mxjv3mvdMtS6XynU2HVLNad2vkzjwnHyf+TuvAgpktTwr48tsc/LKtMdsgzXAYn4TpzFK65b7lTmvKUb39xbjarMcXhdru1tHF4ZEcu2t4ZdHSrKS73KjL3zjc56tefw86tWfx/Lrr6O2jZ6uizfFKMH8pOo7fZpxs/JnsZcNfEEZten01SfSGzHKdP1ljMU3XrR4xlJWjF98Y9/i7+FiLJsWv28QhzbVr9o7QnRXVXCrTp1qbp1kpRas01dPzQPCD5zso03mNR1cMp0JPj8U+r9mSaXkrFiuzev7WqbmSvnu0MtieGv1cXL1pr/AFEnxc+yX46fZmYDYxk1Galja1ap4Ldgn7m/eczt2/EOZ3r/AIhOMi05k+QUujymjGnfnLnJ+cndv2kF8lreZVb5bX+qW1OHCjdf6m1TlWsMRRy6tWjSUo7qUbx/3cb2umudy/ix47UiZ8tPBixWxxNvKz87xeY4LLKMKcnvOKU5vdV5JwVm3ZK6dSXZ8nmipWImZUqRWZls8ixFbE5bGrXe8+yVrby77WXtsr87cTm0cSjvHEtgcuQAAAAAI3rPHanwdOmtK4eFZty6RzaSila3OceLu+/kS44pP1ymwxjnn1J4QbO6m1LOsBPA1sNCEJxcZdG6abT5q7qPn4FinoVnnlapGtWeef8A3/SGrZnq9r/hv2lP/UT/ABOP3Wvi8Xv/AClOncBtM07l3wDLqENzeckpOm3d8+O+Q3nBeeZlXyW18luqZ/lLdJYvX1bOVT1LRpwobrvKO5e9uC6s2/cQZIxRHyz3VstcMV+Se7c1NE6Zq1XVq4Wk5SbbbV223ds49W/ujjNkj8vn5DaW/sdH7I9W/uevk921zXD4mvlVTD5dNU6jg4wn+a7cH6HFZiJ5lxWYieZVfmey/U2bP+k8w6WzulPfaT8E3Zehbrs0r4qu028dPpq5ZVsy1Rk7vleYKnxu1DfUW/GPJ+otsUt5qX2sd/qqtDK6WKoZbTpZhNTqxglOaVlKSXF24c2VLcc9lG0xMzwyjx4AAAAAAAAAAAAAAAAAAA1fmB8aTVmB9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D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3252" name="Picture 4" descr="yahoo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4293096"/>
            <a:ext cx="3240359" cy="19442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百度</a:t>
            </a:r>
            <a:r>
              <a:rPr lang="zh-TW" altLang="en-US" b="1" dirty="0"/>
              <a:t> </a:t>
            </a:r>
            <a:r>
              <a:rPr lang="en-US" altLang="zh-TW" b="1" dirty="0"/>
              <a:t>(</a:t>
            </a:r>
            <a:r>
              <a:rPr lang="en-US" altLang="zh-TW" b="1" dirty="0" err="1"/>
              <a:t>Baidu</a:t>
            </a:r>
            <a:r>
              <a:rPr lang="en-US" altLang="zh-TW" b="1" dirty="0"/>
              <a:t>)</a:t>
            </a:r>
          </a:p>
          <a:p>
            <a:pPr lvl="1"/>
            <a:r>
              <a:rPr lang="zh-TW" altLang="zh-TW" dirty="0"/>
              <a:t>提供類似於谷歌與雅虎的服務，主要用於</a:t>
            </a:r>
            <a:r>
              <a:rPr lang="zh-TW" altLang="zh-TW" dirty="0" smtClean="0"/>
              <a:t>中國</a:t>
            </a:r>
            <a:endParaRPr lang="en-US" altLang="zh-TW" u="wavyDbl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en-US" altLang="zh-TW" dirty="0"/>
              <a:t>2000</a:t>
            </a:r>
            <a:r>
              <a:rPr lang="zh-TW" altLang="zh-TW" dirty="0"/>
              <a:t>年由李彥宏與徐勇成立</a:t>
            </a:r>
            <a:endParaRPr lang="en-US" altLang="zh-TW" dirty="0"/>
          </a:p>
          <a:p>
            <a:pPr lvl="1"/>
            <a:r>
              <a:rPr lang="zh-TW" altLang="zh-TW" dirty="0"/>
              <a:t>名稱來自南宋詞人辛棄疾所寫的一句詞：「眾里尋他千</a:t>
            </a:r>
            <a:r>
              <a:rPr lang="zh-TW" altLang="zh-TW" b="1" dirty="0"/>
              <a:t>百度</a:t>
            </a:r>
            <a:r>
              <a:rPr lang="zh-TW" altLang="zh-TW" dirty="0"/>
              <a:t>，驀然回首，那人卻在燈火闌珊處」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  <p:pic>
        <p:nvPicPr>
          <p:cNvPr id="52226" name="Picture 2" descr="http://www.baidu.com/img/bdlogo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4005064"/>
            <a:ext cx="3918572" cy="18722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臉書</a:t>
            </a:r>
            <a:r>
              <a:rPr lang="zh-TW" altLang="en-US" b="1" dirty="0"/>
              <a:t> </a:t>
            </a:r>
            <a:r>
              <a:rPr lang="en-US" altLang="zh-TW" b="1" dirty="0"/>
              <a:t>(Facebook)</a:t>
            </a:r>
          </a:p>
          <a:p>
            <a:pPr lvl="1"/>
            <a:r>
              <a:rPr lang="zh-TW" altLang="zh-TW" dirty="0"/>
              <a:t>提供聯繫朋友與分享心情的社交服務</a:t>
            </a:r>
            <a:endParaRPr lang="en-US" altLang="zh-TW" dirty="0"/>
          </a:p>
          <a:p>
            <a:pPr lvl="1"/>
            <a:r>
              <a:rPr lang="en-US" altLang="zh-TW" dirty="0"/>
              <a:t>2004</a:t>
            </a:r>
            <a:r>
              <a:rPr lang="zh-TW" altLang="zh-TW" dirty="0"/>
              <a:t>年由祖克柏</a:t>
            </a:r>
            <a:r>
              <a:rPr lang="zh-TW" altLang="en-US" dirty="0"/>
              <a:t> </a:t>
            </a:r>
            <a:r>
              <a:rPr lang="en-US" altLang="zh-TW" dirty="0"/>
              <a:t>(Mark </a:t>
            </a:r>
            <a:r>
              <a:rPr lang="en-US" altLang="zh-TW" dirty="0" err="1"/>
              <a:t>Zuckerberg</a:t>
            </a:r>
            <a:r>
              <a:rPr lang="en-US" altLang="zh-TW" dirty="0"/>
              <a:t>) </a:t>
            </a:r>
            <a:r>
              <a:rPr lang="zh-TW" altLang="zh-TW" dirty="0"/>
              <a:t>與哈佛大學的幾位同學成立</a:t>
            </a:r>
            <a:endParaRPr lang="en-US" altLang="zh-TW" dirty="0"/>
          </a:p>
          <a:p>
            <a:pPr lvl="1"/>
            <a:r>
              <a:rPr lang="zh-TW" altLang="zh-TW" dirty="0"/>
              <a:t>想法源自某些美國</a:t>
            </a:r>
            <a:r>
              <a:rPr lang="zh-TW" altLang="zh-TW" dirty="0" smtClean="0"/>
              <a:t>大學</a:t>
            </a:r>
            <a:r>
              <a:rPr lang="zh-TW" altLang="en-US" dirty="0" smtClean="0"/>
              <a:t>，</a:t>
            </a:r>
            <a:r>
              <a:rPr lang="zh-TW" altLang="zh-TW" dirty="0" smtClean="0"/>
              <a:t>會</a:t>
            </a:r>
            <a:r>
              <a:rPr lang="zh-TW" altLang="zh-TW" dirty="0"/>
              <a:t>給入學新生或新職員一份貼上照片的同儕通訊錄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俗稱花名錄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  <p:sp>
        <p:nvSpPr>
          <p:cNvPr id="51202" name="AutoShape 2" descr="data:image/jpeg;base64,/9j/4AAQSkZJRgABAQAAAQABAAD/2wCEAAkGBxQTBhISEA8SFRUVEhgWFhcWFRQWGhgaGBQYFhYaFRcYHSkgGB4lGxUUIjIhJSksLi4vGR8zODMsNygtLisBCgoKDg0OGxAQGiwlHyU3NzcsNCwsNDI0LC80NDQsNDQsLC0sLCwvLCw0LCwsLCwsLCwsLCwsLCwsLCw0LCwsLP/AABEIALcBEwMBIgACEQEDEQH/xAAcAAEAAgMBAQEAAAAAAAAAAAAAAQcEBQYIAgP/xABIEAACAQMABgQICgcHBQAAAAAAAQIDBBEFBgcSITETUWFxIjI2QXOBkbEUM0JScnShsrPRJCYng5LB0hYjJTQ1YoIVQ6LCw//EABkBAQADAQEAAAAAAAAAAAAAAAACAwQBBf/EACwRAQACAgECBQIFBQAAAAAAAAABAgMRIQQSEyIxQVEUcTNCYYGRIzJDofD/2gAMAwEAAhEDEQA/AObAB7vLzwADkAAOQAA5AADkAAOQAA5AADkAAOQAA5AADkAAOQAA5AADkAAOQAA5AADkAAORAJB3bqASBsQCQNiASBsQCQNiASBsQCQNiASBsQCQNiASBsQCQNiASBsQCQNiASBsQCQNiASBsQCQNiCQBsAAHAAAAAAAAAAAAAAAAAAAAAAAAAAAAAAAAAAAAAAAAAAAAAAAAAAAAAAAAAAAAAAAAAAAAAAAAAAAAAAAAAAAAAAAAAAAAAAAABLjwOnsdQL2pSUuijTT5dJJRf8ACstevBmbKtHRq6xSnNZ6GnvR+k2oxfqW99hb1xWjChKc5KMYxcpN8kkstv1GLP1E0t21XY8cWjcqW0nqFdULCdao6O7CO9LdnJvHYt05ctfWrXWzrav3FKlWcpzpuMV0dVZeetxwVQXYL3tE98IZIrE8AAL0AAAAAAAAAAAftbWVSo/7qlUn9CEpe5GVfaDuKNqqla3nTg5bqc0lxabSw+PJPzFo7J/JZ+nn7on5bXvJyl9Zj+HUMn1E+L2aXeFHb3KjABrUgAAAAAAAAAAmnByniKbfUk2/YjaW2rN3UWYWdbHXKDgvbPCNxst8ro+iqe5Fy1fiZdz9xkz9ROO3bELseOLRt5sJIj4qJNakAAAAAD7t6LncQhHnOSiu+TSX2s+DJ0XVUNJ0ZyeIxrU5N9SU02/Yjk+hC0tneq9xaXtaVxGCU4RUd2W9xUm3n2nU6xWkq2grilTxvVKM4xy8LLi0svzHxofWG3uqko29bfcUnLwZxwm8LxkjOvLqNK1nUqS3YQi5SeG8JLLeFxPGva033Pq21iIrqPRSmktR7uhYzrVY01CCzLE03zxwWO0jRepF3cWEK1KNPcmm45nh8G1yx2HYa8a3WtbVmrSoV9+c3BJblRcFUjJ8XFLkmZWrGt9lR1et6U7lKUKUVJblR4ljMllRxzbNvjZezeud/Cnsp3a2457Ob7HiUn+8X80ajS2rl1bQ3q9vOMfnLEo+uUW0vWXHZa4WVW4jCndQcpNKKanHLfJJyS4m6rUlKk4yipRkmmmspp8GmvOV/VZKz5oS8Ks+kvNptNDau3N0/wBHoylFPDm8Riv+T4PuWWbGnq0pa9Ssk2oKs8vzqml0nPr3cLPWy67a3jTt4wpxUYxWIxXBJLqLs3U9kR2+6FMXd6qjjsyvN3x7ddm/P+g1+ktRbyjQlOVKMoxi5SlCcXhJZbw8Pkuosm61+sYV3B13Jp4bjCclldTSw/UY2ldc7KtoO4hTuVvSoVIqMozg23TaSW8ll5Kq5s++Y/0lNMfyp2lTcqijGLlJvCSTbb6klzOpstnl7UppuFOnnzVJ4fsinj1nTbJdDRVhO7lFOcpOEG/kxjwk11NvK7onX6xafpWdkqlbeeZbsYxScpPGeGWlyT4tksvU27+ykOUxRrdlX3Gza9jDKVGfZGo8/wDlFL7Tlr2zqUbl061OUJrnGSw+/tXai7tWNbaF7KcaSqRnBJuM0k8N4ynFtNZ96MXaLoaNfV6pPdXSUYupCXnwuM49zinw60jlOpvF+28O2xRMbqxdk3ks/Tz90TK2i6HrXWh6dK3hvSVeMnlqKSUJptt9rRi7JvJZ+nn7onUaU0pSt7XpK9RQjnGXni+LwkuLfB8F1Ge9prmmY9drKxE05VTHZlebvjW67N+f9BptOaq3VrDerUvAzjfg1KPHllrjH1pFu6H1vtLm76KjVbnhtKUZRzji93eXHh5jc3dvGpbSp1IqUZxcZJ+dNYZb9VkrPmhDwqzHDzcdFonUq8r0lKFHci+Uqj3E+5eNjtwbXZ1q9GprHWdVKUbWWMPk577jFvrxuSffgtq5uI07eVSpJRjFNyk3hJLm2XZ+pms9tUMeLcblUU9md4o5Urd9iqT/AJwOd0xoO4tZpXFGUM8pcHF90lwz2cy49G662de9VKnX8OTxHehOKk+pOSxnsNvpGxhXsp0qsVKE1hp/Y11Nc0yqOqyVnV4T8Ksx5ZedDdaG1TurmmpUaD3HynNqEX3Z4y70mbHVfVlVNdJW1bwoUJTc/wDcoSSiu6TcX3ZLn4Rp+ZJLuSS9yLc/U9nFUMeLfMqgezK83fGt+7fn/QaLTWrVzarNei1HON9NSj2eEuXrwW1R17sZXipq44t4UnCai3y8ZrHr5HQ16MZ0ZQnFSjJNSTWU0+aaKvqclZ80J+FWfSVN7LfK6PoqnuRctX4mXc/cVfqvopW202dGOd2MJuGfmyjGUe/GceotCr8TLufuK+qmJvEx8JYo1XTzXHxV3HWUdnt7KjGXR01vJPEppNZWcNY4MyNmWrnwjSPT1I/3VFrGeUqnOK7o8G/+JbOkr6FCwnWqvEIRcn+S623hLvNOfqJrbtqqx44mNyojT2gK1pUhGv0alNNpRlvPC4ZfUvyZqzO05pWdzpSpXqc5PgvNGK8WK7l/N+cwTVXevN6qp1vgABJwAAFg7Hf9SufRQ+8zu9cvJS7+r1Pus4TY5/qVz6KH3md5rj5KXf1ep91nl5/x/wCGrH+GoOnByqKMU220kksttvCSXnZ3WjdmFedFSrVqdJv5KTqNfSw0k+5s1ezajGWuFHe+SpyXeoPHvz6i7XyL+pz2pPbVDFji0blW1vstcbiMvhq8GSl8S1yafz+wsoqy22gX1TSipQtaeek3XBU6spRW9h5xLzdeC0zLn8Tjvlbj7fyq90av2vXPof8A50jvLz/KT+hL3Mr21uFDbDVTfjw3F39DCS+6WJWhvUZR6017VgZvWv2gp7/d5sh4i7j6Nzc6o3lOq4O0qyxwzCLnF9qcfMfT1QvVbTqStZRhCDnJycI4UU2+DeXwXUep4lPmGXtn4WjszX6mUPpVfxpm109q/Ru6cI3EZNQbccSlHi1h8jSbLLhS1ShFPjTqVIv1y319k0fvr7bXctGwlYzqKcZ+HGEt1yi1jh14eOB5donxp51y1R/YzNB6p21pdOpQhJScNx5nKXBtPk31xRnadX+CXHoKn3GVIpaYzj9P9lRfafV5b6Xjo6pUrTuI0oxe/v1Y8nwa3d7L59RZOCZnc3j+UfEiI4h2eyXyVfp5+6J+W17ycpfWY/h1D9dk3ks/Tz90T62pWVSroCnGjSnUkq8W1CLk8bk1nC83Fe05E66j93f8audRX+t9r6R/ckXwVBqFqxc/2jpValCpTp0m5N1IuGXutJRT4vi+7gy3x1dom8acwxqrhtmy/T9JfW396obLaT5GXH7v8aBpNl15GekdIJPxq3SLtUp1OPu9p0+uWjZ3GrdajSSc5KLim8ZcZxnjL5Z3cHL8Zo3+jteacKQ0M/8AGLf09L8SJ6KKR1f1Su5abo71tUhGFWEpymt1JRkm8N+Ny4YyXcT6y0TMalHDExEuG1aX7SNJfQh9qgdJrY/1Xu/q1X8ORyWqt9GW0q/Sa8NNLtdOUIvHsfsO101aOtoevRi0nUozgm+ScotLPtKsnF43+ideaz+7zrPxH3HpG1/y0Por3Ioynqbeyuui+CVItvDk0lBdu/ya7my9qUN2kl1JL2LBd1lonWpQwxMb24ma/a3H6p+Z29RZpvuZwdOupbXZJfIttx9+4pf+6O7q/Ey7n7jPl/L9oWU92HoTRkLbRdOhSXgwjjPnk+bk+1vLK72t6Xm7ynapONNRVRv57eUsdajh+t9iN9sx1h6fRHQVJZq0YpcecqfKL7WvFfq6zM2g6vfCtDOUFmtSzKHXJfKh60uHakWU/p5vP/36o281PKpMEEnqsgAAAAA7jZVpClRv7h161OmnTgk6k4wy1J5xvPidnrVp+1nq1dQheW8pSoTUYxq0223F4SSeWylAZr9NFr9+1kZJiumboXSUrfStKvBZdOWcdaaakvWm16y7NFa12le3UoXFOLxxhOUYSXem+PeuBQxBLNgrk59ymSar70hrXZ0YNzuqTfzYSU5fwwy/afVprVaTtYT+F0Ib0VLdnVpxlHKziUd7g11FBAp+irr1T8efh0eud+v7Z1a1vVi8TpyhOElJZjThxTXB4aLA1d2hW9ago3ElQq4473CEn1xlyS7H9vMp0F1+nrasRPshGSYnb0PHTFu45VzQa61Vh+ZptZtZbT/otxBXdGUpUKkYxjNTbcoNJYjnHFopDAKY6OIne05zz8Oi1M1olZXrbi50p4VSK58OUo54ZWX3+wtnR+tlnWppwuqSb+TOShL+GWH7ChSC3L01ck790KZZrw9Ey0vQS43NFfvIfmczrtrHay1cuKULqlOc4YjGElPLyvm5S9ZTmCSqvRxE72lOaZjWlnbNdYLajoJ0q1xCnPpZSxJ44NRw8vh5n5zt6em7aSzG7oPuq03/ADPPRGCV+ki1pnZXNMRrT0LW07bQjmd3QXfVh+ZxeuO0Gn8CnRspOcppxdTDUYp8HuZ4yl28lz4lXYJFOkrWdzOy2aZbLV3TM7TSka1PjhbsovgpReMxfVyTz1pFwaJ12s69JP4RGlLzwqtQafVl8H6mUaCzLgrk5n1Rpkmr0LPTdtGOZXdul1urT/M5PWnaHRhbShZy6Sq1hTS8CHbl+M+rHD3FS4JKqdHWJ3M7SnNM+jK0ZpCpQ0jCvTl4cJb2Xxz1qXWmm0+8uHQmvtpXorfqqhPzxqPdWf8AbN+C17H2FKAuy4K5PVCmSa+j0M9NW27n4VQx19LTx7cnO6wbQbajQaoTVepjwVHjBPrlPk12LL7uZTWCSmvR1ieZTnPPs6vULSaWuHT3NaEd6NRynOSit6XHm+C7i0qusln0T/TrXk/+9T6u8oIE8vTRed7crlmsaZ2gNKztdJ068OcXxXzovhKL719uGXdR1ps5UYy+G263kniVWnGSys4lFvKfYUGDubp65J25TJNXSa+WlCOmnUta9GpTq5k1TnCW5PPhJqL4J5yu99RzYBdSvbWIQmdzsABJwAAAAAAAAAAAAAAAAAAAAAAAAAAAAAAAAAAAAAAAAAAAAAAAAAAAAAAAAAAAAAAAAAAAAAAAAAAAAAAAAAAAAAAAAAAAAAAAAAAAAAAAAAAAAAAAAAAAAAAAAAAAAAAAAAAAAAAAAAAAAAAAAAAAAAAAAAAAAAAAAAAAAAAAAAAAAAAAAAAAAAAAAAAAAAAAB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1204" name="AutoShape 4" descr="data:image/jpeg;base64,/9j/4AAQSkZJRgABAQAAAQABAAD/2wCEAAkGBxQTBhISEA8SFRUVEhgWFhcWFRQWGhgaGBQYFhYaFRcYHSkgGB4lGxUUIjIhJSksLi4vGR8zODMsNygtLisBCgoKDg0OGxAQGiwlHyU3NzcsNCwsNDI0LC80NDQsNDQsLC0sLCwvLCw0LCwsLCwsLCwsLCwsLCwsLCw0LCwsLP/AABEIALcBEwMBIgACEQEDEQH/xAAcAAEAAgMBAQEAAAAAAAAAAAAAAQcEBQYIAgP/xABIEAACAQMABgQICgcHBQAAAAAAAQIDBBEFBgcSITETUWFxIjI2QXOBkbEUM0JScnShsrPRJCYng5LB0hYjJTQ1YoIVQ6LCw//EABkBAQADAQEAAAAAAAAAAAAAAAACAwQBBf/EACwRAQACAgECBQIFBQAAAAAAAAABAgMRIQQSEyIxQVEUcTNCYYGRIzJDofD/2gAMAwEAAhEDEQA/AObAB7vLzwADkAAOQAA5AADkAAOQAA5AADkAAOQAA5AADkAAOQAA5AADkAAOQAA5AADkAAORAJB3bqASBsQCQNiASBsQCQNiASBsQCQNiASBsQCQNiASBsQCQNiASBsQCQNiASBsQCQNiASBsQCQNiCQBsAAHAAAAAAAAAAAAAAAAAAAAAAAAAAAAAAAAAAAAAAAAAAAAAAAAAAAAAAAAAAAAAAAAAAAAAAAAAAAAAAAAAAAAAAAAAAAAAAAABLjwOnsdQL2pSUuijTT5dJJRf8ACstevBmbKtHRq6xSnNZ6GnvR+k2oxfqW99hb1xWjChKc5KMYxcpN8kkstv1GLP1E0t21XY8cWjcqW0nqFdULCdao6O7CO9LdnJvHYt05ctfWrXWzrav3FKlWcpzpuMV0dVZeetxwVQXYL3tE98IZIrE8AAL0AAAAAAAAAAAftbWVSo/7qlUn9CEpe5GVfaDuKNqqla3nTg5bqc0lxabSw+PJPzFo7J/JZ+nn7on5bXvJyl9Zj+HUMn1E+L2aXeFHb3KjABrUgAAAAAAAAAAmnByniKbfUk2/YjaW2rN3UWYWdbHXKDgvbPCNxst8ro+iqe5Fy1fiZdz9xkz9ROO3bELseOLRt5sJIj4qJNakAAAAAD7t6LncQhHnOSiu+TSX2s+DJ0XVUNJ0ZyeIxrU5N9SU02/Yjk+hC0tneq9xaXtaVxGCU4RUd2W9xUm3n2nU6xWkq2grilTxvVKM4xy8LLi0svzHxofWG3uqko29bfcUnLwZxwm8LxkjOvLqNK1nUqS3YQi5SeG8JLLeFxPGva033Pq21iIrqPRSmktR7uhYzrVY01CCzLE03zxwWO0jRepF3cWEK1KNPcmm45nh8G1yx2HYa8a3WtbVmrSoV9+c3BJblRcFUjJ8XFLkmZWrGt9lR1et6U7lKUKUVJblR4ljMllRxzbNvjZezeud/Cnsp3a2457Ob7HiUn+8X80ajS2rl1bQ3q9vOMfnLEo+uUW0vWXHZa4WVW4jCndQcpNKKanHLfJJyS4m6rUlKk4yipRkmmmspp8GmvOV/VZKz5oS8Ks+kvNptNDau3N0/wBHoylFPDm8Riv+T4PuWWbGnq0pa9Ssk2oKs8vzqml0nPr3cLPWy67a3jTt4wpxUYxWIxXBJLqLs3U9kR2+6FMXd6qjjsyvN3x7ddm/P+g1+ktRbyjQlOVKMoxi5SlCcXhJZbw8Pkuosm61+sYV3B13Jp4bjCclldTSw/UY2ldc7KtoO4hTuVvSoVIqMozg23TaSW8ll5Kq5s++Y/0lNMfyp2lTcqijGLlJvCSTbb6klzOpstnl7UppuFOnnzVJ4fsinj1nTbJdDRVhO7lFOcpOEG/kxjwk11NvK7onX6xafpWdkqlbeeZbsYxScpPGeGWlyT4tksvU27+ykOUxRrdlX3Gza9jDKVGfZGo8/wDlFL7Tlr2zqUbl061OUJrnGSw+/tXai7tWNbaF7KcaSqRnBJuM0k8N4ynFtNZ96MXaLoaNfV6pPdXSUYupCXnwuM49zinw60jlOpvF+28O2xRMbqxdk3ks/Tz90TK2i6HrXWh6dK3hvSVeMnlqKSUJptt9rRi7JvJZ+nn7onUaU0pSt7XpK9RQjnGXni+LwkuLfB8F1Ge9prmmY9drKxE05VTHZlebvjW67N+f9BptOaq3VrDerUvAzjfg1KPHllrjH1pFu6H1vtLm76KjVbnhtKUZRzji93eXHh5jc3dvGpbSp1IqUZxcZJ+dNYZb9VkrPmhDwqzHDzcdFonUq8r0lKFHci+Uqj3E+5eNjtwbXZ1q9GprHWdVKUbWWMPk577jFvrxuSffgtq5uI07eVSpJRjFNyk3hJLm2XZ+pms9tUMeLcblUU9md4o5Urd9iqT/AJwOd0xoO4tZpXFGUM8pcHF90lwz2cy49G662de9VKnX8OTxHehOKk+pOSxnsNvpGxhXsp0qsVKE1hp/Y11Nc0yqOqyVnV4T8Ksx5ZedDdaG1TurmmpUaD3HynNqEX3Z4y70mbHVfVlVNdJW1bwoUJTc/wDcoSSiu6TcX3ZLn4Rp+ZJLuSS9yLc/U9nFUMeLfMqgezK83fGt+7fn/QaLTWrVzarNei1HON9NSj2eEuXrwW1R17sZXipq44t4UnCai3y8ZrHr5HQ16MZ0ZQnFSjJNSTWU0+aaKvqclZ80J+FWfSVN7LfK6PoqnuRctX4mXc/cVfqvopW202dGOd2MJuGfmyjGUe/GceotCr8TLufuK+qmJvEx8JYo1XTzXHxV3HWUdnt7KjGXR01vJPEppNZWcNY4MyNmWrnwjSPT1I/3VFrGeUqnOK7o8G/+JbOkr6FCwnWqvEIRcn+S623hLvNOfqJrbtqqx44mNyojT2gK1pUhGv0alNNpRlvPC4ZfUvyZqzO05pWdzpSpXqc5PgvNGK8WK7l/N+cwTVXevN6qp1vgABJwAAFg7Hf9SufRQ+8zu9cvJS7+r1Pus4TY5/qVz6KH3md5rj5KXf1ep91nl5/x/wCGrH+GoOnByqKMU220kksttvCSXnZ3WjdmFedFSrVqdJv5KTqNfSw0k+5s1ezajGWuFHe+SpyXeoPHvz6i7XyL+pz2pPbVDFji0blW1vstcbiMvhq8GSl8S1yafz+wsoqy22gX1TSipQtaeek3XBU6spRW9h5xLzdeC0zLn8Tjvlbj7fyq90av2vXPof8A50jvLz/KT+hL3Mr21uFDbDVTfjw3F39DCS+6WJWhvUZR6017VgZvWv2gp7/d5sh4i7j6Nzc6o3lOq4O0qyxwzCLnF9qcfMfT1QvVbTqStZRhCDnJycI4UU2+DeXwXUep4lPmGXtn4WjszX6mUPpVfxpm109q/Ru6cI3EZNQbccSlHi1h8jSbLLhS1ShFPjTqVIv1y319k0fvr7bXctGwlYzqKcZ+HGEt1yi1jh14eOB5donxp51y1R/YzNB6p21pdOpQhJScNx5nKXBtPk31xRnadX+CXHoKn3GVIpaYzj9P9lRfafV5b6Xjo6pUrTuI0oxe/v1Y8nwa3d7L59RZOCZnc3j+UfEiI4h2eyXyVfp5+6J+W17ycpfWY/h1D9dk3ks/Tz90T62pWVSroCnGjSnUkq8W1CLk8bk1nC83Fe05E66j93f8audRX+t9r6R/ckXwVBqFqxc/2jpValCpTp0m5N1IuGXutJRT4vi+7gy3x1dom8acwxqrhtmy/T9JfW396obLaT5GXH7v8aBpNl15GekdIJPxq3SLtUp1OPu9p0+uWjZ3GrdajSSc5KLim8ZcZxnjL5Z3cHL8Zo3+jteacKQ0M/8AGLf09L8SJ6KKR1f1Su5abo71tUhGFWEpymt1JRkm8N+Ny4YyXcT6y0TMalHDExEuG1aX7SNJfQh9qgdJrY/1Xu/q1X8ORyWqt9GW0q/Sa8NNLtdOUIvHsfsO101aOtoevRi0nUozgm+ScotLPtKsnF43+ideaz+7zrPxH3HpG1/y0Por3Ioynqbeyuui+CVItvDk0lBdu/ya7my9qUN2kl1JL2LBd1lonWpQwxMb24ma/a3H6p+Z29RZpvuZwdOupbXZJfIttx9+4pf+6O7q/Ey7n7jPl/L9oWU92HoTRkLbRdOhSXgwjjPnk+bk+1vLK72t6Xm7ynapONNRVRv57eUsdajh+t9iN9sx1h6fRHQVJZq0YpcecqfKL7WvFfq6zM2g6vfCtDOUFmtSzKHXJfKh60uHakWU/p5vP/36o281PKpMEEnqsgAAAAA7jZVpClRv7h161OmnTgk6k4wy1J5xvPidnrVp+1nq1dQheW8pSoTUYxq0223F4SSeWylAZr9NFr9+1kZJiumboXSUrfStKvBZdOWcdaaakvWm16y7NFa12le3UoXFOLxxhOUYSXem+PeuBQxBLNgrk59ymSar70hrXZ0YNzuqTfzYSU5fwwy/afVprVaTtYT+F0Ib0VLdnVpxlHKziUd7g11FBAp+irr1T8efh0eud+v7Z1a1vVi8TpyhOElJZjThxTXB4aLA1d2hW9ago3ElQq4473CEn1xlyS7H9vMp0F1+nrasRPshGSYnb0PHTFu45VzQa61Vh+ZptZtZbT/otxBXdGUpUKkYxjNTbcoNJYjnHFopDAKY6OIne05zz8Oi1M1olZXrbi50p4VSK58OUo54ZWX3+wtnR+tlnWppwuqSb+TOShL+GWH7ChSC3L01ck790KZZrw9Ey0vQS43NFfvIfmczrtrHay1cuKULqlOc4YjGElPLyvm5S9ZTmCSqvRxE72lOaZjWlnbNdYLajoJ0q1xCnPpZSxJ44NRw8vh5n5zt6em7aSzG7oPuq03/ADPPRGCV+ki1pnZXNMRrT0LW07bQjmd3QXfVh+ZxeuO0Gn8CnRspOcppxdTDUYp8HuZ4yl28lz4lXYJFOkrWdzOy2aZbLV3TM7TSka1PjhbsovgpReMxfVyTz1pFwaJ12s69JP4RGlLzwqtQafVl8H6mUaCzLgrk5n1Rpkmr0LPTdtGOZXdul1urT/M5PWnaHRhbShZy6Sq1hTS8CHbl+M+rHD3FS4JKqdHWJ3M7SnNM+jK0ZpCpQ0jCvTl4cJb2Xxz1qXWmm0+8uHQmvtpXorfqqhPzxqPdWf8AbN+C17H2FKAuy4K5PVCmSa+j0M9NW27n4VQx19LTx7cnO6wbQbajQaoTVepjwVHjBPrlPk12LL7uZTWCSmvR1ieZTnPPs6vULSaWuHT3NaEd6NRynOSit6XHm+C7i0qusln0T/TrXk/+9T6u8oIE8vTRed7crlmsaZ2gNKztdJ068OcXxXzovhKL719uGXdR1ps5UYy+G263kniVWnGSys4lFvKfYUGDubp65J25TJNXSa+WlCOmnUta9GpTq5k1TnCW5PPhJqL4J5yu99RzYBdSvbWIQmdzsABJwAAAAAAAAAAAAAAAAAAAAAAAAAAAAAAAAAAAAAAAAAAAAAAAAAAAAAAAAAAAAAAAAAAAAAAAAAAAAAAAAAAAAAAAAAAAAAAAAAAAAAAAAAAAAAAAAAAAAAAAAAAAAAAAAAAAAAAAAAAAAAAAAAAAAAAAAAAAAAAAAAAAAAAAAAAAAAAAAAAAAAAAAAAAAAAAB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1207" name="Picture 7" descr="http://www.socialmediaexplorer.com/wp-content/uploads/2013/03/facebook-logo-revers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4293096"/>
            <a:ext cx="4160740" cy="15652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YouTube</a:t>
            </a:r>
          </a:p>
          <a:p>
            <a:pPr lvl="1"/>
            <a:r>
              <a:rPr lang="zh-TW" altLang="zh-TW" dirty="0"/>
              <a:t>提供影音分享的服務</a:t>
            </a:r>
            <a:endParaRPr lang="en-US" altLang="zh-TW" dirty="0"/>
          </a:p>
          <a:p>
            <a:pPr lvl="1"/>
            <a:r>
              <a:rPr lang="en-US" altLang="zh-TW" dirty="0"/>
              <a:t>2005</a:t>
            </a:r>
            <a:r>
              <a:rPr lang="zh-TW" altLang="zh-TW" dirty="0"/>
              <a:t>年由華裔美國人陳士駿等人創立，次年這個網站被谷歌收購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  <p:sp>
        <p:nvSpPr>
          <p:cNvPr id="51202" name="AutoShape 2" descr="data:image/jpeg;base64,/9j/4AAQSkZJRgABAQAAAQABAAD/2wCEAAkGBxQTBhISEA8SFRUVEhgWFhcWFRQWGhgaGBQYFhYaFRcYHSkgGB4lGxUUIjIhJSksLi4vGR8zODMsNygtLisBCgoKDg0OGxAQGiwlHyU3NzcsNCwsNDI0LC80NDQsNDQsLC0sLCwvLCw0LCwsLCwsLCwsLCwsLCwsLCw0LCwsLP/AABEIALcBEwMBIgACEQEDEQH/xAAcAAEAAgMBAQEAAAAAAAAAAAAAAQcEBQYIAgP/xABIEAACAQMABgQICgcHBQAAAAAAAQIDBBEFBgcSITETUWFxIjI2QXOBkbEUM0JScnShsrPRJCYng5LB0hYjJTQ1YoIVQ6LCw//EABkBAQADAQEAAAAAAAAAAAAAAAACAwQBBf/EACwRAQACAgECBQIFBQAAAAAAAAABAgMRIQQSEyIxQVEUcTNCYYGRIzJDofD/2gAMAwEAAhEDEQA/AObAB7vLzwADkAAOQAA5AADkAAOQAA5AADkAAOQAA5AADkAAOQAA5AADkAAOQAA5AADkAAORAJB3bqASBsQCQNiASBsQCQNiASBsQCQNiASBsQCQNiASBsQCQNiASBsQCQNiASBsQCQNiASBsQCQNiCQBsAAHAAAAAAAAAAAAAAAAAAAAAAAAAAAAAAAAAAAAAAAAAAAAAAAAAAAAAAAAAAAAAAAAAAAAAAAAAAAAAAAAAAAAAAAAAAAAAAAABLjwOnsdQL2pSUuijTT5dJJRf8ACstevBmbKtHRq6xSnNZ6GnvR+k2oxfqW99hb1xWjChKc5KMYxcpN8kkstv1GLP1E0t21XY8cWjcqW0nqFdULCdao6O7CO9LdnJvHYt05ctfWrXWzrav3FKlWcpzpuMV0dVZeetxwVQXYL3tE98IZIrE8AAL0AAAAAAAAAAAftbWVSo/7qlUn9CEpe5GVfaDuKNqqla3nTg5bqc0lxabSw+PJPzFo7J/JZ+nn7on5bXvJyl9Zj+HUMn1E+L2aXeFHb3KjABrUgAAAAAAAAAAmnByniKbfUk2/YjaW2rN3UWYWdbHXKDgvbPCNxst8ro+iqe5Fy1fiZdz9xkz9ROO3bELseOLRt5sJIj4qJNakAAAAAD7t6LncQhHnOSiu+TSX2s+DJ0XVUNJ0ZyeIxrU5N9SU02/Yjk+hC0tneq9xaXtaVxGCU4RUd2W9xUm3n2nU6xWkq2grilTxvVKM4xy8LLi0svzHxofWG3uqko29bfcUnLwZxwm8LxkjOvLqNK1nUqS3YQi5SeG8JLLeFxPGva033Pq21iIrqPRSmktR7uhYzrVY01CCzLE03zxwWO0jRepF3cWEK1KNPcmm45nh8G1yx2HYa8a3WtbVmrSoV9+c3BJblRcFUjJ8XFLkmZWrGt9lR1et6U7lKUKUVJblR4ljMllRxzbNvjZezeud/Cnsp3a2457Ob7HiUn+8X80ajS2rl1bQ3q9vOMfnLEo+uUW0vWXHZa4WVW4jCndQcpNKKanHLfJJyS4m6rUlKk4yipRkmmmspp8GmvOV/VZKz5oS8Ks+kvNptNDau3N0/wBHoylFPDm8Riv+T4PuWWbGnq0pa9Ssk2oKs8vzqml0nPr3cLPWy67a3jTt4wpxUYxWIxXBJLqLs3U9kR2+6FMXd6qjjsyvN3x7ddm/P+g1+ktRbyjQlOVKMoxi5SlCcXhJZbw8Pkuosm61+sYV3B13Jp4bjCclldTSw/UY2ldc7KtoO4hTuVvSoVIqMozg23TaSW8ll5Kq5s++Y/0lNMfyp2lTcqijGLlJvCSTbb6klzOpstnl7UppuFOnnzVJ4fsinj1nTbJdDRVhO7lFOcpOEG/kxjwk11NvK7onX6xafpWdkqlbeeZbsYxScpPGeGWlyT4tksvU27+ykOUxRrdlX3Gza9jDKVGfZGo8/wDlFL7Tlr2zqUbl061OUJrnGSw+/tXai7tWNbaF7KcaSqRnBJuM0k8N4ynFtNZ96MXaLoaNfV6pPdXSUYupCXnwuM49zinw60jlOpvF+28O2xRMbqxdk3ks/Tz90TK2i6HrXWh6dK3hvSVeMnlqKSUJptt9rRi7JvJZ+nn7onUaU0pSt7XpK9RQjnGXni+LwkuLfB8F1Ge9prmmY9drKxE05VTHZlebvjW67N+f9BptOaq3VrDerUvAzjfg1KPHllrjH1pFu6H1vtLm76KjVbnhtKUZRzji93eXHh5jc3dvGpbSp1IqUZxcZJ+dNYZb9VkrPmhDwqzHDzcdFonUq8r0lKFHci+Uqj3E+5eNjtwbXZ1q9GprHWdVKUbWWMPk577jFvrxuSffgtq5uI07eVSpJRjFNyk3hJLm2XZ+pms9tUMeLcblUU9md4o5Urd9iqT/AJwOd0xoO4tZpXFGUM8pcHF90lwz2cy49G662de9VKnX8OTxHehOKk+pOSxnsNvpGxhXsp0qsVKE1hp/Y11Nc0yqOqyVnV4T8Ksx5ZedDdaG1TurmmpUaD3HynNqEX3Z4y70mbHVfVlVNdJW1bwoUJTc/wDcoSSiu6TcX3ZLn4Rp+ZJLuSS9yLc/U9nFUMeLfMqgezK83fGt+7fn/QaLTWrVzarNei1HON9NSj2eEuXrwW1R17sZXipq44t4UnCai3y8ZrHr5HQ16MZ0ZQnFSjJNSTWU0+aaKvqclZ80J+FWfSVN7LfK6PoqnuRctX4mXc/cVfqvopW202dGOd2MJuGfmyjGUe/GceotCr8TLufuK+qmJvEx8JYo1XTzXHxV3HWUdnt7KjGXR01vJPEppNZWcNY4MyNmWrnwjSPT1I/3VFrGeUqnOK7o8G/+JbOkr6FCwnWqvEIRcn+S623hLvNOfqJrbtqqx44mNyojT2gK1pUhGv0alNNpRlvPC4ZfUvyZqzO05pWdzpSpXqc5PgvNGK8WK7l/N+cwTVXevN6qp1vgABJwAAFg7Hf9SufRQ+8zu9cvJS7+r1Pus4TY5/qVz6KH3md5rj5KXf1ep91nl5/x/wCGrH+GoOnByqKMU220kksttvCSXnZ3WjdmFedFSrVqdJv5KTqNfSw0k+5s1ezajGWuFHe+SpyXeoPHvz6i7XyL+pz2pPbVDFji0blW1vstcbiMvhq8GSl8S1yafz+wsoqy22gX1TSipQtaeek3XBU6spRW9h5xLzdeC0zLn8Tjvlbj7fyq90av2vXPof8A50jvLz/KT+hL3Mr21uFDbDVTfjw3F39DCS+6WJWhvUZR6017VgZvWv2gp7/d5sh4i7j6Nzc6o3lOq4O0qyxwzCLnF9qcfMfT1QvVbTqStZRhCDnJycI4UU2+DeXwXUep4lPmGXtn4WjszX6mUPpVfxpm109q/Ru6cI3EZNQbccSlHi1h8jSbLLhS1ShFPjTqVIv1y319k0fvr7bXctGwlYzqKcZ+HGEt1yi1jh14eOB5donxp51y1R/YzNB6p21pdOpQhJScNx5nKXBtPk31xRnadX+CXHoKn3GVIpaYzj9P9lRfafV5b6Xjo6pUrTuI0oxe/v1Y8nwa3d7L59RZOCZnc3j+UfEiI4h2eyXyVfp5+6J+W17ycpfWY/h1D9dk3ks/Tz90T62pWVSroCnGjSnUkq8W1CLk8bk1nC83Fe05E66j93f8audRX+t9r6R/ckXwVBqFqxc/2jpValCpTp0m5N1IuGXutJRT4vi+7gy3x1dom8acwxqrhtmy/T9JfW396obLaT5GXH7v8aBpNl15GekdIJPxq3SLtUp1OPu9p0+uWjZ3GrdajSSc5KLim8ZcZxnjL5Z3cHL8Zo3+jteacKQ0M/8AGLf09L8SJ6KKR1f1Su5abo71tUhGFWEpymt1JRkm8N+Ny4YyXcT6y0TMalHDExEuG1aX7SNJfQh9qgdJrY/1Xu/q1X8ORyWqt9GW0q/Sa8NNLtdOUIvHsfsO101aOtoevRi0nUozgm+ScotLPtKsnF43+ideaz+7zrPxH3HpG1/y0Por3Ioynqbeyuui+CVItvDk0lBdu/ya7my9qUN2kl1JL2LBd1lonWpQwxMb24ma/a3H6p+Z29RZpvuZwdOupbXZJfIttx9+4pf+6O7q/Ey7n7jPl/L9oWU92HoTRkLbRdOhSXgwjjPnk+bk+1vLK72t6Xm7ynapONNRVRv57eUsdajh+t9iN9sx1h6fRHQVJZq0YpcecqfKL7WvFfq6zM2g6vfCtDOUFmtSzKHXJfKh60uHakWU/p5vP/36o281PKpMEEnqsgAAAAA7jZVpClRv7h161OmnTgk6k4wy1J5xvPidnrVp+1nq1dQheW8pSoTUYxq0223F4SSeWylAZr9NFr9+1kZJiumboXSUrfStKvBZdOWcdaaakvWm16y7NFa12le3UoXFOLxxhOUYSXem+PeuBQxBLNgrk59ymSar70hrXZ0YNzuqTfzYSU5fwwy/afVprVaTtYT+F0Ib0VLdnVpxlHKziUd7g11FBAp+irr1T8efh0eud+v7Z1a1vVi8TpyhOElJZjThxTXB4aLA1d2hW9ago3ElQq4473CEn1xlyS7H9vMp0F1+nrasRPshGSYnb0PHTFu45VzQa61Vh+ZptZtZbT/otxBXdGUpUKkYxjNTbcoNJYjnHFopDAKY6OIne05zz8Oi1M1olZXrbi50p4VSK58OUo54ZWX3+wtnR+tlnWppwuqSb+TOShL+GWH7ChSC3L01ck790KZZrw9Ey0vQS43NFfvIfmczrtrHay1cuKULqlOc4YjGElPLyvm5S9ZTmCSqvRxE72lOaZjWlnbNdYLajoJ0q1xCnPpZSxJ44NRw8vh5n5zt6em7aSzG7oPuq03/ADPPRGCV+ki1pnZXNMRrT0LW07bQjmd3QXfVh+ZxeuO0Gn8CnRspOcppxdTDUYp8HuZ4yl28lz4lXYJFOkrWdzOy2aZbLV3TM7TSka1PjhbsovgpReMxfVyTz1pFwaJ12s69JP4RGlLzwqtQafVl8H6mUaCzLgrk5n1Rpkmr0LPTdtGOZXdul1urT/M5PWnaHRhbShZy6Sq1hTS8CHbl+M+rHD3FS4JKqdHWJ3M7SnNM+jK0ZpCpQ0jCvTl4cJb2Xxz1qXWmm0+8uHQmvtpXorfqqhPzxqPdWf8AbN+C17H2FKAuy4K5PVCmSa+j0M9NW27n4VQx19LTx7cnO6wbQbajQaoTVepjwVHjBPrlPk12LL7uZTWCSmvR1ieZTnPPs6vULSaWuHT3NaEd6NRynOSit6XHm+C7i0qusln0T/TrXk/+9T6u8oIE8vTRed7crlmsaZ2gNKztdJ068OcXxXzovhKL719uGXdR1ps5UYy+G263kniVWnGSys4lFvKfYUGDubp65J25TJNXSa+WlCOmnUta9GpTq5k1TnCW5PPhJqL4J5yu99RzYBdSvbWIQmdzsABJwAAAAAAAAAAAAAAAAAAAAAAAAAAAAAAAAAAAAAAAAAAAAAAAAAAAAAAAAAAAAAAAAAAAAAAAAAAAAAAAAAAAAAAAAAAAAAAAAAAAAAAAAAAAAAAAAAAAAAAAAAAAAAAAAAAAAAAAAAAAAAAAAAAAAAAAAAAAAAAAAAAAAAAAAAAAAAAAAAAAAAAAAAAAAAAAB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1204" name="AutoShape 4" descr="data:image/jpeg;base64,/9j/4AAQSkZJRgABAQAAAQABAAD/2wCEAAkGBxQTBhISEA8SFRUVEhgWFhcWFRQWGhgaGBQYFhYaFRcYHSkgGB4lGxUUIjIhJSksLi4vGR8zODMsNygtLisBCgoKDg0OGxAQGiwlHyU3NzcsNCwsNDI0LC80NDQsNDQsLC0sLCwvLCw0LCwsLCwsLCwsLCwsLCwsLCw0LCwsLP/AABEIALcBEwMBIgACEQEDEQH/xAAcAAEAAgMBAQEAAAAAAAAAAAAAAQcEBQYIAgP/xABIEAACAQMABgQICgcHBQAAAAAAAQIDBBEFBgcSITETUWFxIjI2QXOBkbEUM0JScnShsrPRJCYng5LB0hYjJTQ1YoIVQ6LCw//EABkBAQADAQEAAAAAAAAAAAAAAAACAwQBBf/EACwRAQACAgECBQIFBQAAAAAAAAABAgMRIQQSEyIxQVEUcTNCYYGRIzJDofD/2gAMAwEAAhEDEQA/AObAB7vLzwADkAAOQAA5AADkAAOQAA5AADkAAOQAA5AADkAAOQAA5AADkAAOQAA5AADkAAORAJB3bqASBsQCQNiASBsQCQNiASBsQCQNiASBsQCQNiASBsQCQNiASBsQCQNiASBsQCQNiASBsQCQNiCQBsAAHAAAAAAAAAAAAAAAAAAAAAAAAAAAAAAAAAAAAAAAAAAAAAAAAAAAAAAAAAAAAAAAAAAAAAAAAAAAAAAAAAAAAAAAAAAAAAAAABLjwOnsdQL2pSUuijTT5dJJRf8ACstevBmbKtHRq6xSnNZ6GnvR+k2oxfqW99hb1xWjChKc5KMYxcpN8kkstv1GLP1E0t21XY8cWjcqW0nqFdULCdao6O7CO9LdnJvHYt05ctfWrXWzrav3FKlWcpzpuMV0dVZeetxwVQXYL3tE98IZIrE8AAL0AAAAAAAAAAAftbWVSo/7qlUn9CEpe5GVfaDuKNqqla3nTg5bqc0lxabSw+PJPzFo7J/JZ+nn7on5bXvJyl9Zj+HUMn1E+L2aXeFHb3KjABrUgAAAAAAAAAAmnByniKbfUk2/YjaW2rN3UWYWdbHXKDgvbPCNxst8ro+iqe5Fy1fiZdz9xkz9ROO3bELseOLRt5sJIj4qJNakAAAAAD7t6LncQhHnOSiu+TSX2s+DJ0XVUNJ0ZyeIxrU5N9SU02/Yjk+hC0tneq9xaXtaVxGCU4RUd2W9xUm3n2nU6xWkq2grilTxvVKM4xy8LLi0svzHxofWG3uqko29bfcUnLwZxwm8LxkjOvLqNK1nUqS3YQi5SeG8JLLeFxPGva033Pq21iIrqPRSmktR7uhYzrVY01CCzLE03zxwWO0jRepF3cWEK1KNPcmm45nh8G1yx2HYa8a3WtbVmrSoV9+c3BJblRcFUjJ8XFLkmZWrGt9lR1et6U7lKUKUVJblR4ljMllRxzbNvjZezeud/Cnsp3a2457Ob7HiUn+8X80ajS2rl1bQ3q9vOMfnLEo+uUW0vWXHZa4WVW4jCndQcpNKKanHLfJJyS4m6rUlKk4yipRkmmmspp8GmvOV/VZKz5oS8Ks+kvNptNDau3N0/wBHoylFPDm8Riv+T4PuWWbGnq0pa9Ssk2oKs8vzqml0nPr3cLPWy67a3jTt4wpxUYxWIxXBJLqLs3U9kR2+6FMXd6qjjsyvN3x7ddm/P+g1+ktRbyjQlOVKMoxi5SlCcXhJZbw8Pkuosm61+sYV3B13Jp4bjCclldTSw/UY2ldc7KtoO4hTuVvSoVIqMozg23TaSW8ll5Kq5s++Y/0lNMfyp2lTcqijGLlJvCSTbb6klzOpstnl7UppuFOnnzVJ4fsinj1nTbJdDRVhO7lFOcpOEG/kxjwk11NvK7onX6xafpWdkqlbeeZbsYxScpPGeGWlyT4tksvU27+ykOUxRrdlX3Gza9jDKVGfZGo8/wDlFL7Tlr2zqUbl061OUJrnGSw+/tXai7tWNbaF7KcaSqRnBJuM0k8N4ynFtNZ96MXaLoaNfV6pPdXSUYupCXnwuM49zinw60jlOpvF+28O2xRMbqxdk3ks/Tz90TK2i6HrXWh6dK3hvSVeMnlqKSUJptt9rRi7JvJZ+nn7onUaU0pSt7XpK9RQjnGXni+LwkuLfB8F1Ge9prmmY9drKxE05VTHZlebvjW67N+f9BptOaq3VrDerUvAzjfg1KPHllrjH1pFu6H1vtLm76KjVbnhtKUZRzji93eXHh5jc3dvGpbSp1IqUZxcZJ+dNYZb9VkrPmhDwqzHDzcdFonUq8r0lKFHci+Uqj3E+5eNjtwbXZ1q9GprHWdVKUbWWMPk577jFvrxuSffgtq5uI07eVSpJRjFNyk3hJLm2XZ+pms9tUMeLcblUU9md4o5Urd9iqT/AJwOd0xoO4tZpXFGUM8pcHF90lwz2cy49G662de9VKnX8OTxHehOKk+pOSxnsNvpGxhXsp0qsVKE1hp/Y11Nc0yqOqyVnV4T8Ksx5ZedDdaG1TurmmpUaD3HynNqEX3Z4y70mbHVfVlVNdJW1bwoUJTc/wDcoSSiu6TcX3ZLn4Rp+ZJLuSS9yLc/U9nFUMeLfMqgezK83fGt+7fn/QaLTWrVzarNei1HON9NSj2eEuXrwW1R17sZXipq44t4UnCai3y8ZrHr5HQ16MZ0ZQnFSjJNSTWU0+aaKvqclZ80J+FWfSVN7LfK6PoqnuRctX4mXc/cVfqvopW202dGOd2MJuGfmyjGUe/GceotCr8TLufuK+qmJvEx8JYo1XTzXHxV3HWUdnt7KjGXR01vJPEppNZWcNY4MyNmWrnwjSPT1I/3VFrGeUqnOK7o8G/+JbOkr6FCwnWqvEIRcn+S623hLvNOfqJrbtqqx44mNyojT2gK1pUhGv0alNNpRlvPC4ZfUvyZqzO05pWdzpSpXqc5PgvNGK8WK7l/N+cwTVXevN6qp1vgABJwAAFg7Hf9SufRQ+8zu9cvJS7+r1Pus4TY5/qVz6KH3md5rj5KXf1ep91nl5/x/wCGrH+GoOnByqKMU220kksttvCSXnZ3WjdmFedFSrVqdJv5KTqNfSw0k+5s1ezajGWuFHe+SpyXeoPHvz6i7XyL+pz2pPbVDFji0blW1vstcbiMvhq8GSl8S1yafz+wsoqy22gX1TSipQtaeek3XBU6spRW9h5xLzdeC0zLn8Tjvlbj7fyq90av2vXPof8A50jvLz/KT+hL3Mr21uFDbDVTfjw3F39DCS+6WJWhvUZR6017VgZvWv2gp7/d5sh4i7j6Nzc6o3lOq4O0qyxwzCLnF9qcfMfT1QvVbTqStZRhCDnJycI4UU2+DeXwXUep4lPmGXtn4WjszX6mUPpVfxpm109q/Ru6cI3EZNQbccSlHi1h8jSbLLhS1ShFPjTqVIv1y319k0fvr7bXctGwlYzqKcZ+HGEt1yi1jh14eOB5donxp51y1R/YzNB6p21pdOpQhJScNx5nKXBtPk31xRnadX+CXHoKn3GVIpaYzj9P9lRfafV5b6Xjo6pUrTuI0oxe/v1Y8nwa3d7L59RZOCZnc3j+UfEiI4h2eyXyVfp5+6J+W17ycpfWY/h1D9dk3ks/Tz90T62pWVSroCnGjSnUkq8W1CLk8bk1nC83Fe05E66j93f8audRX+t9r6R/ckXwVBqFqxc/2jpValCpTp0m5N1IuGXutJRT4vi+7gy3x1dom8acwxqrhtmy/T9JfW396obLaT5GXH7v8aBpNl15GekdIJPxq3SLtUp1OPu9p0+uWjZ3GrdajSSc5KLim8ZcZxnjL5Z3cHL8Zo3+jteacKQ0M/8AGLf09L8SJ6KKR1f1Su5abo71tUhGFWEpymt1JRkm8N+Ny4YyXcT6y0TMalHDExEuG1aX7SNJfQh9qgdJrY/1Xu/q1X8ORyWqt9GW0q/Sa8NNLtdOUIvHsfsO101aOtoevRi0nUozgm+ScotLPtKsnF43+ideaz+7zrPxH3HpG1/y0Por3Ioynqbeyuui+CVItvDk0lBdu/ya7my9qUN2kl1JL2LBd1lonWpQwxMb24ma/a3H6p+Z29RZpvuZwdOupbXZJfIttx9+4pf+6O7q/Ey7n7jPl/L9oWU92HoTRkLbRdOhSXgwjjPnk+bk+1vLK72t6Xm7ynapONNRVRv57eUsdajh+t9iN9sx1h6fRHQVJZq0YpcecqfKL7WvFfq6zM2g6vfCtDOUFmtSzKHXJfKh60uHakWU/p5vP/36o281PKpMEEnqsgAAAAA7jZVpClRv7h161OmnTgk6k4wy1J5xvPidnrVp+1nq1dQheW8pSoTUYxq0223F4SSeWylAZr9NFr9+1kZJiumboXSUrfStKvBZdOWcdaaakvWm16y7NFa12le3UoXFOLxxhOUYSXem+PeuBQxBLNgrk59ymSar70hrXZ0YNzuqTfzYSU5fwwy/afVprVaTtYT+F0Ib0VLdnVpxlHKziUd7g11FBAp+irr1T8efh0eud+v7Z1a1vVi8TpyhOElJZjThxTXB4aLA1d2hW9ago3ElQq4473CEn1xlyS7H9vMp0F1+nrasRPshGSYnb0PHTFu45VzQa61Vh+ZptZtZbT/otxBXdGUpUKkYxjNTbcoNJYjnHFopDAKY6OIne05zz8Oi1M1olZXrbi50p4VSK58OUo54ZWX3+wtnR+tlnWppwuqSb+TOShL+GWH7ChSC3L01ck790KZZrw9Ey0vQS43NFfvIfmczrtrHay1cuKULqlOc4YjGElPLyvm5S9ZTmCSqvRxE72lOaZjWlnbNdYLajoJ0q1xCnPpZSxJ44NRw8vh5n5zt6em7aSzG7oPuq03/ADPPRGCV+ki1pnZXNMRrT0LW07bQjmd3QXfVh+ZxeuO0Gn8CnRspOcppxdTDUYp8HuZ4yl28lz4lXYJFOkrWdzOy2aZbLV3TM7TSka1PjhbsovgpReMxfVyTz1pFwaJ12s69JP4RGlLzwqtQafVl8H6mUaCzLgrk5n1Rpkmr0LPTdtGOZXdul1urT/M5PWnaHRhbShZy6Sq1hTS8CHbl+M+rHD3FS4JKqdHWJ3M7SnNM+jK0ZpCpQ0jCvTl4cJb2Xxz1qXWmm0+8uHQmvtpXorfqqhPzxqPdWf8AbN+C17H2FKAuy4K5PVCmSa+j0M9NW27n4VQx19LTx7cnO6wbQbajQaoTVepjwVHjBPrlPk12LL7uZTWCSmvR1ieZTnPPs6vULSaWuHT3NaEd6NRynOSit6XHm+C7i0qusln0T/TrXk/+9T6u8oIE8vTRed7crlmsaZ2gNKztdJ068OcXxXzovhKL719uGXdR1ps5UYy+G263kniVWnGSys4lFvKfYUGDubp65J25TJNXSa+WlCOmnUta9GpTq5k1TnCW5PPhJqL4J5yu99RzYBdSvbWIQmdzsABJwAAAAAAAAAAAAAAAAAAAAAAAAAAAAAAAAAAAAAAAAAAAAAAAAAAAAAAAAAAAAAAAAAAAAAAAAAAAAAAAAAAAAAAAAAAAAAAAAAAAAAAAAAAAAAAAAAAAAAAAAAAAAAAAAAAAAAAAAAAAAAAAAAAAAAAAAAAAAAAAAAAAAAAAAAAAAAAAAAAAAAAAAAAAAAAAB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8370" name="Picture 2" descr="https://developers.google.com/youtube/images/YouTube_logo_standard_whit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3717032"/>
            <a:ext cx="3456384" cy="14989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維基百科</a:t>
            </a:r>
            <a:r>
              <a:rPr lang="zh-TW" altLang="en-US" b="1" dirty="0"/>
              <a:t> </a:t>
            </a:r>
            <a:r>
              <a:rPr lang="en-US" altLang="zh-TW" b="1" dirty="0"/>
              <a:t>(Wikipedia)</a:t>
            </a:r>
          </a:p>
          <a:p>
            <a:pPr lvl="1"/>
            <a:r>
              <a:rPr lang="zh-TW" altLang="zh-TW" dirty="0"/>
              <a:t>提供線上百科全書的服務，由於內容採開放式編輯，其資訊量已經遠遠超過著名的大英百科全書</a:t>
            </a:r>
            <a:endParaRPr lang="en-US" altLang="zh-TW" dirty="0"/>
          </a:p>
          <a:p>
            <a:pPr lvl="1"/>
            <a:r>
              <a:rPr lang="en-US" altLang="zh-TW" dirty="0"/>
              <a:t>2001</a:t>
            </a:r>
            <a:r>
              <a:rPr lang="zh-TW" altLang="zh-TW" dirty="0"/>
              <a:t>年由威爾斯</a:t>
            </a:r>
            <a:r>
              <a:rPr lang="zh-TW" altLang="en-US" dirty="0"/>
              <a:t> </a:t>
            </a:r>
            <a:r>
              <a:rPr lang="en-US" altLang="zh-TW" dirty="0"/>
              <a:t>(Jimmy Wales) </a:t>
            </a:r>
            <a:r>
              <a:rPr lang="zh-TW" altLang="zh-TW" dirty="0"/>
              <a:t>與桑格</a:t>
            </a:r>
            <a:r>
              <a:rPr lang="zh-TW" altLang="en-US" dirty="0"/>
              <a:t> </a:t>
            </a:r>
            <a:r>
              <a:rPr lang="en-US" altLang="zh-TW" dirty="0"/>
              <a:t>(Larry Sanger) </a:t>
            </a:r>
            <a:r>
              <a:rPr lang="zh-TW" altLang="zh-TW" dirty="0"/>
              <a:t>建立</a:t>
            </a:r>
            <a:endParaRPr lang="en-US" altLang="zh-TW" dirty="0"/>
          </a:p>
          <a:p>
            <a:pPr lvl="1"/>
            <a:r>
              <a:rPr lang="zh-TW" altLang="zh-TW" dirty="0"/>
              <a:t>名稱來自混合兩個字</a:t>
            </a:r>
            <a:r>
              <a:rPr lang="en-US" altLang="zh-TW" b="1" dirty="0"/>
              <a:t>wiki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夏威夷語言表示快的意思</a:t>
            </a:r>
            <a:r>
              <a:rPr lang="en-US" altLang="zh-TW" dirty="0"/>
              <a:t>) </a:t>
            </a:r>
            <a:r>
              <a:rPr lang="zh-TW" altLang="zh-TW" dirty="0"/>
              <a:t>與</a:t>
            </a:r>
            <a:r>
              <a:rPr lang="en-US" altLang="zh-TW" dirty="0"/>
              <a:t>encyclo</a:t>
            </a:r>
            <a:r>
              <a:rPr lang="en-US" altLang="zh-TW" b="1" dirty="0"/>
              <a:t>pedia</a:t>
            </a:r>
            <a:r>
              <a:rPr lang="zh-TW" altLang="en-US" b="1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百科全書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3573016"/>
            <a:ext cx="2808312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5190162" y="630932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1.31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維基百科網頁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推特</a:t>
            </a:r>
            <a:r>
              <a:rPr lang="zh-TW" altLang="en-US" b="1" dirty="0"/>
              <a:t> </a:t>
            </a:r>
            <a:r>
              <a:rPr lang="en-US" altLang="zh-TW" b="1" dirty="0"/>
              <a:t>(Twitter)</a:t>
            </a:r>
          </a:p>
          <a:p>
            <a:pPr lvl="1"/>
            <a:r>
              <a:rPr lang="zh-TW" altLang="zh-TW" dirty="0"/>
              <a:t>提供交友聊天與交換訊息的社交服務</a:t>
            </a:r>
            <a:endParaRPr lang="en-US" altLang="zh-TW" dirty="0"/>
          </a:p>
          <a:p>
            <a:pPr lvl="1"/>
            <a:r>
              <a:rPr lang="en-US" altLang="zh-TW" dirty="0"/>
              <a:t>2006</a:t>
            </a:r>
            <a:r>
              <a:rPr lang="zh-TW" altLang="zh-TW" dirty="0"/>
              <a:t>年由多西</a:t>
            </a:r>
            <a:r>
              <a:rPr lang="zh-TW" altLang="en-US" dirty="0"/>
              <a:t> </a:t>
            </a:r>
            <a:r>
              <a:rPr lang="en-US" altLang="zh-TW" dirty="0"/>
              <a:t>(Jack Dorsey) </a:t>
            </a:r>
            <a:r>
              <a:rPr lang="zh-TW" altLang="zh-TW" dirty="0"/>
              <a:t>等四人成立</a:t>
            </a:r>
            <a:endParaRPr lang="en-US" altLang="zh-TW" dirty="0"/>
          </a:p>
          <a:p>
            <a:pPr lvl="1"/>
            <a:r>
              <a:rPr lang="zh-TW" altLang="zh-TW" dirty="0"/>
              <a:t>一種微網誌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smtClean="0"/>
              <a:t>micro-blogging</a:t>
            </a:r>
            <a:r>
              <a:rPr lang="en-US" altLang="zh-TW" dirty="0"/>
              <a:t>)</a:t>
            </a:r>
            <a:r>
              <a:rPr lang="zh-TW" altLang="zh-TW" dirty="0"/>
              <a:t>，會員間可以即時交換短訊息，就像手機的簡訊</a:t>
            </a:r>
            <a:endParaRPr lang="en-US" altLang="zh-TW" dirty="0"/>
          </a:p>
          <a:p>
            <a:pPr lvl="1"/>
            <a:r>
              <a:rPr lang="en-US" altLang="zh-TW" dirty="0"/>
              <a:t>Blog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zh-TW" dirty="0"/>
              <a:t>中譯部落格或網誌</a:t>
            </a:r>
            <a:r>
              <a:rPr lang="en-US" altLang="zh-TW" dirty="0"/>
              <a:t>) </a:t>
            </a:r>
            <a:r>
              <a:rPr lang="zh-TW" altLang="zh-TW" dirty="0"/>
              <a:t>是</a:t>
            </a:r>
            <a:r>
              <a:rPr lang="en-US" altLang="zh-TW" dirty="0"/>
              <a:t>Web log</a:t>
            </a:r>
            <a:r>
              <a:rPr lang="zh-TW" altLang="zh-TW" dirty="0"/>
              <a:t>的混合字，提供個人用戶發表文章，其他人可以跟文發表意見</a:t>
            </a:r>
            <a:endParaRPr lang="en-US" altLang="zh-TW" dirty="0"/>
          </a:p>
          <a:p>
            <a:pPr lvl="1"/>
            <a:r>
              <a:rPr lang="zh-TW" altLang="zh-TW" dirty="0"/>
              <a:t>名稱來自一種短促的鳥叫聲，就像這個網頁允許張貼的訊息必須簡短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  <p:pic>
        <p:nvPicPr>
          <p:cNvPr id="59394" name="Picture 2" descr="http://www.maximumpc.com/files/u160391/twitterim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4941168"/>
            <a:ext cx="3071664" cy="17278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亞馬遜</a:t>
            </a:r>
            <a:r>
              <a:rPr lang="zh-TW" altLang="en-US" b="1" dirty="0"/>
              <a:t> </a:t>
            </a:r>
            <a:r>
              <a:rPr lang="en-US" altLang="zh-TW" b="1" dirty="0"/>
              <a:t>(Amazon)</a:t>
            </a:r>
          </a:p>
          <a:p>
            <a:pPr lvl="1"/>
            <a:r>
              <a:rPr lang="zh-TW" altLang="zh-TW" dirty="0"/>
              <a:t>提供線上購物服務</a:t>
            </a:r>
            <a:endParaRPr lang="en-US" altLang="zh-TW" dirty="0"/>
          </a:p>
          <a:p>
            <a:pPr lvl="1"/>
            <a:r>
              <a:rPr lang="en-US" altLang="zh-TW" dirty="0"/>
              <a:t>1994</a:t>
            </a:r>
            <a:r>
              <a:rPr lang="zh-TW" altLang="zh-TW" dirty="0"/>
              <a:t>年由貝索斯</a:t>
            </a:r>
            <a:r>
              <a:rPr lang="zh-TW" altLang="en-US" dirty="0"/>
              <a:t> </a:t>
            </a:r>
            <a:r>
              <a:rPr lang="en-US" altLang="zh-TW" dirty="0"/>
              <a:t>(Jeff Bezos) </a:t>
            </a:r>
            <a:r>
              <a:rPr lang="zh-TW" altLang="zh-TW" dirty="0"/>
              <a:t>成立</a:t>
            </a:r>
            <a:endParaRPr lang="en-US" altLang="zh-TW" dirty="0"/>
          </a:p>
          <a:p>
            <a:pPr lvl="1"/>
            <a:r>
              <a:rPr lang="zh-TW" altLang="zh-TW" dirty="0"/>
              <a:t>名稱源自世界最長河流的名字</a:t>
            </a:r>
            <a:endParaRPr lang="en-US" altLang="zh-TW" dirty="0"/>
          </a:p>
          <a:p>
            <a:pPr lvl="1"/>
            <a:r>
              <a:rPr lang="zh-TW" altLang="zh-TW" dirty="0"/>
              <a:t>類似網站</a:t>
            </a:r>
            <a:r>
              <a:rPr lang="zh-TW" altLang="en-US" dirty="0"/>
              <a:t>：</a:t>
            </a:r>
            <a:r>
              <a:rPr lang="zh-TW" altLang="zh-TW" dirty="0"/>
              <a:t>雅虎購物中心、</a:t>
            </a:r>
            <a:r>
              <a:rPr lang="en-US" altLang="zh-TW" dirty="0" err="1"/>
              <a:t>PChome</a:t>
            </a:r>
            <a:r>
              <a:rPr lang="zh-TW" altLang="zh-TW" dirty="0"/>
              <a:t>線上購物</a:t>
            </a:r>
            <a:r>
              <a:rPr lang="zh-TW" altLang="en-US" dirty="0"/>
              <a:t>、</a:t>
            </a:r>
            <a:r>
              <a:rPr lang="zh-TW" altLang="zh-TW" dirty="0" smtClean="0"/>
              <a:t>中國的</a:t>
            </a:r>
            <a:r>
              <a:rPr lang="zh-TW" altLang="zh-TW" dirty="0"/>
              <a:t>淘寶</a:t>
            </a:r>
            <a:r>
              <a:rPr lang="zh-TW" altLang="zh-TW" dirty="0" smtClean="0"/>
              <a:t>網</a:t>
            </a:r>
            <a:endParaRPr lang="zh-TW" altLang="en-US" u="wavyDbl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1.5</a:t>
            </a:r>
            <a:r>
              <a:rPr lang="zh-TW" altLang="en-US" dirty="0"/>
              <a:t>網路的興起</a:t>
            </a:r>
          </a:p>
        </p:txBody>
      </p:sp>
      <p:pic>
        <p:nvPicPr>
          <p:cNvPr id="61442" name="Picture 2" descr="http://www.ecuadortimes.net/wp-content/uploads/2014/07/Amaz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4005064"/>
            <a:ext cx="2932506" cy="17281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Google </a:t>
            </a:r>
            <a:r>
              <a:rPr lang="zh-TW" altLang="en-US" dirty="0"/>
              <a:t>利用</a:t>
            </a:r>
            <a:r>
              <a:rPr lang="zh-TW" altLang="en-US" dirty="0">
                <a:solidFill>
                  <a:srgbClr val="0070C0"/>
                </a:solidFill>
              </a:rPr>
              <a:t>深度學習 </a:t>
            </a:r>
            <a:r>
              <a:rPr lang="en-US" altLang="zh-TW" dirty="0"/>
              <a:t>(Deep Learning) </a:t>
            </a:r>
            <a:r>
              <a:rPr lang="zh-TW" altLang="en-US" dirty="0"/>
              <a:t>方式訓練</a:t>
            </a:r>
            <a:r>
              <a:rPr lang="zh-TW" altLang="en-US" dirty="0" smtClean="0"/>
              <a:t>稱為</a:t>
            </a:r>
            <a:r>
              <a:rPr lang="en-US" altLang="zh-TW" b="1" dirty="0" err="1" smtClean="0"/>
              <a:t>AlphaGo</a:t>
            </a:r>
            <a:r>
              <a:rPr lang="en-US" altLang="zh-TW" b="1" dirty="0" smtClean="0"/>
              <a:t> </a:t>
            </a:r>
            <a:r>
              <a:rPr lang="zh-TW" altLang="en-US" dirty="0"/>
              <a:t>的圍棋程式，於</a:t>
            </a:r>
            <a:r>
              <a:rPr lang="en-US" altLang="zh-TW" dirty="0"/>
              <a:t>2015 </a:t>
            </a:r>
            <a:r>
              <a:rPr lang="zh-TW" altLang="en-US" dirty="0"/>
              <a:t>年至</a:t>
            </a:r>
            <a:r>
              <a:rPr lang="en-US" altLang="zh-TW" dirty="0"/>
              <a:t>2017 </a:t>
            </a:r>
            <a:r>
              <a:rPr lang="zh-TW" altLang="en-US" dirty="0"/>
              <a:t>年陸陸續續擊敗多位頂尖</a:t>
            </a:r>
            <a:r>
              <a:rPr lang="zh-TW" altLang="en-US" dirty="0" smtClean="0"/>
              <a:t>職業棋</a:t>
            </a:r>
            <a:r>
              <a:rPr lang="zh-TW" altLang="en-US" dirty="0"/>
              <a:t>士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利用電腦創造</a:t>
            </a:r>
            <a:r>
              <a:rPr lang="zh-TW" altLang="en-US" dirty="0" smtClean="0"/>
              <a:t>出仿效</a:t>
            </a:r>
            <a:r>
              <a:rPr lang="zh-TW" altLang="en-US" dirty="0"/>
              <a:t>人類思維的技術稱為</a:t>
            </a:r>
            <a:r>
              <a:rPr lang="zh-TW" altLang="en-US" dirty="0">
                <a:solidFill>
                  <a:srgbClr val="0070C0"/>
                </a:solidFill>
              </a:rPr>
              <a:t>人工智慧 </a:t>
            </a:r>
            <a:r>
              <a:rPr lang="en-US" altLang="zh-TW" dirty="0"/>
              <a:t>(Artificial Intelligence, AI)</a:t>
            </a:r>
            <a:r>
              <a:rPr lang="zh-TW" altLang="en-US" dirty="0"/>
              <a:t>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1.6</a:t>
            </a:r>
            <a:r>
              <a:rPr lang="zh-TW" altLang="en-US" dirty="0"/>
              <a:t>熱門資訊科技 </a:t>
            </a:r>
          </a:p>
        </p:txBody>
      </p:sp>
    </p:spTree>
    <p:extLst>
      <p:ext uri="{BB962C8B-B14F-4D97-AF65-F5344CB8AC3E}">
        <p14:creationId xmlns:p14="http://schemas.microsoft.com/office/powerpoint/2010/main" val="331188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1.6</a:t>
            </a:r>
            <a:r>
              <a:rPr lang="zh-TW" altLang="en-US" dirty="0" smtClean="0"/>
              <a:t>熱門資訊科技 </a:t>
            </a:r>
            <a:endParaRPr lang="zh-TW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382" y="1285820"/>
            <a:ext cx="5676946" cy="509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163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0070C0"/>
                </a:solidFill>
              </a:rPr>
              <a:t>虛擬實境（</a:t>
            </a:r>
            <a:r>
              <a:rPr lang="en-US" altLang="zh-TW" dirty="0">
                <a:solidFill>
                  <a:srgbClr val="0070C0"/>
                </a:solidFill>
              </a:rPr>
              <a:t>Virtual Reality</a:t>
            </a:r>
            <a:r>
              <a:rPr lang="zh-TW" altLang="zh-TW" dirty="0">
                <a:solidFill>
                  <a:srgbClr val="0070C0"/>
                </a:solidFill>
              </a:rPr>
              <a:t>，</a:t>
            </a:r>
            <a:r>
              <a:rPr lang="en-US" altLang="zh-TW" dirty="0">
                <a:solidFill>
                  <a:srgbClr val="0070C0"/>
                </a:solidFill>
              </a:rPr>
              <a:t>VR</a:t>
            </a:r>
            <a:r>
              <a:rPr lang="zh-TW" altLang="zh-TW" dirty="0" smtClean="0">
                <a:solidFill>
                  <a:srgbClr val="0070C0"/>
                </a:solidFill>
              </a:rPr>
              <a:t>）</a:t>
            </a:r>
            <a:endParaRPr lang="en-US" altLang="zh-TW" dirty="0">
              <a:solidFill>
                <a:srgbClr val="0070C0"/>
              </a:solidFill>
            </a:endParaRPr>
          </a:p>
          <a:p>
            <a:pPr marL="708025" indent="-342900">
              <a:buFont typeface="新細明體" pitchFamily="18" charset="-120"/>
              <a:buChar char="。"/>
            </a:pPr>
            <a:r>
              <a:rPr lang="zh-TW" altLang="en-US" dirty="0" smtClean="0"/>
              <a:t>指</a:t>
            </a:r>
            <a:r>
              <a:rPr lang="zh-TW" altLang="en-US" dirty="0"/>
              <a:t>建構一個虛擬的</a:t>
            </a:r>
            <a:r>
              <a:rPr lang="zh-TW" altLang="en-US" dirty="0" smtClean="0"/>
              <a:t>空間，</a:t>
            </a:r>
            <a:r>
              <a:rPr lang="zh-TW" altLang="en-US" dirty="0"/>
              <a:t>但所見所及都是假的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pPr marL="708025" indent="-342900">
              <a:buFont typeface="新細明體" pitchFamily="18" charset="-120"/>
              <a:buChar char="。"/>
            </a:pPr>
            <a:r>
              <a:rPr lang="zh-TW" altLang="en-US" dirty="0" smtClean="0"/>
              <a:t>國內</a:t>
            </a:r>
            <a:r>
              <a:rPr lang="zh-TW" altLang="en-US" dirty="0"/>
              <a:t>廠商</a:t>
            </a:r>
            <a:r>
              <a:rPr lang="zh-TW" altLang="en-US" dirty="0" smtClean="0"/>
              <a:t>宏達</a:t>
            </a:r>
            <a:r>
              <a:rPr lang="zh-TW" altLang="en-US" dirty="0"/>
              <a:t>電</a:t>
            </a:r>
            <a:r>
              <a:rPr lang="en-US" altLang="zh-TW" dirty="0"/>
              <a:t>HTC </a:t>
            </a:r>
            <a:r>
              <a:rPr lang="zh-TW" altLang="en-US" dirty="0"/>
              <a:t>長期投資這塊領域，</a:t>
            </a:r>
            <a:r>
              <a:rPr lang="en-US" altLang="zh-TW" dirty="0"/>
              <a:t>Vive </a:t>
            </a:r>
            <a:r>
              <a:rPr lang="zh-TW" altLang="en-US" dirty="0"/>
              <a:t>頭戴式</a:t>
            </a:r>
            <a:r>
              <a:rPr lang="zh-TW" altLang="en-US" dirty="0" smtClean="0"/>
              <a:t>顯示   器</a:t>
            </a:r>
            <a:r>
              <a:rPr lang="zh-TW" altLang="en-US" dirty="0"/>
              <a:t>已是遠近馳名。</a:t>
            </a:r>
            <a:endParaRPr lang="en-US" altLang="zh-TW" dirty="0"/>
          </a:p>
          <a:p>
            <a:r>
              <a:rPr lang="zh-TW" altLang="zh-TW" dirty="0">
                <a:solidFill>
                  <a:srgbClr val="0070C0"/>
                </a:solidFill>
              </a:rPr>
              <a:t>擴增實境（</a:t>
            </a:r>
            <a:r>
              <a:rPr lang="en-US" altLang="zh-TW" dirty="0">
                <a:solidFill>
                  <a:srgbClr val="0070C0"/>
                </a:solidFill>
              </a:rPr>
              <a:t>Augmented Reality</a:t>
            </a:r>
            <a:r>
              <a:rPr lang="zh-TW" altLang="zh-TW" dirty="0">
                <a:solidFill>
                  <a:srgbClr val="0070C0"/>
                </a:solidFill>
              </a:rPr>
              <a:t>，</a:t>
            </a:r>
            <a:r>
              <a:rPr lang="en-US" altLang="zh-TW" dirty="0">
                <a:solidFill>
                  <a:srgbClr val="0070C0"/>
                </a:solidFill>
              </a:rPr>
              <a:t>AR</a:t>
            </a:r>
            <a:r>
              <a:rPr lang="zh-TW" altLang="zh-TW" dirty="0" smtClean="0">
                <a:solidFill>
                  <a:srgbClr val="0070C0"/>
                </a:solidFill>
              </a:rPr>
              <a:t>）</a:t>
            </a:r>
            <a:endParaRPr lang="en-US" altLang="zh-TW" dirty="0">
              <a:solidFill>
                <a:srgbClr val="0070C0"/>
              </a:solidFill>
            </a:endParaRPr>
          </a:p>
          <a:p>
            <a:pPr marL="698500" indent="-342900">
              <a:buFont typeface="新細明體" pitchFamily="18" charset="-120"/>
              <a:buChar char="。"/>
            </a:pPr>
            <a:r>
              <a:rPr lang="zh-TW" altLang="en-US" dirty="0" smtClean="0"/>
              <a:t>是</a:t>
            </a:r>
            <a:r>
              <a:rPr lang="zh-TW" altLang="en-US" dirty="0"/>
              <a:t>在眼睛所見的真實空間中疊加數位虛擬資訊，最早應用於</a:t>
            </a:r>
            <a:r>
              <a:rPr lang="zh-TW" altLang="en-US" dirty="0" smtClean="0"/>
              <a:t>戰鬥機</a:t>
            </a:r>
            <a:r>
              <a:rPr lang="zh-TW" altLang="en-US" dirty="0"/>
              <a:t>上的抬頭</a:t>
            </a:r>
            <a:r>
              <a:rPr lang="zh-TW" altLang="en-US" dirty="0" smtClean="0"/>
              <a:t>顯示器。</a:t>
            </a:r>
            <a:endParaRPr lang="en-US" altLang="zh-TW" dirty="0"/>
          </a:p>
          <a:p>
            <a:pPr marL="698500" indent="-342900">
              <a:buFont typeface="新細明體" pitchFamily="18" charset="-120"/>
              <a:buChar char="。"/>
            </a:pPr>
            <a:r>
              <a:rPr lang="zh-TW" altLang="en-US" dirty="0" smtClean="0"/>
              <a:t>應用</a:t>
            </a:r>
            <a:r>
              <a:rPr lang="en-US" altLang="zh-TW" dirty="0"/>
              <a:t>AR </a:t>
            </a:r>
            <a:r>
              <a:rPr lang="zh-TW" altLang="en-US" dirty="0"/>
              <a:t>方式的電玩也開始出現，例如</a:t>
            </a:r>
            <a:r>
              <a:rPr lang="zh-TW" altLang="en-US" dirty="0" smtClean="0"/>
              <a:t>：盛行</a:t>
            </a:r>
            <a:r>
              <a:rPr lang="zh-TW" altLang="en-US" dirty="0"/>
              <a:t>一時的</a:t>
            </a:r>
            <a:r>
              <a:rPr lang="en-US" altLang="zh-TW" dirty="0"/>
              <a:t>Pokémon Go </a:t>
            </a:r>
            <a:r>
              <a:rPr lang="zh-TW" altLang="en-US" dirty="0" smtClean="0"/>
              <a:t>遊戲。</a:t>
            </a: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1.6</a:t>
            </a:r>
            <a:r>
              <a:rPr lang="zh-TW" altLang="en-US" dirty="0"/>
              <a:t>熱門資訊科技 </a:t>
            </a:r>
          </a:p>
        </p:txBody>
      </p:sp>
    </p:spTree>
    <p:extLst>
      <p:ext uri="{BB962C8B-B14F-4D97-AF65-F5344CB8AC3E}">
        <p14:creationId xmlns:p14="http://schemas.microsoft.com/office/powerpoint/2010/main" val="388974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544616"/>
          </a:xfrm>
        </p:spPr>
        <p:txBody>
          <a:bodyPr>
            <a:normAutofit/>
          </a:bodyPr>
          <a:lstStyle/>
          <a:p>
            <a:r>
              <a:rPr lang="zh-TW" altLang="zh-TW" dirty="0" smtClean="0">
                <a:solidFill>
                  <a:srgbClr val="0070C0"/>
                </a:solidFill>
              </a:rPr>
              <a:t>混合</a:t>
            </a:r>
            <a:r>
              <a:rPr lang="zh-TW" altLang="zh-TW" dirty="0">
                <a:solidFill>
                  <a:srgbClr val="0070C0"/>
                </a:solidFill>
              </a:rPr>
              <a:t>實境（</a:t>
            </a:r>
            <a:r>
              <a:rPr lang="en-US" altLang="zh-TW" dirty="0">
                <a:solidFill>
                  <a:srgbClr val="0070C0"/>
                </a:solidFill>
              </a:rPr>
              <a:t>Mixed Reality</a:t>
            </a:r>
            <a:r>
              <a:rPr lang="zh-TW" altLang="zh-TW" dirty="0">
                <a:solidFill>
                  <a:srgbClr val="0070C0"/>
                </a:solidFill>
              </a:rPr>
              <a:t>，</a:t>
            </a:r>
            <a:r>
              <a:rPr lang="en-US" altLang="zh-TW" dirty="0">
                <a:solidFill>
                  <a:srgbClr val="0070C0"/>
                </a:solidFill>
              </a:rPr>
              <a:t>MR</a:t>
            </a:r>
            <a:r>
              <a:rPr lang="zh-TW" altLang="zh-TW" dirty="0" smtClean="0">
                <a:solidFill>
                  <a:srgbClr val="0070C0"/>
                </a:solidFill>
              </a:rPr>
              <a:t>）</a:t>
            </a:r>
            <a:endParaRPr lang="en-US" altLang="zh-TW" dirty="0" smtClean="0">
              <a:solidFill>
                <a:srgbClr val="0070C0"/>
              </a:solidFill>
            </a:endParaRPr>
          </a:p>
          <a:p>
            <a:pPr marL="365125" indent="-9525">
              <a:buFont typeface="新細明體" pitchFamily="18" charset="-120"/>
              <a:buChar char="。"/>
            </a:pPr>
            <a:r>
              <a:rPr lang="zh-TW" altLang="en-US" dirty="0"/>
              <a:t>將虛擬世界與真實世界混合在一起，讓虛擬物體與</a:t>
            </a:r>
            <a:r>
              <a:rPr lang="zh-TW" altLang="en-US" dirty="0" smtClean="0"/>
              <a:t>真實體  </a:t>
            </a:r>
            <a:endParaRPr lang="en-US" altLang="zh-TW" dirty="0" smtClean="0"/>
          </a:p>
          <a:p>
            <a:pPr marL="355600" indent="0">
              <a:buNone/>
            </a:pPr>
            <a:r>
              <a:rPr lang="zh-TW" altLang="en-US" dirty="0" smtClean="0"/>
              <a:t>   可以</a:t>
            </a:r>
            <a:r>
              <a:rPr lang="zh-TW" altLang="en-US" dirty="0"/>
              <a:t>互動。例如</a:t>
            </a:r>
            <a:r>
              <a:rPr lang="zh-TW" altLang="en-US" dirty="0" smtClean="0"/>
              <a:t>：</a:t>
            </a:r>
            <a:r>
              <a:rPr lang="zh-TW" altLang="en-US" dirty="0"/>
              <a:t>是精靈寶可夢可以在畫面半露於</a:t>
            </a:r>
            <a:r>
              <a:rPr lang="zh-TW" altLang="en-US" dirty="0" smtClean="0"/>
              <a:t>自窗     </a:t>
            </a:r>
            <a:endParaRPr lang="en-US" altLang="zh-TW" dirty="0" smtClean="0"/>
          </a:p>
          <a:p>
            <a:pPr marL="355600" indent="0">
              <a:buNone/>
            </a:pPr>
            <a:r>
              <a:rPr lang="zh-TW" altLang="en-US" dirty="0" smtClean="0"/>
              <a:t>   簾</a:t>
            </a:r>
            <a:r>
              <a:rPr lang="zh-TW" altLang="en-US" dirty="0"/>
              <a:t>外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pPr marL="698500" indent="-342900">
              <a:buFont typeface="新細明體" pitchFamily="18" charset="-120"/>
              <a:buChar char="。"/>
            </a:pPr>
            <a:r>
              <a:rPr lang="zh-TW" altLang="en-US" dirty="0" smtClean="0"/>
              <a:t>微軟</a:t>
            </a:r>
            <a:r>
              <a:rPr lang="zh-TW" altLang="en-US" dirty="0"/>
              <a:t>力推</a:t>
            </a:r>
            <a:r>
              <a:rPr lang="en-US" altLang="zh-TW" dirty="0"/>
              <a:t>MR </a:t>
            </a:r>
            <a:r>
              <a:rPr lang="zh-TW" altLang="en-US" dirty="0"/>
              <a:t>技術，</a:t>
            </a:r>
            <a:r>
              <a:rPr lang="zh-TW" altLang="en-US" dirty="0" smtClean="0"/>
              <a:t>國內</a:t>
            </a:r>
            <a:r>
              <a:rPr lang="zh-TW" altLang="en-US" dirty="0"/>
              <a:t>宏碁</a:t>
            </a:r>
            <a:r>
              <a:rPr lang="en-US" altLang="zh-TW" dirty="0"/>
              <a:t>Acer </a:t>
            </a:r>
            <a:r>
              <a:rPr lang="zh-TW" altLang="en-US" dirty="0"/>
              <a:t>廠商為其中的合作夥伴。</a:t>
            </a:r>
            <a:endParaRPr lang="en-US" altLang="zh-TW" dirty="0" smtClean="0"/>
          </a:p>
          <a:p>
            <a:r>
              <a:rPr lang="zh-TW" altLang="en-US" dirty="0" smtClean="0">
                <a:solidFill>
                  <a:srgbClr val="0070C0"/>
                </a:solidFill>
              </a:rPr>
              <a:t>延展</a:t>
            </a:r>
            <a:r>
              <a:rPr lang="zh-TW" altLang="en-US" dirty="0">
                <a:solidFill>
                  <a:srgbClr val="0070C0"/>
                </a:solidFill>
              </a:rPr>
              <a:t>實境</a:t>
            </a:r>
            <a:r>
              <a:rPr lang="zh-TW" altLang="zh-TW" dirty="0">
                <a:solidFill>
                  <a:srgbClr val="0070C0"/>
                </a:solidFill>
              </a:rPr>
              <a:t>（</a:t>
            </a:r>
            <a:r>
              <a:rPr lang="en-US" altLang="zh-TW" dirty="0">
                <a:solidFill>
                  <a:srgbClr val="0070C0"/>
                </a:solidFill>
              </a:rPr>
              <a:t>Extended Reality</a:t>
            </a:r>
            <a:r>
              <a:rPr lang="zh-TW" altLang="zh-TW" dirty="0">
                <a:solidFill>
                  <a:srgbClr val="0070C0"/>
                </a:solidFill>
              </a:rPr>
              <a:t>，</a:t>
            </a:r>
            <a:r>
              <a:rPr lang="en-US" altLang="zh-TW" dirty="0">
                <a:solidFill>
                  <a:srgbClr val="0070C0"/>
                </a:solidFill>
              </a:rPr>
              <a:t>XR = VR+AR+MR</a:t>
            </a:r>
            <a:r>
              <a:rPr lang="zh-TW" altLang="zh-TW" dirty="0" smtClean="0">
                <a:solidFill>
                  <a:srgbClr val="0070C0"/>
                </a:solidFill>
              </a:rPr>
              <a:t>）</a:t>
            </a:r>
            <a:endParaRPr lang="en-US" altLang="zh-TW" dirty="0" smtClean="0">
              <a:solidFill>
                <a:srgbClr val="0070C0"/>
              </a:solidFill>
            </a:endParaRPr>
          </a:p>
          <a:p>
            <a:pPr marL="708025" indent="-342900">
              <a:buFont typeface="新細明體" pitchFamily="18" charset="-120"/>
              <a:buChar char="。"/>
            </a:pPr>
            <a:r>
              <a:rPr lang="en-US" altLang="zh-TW" dirty="0" smtClean="0"/>
              <a:t>2021 </a:t>
            </a:r>
            <a:r>
              <a:rPr lang="zh-TW" altLang="en-US" dirty="0"/>
              <a:t>年臉書創辦人</a:t>
            </a:r>
            <a:r>
              <a:rPr lang="zh-TW" altLang="en-US" dirty="0" smtClean="0"/>
              <a:t>祖克</a:t>
            </a:r>
            <a:r>
              <a:rPr lang="zh-TW" altLang="en-US" dirty="0"/>
              <a:t>柏宣布將</a:t>
            </a:r>
            <a:r>
              <a:rPr lang="en-US" altLang="zh-TW" dirty="0"/>
              <a:t>Facebook </a:t>
            </a:r>
            <a:r>
              <a:rPr lang="zh-TW" altLang="en-US" dirty="0"/>
              <a:t>公司更名為</a:t>
            </a:r>
            <a:r>
              <a:rPr lang="en-US" altLang="zh-TW" dirty="0"/>
              <a:t>Meta</a:t>
            </a:r>
            <a:r>
              <a:rPr lang="zh-TW" altLang="en-US" dirty="0"/>
              <a:t>，旨在宣告投入建立一個平行</a:t>
            </a:r>
            <a:r>
              <a:rPr lang="zh-TW" altLang="en-US" dirty="0" smtClean="0"/>
              <a:t>於真實</a:t>
            </a:r>
            <a:r>
              <a:rPr lang="zh-TW" altLang="en-US" dirty="0"/>
              <a:t>世界的虛擬空間稱為</a:t>
            </a:r>
            <a:r>
              <a:rPr lang="zh-TW" altLang="en-US" dirty="0">
                <a:solidFill>
                  <a:srgbClr val="0070C0"/>
                </a:solidFill>
              </a:rPr>
              <a:t>元宇宙 </a:t>
            </a:r>
            <a:r>
              <a:rPr lang="en-US" altLang="zh-TW" dirty="0"/>
              <a:t>(</a:t>
            </a:r>
            <a:r>
              <a:rPr lang="en-US" altLang="zh-TW" dirty="0" err="1"/>
              <a:t>metaverse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 smtClean="0"/>
          </a:p>
          <a:p>
            <a:pPr marL="355600" indent="-82550">
              <a:buNone/>
            </a:pPr>
            <a:r>
              <a:rPr lang="zh-TW" altLang="en-US" dirty="0" smtClean="0"/>
              <a:t> 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1.6</a:t>
            </a:r>
            <a:r>
              <a:rPr lang="zh-TW" altLang="en-US" dirty="0"/>
              <a:t>熱門資訊科技 </a:t>
            </a:r>
          </a:p>
        </p:txBody>
      </p:sp>
    </p:spTree>
    <p:extLst>
      <p:ext uri="{BB962C8B-B14F-4D97-AF65-F5344CB8AC3E}">
        <p14:creationId xmlns:p14="http://schemas.microsoft.com/office/powerpoint/2010/main" val="356742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1.6</a:t>
            </a:r>
            <a:r>
              <a:rPr lang="zh-TW" altLang="en-US" dirty="0"/>
              <a:t>熱門資訊科技 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72816"/>
            <a:ext cx="7272808" cy="415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743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資訊網路的興起也改變了傳統商業的模式，進入所謂的</a:t>
            </a:r>
            <a:r>
              <a:rPr lang="zh-TW" altLang="en-US" dirty="0">
                <a:solidFill>
                  <a:srgbClr val="0070C0"/>
                </a:solidFill>
              </a:rPr>
              <a:t>電子商務</a:t>
            </a:r>
            <a:r>
              <a:rPr lang="en-US" altLang="zh-TW" dirty="0" smtClean="0"/>
              <a:t>(</a:t>
            </a:r>
            <a:r>
              <a:rPr lang="en-US" altLang="zh-TW" dirty="0"/>
              <a:t>Electronic Commerce, EC) </a:t>
            </a:r>
            <a:r>
              <a:rPr lang="zh-TW" altLang="en-US" dirty="0"/>
              <a:t>時代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電子商務有下列幾種運作模式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708025" indent="-342900">
              <a:buFont typeface="新細明體" pitchFamily="18" charset="-120"/>
              <a:buChar char="。"/>
            </a:pPr>
            <a:r>
              <a:rPr lang="zh-TW" altLang="en-US" dirty="0"/>
              <a:t>企業對企業 </a:t>
            </a:r>
            <a:r>
              <a:rPr lang="en-US" altLang="zh-TW" b="1" dirty="0"/>
              <a:t>(Business to Business, B2B</a:t>
            </a:r>
            <a:r>
              <a:rPr lang="en-US" altLang="zh-TW" b="1" dirty="0" smtClean="0"/>
              <a:t>)</a:t>
            </a:r>
            <a:endParaRPr lang="en-US" altLang="zh-TW" dirty="0" smtClean="0"/>
          </a:p>
          <a:p>
            <a:pPr marL="708025" indent="-342900">
              <a:buFont typeface="新細明體" pitchFamily="18" charset="-120"/>
              <a:buChar char="。"/>
            </a:pPr>
            <a:r>
              <a:rPr lang="zh-TW" altLang="en-US" dirty="0"/>
              <a:t>企業對客戶 </a:t>
            </a:r>
            <a:r>
              <a:rPr lang="en-US" altLang="zh-TW" b="1" dirty="0"/>
              <a:t>(Business to Customer, B2C</a:t>
            </a:r>
            <a:r>
              <a:rPr lang="en-US" altLang="zh-TW" b="1" dirty="0" smtClean="0"/>
              <a:t>)</a:t>
            </a:r>
            <a:endParaRPr lang="en-US" altLang="zh-TW" dirty="0" smtClean="0"/>
          </a:p>
          <a:p>
            <a:pPr marL="708025" indent="-342900">
              <a:buFont typeface="新細明體" pitchFamily="18" charset="-120"/>
              <a:buChar char="。"/>
            </a:pPr>
            <a:r>
              <a:rPr lang="zh-TW" altLang="en-US" dirty="0"/>
              <a:t>客戶對客戶 </a:t>
            </a:r>
            <a:r>
              <a:rPr lang="en-US" altLang="zh-TW" b="1" dirty="0"/>
              <a:t>(Customer to Customer, C2C</a:t>
            </a:r>
            <a:r>
              <a:rPr lang="en-US" altLang="zh-TW" b="1" dirty="0" smtClean="0"/>
              <a:t>)</a:t>
            </a:r>
            <a:endParaRPr lang="en-US" altLang="zh-TW" dirty="0" smtClean="0"/>
          </a:p>
          <a:p>
            <a:pPr marL="708025" indent="-342900">
              <a:buFont typeface="新細明體" pitchFamily="18" charset="-120"/>
              <a:buChar char="。"/>
            </a:pPr>
            <a:r>
              <a:rPr lang="zh-TW" altLang="en-US" dirty="0"/>
              <a:t>客戶對企業 </a:t>
            </a:r>
            <a:r>
              <a:rPr lang="en-US" altLang="zh-TW" b="1" dirty="0"/>
              <a:t>(Customer to Business, C2B</a:t>
            </a:r>
            <a:r>
              <a:rPr lang="en-US" altLang="zh-TW" b="1" dirty="0" smtClean="0"/>
              <a:t>)</a:t>
            </a:r>
            <a:endParaRPr lang="en-US" altLang="zh-TW" dirty="0" smtClean="0"/>
          </a:p>
          <a:p>
            <a:pPr marL="708025" indent="-342900">
              <a:buFont typeface="新細明體" pitchFamily="18" charset="-120"/>
              <a:buChar char="。"/>
            </a:pPr>
            <a:r>
              <a:rPr lang="zh-TW" altLang="en-US" dirty="0"/>
              <a:t>線上對線下 </a:t>
            </a:r>
            <a:r>
              <a:rPr lang="en-US" altLang="zh-TW" b="1" dirty="0"/>
              <a:t>(Online to Offline, O2O</a:t>
            </a:r>
            <a:r>
              <a:rPr lang="en-US" altLang="zh-TW" b="1" dirty="0" smtClean="0"/>
              <a:t>)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1.6</a:t>
            </a:r>
            <a:r>
              <a:rPr lang="zh-TW" altLang="en-US" dirty="0"/>
              <a:t>熱門資訊科技 </a:t>
            </a:r>
          </a:p>
        </p:txBody>
      </p:sp>
    </p:spTree>
    <p:extLst>
      <p:ext uri="{BB962C8B-B14F-4D97-AF65-F5344CB8AC3E}">
        <p14:creationId xmlns:p14="http://schemas.microsoft.com/office/powerpoint/2010/main" val="215779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電子商務也意味著消費者越來越不需要使用現金支付，時下</a:t>
            </a:r>
            <a:r>
              <a:rPr lang="zh-TW" altLang="en-US" dirty="0" smtClean="0"/>
              <a:t>流行的</a:t>
            </a:r>
            <a:r>
              <a:rPr lang="zh-TW" altLang="en-US" dirty="0"/>
              <a:t>電子錢包或是行動</a:t>
            </a:r>
            <a:r>
              <a:rPr lang="zh-TW" altLang="en-US" dirty="0" smtClean="0"/>
              <a:t>支付。</a:t>
            </a:r>
            <a:endParaRPr lang="en-US" altLang="zh-TW" dirty="0" smtClean="0"/>
          </a:p>
          <a:p>
            <a:r>
              <a:rPr lang="zh-TW" altLang="en-US" dirty="0" smtClean="0"/>
              <a:t>透過</a:t>
            </a:r>
            <a:r>
              <a:rPr lang="zh-TW" altLang="en-US" dirty="0"/>
              <a:t>安全認證方式進行線上交易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中國則流行使用手機的微信支付與支付寶，國內則有歐付寶、街口</a:t>
            </a:r>
            <a:r>
              <a:rPr lang="zh-TW" altLang="en-US" dirty="0" smtClean="0"/>
              <a:t>支付</a:t>
            </a:r>
            <a:r>
              <a:rPr lang="zh-TW" altLang="en-US" dirty="0"/>
              <a:t>等，國際間則有</a:t>
            </a:r>
            <a:r>
              <a:rPr lang="en-US" altLang="zh-TW" dirty="0"/>
              <a:t>Apple Pay</a:t>
            </a:r>
            <a:r>
              <a:rPr lang="zh-TW" altLang="en-US" dirty="0"/>
              <a:t>、</a:t>
            </a:r>
            <a:r>
              <a:rPr lang="en-US" altLang="zh-TW" dirty="0"/>
              <a:t>Google Pay</a:t>
            </a:r>
            <a:r>
              <a:rPr lang="zh-TW" altLang="en-US" dirty="0"/>
              <a:t>、</a:t>
            </a:r>
            <a:r>
              <a:rPr lang="en-US" altLang="zh-TW" dirty="0"/>
              <a:t>Samsung Pay </a:t>
            </a:r>
            <a:r>
              <a:rPr lang="zh-TW" altLang="en-US" dirty="0"/>
              <a:t>與</a:t>
            </a:r>
            <a:r>
              <a:rPr lang="en-US" altLang="zh-TW" dirty="0"/>
              <a:t>Line </a:t>
            </a:r>
            <a:r>
              <a:rPr lang="en-US" altLang="zh-TW" dirty="0" smtClean="0"/>
              <a:t>Pay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1.6</a:t>
            </a:r>
            <a:r>
              <a:rPr lang="zh-TW" altLang="en-US" dirty="0"/>
              <a:t>熱門資訊科技 </a:t>
            </a:r>
          </a:p>
        </p:txBody>
      </p:sp>
    </p:spTree>
    <p:extLst>
      <p:ext uri="{BB962C8B-B14F-4D97-AF65-F5344CB8AC3E}">
        <p14:creationId xmlns:p14="http://schemas.microsoft.com/office/powerpoint/2010/main" val="84207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另一個新興的潮流是</a:t>
            </a:r>
            <a:r>
              <a:rPr lang="zh-TW" altLang="en-US" dirty="0">
                <a:solidFill>
                  <a:srgbClr val="0070C0"/>
                </a:solidFill>
              </a:rPr>
              <a:t>虛擬貨幣 </a:t>
            </a:r>
            <a:r>
              <a:rPr lang="en-US" altLang="zh-TW" dirty="0"/>
              <a:t>(virtual currency) </a:t>
            </a:r>
            <a:r>
              <a:rPr lang="zh-TW" altLang="en-US" dirty="0"/>
              <a:t>或是</a:t>
            </a:r>
            <a:r>
              <a:rPr lang="zh-TW" altLang="en-US" dirty="0">
                <a:solidFill>
                  <a:srgbClr val="0070C0"/>
                </a:solidFill>
              </a:rPr>
              <a:t>加密</a:t>
            </a:r>
            <a:r>
              <a:rPr lang="zh-TW" altLang="en-US" dirty="0" smtClean="0">
                <a:solidFill>
                  <a:srgbClr val="0070C0"/>
                </a:solidFill>
              </a:rPr>
              <a:t>貨幣</a:t>
            </a:r>
            <a:r>
              <a:rPr lang="en-US" altLang="zh-TW" dirty="0" smtClean="0"/>
              <a:t>(</a:t>
            </a:r>
            <a:r>
              <a:rPr lang="en-US" altLang="zh-TW" dirty="0" err="1"/>
              <a:t>cryptocurrency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b="1" dirty="0"/>
              <a:t>比特幣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bitcoin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zh-TW" altLang="en-US" dirty="0" smtClean="0"/>
              <a:t>利用</a:t>
            </a:r>
            <a:r>
              <a:rPr lang="zh-TW" altLang="en-US" dirty="0"/>
              <a:t>資訊加密技術將交易紀錄儲存在網路中的一種虛擬</a:t>
            </a:r>
            <a:r>
              <a:rPr lang="zh-TW" altLang="en-US" dirty="0" smtClean="0"/>
              <a:t>貨幣。蔚</a:t>
            </a:r>
            <a:r>
              <a:rPr lang="zh-TW" altLang="en-US" dirty="0"/>
              <a:t>為風潮的挖礦 </a:t>
            </a:r>
            <a:r>
              <a:rPr lang="en-US" altLang="zh-TW" dirty="0"/>
              <a:t>(mining) </a:t>
            </a:r>
            <a:r>
              <a:rPr lang="zh-TW" altLang="en-US" dirty="0"/>
              <a:t>指在維護交易帳本時獲得比特幣獎賞</a:t>
            </a:r>
            <a:r>
              <a:rPr lang="zh-TW" altLang="en-US" dirty="0" smtClean="0"/>
              <a:t>的一個</a:t>
            </a:r>
            <a:r>
              <a:rPr lang="zh-TW" altLang="en-US" dirty="0"/>
              <a:t>過程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虛擬</a:t>
            </a:r>
            <a:r>
              <a:rPr lang="zh-TW" altLang="en-US" dirty="0"/>
              <a:t>貨幣的技術源自</a:t>
            </a:r>
            <a:r>
              <a:rPr lang="zh-TW" altLang="en-US" dirty="0">
                <a:solidFill>
                  <a:srgbClr val="0070C0"/>
                </a:solidFill>
              </a:rPr>
              <a:t>區塊鏈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blockchain</a:t>
            </a:r>
            <a:r>
              <a:rPr lang="en-US" altLang="zh-TW" dirty="0"/>
              <a:t>)</a:t>
            </a:r>
            <a:r>
              <a:rPr lang="zh-TW" altLang="en-US" dirty="0"/>
              <a:t>，旨在網路中維持與</a:t>
            </a:r>
            <a:r>
              <a:rPr lang="zh-TW" altLang="en-US" dirty="0" smtClean="0"/>
              <a:t>保護多</a:t>
            </a:r>
            <a:r>
              <a:rPr lang="zh-TW" altLang="en-US" dirty="0"/>
              <a:t>份內容一致的串接文字記錄，作為某種交易或是資產證明。</a:t>
            </a:r>
            <a:endParaRPr lang="en-US" altLang="zh-TW" dirty="0"/>
          </a:p>
          <a:p>
            <a:r>
              <a:rPr lang="zh-TW" altLang="en-US" dirty="0"/>
              <a:t>區塊鏈可實現去中心化的分散式網路</a:t>
            </a:r>
            <a:r>
              <a:rPr lang="zh-TW" altLang="en-US" dirty="0" smtClean="0"/>
              <a:t>應用</a:t>
            </a:r>
            <a:r>
              <a:rPr lang="zh-TW" altLang="en-US" dirty="0"/>
              <a:t>。你能想像全世界第一則推特推文，竟然以</a:t>
            </a:r>
            <a:r>
              <a:rPr lang="en-US" altLang="zh-TW" dirty="0"/>
              <a:t>250 </a:t>
            </a:r>
            <a:r>
              <a:rPr lang="zh-TW" altLang="en-US" dirty="0"/>
              <a:t>萬美元賣出嗎？</a:t>
            </a:r>
            <a:r>
              <a:rPr lang="zh-TW" altLang="en-US" dirty="0" smtClean="0"/>
              <a:t>這是</a:t>
            </a:r>
            <a:r>
              <a:rPr lang="zh-TW" altLang="en-US" dirty="0"/>
              <a:t>一種數位資產所有權證明與交易的區塊鏈應用，稱為</a:t>
            </a:r>
            <a:r>
              <a:rPr lang="zh-TW" altLang="en-US" dirty="0">
                <a:solidFill>
                  <a:srgbClr val="0070C0"/>
                </a:solidFill>
              </a:rPr>
              <a:t>非同質化</a:t>
            </a:r>
            <a:r>
              <a:rPr lang="zh-TW" altLang="en-US" dirty="0" smtClean="0">
                <a:solidFill>
                  <a:srgbClr val="0070C0"/>
                </a:solidFill>
              </a:rPr>
              <a:t>代幣</a:t>
            </a:r>
            <a:r>
              <a:rPr lang="en-US" altLang="zh-TW" dirty="0" smtClean="0"/>
              <a:t>(</a:t>
            </a:r>
            <a:r>
              <a:rPr lang="en-US" altLang="zh-TW" dirty="0"/>
              <a:t>non-fungible token, </a:t>
            </a:r>
            <a:r>
              <a:rPr lang="en-US" altLang="zh-TW" b="1" dirty="0">
                <a:solidFill>
                  <a:srgbClr val="0070C0"/>
                </a:solidFill>
              </a:rPr>
              <a:t>NFT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 smtClean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1.6</a:t>
            </a:r>
            <a:r>
              <a:rPr lang="zh-TW" altLang="en-US" dirty="0"/>
              <a:t>熱門資訊科技 </a:t>
            </a:r>
          </a:p>
        </p:txBody>
      </p:sp>
    </p:spTree>
    <p:extLst>
      <p:ext uri="{BB962C8B-B14F-4D97-AF65-F5344CB8AC3E}">
        <p14:creationId xmlns:p14="http://schemas.microsoft.com/office/powerpoint/2010/main" val="246509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413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1078</TotalTime>
  <Words>4050</Words>
  <Application>Microsoft Office PowerPoint</Application>
  <PresentationFormat>如螢幕大小 (4:3)</PresentationFormat>
  <Paragraphs>317</Paragraphs>
  <Slides>63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63</vt:i4>
      </vt:variant>
    </vt:vector>
  </HeadingPairs>
  <TitlesOfParts>
    <vt:vector size="64" baseType="lpstr">
      <vt:lpstr>匯合</vt:lpstr>
      <vt:lpstr>Ch01 電腦簡介</vt:lpstr>
      <vt:lpstr>PowerPoint 簡報</vt:lpstr>
      <vt:lpstr>1.1計算機的發明</vt:lpstr>
      <vt:lpstr>1.1計算機的發明 </vt:lpstr>
      <vt:lpstr>PowerPoint 簡報</vt:lpstr>
      <vt:lpstr>1.1計算機的發明 </vt:lpstr>
      <vt:lpstr>1.1計算機的發明 </vt:lpstr>
      <vt:lpstr>1.1計算機的發明 </vt:lpstr>
      <vt:lpstr>1.1計算機的發明 </vt:lpstr>
      <vt:lpstr>1.1計算機的發明 </vt:lpstr>
      <vt:lpstr>1.2電腦的演進</vt:lpstr>
      <vt:lpstr>1.2電腦的演進</vt:lpstr>
      <vt:lpstr>1.2電腦的演進</vt:lpstr>
      <vt:lpstr>1.2電腦的演進</vt:lpstr>
      <vt:lpstr>1.2電腦的演進</vt:lpstr>
      <vt:lpstr>1.2電腦的演進</vt:lpstr>
      <vt:lpstr>1.2電腦的演進</vt:lpstr>
      <vt:lpstr>1.2電腦的演進</vt:lpstr>
      <vt:lpstr>1.2電腦的演進</vt:lpstr>
      <vt:lpstr>1.2電腦的演進</vt:lpstr>
      <vt:lpstr>1.2電腦的演進</vt:lpstr>
      <vt:lpstr>PowerPoint 簡報</vt:lpstr>
      <vt:lpstr>1.3認識電腦</vt:lpstr>
      <vt:lpstr>1.3認識電腦</vt:lpstr>
      <vt:lpstr>1.3認識電腦</vt:lpstr>
      <vt:lpstr>1.3認識電腦</vt:lpstr>
      <vt:lpstr>1.3認識電腦</vt:lpstr>
      <vt:lpstr>1.3認識電腦</vt:lpstr>
      <vt:lpstr>1.3認識電腦</vt:lpstr>
      <vt:lpstr>軟體版權知多少？</vt:lpstr>
      <vt:lpstr>1.3認識電腦</vt:lpstr>
      <vt:lpstr>1.3認識電腦</vt:lpstr>
      <vt:lpstr>PowerPoint 簡報</vt:lpstr>
      <vt:lpstr>1.4電腦發展的趨勢</vt:lpstr>
      <vt:lpstr>1.4電腦發展的趨勢</vt:lpstr>
      <vt:lpstr>1.4電腦發展的趨勢</vt:lpstr>
      <vt:lpstr>1.4電腦發展的趨勢</vt:lpstr>
      <vt:lpstr>1.4電腦發展的趨勢</vt:lpstr>
      <vt:lpstr>1.4電腦發展的趨勢</vt:lpstr>
      <vt:lpstr>PowerPoint 簡報</vt:lpstr>
      <vt:lpstr>1.4電腦發展的趨勢</vt:lpstr>
      <vt:lpstr>1.4電腦發展的趨勢</vt:lpstr>
      <vt:lpstr>1.4電腦發展的趨勢</vt:lpstr>
      <vt:lpstr>1.5網路的興起</vt:lpstr>
      <vt:lpstr>1.5網路的興起</vt:lpstr>
      <vt:lpstr>1.5網路的興起</vt:lpstr>
      <vt:lpstr>1.5網路的興起</vt:lpstr>
      <vt:lpstr>1.5網路的興起</vt:lpstr>
      <vt:lpstr>1.5網路的興起</vt:lpstr>
      <vt:lpstr>1.5網路的興起</vt:lpstr>
      <vt:lpstr>1.5網路的興起</vt:lpstr>
      <vt:lpstr>1.5網路的興起</vt:lpstr>
      <vt:lpstr>1.5網路的興起</vt:lpstr>
      <vt:lpstr>1.5網路的興起</vt:lpstr>
      <vt:lpstr>1.6熱門資訊科技 </vt:lpstr>
      <vt:lpstr>1.6熱門資訊科技 </vt:lpstr>
      <vt:lpstr>1.6熱門資訊科技 </vt:lpstr>
      <vt:lpstr>1.6熱門資訊科技 </vt:lpstr>
      <vt:lpstr>1.6熱門資訊科技 </vt:lpstr>
      <vt:lpstr>1.6熱門資訊科技 </vt:lpstr>
      <vt:lpstr>1.6熱門資訊科技 </vt:lpstr>
      <vt:lpstr>1.6熱門資訊科技 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winx</cp:lastModifiedBy>
  <cp:revision>124</cp:revision>
  <dcterms:created xsi:type="dcterms:W3CDTF">2014-07-06T07:33:00Z</dcterms:created>
  <dcterms:modified xsi:type="dcterms:W3CDTF">2022-06-28T05:27:03Z</dcterms:modified>
</cp:coreProperties>
</file>