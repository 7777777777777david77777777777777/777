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00" r:id="rId18"/>
    <p:sldId id="273" r:id="rId19"/>
    <p:sldId id="274" r:id="rId20"/>
    <p:sldId id="276" r:id="rId21"/>
    <p:sldId id="277" r:id="rId22"/>
    <p:sldId id="280" r:id="rId23"/>
    <p:sldId id="281" r:id="rId24"/>
    <p:sldId id="282" r:id="rId25"/>
    <p:sldId id="283" r:id="rId26"/>
    <p:sldId id="301" r:id="rId27"/>
    <p:sldId id="302" r:id="rId28"/>
    <p:sldId id="287" r:id="rId29"/>
    <p:sldId id="288" r:id="rId30"/>
    <p:sldId id="290" r:id="rId31"/>
    <p:sldId id="291" r:id="rId32"/>
    <p:sldId id="298" r:id="rId33"/>
    <p:sldId id="305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890">
          <p15:clr>
            <a:srgbClr val="A4A3A4"/>
          </p15:clr>
        </p15:guide>
        <p15:guide id="4" pos="4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98"/>
    <p:restoredTop sz="94660"/>
  </p:normalViewPr>
  <p:slideViewPr>
    <p:cSldViewPr>
      <p:cViewPr varScale="1">
        <p:scale>
          <a:sx n="128" d="100"/>
          <a:sy n="128" d="100"/>
        </p:scale>
        <p:origin x="1720" y="176"/>
      </p:cViewPr>
      <p:guideLst>
        <p:guide orient="horz" pos="2160"/>
        <p:guide pos="2880"/>
        <p:guide orient="horz" pos="890"/>
        <p:guide pos="4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D1D87-676D-41F2-AC15-9F5D7637A5A2}" type="datetimeFigureOut">
              <a:rPr lang="zh-TW" altLang="en-US" smtClean="0"/>
              <a:pPr/>
              <a:t>2025/10/20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3C2D0-1201-4E06-8787-2B5081952CC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70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8032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grpSp>
        <p:nvGrpSpPr>
          <p:cNvPr id="2" name="群組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手繪多邊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手繪多邊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手繪多邊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線接點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en-US" sz="1600" dirty="0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400600"/>
          </a:xfrm>
        </p:spPr>
        <p:txBody>
          <a:bodyPr>
            <a:normAutofit/>
          </a:bodyPr>
          <a:lstStyle>
            <a:lvl1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lvl2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2pPr>
            <a:lvl3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3pPr>
            <a:lvl4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4pPr>
            <a:lvl5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>
          <a:xfrm>
            <a:off x="457200" y="130622"/>
            <a:ext cx="8229600" cy="778098"/>
          </a:xfrm>
        </p:spPr>
        <p:txBody>
          <a:bodyPr rtlCol="0">
            <a:normAutofit/>
          </a:bodyPr>
          <a:lstStyle>
            <a:lvl1pPr>
              <a:defRPr sz="36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＞形箭號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＞形箭號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手繪多邊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線接點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＞形箭號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＞形箭號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/>
          <p:cNvSpPr>
            <a:spLocks/>
          </p:cNvSpPr>
          <p:nvPr/>
        </p:nvSpPr>
        <p:spPr bwMode="auto">
          <a:xfrm>
            <a:off x="499273" y="6325050"/>
            <a:ext cx="4940624" cy="54096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手繪多邊形 11"/>
          <p:cNvSpPr>
            <a:spLocks/>
          </p:cNvSpPr>
          <p:nvPr/>
        </p:nvSpPr>
        <p:spPr bwMode="auto">
          <a:xfrm>
            <a:off x="485717" y="6324233"/>
            <a:ext cx="3690451" cy="54822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6237311"/>
            <a:ext cx="3402314" cy="634809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線接點 14"/>
          <p:cNvCxnSpPr>
            <a:stCxn id="14" idx="0"/>
          </p:cNvCxnSpPr>
          <p:nvPr/>
        </p:nvCxnSpPr>
        <p:spPr>
          <a:xfrm>
            <a:off x="-6042" y="6237311"/>
            <a:ext cx="3402314" cy="634810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0" name="文字版面配置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pic>
        <p:nvPicPr>
          <p:cNvPr id="11" name="Picture 2" descr="E:\LOGO.pn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092280" y="6561384"/>
            <a:ext cx="2066560" cy="324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wmf"/><Relationship Id="rId4" Type="http://schemas.openxmlformats.org/officeDocument/2006/relationships/oleObject" Target="../embeddings/oleObject5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716016" y="827366"/>
            <a:ext cx="3888432" cy="2889666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Ch04 </a:t>
            </a:r>
            <a:br>
              <a:rPr lang="en-US" altLang="zh-TW" sz="4000" dirty="0"/>
            </a:br>
            <a:r>
              <a:rPr lang="zh-TW" altLang="en-US" dirty="0">
                <a:solidFill>
                  <a:srgbClr val="0070C0"/>
                </a:solidFill>
              </a:rPr>
              <a:t>計算機組織與數位邏輯設計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630616" cy="1199704"/>
          </a:xfrm>
        </p:spPr>
        <p:txBody>
          <a:bodyPr>
            <a:normAutofit/>
          </a:bodyPr>
          <a:lstStyle/>
          <a:p>
            <a:endParaRPr lang="en-US" altLang="zh-TW" dirty="0"/>
          </a:p>
          <a:p>
            <a:r>
              <a:rPr lang="zh-TW" altLang="en-US" b="1" dirty="0">
                <a:solidFill>
                  <a:schemeClr val="tx1"/>
                </a:solidFill>
              </a:rPr>
              <a:t>李官陵 彭勝龍 羅壽之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90602"/>
            <a:ext cx="3816424" cy="5186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4000" y="979200"/>
            <a:ext cx="8424464" cy="5026563"/>
          </a:xfrm>
        </p:spPr>
        <p:txBody>
          <a:bodyPr/>
          <a:lstStyle/>
          <a:p>
            <a:r>
              <a:rPr lang="zh-TW" altLang="en-US" dirty="0"/>
              <a:t>現今電腦的通用架構</a:t>
            </a:r>
            <a:endParaRPr lang="en-US" altLang="zh-TW" dirty="0"/>
          </a:p>
          <a:p>
            <a:pPr lvl="1"/>
            <a:r>
              <a:rPr lang="zh-TW" altLang="en-US" dirty="0"/>
              <a:t>基於范紐曼模式 </a:t>
            </a:r>
            <a:r>
              <a:rPr lang="en-US" altLang="zh-TW" dirty="0"/>
              <a:t>(von Neumann Model) </a:t>
            </a:r>
            <a:r>
              <a:rPr lang="zh-TW" altLang="en-US" dirty="0"/>
              <a:t>架構</a:t>
            </a:r>
            <a:endParaRPr lang="en-US" altLang="zh-TW" dirty="0"/>
          </a:p>
          <a:p>
            <a:pPr lvl="1"/>
            <a:r>
              <a:rPr lang="zh-TW" altLang="en-US" dirty="0"/>
              <a:t>將</a:t>
            </a:r>
            <a:r>
              <a:rPr lang="zh-TW" altLang="en-US" dirty="0">
                <a:solidFill>
                  <a:srgbClr val="0070C0"/>
                </a:solidFill>
              </a:rPr>
              <a:t>程式指令記憶體</a:t>
            </a:r>
            <a:r>
              <a:rPr lang="zh-TW" altLang="en-US" dirty="0"/>
              <a:t>和</a:t>
            </a:r>
            <a:r>
              <a:rPr lang="zh-TW" altLang="en-US" dirty="0">
                <a:solidFill>
                  <a:srgbClr val="0070C0"/>
                </a:solidFill>
              </a:rPr>
              <a:t>資料記憶體</a:t>
            </a:r>
            <a:r>
              <a:rPr lang="zh-TW" altLang="en-US" dirty="0"/>
              <a:t>合併在一起的電腦設計概念架構</a:t>
            </a:r>
            <a:endParaRPr lang="en-US" altLang="zh-TW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756212"/>
            <a:ext cx="4248472" cy="3841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4000" y="980728"/>
            <a:ext cx="4752528" cy="5256584"/>
          </a:xfrm>
        </p:spPr>
        <p:txBody>
          <a:bodyPr>
            <a:normAutofit/>
          </a:bodyPr>
          <a:lstStyle/>
          <a:p>
            <a:r>
              <a:rPr lang="zh-TW" altLang="en-US" dirty="0"/>
              <a:t>中央處理單元或中央處理器 </a:t>
            </a:r>
            <a:endParaRPr lang="en-US" altLang="zh-TW" dirty="0"/>
          </a:p>
          <a:p>
            <a:pPr lvl="1"/>
            <a:r>
              <a:rPr lang="zh-TW" altLang="en-US" dirty="0"/>
              <a:t> </a:t>
            </a:r>
            <a:r>
              <a:rPr lang="en-US" altLang="zh-TW" dirty="0"/>
              <a:t>CPU (Central Processing Unit)</a:t>
            </a:r>
          </a:p>
          <a:p>
            <a:pPr lvl="1"/>
            <a:r>
              <a:rPr lang="zh-TW" altLang="en-US" dirty="0"/>
              <a:t>負責程式的執行、控制以及數位資料的處理與運算</a:t>
            </a:r>
            <a:endParaRPr lang="en-US" altLang="zh-TW" dirty="0"/>
          </a:p>
          <a:p>
            <a:pPr lvl="1"/>
            <a:r>
              <a:rPr lang="zh-TW" altLang="en-US" dirty="0"/>
              <a:t>主要包含</a:t>
            </a:r>
            <a:endParaRPr lang="en-US" altLang="zh-TW" dirty="0"/>
          </a:p>
          <a:p>
            <a:pPr lvl="2"/>
            <a:r>
              <a:rPr lang="zh-TW" altLang="en-US" dirty="0"/>
              <a:t>算術邏輯單元 </a:t>
            </a:r>
            <a:r>
              <a:rPr lang="en-US" altLang="zh-TW" dirty="0"/>
              <a:t>(Arithmetic Logic Unit, ALU)</a:t>
            </a:r>
          </a:p>
          <a:p>
            <a:pPr lvl="2"/>
            <a:r>
              <a:rPr lang="zh-TW" altLang="en-US" dirty="0"/>
              <a:t>控制單元 </a:t>
            </a:r>
            <a:r>
              <a:rPr lang="en-US" altLang="zh-TW" dirty="0"/>
              <a:t>(Control Unit, CU)</a:t>
            </a:r>
          </a:p>
          <a:p>
            <a:pPr lvl="2"/>
            <a:r>
              <a:rPr lang="zh-TW" altLang="en-US" dirty="0"/>
              <a:t>暫存器 </a:t>
            </a:r>
            <a:r>
              <a:rPr lang="en-US" altLang="zh-TW" dirty="0"/>
              <a:t>(Register)</a:t>
            </a:r>
          </a:p>
          <a:p>
            <a:pPr lvl="3"/>
            <a:r>
              <a:rPr lang="zh-TW" altLang="en-US" dirty="0"/>
              <a:t>極小的儲存裝置，可以暫時儲存程式或資料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4.1</a:t>
            </a:r>
            <a:r>
              <a:rPr lang="zh-TW" altLang="en-US" dirty="0"/>
              <a:t>中央處理單元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7346" y="3284984"/>
            <a:ext cx="3571118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79" t="2607" r="26395" b="60696"/>
          <a:stretch/>
        </p:blipFill>
        <p:spPr bwMode="auto">
          <a:xfrm>
            <a:off x="5585989" y="764704"/>
            <a:ext cx="2753832" cy="1968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7608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760640"/>
          </a:xfrm>
        </p:spPr>
        <p:txBody>
          <a:bodyPr>
            <a:normAutofit/>
          </a:bodyPr>
          <a:lstStyle/>
          <a:p>
            <a:pPr marL="360000" indent="-288000">
              <a:buSzPct val="100000"/>
              <a:buFont typeface="+mj-lt"/>
              <a:buAutoNum type="arabicPeriod"/>
            </a:pPr>
            <a:r>
              <a:rPr lang="zh-TW" altLang="en-US" b="1" dirty="0">
                <a:solidFill>
                  <a:schemeClr val="accent1"/>
                </a:solidFill>
              </a:rPr>
              <a:t>控制單元</a:t>
            </a:r>
            <a:endParaRPr lang="en-US" altLang="zh-TW" b="1" dirty="0">
              <a:solidFill>
                <a:schemeClr val="accent1"/>
              </a:solidFill>
            </a:endParaRPr>
          </a:p>
          <a:p>
            <a:pPr marL="328032" lvl="1" indent="0">
              <a:buSzPct val="100000"/>
              <a:buNone/>
            </a:pPr>
            <a:r>
              <a:rPr lang="zh-TW" altLang="en-US" dirty="0"/>
              <a:t>負責控制電腦執行程式的流程</a:t>
            </a:r>
            <a:endParaRPr lang="en-US" altLang="zh-TW" dirty="0"/>
          </a:p>
          <a:p>
            <a:pPr marL="328032" lvl="1" indent="0">
              <a:buSzPct val="100000"/>
              <a:buNone/>
            </a:pPr>
            <a:r>
              <a:rPr lang="zh-TW" altLang="en-US" dirty="0"/>
              <a:t>協調輸入、輸出、記憶以及算術邏輯等部門的運作，使得電腦能自動化的處理資料。</a:t>
            </a:r>
            <a:endParaRPr lang="en-US" altLang="zh-TW" dirty="0"/>
          </a:p>
          <a:p>
            <a:pPr marL="360000" indent="-288000">
              <a:buSzPct val="100000"/>
              <a:buFont typeface="+mj-lt"/>
              <a:buAutoNum type="arabicPeriod"/>
            </a:pPr>
            <a:r>
              <a:rPr lang="zh-TW" altLang="en-US" b="1" dirty="0">
                <a:solidFill>
                  <a:schemeClr val="accent1"/>
                </a:solidFill>
              </a:rPr>
              <a:t>算術邏輯單元</a:t>
            </a:r>
            <a:endParaRPr lang="en-US" altLang="zh-TW" b="1" dirty="0">
              <a:solidFill>
                <a:schemeClr val="accent1"/>
              </a:solidFill>
            </a:endParaRPr>
          </a:p>
          <a:p>
            <a:pPr marL="328032" lvl="1" indent="0">
              <a:buSzPct val="100000"/>
              <a:buNone/>
            </a:pPr>
            <a:r>
              <a:rPr lang="zh-TW" altLang="en-US" dirty="0"/>
              <a:t>算術邏輯單元是算術單元 </a:t>
            </a:r>
            <a:r>
              <a:rPr lang="en-US" altLang="zh-TW" dirty="0"/>
              <a:t>(Arithmetic Unit, AU) </a:t>
            </a:r>
            <a:r>
              <a:rPr lang="zh-TW" altLang="en-US" dirty="0"/>
              <a:t>與邏輯單元</a:t>
            </a:r>
          </a:p>
          <a:p>
            <a:pPr marL="328032" lvl="1" indent="0">
              <a:buSzPct val="100000"/>
              <a:buNone/>
            </a:pPr>
            <a:r>
              <a:rPr lang="en-US" altLang="zh-TW" dirty="0"/>
              <a:t>(Logic Unit, LU) </a:t>
            </a:r>
            <a:r>
              <a:rPr lang="zh-TW" altLang="en-US" dirty="0"/>
              <a:t>的合稱</a:t>
            </a:r>
            <a:endParaRPr lang="en-US" altLang="zh-TW" dirty="0"/>
          </a:p>
          <a:p>
            <a:pPr marL="328032" lvl="1" indent="0">
              <a:buSzPct val="100000"/>
              <a:buNone/>
            </a:pPr>
            <a:r>
              <a:rPr lang="zh-TW" altLang="en-US" dirty="0"/>
              <a:t>負責程式中各類算術運算與邏輯運算 </a:t>
            </a:r>
            <a:endParaRPr lang="en-US" altLang="zh-TW" dirty="0"/>
          </a:p>
          <a:p>
            <a:pPr marL="360000" indent="-288000">
              <a:buSzPct val="100000"/>
              <a:buFont typeface="+mj-lt"/>
              <a:buAutoNum type="arabicPeriod" startAt="3"/>
            </a:pPr>
            <a:r>
              <a:rPr lang="zh-TW" altLang="en-US" b="1" dirty="0">
                <a:solidFill>
                  <a:schemeClr val="accent1"/>
                </a:solidFill>
              </a:rPr>
              <a:t>暫存器</a:t>
            </a:r>
            <a:endParaRPr lang="en-US" altLang="zh-TW" b="1" dirty="0">
              <a:solidFill>
                <a:schemeClr val="accent1"/>
              </a:solidFill>
            </a:endParaRPr>
          </a:p>
          <a:p>
            <a:pPr marL="720000" lvl="1" indent="-288000">
              <a:buSzPct val="100000"/>
            </a:pPr>
            <a:r>
              <a:rPr lang="zh-TW" altLang="en-US" dirty="0"/>
              <a:t>在中央處理器中暫時存放指令或資料的地方</a:t>
            </a:r>
            <a:endParaRPr lang="en-US" altLang="zh-TW" dirty="0"/>
          </a:p>
          <a:p>
            <a:pPr marL="720000" lvl="1" indent="-288000">
              <a:buSzPct val="100000"/>
            </a:pPr>
            <a:r>
              <a:rPr lang="zh-TW" altLang="en-US" dirty="0"/>
              <a:t>存取速度比主記憶體快很多</a:t>
            </a:r>
            <a:endParaRPr lang="en-US" altLang="zh-TW" dirty="0"/>
          </a:p>
          <a:p>
            <a:pPr marL="1044000" lvl="2" indent="-288000"/>
            <a:r>
              <a:rPr lang="zh-TW" altLang="en-US" dirty="0"/>
              <a:t>能大幅的增加中央處理器的效能</a:t>
            </a:r>
            <a:endParaRPr lang="en-US" altLang="zh-TW" dirty="0"/>
          </a:p>
          <a:p>
            <a:pPr marL="328032" lvl="1" indent="0">
              <a:buSzPct val="100000"/>
              <a:buNone/>
            </a:pPr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4.1</a:t>
            </a:r>
            <a:r>
              <a:rPr lang="zh-TW" altLang="en-US" dirty="0"/>
              <a:t>中央處理單元</a:t>
            </a:r>
          </a:p>
        </p:txBody>
      </p:sp>
    </p:spTree>
    <p:extLst>
      <p:ext uri="{BB962C8B-B14F-4D97-AF65-F5344CB8AC3E}">
        <p14:creationId xmlns:p14="http://schemas.microsoft.com/office/powerpoint/2010/main" val="541431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184576"/>
          </a:xfrm>
          <a:solidFill>
            <a:srgbClr val="FFFFFF"/>
          </a:solidFill>
        </p:spPr>
        <p:txBody>
          <a:bodyPr>
            <a:noAutofit/>
          </a:bodyPr>
          <a:lstStyle/>
          <a:p>
            <a:pPr marL="720000" lvl="1" indent="-288000">
              <a:buSzPct val="100000"/>
            </a:pPr>
            <a:r>
              <a:rPr lang="zh-TW" altLang="en-US" dirty="0"/>
              <a:t>暫存器依用途可大致區分為三類</a:t>
            </a:r>
            <a:endParaRPr lang="en-US" altLang="zh-TW" dirty="0"/>
          </a:p>
          <a:p>
            <a:pPr marL="1098900" lvl="2" indent="-342900">
              <a:buFont typeface="Wingdings" pitchFamily="2" charset="2"/>
              <a:buChar char="Ø"/>
            </a:pPr>
            <a:r>
              <a:rPr lang="zh-TW" altLang="en-US" b="1" dirty="0"/>
              <a:t>指令暫存器 </a:t>
            </a:r>
            <a:r>
              <a:rPr lang="en-US" altLang="zh-TW" b="1" dirty="0"/>
              <a:t>(Instruction Register, IR)</a:t>
            </a:r>
          </a:p>
          <a:p>
            <a:pPr marL="1404000" lvl="3" indent="-288000">
              <a:buClr>
                <a:srgbClr val="000066"/>
              </a:buClr>
            </a:pPr>
            <a:r>
              <a:rPr lang="zh-TW" altLang="en-US" dirty="0"/>
              <a:t>儲存準備要被執行的指令</a:t>
            </a:r>
            <a:endParaRPr lang="en-US" altLang="zh-TW" dirty="0"/>
          </a:p>
          <a:p>
            <a:pPr marL="1098900" lvl="2" indent="-342900">
              <a:buFont typeface="Wingdings" pitchFamily="2" charset="2"/>
              <a:buChar char="Ø"/>
            </a:pPr>
            <a:r>
              <a:rPr lang="zh-TW" altLang="en-US" b="1" dirty="0"/>
              <a:t>程式</a:t>
            </a:r>
            <a:r>
              <a:rPr lang="zh-TW" altLang="en-US" b="1" dirty="0">
                <a:uFill>
                  <a:solidFill>
                    <a:srgbClr val="0000CC"/>
                  </a:solidFill>
                </a:uFill>
              </a:rPr>
              <a:t>計數</a:t>
            </a:r>
            <a:r>
              <a:rPr lang="zh-TW" altLang="en-US" b="1" dirty="0"/>
              <a:t>器 </a:t>
            </a:r>
            <a:r>
              <a:rPr lang="en-US" altLang="zh-TW" b="1" dirty="0"/>
              <a:t>(Program Counter, PC)</a:t>
            </a:r>
          </a:p>
          <a:p>
            <a:pPr marL="1404000" lvl="3" indent="-288000">
              <a:buClr>
                <a:srgbClr val="000066"/>
              </a:buClr>
            </a:pPr>
            <a:r>
              <a:rPr lang="zh-TW" altLang="en-US" dirty="0"/>
              <a:t>記錄下一個所要執行的指令位址</a:t>
            </a:r>
            <a:endParaRPr lang="en-US" altLang="zh-TW" dirty="0"/>
          </a:p>
          <a:p>
            <a:pPr marL="1098900" lvl="2" indent="-342900">
              <a:buFont typeface="Wingdings" pitchFamily="2" charset="2"/>
              <a:buChar char="Ø"/>
            </a:pPr>
            <a:r>
              <a:rPr lang="zh-TW" altLang="en-US" b="1" dirty="0"/>
              <a:t>通用暫存器 </a:t>
            </a:r>
            <a:r>
              <a:rPr lang="en-US" altLang="zh-TW" b="1" dirty="0"/>
              <a:t>(General Purpose Register, GPR)</a:t>
            </a:r>
          </a:p>
          <a:p>
            <a:pPr marL="1404000" lvl="3" indent="-288000">
              <a:buClr>
                <a:srgbClr val="000066"/>
              </a:buClr>
            </a:pPr>
            <a:r>
              <a:rPr lang="zh-TW" altLang="en-US" dirty="0"/>
              <a:t>可以由程式設計師指定程式使用的暫存器</a:t>
            </a:r>
            <a:endParaRPr lang="en-US" altLang="zh-TW" dirty="0"/>
          </a:p>
          <a:p>
            <a:pPr marL="1404000" lvl="3" indent="-288000">
              <a:buClr>
                <a:srgbClr val="000066"/>
              </a:buClr>
            </a:pPr>
            <a:r>
              <a:rPr lang="zh-TW" altLang="en-US" dirty="0"/>
              <a:t>可用來儲存程式執行時暫存的資料或運算結果，通常這種暫存器越多，程式執行的效率越高。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4.1</a:t>
            </a:r>
            <a:r>
              <a:rPr lang="zh-TW" altLang="en-US" dirty="0"/>
              <a:t>中央處理單元</a:t>
            </a:r>
          </a:p>
        </p:txBody>
      </p:sp>
    </p:spTree>
    <p:extLst>
      <p:ext uri="{BB962C8B-B14F-4D97-AF65-F5344CB8AC3E}">
        <p14:creationId xmlns:p14="http://schemas.microsoft.com/office/powerpoint/2010/main" val="3826854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9" y="1268760"/>
            <a:ext cx="3816424" cy="108012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109728" indent="0">
              <a:buNone/>
            </a:pPr>
            <a:r>
              <a:rPr lang="zh-TW" altLang="en-US" sz="2000" dirty="0"/>
              <a:t>是電腦執行運算時所使用的記憶體，稱為主要記憶體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4.2</a:t>
            </a:r>
            <a:r>
              <a:rPr lang="zh-TW" altLang="en-US" dirty="0"/>
              <a:t>記憶單元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628800"/>
            <a:ext cx="4700587" cy="4249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23528" y="4555098"/>
            <a:ext cx="4824536" cy="13234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zh-TW" altLang="en-US" sz="20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儲存於外部儲存裝置中</a:t>
            </a:r>
            <a:endParaRPr lang="en-US" altLang="zh-TW" sz="2000" dirty="0">
              <a:solidFill>
                <a:prstClr val="black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zh-TW" altLang="en-US" sz="20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存放在外部儲存裝置的資料不會因為電源的消失而消失，因此可隨時讀至主記憶體中進行後續的計算與處理</a:t>
            </a:r>
            <a:endParaRPr lang="zh-TW" altLang="en-US" sz="1600" dirty="0"/>
          </a:p>
        </p:txBody>
      </p:sp>
      <p:cxnSp>
        <p:nvCxnSpPr>
          <p:cNvPr id="7" name="直線單箭頭接點 6"/>
          <p:cNvCxnSpPr/>
          <p:nvPr/>
        </p:nvCxnSpPr>
        <p:spPr>
          <a:xfrm flipV="1">
            <a:off x="5148064" y="5085184"/>
            <a:ext cx="648072" cy="13163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4247964" y="1601780"/>
            <a:ext cx="1800199" cy="241226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349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暫存器位於記憶體階層的最上層，是速度最快且單位價格最高的記憶體</a:t>
            </a:r>
            <a:endParaRPr lang="en-US" altLang="zh-TW" dirty="0"/>
          </a:p>
          <a:p>
            <a:r>
              <a:rPr lang="zh-TW" altLang="en-US" dirty="0"/>
              <a:t>介於暫存器與主記憶體之間的是快取記憶體，就如同在階層中的位置，快取記憶體乃是一種比暫存器速度慢，但比主記憶體速度快的記憶體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4.2</a:t>
            </a:r>
            <a:r>
              <a:rPr lang="zh-TW" altLang="en-US" dirty="0"/>
              <a:t>記憶單元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140968"/>
            <a:ext cx="5931101" cy="3470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915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主記憶體是以半導體元件製成，與輔助記憶體相比，其存取的速度快但成本高</a:t>
            </a:r>
            <a:endParaRPr lang="en-US" altLang="zh-TW" dirty="0"/>
          </a:p>
          <a:p>
            <a:r>
              <a:rPr lang="zh-TW" altLang="en-US" dirty="0"/>
              <a:t>依照其揮發的特性分為</a:t>
            </a:r>
            <a:endParaRPr lang="en-US" altLang="zh-TW" dirty="0"/>
          </a:p>
          <a:p>
            <a:pPr lvl="1"/>
            <a:r>
              <a:rPr lang="zh-TW" altLang="en-US" b="1" dirty="0"/>
              <a:t>唯讀記憶體 </a:t>
            </a:r>
            <a:r>
              <a:rPr lang="en-US" altLang="zh-TW" b="1" dirty="0"/>
              <a:t>(Read Only Memory, ROM)</a:t>
            </a:r>
          </a:p>
          <a:p>
            <a:pPr lvl="2"/>
            <a:r>
              <a:rPr lang="zh-TW" altLang="en-US" dirty="0"/>
              <a:t>成本較高，屬於非揮發性的記憶體</a:t>
            </a:r>
            <a:endParaRPr lang="en-US" altLang="zh-TW" dirty="0"/>
          </a:p>
          <a:p>
            <a:pPr lvl="2"/>
            <a:r>
              <a:rPr lang="zh-TW" altLang="en-US" dirty="0"/>
              <a:t>在無電力的狀態下亦可保留資料</a:t>
            </a:r>
            <a:endParaRPr lang="en-US" altLang="zh-TW" dirty="0"/>
          </a:p>
          <a:p>
            <a:pPr lvl="2"/>
            <a:r>
              <a:rPr lang="zh-TW" altLang="en-US" dirty="0"/>
              <a:t>傳統的 </a:t>
            </a:r>
            <a:r>
              <a:rPr lang="en-US" altLang="zh-TW" dirty="0"/>
              <a:t>ROM </a:t>
            </a:r>
            <a:r>
              <a:rPr lang="zh-TW" altLang="en-US" dirty="0"/>
              <a:t>只能寫入資料一次，因此用來儲存開機使用的程式</a:t>
            </a:r>
            <a:endParaRPr lang="en-US" altLang="zh-TW" dirty="0"/>
          </a:p>
          <a:p>
            <a:pPr lvl="1"/>
            <a:r>
              <a:rPr lang="zh-TW" altLang="en-US" b="1" dirty="0"/>
              <a:t>隨機存取記憶體 </a:t>
            </a:r>
            <a:r>
              <a:rPr lang="en-US" altLang="zh-TW" b="1" dirty="0"/>
              <a:t>(Random  Access Memory, RAM)</a:t>
            </a:r>
            <a:endParaRPr lang="zh-TW" altLang="en-US" b="1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4.2</a:t>
            </a:r>
            <a:r>
              <a:rPr lang="zh-TW" altLang="en-US" dirty="0"/>
              <a:t>記憶單元</a:t>
            </a:r>
          </a:p>
        </p:txBody>
      </p:sp>
    </p:spTree>
    <p:extLst>
      <p:ext uri="{BB962C8B-B14F-4D97-AF65-F5344CB8AC3E}">
        <p14:creationId xmlns:p14="http://schemas.microsoft.com/office/powerpoint/2010/main" val="78551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18457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109728" indent="0">
              <a:lnSpc>
                <a:spcPts val="3100"/>
              </a:lnSpc>
              <a:spcBef>
                <a:spcPts val="400"/>
              </a:spcBef>
              <a:buNone/>
            </a:pPr>
            <a:r>
              <a:rPr lang="en-US" altLang="zh-TW" b="1" dirty="0"/>
              <a:t>RAM </a:t>
            </a:r>
            <a:r>
              <a:rPr lang="zh-TW" altLang="en-US" b="1" dirty="0"/>
              <a:t>的分類</a:t>
            </a:r>
            <a:endParaRPr lang="en-US" altLang="zh-TW" b="1" dirty="0"/>
          </a:p>
          <a:p>
            <a:pPr>
              <a:lnSpc>
                <a:spcPts val="3100"/>
              </a:lnSpc>
              <a:spcBef>
                <a:spcPts val="400"/>
              </a:spcBef>
            </a:pPr>
            <a:r>
              <a:rPr lang="zh-TW" altLang="en-US" b="1" dirty="0"/>
              <a:t>動態隨機存取記憶體 </a:t>
            </a:r>
            <a:r>
              <a:rPr lang="en-US" altLang="zh-TW" b="1" dirty="0"/>
              <a:t>(Dynamic RAM, DRAM)</a:t>
            </a:r>
          </a:p>
          <a:p>
            <a:pPr marL="690372" lvl="2" indent="-342900">
              <a:lnSpc>
                <a:spcPts val="31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新細明體" pitchFamily="18" charset="-120"/>
              <a:buChar char="。"/>
            </a:pPr>
            <a:r>
              <a:rPr lang="zh-TW" altLang="en-US" dirty="0"/>
              <a:t>以電容器 </a:t>
            </a:r>
            <a:r>
              <a:rPr lang="en-US" altLang="zh-TW" dirty="0"/>
              <a:t>(capacitor) </a:t>
            </a:r>
            <a:r>
              <a:rPr lang="zh-TW" altLang="en-US" dirty="0"/>
              <a:t>的方式儲存資料，隨著時間的流逝，電容器會逐漸地失去它的電容量</a:t>
            </a:r>
            <a:endParaRPr lang="en-US" altLang="zh-TW" dirty="0"/>
          </a:p>
          <a:p>
            <a:pPr marL="690372" lvl="2" indent="-342900">
              <a:lnSpc>
                <a:spcPts val="3100"/>
              </a:lnSpc>
              <a:spcBef>
                <a:spcPts val="400"/>
              </a:spcBef>
              <a:buClr>
                <a:schemeClr val="accent1"/>
              </a:buClr>
              <a:buSzPct val="68000"/>
              <a:buFont typeface="新細明體" pitchFamily="18" charset="-120"/>
              <a:buChar char="。"/>
            </a:pPr>
            <a:r>
              <a:rPr lang="zh-TW" altLang="en-US" dirty="0"/>
              <a:t>必須週期性的更新內容以保存其儲存的資料</a:t>
            </a:r>
          </a:p>
          <a:p>
            <a:pPr>
              <a:lnSpc>
                <a:spcPts val="3100"/>
              </a:lnSpc>
              <a:spcBef>
                <a:spcPts val="400"/>
              </a:spcBef>
            </a:pPr>
            <a:r>
              <a:rPr lang="zh-TW" altLang="en-US" b="1" dirty="0"/>
              <a:t>靜態隨機存取記憶體 </a:t>
            </a:r>
            <a:r>
              <a:rPr lang="en-US" altLang="zh-TW" b="1" dirty="0"/>
              <a:t>(Static RAM, SRAM)</a:t>
            </a:r>
          </a:p>
          <a:p>
            <a:pPr lvl="1">
              <a:lnSpc>
                <a:spcPts val="3100"/>
              </a:lnSpc>
              <a:spcBef>
                <a:spcPts val="400"/>
              </a:spcBef>
            </a:pPr>
            <a:r>
              <a:rPr lang="zh-TW" altLang="en-US" dirty="0"/>
              <a:t>以正反器 </a:t>
            </a:r>
            <a:r>
              <a:rPr lang="en-US" altLang="zh-TW" dirty="0"/>
              <a:t>(flip-flop gate)  </a:t>
            </a:r>
            <a:r>
              <a:rPr lang="zh-TW" altLang="en-US" dirty="0"/>
              <a:t>的方式設計，在電源維持的狀態下，不須要做更新 </a:t>
            </a:r>
            <a:r>
              <a:rPr lang="en-US" altLang="zh-TW" dirty="0"/>
              <a:t>(</a:t>
            </a:r>
            <a:r>
              <a:rPr lang="en-US" altLang="zh-TW" dirty="0" err="1"/>
              <a:t>reflesh</a:t>
            </a:r>
            <a:r>
              <a:rPr lang="en-US" altLang="zh-TW" dirty="0"/>
              <a:t>) </a:t>
            </a:r>
            <a:r>
              <a:rPr lang="zh-TW" altLang="en-US" dirty="0"/>
              <a:t>的動作即可保留儲存其內的資料，因此速度較 </a:t>
            </a:r>
            <a:r>
              <a:rPr lang="en-US" altLang="zh-TW" dirty="0"/>
              <a:t>DRAM </a:t>
            </a:r>
            <a:r>
              <a:rPr lang="zh-TW" altLang="en-US" dirty="0"/>
              <a:t>快得許多</a:t>
            </a:r>
            <a:endParaRPr lang="en-US" altLang="zh-TW" dirty="0"/>
          </a:p>
          <a:p>
            <a:pPr lvl="1">
              <a:lnSpc>
                <a:spcPts val="3100"/>
              </a:lnSpc>
              <a:spcBef>
                <a:spcPts val="400"/>
              </a:spcBef>
            </a:pPr>
            <a:r>
              <a:rPr lang="zh-TW" altLang="en-US" dirty="0"/>
              <a:t>因為電路設計的關係，相對於 </a:t>
            </a:r>
            <a:r>
              <a:rPr lang="en-US" altLang="zh-TW" dirty="0"/>
              <a:t>DRAM </a:t>
            </a:r>
            <a:r>
              <a:rPr lang="zh-TW" altLang="en-US" dirty="0"/>
              <a:t>而言，其成本較高，且所需的晶片面積也大得許多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4.2</a:t>
            </a:r>
            <a:r>
              <a:rPr lang="zh-TW" altLang="en-US" dirty="0"/>
              <a:t>記憶單元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827584" y="5674022"/>
            <a:ext cx="6768752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原來的主要用途是在主機板上，作為快取記憶體，但因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L2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（第二階快取）逐漸內建於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CPU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中，使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SRAM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在個人電腦市場的應用空間漸漸縮小，未來的發展以通訊市場為重點，主要是手機市場</a:t>
            </a:r>
          </a:p>
        </p:txBody>
      </p:sp>
      <p:sp>
        <p:nvSpPr>
          <p:cNvPr id="7" name="圓角矩形 6"/>
          <p:cNvSpPr/>
          <p:nvPr/>
        </p:nvSpPr>
        <p:spPr>
          <a:xfrm>
            <a:off x="683568" y="3212976"/>
            <a:ext cx="6408712" cy="360040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646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輔助記憶體</a:t>
            </a:r>
            <a:endParaRPr lang="en-US" altLang="zh-TW" dirty="0"/>
          </a:p>
          <a:p>
            <a:pPr lvl="1"/>
            <a:r>
              <a:rPr lang="zh-TW" altLang="en-US" dirty="0"/>
              <a:t>位於記憶體階層的最底層</a:t>
            </a:r>
            <a:endParaRPr lang="en-US" altLang="zh-TW" dirty="0"/>
          </a:p>
          <a:p>
            <a:pPr lvl="1"/>
            <a:r>
              <a:rPr lang="zh-TW" altLang="en-US" dirty="0"/>
              <a:t>相較於上層的記憶體，其存取速度慢得許多，但價格便宜且儲存空間大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4.2</a:t>
            </a:r>
            <a:r>
              <a:rPr lang="zh-TW" altLang="en-US" dirty="0"/>
              <a:t>記憶單元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923" y="2852936"/>
            <a:ext cx="4708153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7206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主記憶體的功能是儲存正在執行的程式與資料</a:t>
            </a:r>
            <a:endParaRPr lang="en-US" altLang="zh-TW" dirty="0"/>
          </a:p>
          <a:p>
            <a:r>
              <a:rPr lang="zh-TW" altLang="en-US" dirty="0"/>
              <a:t>輔助記憶體則是用來儲存在電源消失後仍需保留的資料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4.2</a:t>
            </a:r>
            <a:r>
              <a:rPr lang="zh-TW" altLang="en-US" dirty="0"/>
              <a:t>記憶單元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492896"/>
            <a:ext cx="7653020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1537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從現在的觀點，輸入裝置泛指透過使用者的操作將資料輸入至電腦內部的設備；輸出裝置則是將電腦的處理結果與訊息呈現給使用者的設備。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4.3</a:t>
            </a:r>
            <a:r>
              <a:rPr lang="zh-TW" altLang="en-US" dirty="0"/>
              <a:t>輸入與輸出單元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140" y="2420888"/>
            <a:ext cx="6237719" cy="4119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8432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鍵盤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/>
              <a:t>鍵盤是輔助我們將資料輸入電腦的標準輸入裝置，與主機板連接的介面規格主要為 </a:t>
            </a:r>
            <a:r>
              <a:rPr lang="en-US" altLang="zh-TW" dirty="0"/>
              <a:t>PS2 </a:t>
            </a:r>
            <a:r>
              <a:rPr lang="zh-TW" altLang="en-US" dirty="0"/>
              <a:t>與 </a:t>
            </a:r>
            <a:r>
              <a:rPr lang="en-US" altLang="zh-TW" dirty="0"/>
              <a:t>USB</a:t>
            </a:r>
            <a:r>
              <a:rPr lang="zh-TW" altLang="en-US" dirty="0"/>
              <a:t>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4.3</a:t>
            </a:r>
            <a:r>
              <a:rPr lang="zh-TW" altLang="en-US" dirty="0"/>
              <a:t>輸入與輸出單元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908" y="2420888"/>
            <a:ext cx="5079548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9182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滑鼠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/>
              <a:t>滑鼠它與主機板連接的介面主要為 </a:t>
            </a:r>
            <a:r>
              <a:rPr lang="en-US" altLang="zh-TW" dirty="0"/>
              <a:t>PS2 </a:t>
            </a:r>
            <a:r>
              <a:rPr lang="zh-TW" altLang="en-US" dirty="0"/>
              <a:t>與 </a:t>
            </a:r>
            <a:r>
              <a:rPr lang="en-US" altLang="zh-TW" dirty="0"/>
              <a:t>USB</a:t>
            </a:r>
            <a:r>
              <a:rPr lang="zh-TW" altLang="en-US" dirty="0"/>
              <a:t>，滑鼠的種類繁多，大致上有二鍵、三鍵、軌跡球與電競用滑鼠。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4.3</a:t>
            </a:r>
            <a:r>
              <a:rPr lang="zh-TW" altLang="en-US" dirty="0"/>
              <a:t>輸入與輸出單元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583086"/>
            <a:ext cx="3670402" cy="3294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2249414" y="6021288"/>
            <a:ext cx="4770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4.7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二鍵、三鍵、軌跡球與電競用滑鼠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</a:p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片來源：維基共享資源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252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掃描器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/>
              <a:t>掃描器 </a:t>
            </a:r>
            <a:r>
              <a:rPr lang="en-US" altLang="zh-TW" dirty="0"/>
              <a:t>(scanner) </a:t>
            </a:r>
            <a:r>
              <a:rPr lang="zh-TW" altLang="en-US" dirty="0"/>
              <a:t>基本上就像是影印機，可以將靜態的文件、圖片等複製下來</a:t>
            </a:r>
            <a:endParaRPr lang="en-US" altLang="zh-TW" dirty="0"/>
          </a:p>
          <a:p>
            <a:pPr lvl="1"/>
            <a:r>
              <a:rPr lang="zh-TW" altLang="en-US" dirty="0"/>
              <a:t>先將光線投射至待掃描的文件上，光線反射回來後經由感光元件接收</a:t>
            </a:r>
            <a:endParaRPr lang="en-US" altLang="zh-TW" dirty="0"/>
          </a:p>
          <a:p>
            <a:pPr lvl="1"/>
            <a:r>
              <a:rPr lang="zh-TW" altLang="en-US" dirty="0"/>
              <a:t>因為文件上較暗的地方反射的光較少，亮的地方反射的光較多，因此感光元件將反射回來的光的強弱轉換為數位資料，最後即可組成數位影像。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4.3</a:t>
            </a:r>
            <a:r>
              <a:rPr lang="zh-TW" altLang="en-US" dirty="0"/>
              <a:t>輸入與輸出單元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221088"/>
            <a:ext cx="3456384" cy="2329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0041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4000" y="979200"/>
            <a:ext cx="8568480" cy="352992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109728" indent="0">
              <a:buNone/>
            </a:pPr>
            <a:r>
              <a:rPr lang="zh-TW" altLang="en-US" b="1" dirty="0"/>
              <a:t>掃描器的解析度</a:t>
            </a:r>
            <a:endParaRPr lang="en-US" altLang="zh-TW" b="1" dirty="0"/>
          </a:p>
          <a:p>
            <a:r>
              <a:rPr lang="zh-TW" altLang="en-US" dirty="0"/>
              <a:t>掃描後文件的效果與掃描器的解析度有關</a:t>
            </a:r>
            <a:endParaRPr lang="en-US" altLang="zh-TW" dirty="0"/>
          </a:p>
          <a:p>
            <a:r>
              <a:rPr lang="zh-TW" altLang="en-US" dirty="0"/>
              <a:t>解析度的單位是</a:t>
            </a:r>
            <a:r>
              <a:rPr lang="en-US" altLang="zh-TW" b="1" dirty="0"/>
              <a:t>DPI</a:t>
            </a:r>
            <a:r>
              <a:rPr lang="en-US" altLang="zh-TW" dirty="0"/>
              <a:t> (dot per inch)</a:t>
            </a:r>
          </a:p>
          <a:p>
            <a:pPr lvl="1"/>
            <a:r>
              <a:rPr lang="zh-TW" altLang="en-US" dirty="0"/>
              <a:t>掃描器在掃描時每英吋的取樣點數</a:t>
            </a:r>
            <a:endParaRPr lang="en-US" altLang="zh-TW" dirty="0"/>
          </a:p>
          <a:p>
            <a:pPr lvl="2"/>
            <a:r>
              <a:rPr lang="en-US" altLang="zh-TW" dirty="0"/>
              <a:t>300 dpi </a:t>
            </a:r>
            <a:r>
              <a:rPr lang="zh-TW" altLang="en-US" dirty="0"/>
              <a:t>就表示所掃描的文件每英吋將產生 </a:t>
            </a:r>
            <a:r>
              <a:rPr lang="en-US" altLang="zh-TW" dirty="0"/>
              <a:t>300 </a:t>
            </a:r>
            <a:r>
              <a:rPr lang="zh-TW" altLang="en-US" dirty="0"/>
              <a:t>點的資料</a:t>
            </a:r>
            <a:endParaRPr lang="en-US" altLang="zh-TW" dirty="0"/>
          </a:p>
          <a:p>
            <a:pPr lvl="1"/>
            <a:r>
              <a:rPr lang="zh-TW" altLang="en-US" dirty="0"/>
              <a:t>掃描時設定的 </a:t>
            </a:r>
            <a:r>
              <a:rPr lang="en-US" altLang="zh-TW" dirty="0"/>
              <a:t>DPI </a:t>
            </a:r>
            <a:r>
              <a:rPr lang="zh-TW" altLang="en-US" dirty="0"/>
              <a:t>越高，掃描的結果越精密，但所需的儲存空間也越大</a:t>
            </a:r>
            <a:endParaRPr lang="en-US" altLang="zh-TW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4.3</a:t>
            </a:r>
            <a:r>
              <a:rPr lang="zh-TW" altLang="en-US" dirty="0"/>
              <a:t>輸入與輸出單元</a:t>
            </a:r>
          </a:p>
        </p:txBody>
      </p:sp>
    </p:spTree>
    <p:extLst>
      <p:ext uri="{BB962C8B-B14F-4D97-AF65-F5344CB8AC3E}">
        <p14:creationId xmlns:p14="http://schemas.microsoft.com/office/powerpoint/2010/main" val="2350471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4000" y="979200"/>
            <a:ext cx="8568480" cy="345791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zh-TW" altLang="en-US" dirty="0"/>
              <a:t>掃描器在包裝上通常會標明兩種解析度</a:t>
            </a:r>
            <a:endParaRPr lang="en-US" altLang="zh-TW" dirty="0"/>
          </a:p>
          <a:p>
            <a:pPr lvl="1"/>
            <a:r>
              <a:rPr lang="zh-TW" altLang="en-US" b="1" dirty="0"/>
              <a:t>光學解析度</a:t>
            </a:r>
            <a:endParaRPr lang="en-US" altLang="zh-TW" b="1" dirty="0"/>
          </a:p>
          <a:p>
            <a:pPr lvl="2"/>
            <a:r>
              <a:rPr lang="zh-TW" altLang="en-US" dirty="0"/>
              <a:t>掃描器感光元件實際的感測能力，代表掃描器本身硬體的條件</a:t>
            </a:r>
            <a:endParaRPr lang="en-US" altLang="zh-TW" dirty="0"/>
          </a:p>
          <a:p>
            <a:pPr lvl="1"/>
            <a:r>
              <a:rPr lang="zh-TW" altLang="en-US" b="1" dirty="0"/>
              <a:t>軟體解析度</a:t>
            </a:r>
            <a:endParaRPr lang="en-US" altLang="zh-TW" b="1" dirty="0"/>
          </a:p>
          <a:p>
            <a:pPr lvl="2"/>
            <a:r>
              <a:rPr lang="zh-TW" altLang="en-US" dirty="0"/>
              <a:t>掃描器將圖檔掃進來後，利用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程式</a:t>
            </a:r>
            <a:r>
              <a:rPr lang="zh-TW" altLang="en-US" dirty="0"/>
              <a:t>程式運算後所獲得的解析度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4.3</a:t>
            </a:r>
            <a:r>
              <a:rPr lang="zh-TW" altLang="en-US" dirty="0"/>
              <a:t>輸入與輸出單元</a:t>
            </a:r>
          </a:p>
        </p:txBody>
      </p:sp>
    </p:spTree>
    <p:extLst>
      <p:ext uri="{BB962C8B-B14F-4D97-AF65-F5344CB8AC3E}">
        <p14:creationId xmlns:p14="http://schemas.microsoft.com/office/powerpoint/2010/main" val="3509949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螢幕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/>
              <a:t>螢幕是電腦最主要的輸出設備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4.3</a:t>
            </a:r>
            <a:r>
              <a:rPr lang="zh-TW" altLang="en-US" dirty="0"/>
              <a:t>輸入與輸出單元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060848"/>
            <a:ext cx="6657791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3716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107504" y="980728"/>
            <a:ext cx="4824536" cy="5544616"/>
          </a:xfrm>
        </p:spPr>
        <p:txBody>
          <a:bodyPr>
            <a:normAutofit fontScale="92500"/>
          </a:bodyPr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印表機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/>
              <a:t>在選購印表機時兩個重要的判斷指標</a:t>
            </a:r>
            <a:endParaRPr lang="en-US" altLang="zh-TW" dirty="0"/>
          </a:p>
          <a:p>
            <a:pPr lvl="1"/>
            <a:r>
              <a:rPr lang="zh-TW" altLang="en-US" dirty="0"/>
              <a:t>列印速度</a:t>
            </a:r>
            <a:endParaRPr lang="en-US" altLang="zh-TW" dirty="0"/>
          </a:p>
          <a:p>
            <a:pPr lvl="2"/>
            <a:r>
              <a:rPr lang="zh-TW" altLang="en-US" dirty="0"/>
              <a:t>單位是 </a:t>
            </a:r>
            <a:r>
              <a:rPr lang="en-US" altLang="zh-TW" dirty="0"/>
              <a:t>PPM (page per minute)</a:t>
            </a:r>
            <a:r>
              <a:rPr lang="zh-TW" altLang="en-US" dirty="0"/>
              <a:t>，指得是每分鐘能連續列印的英文文件最大的頁數</a:t>
            </a:r>
            <a:endParaRPr lang="en-US" altLang="zh-TW" dirty="0"/>
          </a:p>
          <a:p>
            <a:pPr lvl="1"/>
            <a:r>
              <a:rPr lang="zh-TW" altLang="en-US" dirty="0"/>
              <a:t>列印品質</a:t>
            </a:r>
            <a:endParaRPr lang="en-US" altLang="zh-TW" dirty="0"/>
          </a:p>
          <a:p>
            <a:pPr lvl="2"/>
            <a:r>
              <a:rPr lang="zh-TW" altLang="en-US" dirty="0"/>
              <a:t>以解析度標示 </a:t>
            </a:r>
            <a:r>
              <a:rPr lang="en-US" altLang="zh-TW" dirty="0"/>
              <a:t>(</a:t>
            </a:r>
            <a:r>
              <a:rPr lang="zh-TW" altLang="en-US" dirty="0"/>
              <a:t>單位是 </a:t>
            </a:r>
            <a:r>
              <a:rPr lang="en-US" altLang="zh-TW" dirty="0"/>
              <a:t>DPI )</a:t>
            </a:r>
          </a:p>
          <a:p>
            <a:pPr lvl="2"/>
            <a:r>
              <a:rPr lang="zh-TW" altLang="en-US" dirty="0"/>
              <a:t>解析度越高，列印的品質越好，然而耗費的碳粉或墨水也越多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4.3</a:t>
            </a:r>
            <a:r>
              <a:rPr lang="zh-TW" altLang="en-US" dirty="0"/>
              <a:t>輸入與輸出單元</a:t>
            </a: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560" y="1272430"/>
            <a:ext cx="4072928" cy="4460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152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4000" y="980728"/>
            <a:ext cx="8496472" cy="5328592"/>
          </a:xfrm>
        </p:spPr>
        <p:txBody>
          <a:bodyPr>
            <a:normAutofit/>
          </a:bodyPr>
          <a:lstStyle/>
          <a:p>
            <a:r>
              <a:rPr lang="zh-TW" altLang="en-US" dirty="0"/>
              <a:t>電腦的運作就是程式的執行</a:t>
            </a:r>
            <a:endParaRPr lang="en-US" altLang="zh-TW" dirty="0"/>
          </a:p>
          <a:p>
            <a:pPr lvl="1"/>
            <a:r>
              <a:rPr lang="zh-TW" altLang="en-US" dirty="0"/>
              <a:t>程式要被執行之前都必須先載入到主記憶體內</a:t>
            </a:r>
            <a:endParaRPr lang="en-US" altLang="zh-TW" dirty="0"/>
          </a:p>
          <a:p>
            <a:pPr lvl="1"/>
            <a:r>
              <a:rPr lang="zh-TW" altLang="en-US" dirty="0"/>
              <a:t>中央處理器會從主記憶體內將須執行的程式指令</a:t>
            </a:r>
            <a:r>
              <a:rPr lang="zh-TW" altLang="en-US" dirty="0">
                <a:solidFill>
                  <a:schemeClr val="accent2"/>
                </a:solidFill>
              </a:rPr>
              <a:t>搬到</a:t>
            </a:r>
            <a:r>
              <a:rPr lang="zh-TW" altLang="en-US" dirty="0"/>
              <a:t>暫存器中，並對程式指令進行指令</a:t>
            </a:r>
            <a:r>
              <a:rPr lang="zh-TW" altLang="en-US" b="1" dirty="0"/>
              <a:t>解碼</a:t>
            </a:r>
            <a:r>
              <a:rPr lang="zh-TW" altLang="en-US" dirty="0"/>
              <a:t>、</a:t>
            </a:r>
            <a:r>
              <a:rPr lang="zh-TW" altLang="en-US" b="1" dirty="0"/>
              <a:t>執行</a:t>
            </a:r>
            <a:r>
              <a:rPr lang="zh-TW" altLang="en-US" dirty="0"/>
              <a:t>與</a:t>
            </a:r>
            <a:r>
              <a:rPr lang="zh-TW" altLang="en-US" b="1" dirty="0"/>
              <a:t>結果儲存</a:t>
            </a:r>
            <a:r>
              <a:rPr lang="zh-TW" altLang="en-US" dirty="0"/>
              <a:t>的動作</a:t>
            </a:r>
            <a:endParaRPr lang="en-US" altLang="zh-TW" dirty="0"/>
          </a:p>
          <a:p>
            <a:pPr lvl="1"/>
            <a:r>
              <a:rPr lang="zh-TW" altLang="en-US" dirty="0"/>
              <a:t>執行完畢後，會再重複上述的動作，至主記憶體中，將下一個須執行的指令搬到暫存器中並開始執行</a:t>
            </a:r>
            <a:endParaRPr lang="en-US" altLang="zh-TW" dirty="0"/>
          </a:p>
          <a:p>
            <a:r>
              <a:rPr lang="zh-TW" altLang="en-US" dirty="0"/>
              <a:t>中央處理器執行一個指令的過程稱為</a:t>
            </a:r>
            <a:r>
              <a:rPr lang="zh-TW" altLang="en-US" b="1" dirty="0">
                <a:solidFill>
                  <a:srgbClr val="0070C0"/>
                </a:solidFill>
              </a:rPr>
              <a:t>機器週期 </a:t>
            </a:r>
            <a:r>
              <a:rPr lang="en-US" altLang="zh-TW" dirty="0"/>
              <a:t>(machine cycle)</a:t>
            </a:r>
            <a:r>
              <a:rPr lang="zh-TW" altLang="en-US" dirty="0"/>
              <a:t>，一個機器週期可分為四個步驟</a:t>
            </a:r>
            <a:r>
              <a:rPr lang="en-US" altLang="zh-TW" dirty="0"/>
              <a:t>:</a:t>
            </a:r>
          </a:p>
          <a:p>
            <a:pPr marL="109728" indent="0">
              <a:buNone/>
            </a:pPr>
            <a:r>
              <a:rPr lang="zh-TW" altLang="en-US" b="1" dirty="0">
                <a:solidFill>
                  <a:srgbClr val="0070C0"/>
                </a:solidFill>
              </a:rPr>
              <a:t>   </a:t>
            </a:r>
            <a:r>
              <a:rPr lang="en-US" altLang="zh-TW" b="1" dirty="0">
                <a:solidFill>
                  <a:srgbClr val="0070C0"/>
                </a:solidFill>
              </a:rPr>
              <a:t>1.</a:t>
            </a:r>
            <a:r>
              <a:rPr lang="zh-TW" altLang="en-US" b="1" dirty="0">
                <a:solidFill>
                  <a:srgbClr val="0070C0"/>
                </a:solidFill>
              </a:rPr>
              <a:t>指令讀取 </a:t>
            </a:r>
            <a:r>
              <a:rPr lang="en-US" altLang="zh-TW" b="1" dirty="0">
                <a:solidFill>
                  <a:srgbClr val="0070C0"/>
                </a:solidFill>
              </a:rPr>
              <a:t>2.</a:t>
            </a:r>
            <a:r>
              <a:rPr lang="zh-TW" altLang="en-US" b="1" dirty="0">
                <a:solidFill>
                  <a:srgbClr val="0070C0"/>
                </a:solidFill>
              </a:rPr>
              <a:t>指令解碼  </a:t>
            </a:r>
            <a:r>
              <a:rPr lang="en-US" altLang="zh-TW" b="1" dirty="0">
                <a:solidFill>
                  <a:srgbClr val="0070C0"/>
                </a:solidFill>
              </a:rPr>
              <a:t>3.</a:t>
            </a:r>
            <a:r>
              <a:rPr lang="zh-TW" altLang="en-US" b="1" dirty="0">
                <a:solidFill>
                  <a:srgbClr val="0070C0"/>
                </a:solidFill>
              </a:rPr>
              <a:t>指令執行  </a:t>
            </a:r>
            <a:r>
              <a:rPr lang="en-US" altLang="zh-TW" b="1" dirty="0">
                <a:solidFill>
                  <a:srgbClr val="0070C0"/>
                </a:solidFill>
              </a:rPr>
              <a:t>4.</a:t>
            </a:r>
            <a:r>
              <a:rPr lang="zh-TW" altLang="en-US" b="1" dirty="0">
                <a:solidFill>
                  <a:srgbClr val="0070C0"/>
                </a:solidFill>
              </a:rPr>
              <a:t>結果回存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4.4</a:t>
            </a:r>
            <a:r>
              <a:rPr lang="zh-TW" altLang="en-US" dirty="0"/>
              <a:t>程式執行流程</a:t>
            </a:r>
          </a:p>
        </p:txBody>
      </p:sp>
    </p:spTree>
    <p:extLst>
      <p:ext uri="{BB962C8B-B14F-4D97-AF65-F5344CB8AC3E}">
        <p14:creationId xmlns:p14="http://schemas.microsoft.com/office/powerpoint/2010/main" val="3554749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755576" y="5013176"/>
            <a:ext cx="7848872" cy="1224136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lnSpc>
                <a:spcPts val="2400"/>
              </a:lnSpc>
            </a:pPr>
            <a:r>
              <a:rPr lang="zh-TW" altLang="en-US" sz="1800" dirty="0"/>
              <a:t>指令讀取與指令解碼的總花費時間稱為指令時間</a:t>
            </a:r>
            <a:r>
              <a:rPr lang="en-US" altLang="zh-TW" sz="1800" dirty="0"/>
              <a:t>(Instruction Time, I-Time)</a:t>
            </a:r>
          </a:p>
          <a:p>
            <a:pPr>
              <a:lnSpc>
                <a:spcPts val="2400"/>
              </a:lnSpc>
            </a:pPr>
            <a:r>
              <a:rPr lang="zh-TW" altLang="en-US" sz="1800" dirty="0"/>
              <a:t>指令執行與結果回存的總花費時間稱為執行時間 </a:t>
            </a:r>
            <a:r>
              <a:rPr lang="en-US" altLang="zh-TW" sz="1800" dirty="0"/>
              <a:t>(Execution Time, E-Time)</a:t>
            </a:r>
          </a:p>
          <a:p>
            <a:pPr>
              <a:lnSpc>
                <a:spcPts val="2400"/>
              </a:lnSpc>
            </a:pPr>
            <a:r>
              <a:rPr lang="zh-TW" altLang="en-US" sz="1800" dirty="0"/>
              <a:t>一個機器週期即為 </a:t>
            </a:r>
            <a:r>
              <a:rPr lang="en-US" altLang="zh-TW" sz="1800" dirty="0"/>
              <a:t>I-Time + E-Time</a:t>
            </a:r>
            <a:r>
              <a:rPr lang="zh-TW" altLang="en-US" sz="1800" dirty="0"/>
              <a:t>。</a:t>
            </a:r>
          </a:p>
          <a:p>
            <a:pPr>
              <a:lnSpc>
                <a:spcPts val="2400"/>
              </a:lnSpc>
            </a:pPr>
            <a:endParaRPr lang="zh-TW" altLang="en-US" sz="1800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4.4</a:t>
            </a:r>
            <a:r>
              <a:rPr lang="zh-TW" altLang="en-US" dirty="0"/>
              <a:t>程式執行流程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88"/>
          <a:stretch/>
        </p:blipFill>
        <p:spPr bwMode="auto">
          <a:xfrm>
            <a:off x="1691680" y="1052736"/>
            <a:ext cx="5649135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3563888" y="4437112"/>
            <a:ext cx="178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4.11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機器週期</a:t>
            </a:r>
          </a:p>
        </p:txBody>
      </p:sp>
    </p:spTree>
    <p:extLst>
      <p:ext uri="{BB962C8B-B14F-4D97-AF65-F5344CB8AC3E}">
        <p14:creationId xmlns:p14="http://schemas.microsoft.com/office/powerpoint/2010/main" val="5315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布林代數 </a:t>
            </a:r>
            <a:r>
              <a:rPr lang="en-US" altLang="zh-TW" dirty="0"/>
              <a:t>(Boolean Algebra)</a:t>
            </a:r>
          </a:p>
          <a:p>
            <a:pPr lvl="1"/>
            <a:r>
              <a:rPr lang="zh-TW" altLang="en-US" dirty="0"/>
              <a:t>與一般代數的不同在於它只專注於處理 </a:t>
            </a:r>
            <a:r>
              <a:rPr lang="en-US" altLang="zh-TW" dirty="0"/>
              <a:t>0 </a:t>
            </a:r>
            <a:r>
              <a:rPr lang="zh-TW" altLang="en-US" dirty="0"/>
              <a:t>與 </a:t>
            </a:r>
            <a:r>
              <a:rPr lang="en-US" altLang="zh-TW" dirty="0"/>
              <a:t>1 </a:t>
            </a:r>
            <a:r>
              <a:rPr lang="zh-TW" altLang="en-US" dirty="0"/>
              <a:t>的數值</a:t>
            </a:r>
            <a:endParaRPr lang="en-US" altLang="zh-TW" dirty="0"/>
          </a:p>
          <a:p>
            <a:pPr lvl="1"/>
            <a:r>
              <a:rPr lang="zh-TW" altLang="en-US" dirty="0"/>
              <a:t>代表著「真 </a:t>
            </a:r>
            <a:r>
              <a:rPr lang="en-US" altLang="zh-TW" dirty="0"/>
              <a:t>(True)</a:t>
            </a:r>
            <a:r>
              <a:rPr lang="zh-TW" altLang="en-US" dirty="0"/>
              <a:t>」與「偽 </a:t>
            </a:r>
            <a:r>
              <a:rPr lang="en-US" altLang="zh-TW" dirty="0"/>
              <a:t>(False)</a:t>
            </a:r>
            <a:r>
              <a:rPr lang="zh-TW" altLang="en-US" dirty="0"/>
              <a:t>」的觀念</a:t>
            </a:r>
            <a:endParaRPr lang="en-US" altLang="zh-TW" dirty="0"/>
          </a:p>
          <a:p>
            <a:pPr marL="360000" indent="-288000">
              <a:buSzPct val="100000"/>
              <a:buFont typeface="+mj-lt"/>
              <a:buAutoNum type="arabicPeriod"/>
            </a:pPr>
            <a:r>
              <a:rPr lang="zh-TW" altLang="en-US" dirty="0"/>
              <a:t>常數 </a:t>
            </a:r>
            <a:r>
              <a:rPr lang="en-US" altLang="zh-TW" dirty="0"/>
              <a:t>(constant)</a:t>
            </a:r>
            <a:r>
              <a:rPr lang="zh-TW" altLang="en-US" dirty="0"/>
              <a:t>：</a:t>
            </a:r>
            <a:r>
              <a:rPr lang="en-US" altLang="zh-TW" dirty="0"/>
              <a:t>0 ( </a:t>
            </a:r>
            <a:r>
              <a:rPr lang="zh-TW" altLang="en-US" dirty="0"/>
              <a:t>偽 </a:t>
            </a:r>
            <a:r>
              <a:rPr lang="en-US" altLang="zh-TW" dirty="0"/>
              <a:t>) </a:t>
            </a:r>
            <a:r>
              <a:rPr lang="zh-TW" altLang="en-US" dirty="0"/>
              <a:t>與 </a:t>
            </a:r>
            <a:r>
              <a:rPr lang="en-US" altLang="zh-TW" dirty="0"/>
              <a:t>1 ( </a:t>
            </a:r>
            <a:r>
              <a:rPr lang="zh-TW" altLang="en-US" dirty="0"/>
              <a:t>真 </a:t>
            </a:r>
            <a:r>
              <a:rPr lang="en-US" altLang="zh-TW" dirty="0"/>
              <a:t>) </a:t>
            </a:r>
          </a:p>
          <a:p>
            <a:pPr marL="360000" indent="-288000">
              <a:buSzPct val="100000"/>
              <a:buFont typeface="+mj-lt"/>
              <a:buAutoNum type="arabicPeriod"/>
            </a:pPr>
            <a:r>
              <a:rPr lang="zh-TW" altLang="en-US" dirty="0"/>
              <a:t>二元變數 </a:t>
            </a:r>
            <a:r>
              <a:rPr lang="en-US" altLang="zh-TW" dirty="0"/>
              <a:t>(binary variable)</a:t>
            </a:r>
            <a:r>
              <a:rPr lang="zh-TW" altLang="en-US" dirty="0"/>
              <a:t>：變數的值只能為 </a:t>
            </a:r>
            <a:r>
              <a:rPr lang="en-US" altLang="zh-TW" dirty="0"/>
              <a:t>0 </a:t>
            </a:r>
            <a:r>
              <a:rPr lang="zh-TW" altLang="en-US" dirty="0"/>
              <a:t>或 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endParaRPr lang="en-US" altLang="zh-TW" dirty="0"/>
          </a:p>
          <a:p>
            <a:pPr marL="360000" indent="-288000">
              <a:buSzPct val="100000"/>
              <a:buFont typeface="+mj-lt"/>
              <a:buAutoNum type="arabicPeriod"/>
            </a:pPr>
            <a:r>
              <a:rPr lang="zh-TW" altLang="en-US" dirty="0"/>
              <a:t>運算子 </a:t>
            </a:r>
            <a:r>
              <a:rPr lang="en-US" altLang="zh-TW" dirty="0"/>
              <a:t>(operator)</a:t>
            </a:r>
            <a:r>
              <a:rPr lang="zh-TW" altLang="en-US" dirty="0"/>
              <a:t>：</a:t>
            </a:r>
            <a:r>
              <a:rPr lang="en-US" altLang="zh-TW" dirty="0"/>
              <a:t>AND</a:t>
            </a:r>
            <a:r>
              <a:rPr lang="zh-TW" altLang="en-US" dirty="0"/>
              <a:t>、</a:t>
            </a:r>
            <a:r>
              <a:rPr lang="en-US" altLang="zh-TW" dirty="0"/>
              <a:t>OR</a:t>
            </a:r>
            <a:r>
              <a:rPr lang="zh-TW" altLang="en-US" dirty="0"/>
              <a:t>、</a:t>
            </a:r>
            <a:r>
              <a:rPr lang="en-US" altLang="zh-TW" dirty="0"/>
              <a:t>NOT </a:t>
            </a:r>
            <a:r>
              <a:rPr lang="zh-TW" altLang="en-US" dirty="0"/>
              <a:t>是三種最基本的運算子，</a:t>
            </a:r>
            <a:r>
              <a:rPr lang="en-US" altLang="zh-TW" dirty="0"/>
              <a:t>AND </a:t>
            </a:r>
            <a:r>
              <a:rPr lang="zh-TW" altLang="en-US" dirty="0"/>
              <a:t>與 </a:t>
            </a:r>
            <a:r>
              <a:rPr lang="en-US" altLang="zh-TW" dirty="0"/>
              <a:t>OR </a:t>
            </a:r>
            <a:r>
              <a:rPr lang="zh-TW" altLang="en-US" dirty="0"/>
              <a:t>是二元運算子、</a:t>
            </a:r>
            <a:r>
              <a:rPr lang="en-US" altLang="zh-TW" dirty="0"/>
              <a:t>NOT </a:t>
            </a:r>
            <a:r>
              <a:rPr lang="zh-TW" altLang="en-US" dirty="0"/>
              <a:t>是單元運算子，其優先權為 </a:t>
            </a:r>
            <a:r>
              <a:rPr lang="en-US" altLang="zh-TW" dirty="0"/>
              <a:t>NOT &gt; AND &gt; OR</a:t>
            </a:r>
            <a:r>
              <a:rPr lang="zh-TW" altLang="en-US" dirty="0"/>
              <a:t>。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4.5</a:t>
            </a:r>
            <a:r>
              <a:rPr lang="zh-TW" altLang="en-US" dirty="0"/>
              <a:t>數位邏輯設計簡介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725144"/>
            <a:ext cx="4536504" cy="1770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3512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真值表</a:t>
            </a:r>
            <a:endParaRPr lang="en-US" altLang="zh-TW" dirty="0"/>
          </a:p>
          <a:p>
            <a:pPr lvl="1"/>
            <a:r>
              <a:rPr lang="zh-TW" altLang="en-US" dirty="0"/>
              <a:t> </a:t>
            </a:r>
            <a:r>
              <a:rPr lang="en-US" altLang="zh-TW" i="1" dirty="0"/>
              <a:t>X</a:t>
            </a:r>
            <a:r>
              <a:rPr lang="en-US" altLang="zh-TW" dirty="0"/>
              <a:t> </a:t>
            </a:r>
            <a:r>
              <a:rPr lang="zh-TW" altLang="en-US" dirty="0"/>
              <a:t>、</a:t>
            </a:r>
            <a:r>
              <a:rPr lang="en-US" altLang="zh-TW" i="1" dirty="0"/>
              <a:t>Y</a:t>
            </a:r>
            <a:r>
              <a:rPr lang="en-US" altLang="zh-TW" dirty="0"/>
              <a:t> </a:t>
            </a:r>
            <a:r>
              <a:rPr lang="zh-TW" altLang="en-US" dirty="0"/>
              <a:t>代表著變數</a:t>
            </a:r>
            <a:endParaRPr lang="en-US" altLang="zh-TW" dirty="0"/>
          </a:p>
          <a:p>
            <a:pPr lvl="1"/>
            <a:r>
              <a:rPr lang="zh-TW" altLang="en-US" dirty="0"/>
              <a:t>最後一欄則代表著運算式  </a:t>
            </a:r>
            <a:r>
              <a:rPr lang="en-US" altLang="zh-TW" dirty="0"/>
              <a:t>( </a:t>
            </a:r>
            <a:r>
              <a:rPr lang="zh-TW" altLang="en-US" dirty="0"/>
              <a:t>或稱布林函數 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4.5</a:t>
            </a:r>
            <a:r>
              <a:rPr lang="zh-TW" altLang="en-US" dirty="0"/>
              <a:t>數位邏輯設計簡介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140968"/>
            <a:ext cx="8206081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B8D0A59D-48AC-A830-DFD7-3127C9907AB4}"/>
              </a:ext>
            </a:extLst>
          </p:cNvPr>
          <p:cNvSpPr txBox="1"/>
          <p:nvPr/>
        </p:nvSpPr>
        <p:spPr>
          <a:xfrm>
            <a:off x="2915816" y="2683806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</a:rPr>
              <a:t>１</a:t>
            </a:r>
            <a:r>
              <a:rPr kumimoji="1" lang="en-US" altLang="zh-TW" b="1" dirty="0">
                <a:solidFill>
                  <a:srgbClr val="FF0000"/>
                </a:solidFill>
              </a:rPr>
              <a:t>,1</a:t>
            </a:r>
            <a:r>
              <a:rPr kumimoji="1" lang="zh-TW" altLang="en-US" b="1" dirty="0">
                <a:solidFill>
                  <a:srgbClr val="FF0000"/>
                </a:solidFill>
              </a:rPr>
              <a:t>為</a:t>
            </a:r>
            <a:r>
              <a:rPr kumimoji="1" lang="en-US" altLang="zh-TW" b="1" dirty="0">
                <a:solidFill>
                  <a:srgbClr val="FF0000"/>
                </a:solidFill>
              </a:rPr>
              <a:t>1</a:t>
            </a:r>
            <a:r>
              <a:rPr kumimoji="1" lang="zh-TW" altLang="en-US" b="1" dirty="0">
                <a:solidFill>
                  <a:srgbClr val="FF0000"/>
                </a:solidFill>
              </a:rPr>
              <a:t>，其他為０</a:t>
            </a:r>
            <a:endParaRPr kumimoji="1" lang="en-US" altLang="zh-TW" b="1" dirty="0">
              <a:solidFill>
                <a:srgbClr val="FF0000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CF58762-AD0A-4EF7-1747-7F7C8F5C881B}"/>
              </a:ext>
            </a:extLst>
          </p:cNvPr>
          <p:cNvSpPr txBox="1"/>
          <p:nvPr/>
        </p:nvSpPr>
        <p:spPr>
          <a:xfrm>
            <a:off x="5652120" y="2667984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</a:rPr>
              <a:t>０</a:t>
            </a:r>
            <a:r>
              <a:rPr kumimoji="1" lang="en-US" altLang="zh-TW" b="1" dirty="0">
                <a:solidFill>
                  <a:srgbClr val="FF0000"/>
                </a:solidFill>
              </a:rPr>
              <a:t>,0</a:t>
            </a:r>
            <a:r>
              <a:rPr kumimoji="1" lang="zh-TW" altLang="en-US" b="1" dirty="0">
                <a:solidFill>
                  <a:srgbClr val="FF0000"/>
                </a:solidFill>
              </a:rPr>
              <a:t>為０，其他為１</a:t>
            </a:r>
            <a:endParaRPr kumimoji="1" lang="en-US" altLang="zh-TW" b="1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994DDF7-7CFD-6107-3C81-1B90B2F3F1CA}"/>
              </a:ext>
            </a:extLst>
          </p:cNvPr>
          <p:cNvSpPr txBox="1"/>
          <p:nvPr/>
        </p:nvSpPr>
        <p:spPr>
          <a:xfrm>
            <a:off x="489451" y="2727721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</a:rPr>
              <a:t>唱反調．．．</a:t>
            </a:r>
            <a:endParaRPr kumimoji="1" lang="en-US" altLang="zh-TW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516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/>
              <a:t>範例一</a:t>
            </a:r>
            <a:endParaRPr lang="en-US" altLang="zh-TW" b="1" dirty="0"/>
          </a:p>
          <a:p>
            <a:r>
              <a:rPr lang="zh-TW" altLang="en-US" dirty="0"/>
              <a:t>假設布林函數                                   ，那麼 </a:t>
            </a:r>
            <a:r>
              <a:rPr lang="en-US" altLang="zh-TW" i="1" dirty="0"/>
              <a:t>F</a:t>
            </a:r>
            <a:r>
              <a:rPr lang="en-US" altLang="zh-TW" dirty="0"/>
              <a:t>(1, 0) </a:t>
            </a:r>
            <a:r>
              <a:rPr lang="zh-TW" altLang="en-US" dirty="0"/>
              <a:t>的值為何？</a:t>
            </a:r>
            <a:endParaRPr lang="en-US" altLang="zh-TW" dirty="0"/>
          </a:p>
          <a:p>
            <a:pPr lvl="1"/>
            <a:r>
              <a:rPr lang="zh-TW" altLang="en-US" dirty="0"/>
              <a:t>將 </a:t>
            </a:r>
            <a:r>
              <a:rPr lang="en-US" altLang="zh-TW" i="1" dirty="0"/>
              <a:t>X</a:t>
            </a:r>
            <a:r>
              <a:rPr lang="en-US" altLang="zh-TW" dirty="0"/>
              <a:t> = 1</a:t>
            </a:r>
            <a:r>
              <a:rPr lang="zh-TW" altLang="en-US" dirty="0"/>
              <a:t>、</a:t>
            </a:r>
            <a:r>
              <a:rPr lang="en-US" altLang="zh-TW" i="1" dirty="0"/>
              <a:t>Y</a:t>
            </a:r>
            <a:r>
              <a:rPr lang="en-US" altLang="zh-TW" dirty="0"/>
              <a:t> = 0</a:t>
            </a:r>
            <a:r>
              <a:rPr lang="zh-TW" altLang="en-US" dirty="0"/>
              <a:t> 帶入 </a:t>
            </a:r>
            <a:r>
              <a:rPr lang="en-US" altLang="zh-TW" i="1" dirty="0"/>
              <a:t>F</a:t>
            </a:r>
            <a:r>
              <a:rPr lang="en-US" altLang="zh-TW" dirty="0"/>
              <a:t>(</a:t>
            </a:r>
            <a:r>
              <a:rPr lang="en-US" altLang="zh-TW" i="1" dirty="0"/>
              <a:t>X</a:t>
            </a:r>
            <a:r>
              <a:rPr lang="en-US" altLang="zh-TW" dirty="0"/>
              <a:t>,</a:t>
            </a:r>
            <a:r>
              <a:rPr lang="en-US" altLang="zh-TW" i="1" dirty="0"/>
              <a:t>Y</a:t>
            </a:r>
            <a:r>
              <a:rPr lang="en-US" altLang="zh-TW" dirty="0"/>
              <a:t>) </a:t>
            </a:r>
            <a:r>
              <a:rPr lang="zh-TW" altLang="en-US" dirty="0"/>
              <a:t>中</a:t>
            </a:r>
            <a:endParaRPr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運算子的優先權大小為 </a:t>
            </a:r>
            <a:r>
              <a:rPr lang="en-US" altLang="zh-TW" dirty="0"/>
              <a:t>NOT &gt; AND &gt; OR</a:t>
            </a:r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4.5</a:t>
            </a:r>
            <a:r>
              <a:rPr lang="zh-TW" altLang="en-US" dirty="0"/>
              <a:t>數位邏輯設計簡介</a:t>
            </a:r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771786"/>
              </p:ext>
            </p:extLst>
          </p:nvPr>
        </p:nvGraphicFramePr>
        <p:xfrm>
          <a:off x="2667080" y="1466832"/>
          <a:ext cx="2625000" cy="45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228600" progId="Equation.DSMT4">
                  <p:embed/>
                </p:oleObj>
              </mc:Choice>
              <mc:Fallback>
                <p:oleObj name="Equation" r:id="rId2" imgW="1333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67080" y="1466832"/>
                        <a:ext cx="2625000" cy="45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386961"/>
              </p:ext>
            </p:extLst>
          </p:nvPr>
        </p:nvGraphicFramePr>
        <p:xfrm>
          <a:off x="2915817" y="2443720"/>
          <a:ext cx="2378001" cy="52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120" imgH="228600" progId="Equation.DSMT4">
                  <p:embed/>
                </p:oleObj>
              </mc:Choice>
              <mc:Fallback>
                <p:oleObj name="Equation" r:id="rId4" imgW="1041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15817" y="2443720"/>
                        <a:ext cx="2378001" cy="52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562045"/>
              </p:ext>
            </p:extLst>
          </p:nvPr>
        </p:nvGraphicFramePr>
        <p:xfrm>
          <a:off x="2441001" y="3922769"/>
          <a:ext cx="3931199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00200" imgH="190440" progId="Equation.DSMT4">
                  <p:embed/>
                </p:oleObj>
              </mc:Choice>
              <mc:Fallback>
                <p:oleObj name="Equation" r:id="rId6" imgW="160020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41001" y="3922769"/>
                        <a:ext cx="3931199" cy="46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898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4000" y="980728"/>
            <a:ext cx="4896544" cy="5026563"/>
          </a:xfrm>
        </p:spPr>
        <p:txBody>
          <a:bodyPr/>
          <a:lstStyle/>
          <a:p>
            <a:pPr marL="109728" indent="0">
              <a:buNone/>
            </a:pPr>
            <a:r>
              <a:rPr lang="zh-TW" altLang="en-US" b="1" dirty="0"/>
              <a:t>範例二 </a:t>
            </a:r>
            <a:endParaRPr lang="en-US" altLang="zh-TW" b="1" dirty="0"/>
          </a:p>
          <a:p>
            <a:r>
              <a:rPr lang="zh-TW" altLang="en-US" dirty="0"/>
              <a:t>請寫出布林函數                                            的真值表。</a:t>
            </a:r>
            <a:endParaRPr lang="en-US" altLang="zh-TW" dirty="0"/>
          </a:p>
          <a:p>
            <a:pPr lvl="1"/>
            <a:r>
              <a:rPr lang="zh-TW" altLang="en-US" dirty="0"/>
              <a:t>將所有可能的輸入組合帶入此布林函數並運算出結果，再製作成對應的表格即可完成</a:t>
            </a:r>
            <a:endParaRPr lang="en-US" altLang="zh-TW" dirty="0"/>
          </a:p>
          <a:p>
            <a:pPr lvl="1"/>
            <a:r>
              <a:rPr lang="zh-TW" altLang="en-US" dirty="0"/>
              <a:t>要算出 </a:t>
            </a:r>
            <a:r>
              <a:rPr lang="en-US" altLang="zh-TW" i="1" dirty="0"/>
              <a:t>F</a:t>
            </a:r>
            <a:r>
              <a:rPr lang="en-US" altLang="zh-TW" dirty="0"/>
              <a:t>(0 , 0 , 0) ~ </a:t>
            </a:r>
            <a:r>
              <a:rPr lang="en-US" altLang="zh-TW" i="1" dirty="0"/>
              <a:t>F</a:t>
            </a:r>
            <a:r>
              <a:rPr lang="en-US" altLang="zh-TW" dirty="0"/>
              <a:t>(1,1,1) </a:t>
            </a:r>
            <a:r>
              <a:rPr lang="zh-TW" altLang="en-US" dirty="0"/>
              <a:t>共八種結果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4.5</a:t>
            </a:r>
            <a:r>
              <a:rPr lang="zh-TW" altLang="en-US" dirty="0"/>
              <a:t>數位邏輯設計簡介</a:t>
            </a:r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853518"/>
              </p:ext>
            </p:extLst>
          </p:nvPr>
        </p:nvGraphicFramePr>
        <p:xfrm>
          <a:off x="2957363" y="1484784"/>
          <a:ext cx="319881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25400" imgH="228600" progId="Equation.DSMT4">
                  <p:embed/>
                </p:oleObj>
              </mc:Choice>
              <mc:Fallback>
                <p:oleObj name="Equation" r:id="rId2" imgW="1625400" imgH="228600" progId="Equation.DSMT4">
                  <p:embed/>
                  <p:pic>
                    <p:nvPicPr>
                      <p:cNvPr id="0" name="物件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363" y="1484784"/>
                        <a:ext cx="319881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4230381"/>
              </p:ext>
            </p:extLst>
          </p:nvPr>
        </p:nvGraphicFramePr>
        <p:xfrm>
          <a:off x="366220" y="4545232"/>
          <a:ext cx="4637828" cy="9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20760" imgH="444240" progId="Equation.DSMT4">
                  <p:embed/>
                </p:oleObj>
              </mc:Choice>
              <mc:Fallback>
                <p:oleObj name="Equation" r:id="rId4" imgW="21207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6220" y="4545232"/>
                        <a:ext cx="4637828" cy="97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079656"/>
            <a:ext cx="3816195" cy="4085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5208295" y="2996952"/>
            <a:ext cx="3709542" cy="3600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715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4.5</a:t>
            </a:r>
            <a:r>
              <a:rPr lang="zh-TW" altLang="en-US" dirty="0"/>
              <a:t>數位邏輯設計簡介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7" y="1124744"/>
            <a:ext cx="7649307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043608" y="2708920"/>
            <a:ext cx="6912768" cy="2808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548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12776"/>
            <a:ext cx="7125581" cy="4426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8355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在邏輯設計中，我們可利用各式各樣的邏輯閘設計出電路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4.5</a:t>
            </a:r>
            <a:r>
              <a:rPr lang="zh-TW" altLang="en-US" dirty="0"/>
              <a:t>數位邏輯設計簡介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860458"/>
            <a:ext cx="4248472" cy="4304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33917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/>
              <a:t>範例三</a:t>
            </a:r>
            <a:endParaRPr lang="en-US" altLang="zh-TW" b="1" dirty="0"/>
          </a:p>
          <a:p>
            <a:r>
              <a:rPr lang="en-US" altLang="zh-TW" dirty="0"/>
              <a:t>Exclusive OR (XOR) </a:t>
            </a:r>
            <a:r>
              <a:rPr lang="zh-TW" altLang="en-US" dirty="0"/>
              <a:t>是一個常用的二元邏輯運算子，它的運算符號為⊕，當輸入的運算元一個為 </a:t>
            </a:r>
            <a:r>
              <a:rPr lang="en-US" altLang="zh-TW" dirty="0"/>
              <a:t>1 </a:t>
            </a:r>
            <a:r>
              <a:rPr lang="zh-TW" altLang="en-US" dirty="0"/>
              <a:t>一個為 </a:t>
            </a:r>
            <a:r>
              <a:rPr lang="en-US" altLang="zh-TW" dirty="0"/>
              <a:t>0 </a:t>
            </a:r>
            <a:r>
              <a:rPr lang="zh-TW" altLang="en-US" dirty="0"/>
              <a:t>時，結果則為 </a:t>
            </a:r>
            <a:r>
              <a:rPr lang="en-US" altLang="zh-TW" dirty="0"/>
              <a:t>1</a:t>
            </a:r>
            <a:r>
              <a:rPr lang="zh-TW" altLang="en-US" dirty="0"/>
              <a:t>，否則則為 </a:t>
            </a:r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4.5</a:t>
            </a:r>
            <a:r>
              <a:rPr lang="zh-TW" altLang="en-US" dirty="0"/>
              <a:t>數位邏輯設計簡介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3" y="2766939"/>
            <a:ext cx="3672408" cy="2678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圓角矩形 4"/>
          <p:cNvSpPr/>
          <p:nvPr/>
        </p:nvSpPr>
        <p:spPr>
          <a:xfrm>
            <a:off x="1199724" y="4113076"/>
            <a:ext cx="3830308" cy="44404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1187624" y="4581128"/>
            <a:ext cx="3830308" cy="4178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611560" y="5589240"/>
            <a:ext cx="828092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09728" lvl="0">
              <a:spcBef>
                <a:spcPts val="400"/>
              </a:spcBef>
              <a:buClr>
                <a:srgbClr val="2DA2BF"/>
              </a:buClr>
              <a:buSzPct val="68000"/>
            </a:pP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當「</a:t>
            </a:r>
            <a:r>
              <a:rPr lang="en-US" altLang="zh-TW" sz="2400" i="1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= 0 </a:t>
            </a: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而且 </a:t>
            </a:r>
            <a:r>
              <a:rPr lang="en-US" altLang="zh-TW" sz="2400" i="1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Y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= 1</a:t>
            </a: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」或者「</a:t>
            </a:r>
            <a:r>
              <a:rPr lang="en-US" altLang="zh-TW" sz="2400" i="1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X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= 1 </a:t>
            </a: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而且 </a:t>
            </a:r>
            <a:r>
              <a:rPr lang="en-US" altLang="zh-TW" sz="2400" i="1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Y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= 0 </a:t>
            </a:r>
            <a:r>
              <a:rPr lang="zh-TW" altLang="en-US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」的時候，結果會是 </a:t>
            </a:r>
            <a:r>
              <a:rPr lang="en-US" altLang="zh-TW" sz="2400" dirty="0">
                <a:solidFill>
                  <a:prstClr val="black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</a:t>
            </a:r>
            <a:endParaRPr lang="zh-TW" altLang="en-US" sz="2400" dirty="0">
              <a:solidFill>
                <a:prstClr val="black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8852126"/>
              </p:ext>
            </p:extLst>
          </p:nvPr>
        </p:nvGraphicFramePr>
        <p:xfrm>
          <a:off x="5724128" y="4371778"/>
          <a:ext cx="26892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33440" imgH="228600" progId="Equation.DSMT4">
                  <p:embed/>
                </p:oleObj>
              </mc:Choice>
              <mc:Fallback>
                <p:oleObj name="Equation" r:id="rId3" imgW="1333440" imgH="228600" progId="Equation.DSMT4">
                  <p:embed/>
                  <p:pic>
                    <p:nvPicPr>
                      <p:cNvPr id="0" name="物件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4371778"/>
                        <a:ext cx="2689225" cy="46196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8437E129-B4C8-273A-0148-A5F85D41D806}"/>
              </a:ext>
            </a:extLst>
          </p:cNvPr>
          <p:cNvSpPr txBox="1"/>
          <p:nvPr/>
        </p:nvSpPr>
        <p:spPr>
          <a:xfrm>
            <a:off x="1799693" y="1228110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</a:rPr>
              <a:t>相同為０，不同為１</a:t>
            </a:r>
            <a:endParaRPr kumimoji="1" lang="en-US" altLang="zh-TW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92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4.5</a:t>
            </a:r>
            <a:r>
              <a:rPr lang="zh-TW" altLang="en-US" dirty="0"/>
              <a:t>數位邏輯設計簡介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708920"/>
            <a:ext cx="6546066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內容版面配置區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0399576"/>
              </p:ext>
            </p:extLst>
          </p:nvPr>
        </p:nvGraphicFramePr>
        <p:xfrm>
          <a:off x="3275856" y="1556792"/>
          <a:ext cx="3960440" cy="678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33500" imgH="228600" progId="Equation.DSMT4">
                  <p:embed/>
                </p:oleObj>
              </mc:Choice>
              <mc:Fallback>
                <p:oleObj name="Equation" r:id="rId3" imgW="1333500" imgH="228600" progId="Equation.DSMT4">
                  <p:embed/>
                  <p:pic>
                    <p:nvPicPr>
                      <p:cNvPr id="0" name="物件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1556792"/>
                        <a:ext cx="3960440" cy="678933"/>
                      </a:xfrm>
                      <a:prstGeom prst="rect">
                        <a:avLst/>
                      </a:prstGeom>
                      <a:solidFill>
                        <a:srgbClr val="D3EEF5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6732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4.5</a:t>
            </a:r>
            <a:r>
              <a:rPr lang="zh-TW" altLang="en-US" dirty="0"/>
              <a:t>數位邏輯設計簡介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060848"/>
            <a:ext cx="5248341" cy="234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99327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 </a:t>
            </a:r>
            <a:r>
              <a:rPr lang="zh-TW" altLang="en-US" dirty="0"/>
              <a:t>位元的加法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4.5</a:t>
            </a:r>
            <a:r>
              <a:rPr lang="zh-TW" altLang="en-US" dirty="0"/>
              <a:t>數位邏輯設計簡介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700808"/>
            <a:ext cx="7039637" cy="2198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143" y="4077072"/>
            <a:ext cx="3959073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74304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204864"/>
            <a:ext cx="4293761" cy="2807717"/>
          </a:xfrm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END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724385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匯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1109</TotalTime>
  <Words>1765</Words>
  <Application>Microsoft Macintosh PowerPoint</Application>
  <PresentationFormat>如螢幕大小 (4:3)</PresentationFormat>
  <Paragraphs>161</Paragraphs>
  <Slides>33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44" baseType="lpstr">
      <vt:lpstr>新細明體</vt:lpstr>
      <vt:lpstr>Arial</vt:lpstr>
      <vt:lpstr>Calibri</vt:lpstr>
      <vt:lpstr>Lucida Sans Unicode</vt:lpstr>
      <vt:lpstr>Times New Roman</vt:lpstr>
      <vt:lpstr>Verdana</vt:lpstr>
      <vt:lpstr>Wingdings</vt:lpstr>
      <vt:lpstr>Wingdings 2</vt:lpstr>
      <vt:lpstr>Wingdings 3</vt:lpstr>
      <vt:lpstr>匯合</vt:lpstr>
      <vt:lpstr>Equation</vt:lpstr>
      <vt:lpstr>Ch04  計算機組織與數位邏輯設計</vt:lpstr>
      <vt:lpstr>PowerPoint 簡報</vt:lpstr>
      <vt:lpstr>4.1中央處理單元</vt:lpstr>
      <vt:lpstr>4.1中央處理單元</vt:lpstr>
      <vt:lpstr>4.1中央處理單元</vt:lpstr>
      <vt:lpstr>4.2記憶單元</vt:lpstr>
      <vt:lpstr>4.2記憶單元</vt:lpstr>
      <vt:lpstr>4.2記憶單元</vt:lpstr>
      <vt:lpstr>4.2記憶單元</vt:lpstr>
      <vt:lpstr>4.2記憶單元</vt:lpstr>
      <vt:lpstr>4.2記憶單元</vt:lpstr>
      <vt:lpstr>4.3輸入與輸出單元</vt:lpstr>
      <vt:lpstr>4.3輸入與輸出單元</vt:lpstr>
      <vt:lpstr>4.3輸入與輸出單元</vt:lpstr>
      <vt:lpstr>4.3輸入與輸出單元</vt:lpstr>
      <vt:lpstr>4.3輸入與輸出單元</vt:lpstr>
      <vt:lpstr>4.3輸入與輸出單元</vt:lpstr>
      <vt:lpstr>4.3輸入與輸出單元</vt:lpstr>
      <vt:lpstr>4.3輸入與輸出單元</vt:lpstr>
      <vt:lpstr>4.4程式執行流程</vt:lpstr>
      <vt:lpstr>4.4程式執行流程</vt:lpstr>
      <vt:lpstr>4.5數位邏輯設計簡介</vt:lpstr>
      <vt:lpstr>4.5數位邏輯設計簡介</vt:lpstr>
      <vt:lpstr>4.5數位邏輯設計簡介</vt:lpstr>
      <vt:lpstr>4.5數位邏輯設計簡介</vt:lpstr>
      <vt:lpstr>4.5數位邏輯設計簡介</vt:lpstr>
      <vt:lpstr>PowerPoint 簡報</vt:lpstr>
      <vt:lpstr>4.5數位邏輯設計簡介</vt:lpstr>
      <vt:lpstr>4.5數位邏輯設計簡介</vt:lpstr>
      <vt:lpstr>4.5數位邏輯設計簡介</vt:lpstr>
      <vt:lpstr>4.5數位邏輯設計簡介</vt:lpstr>
      <vt:lpstr>4.5數位邏輯設計簡介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電腦簡介</dc:title>
  <dc:creator>lobird</dc:creator>
  <cp:lastModifiedBy>Microsoft Office User</cp:lastModifiedBy>
  <cp:revision>124</cp:revision>
  <dcterms:created xsi:type="dcterms:W3CDTF">2014-07-06T07:33:00Z</dcterms:created>
  <dcterms:modified xsi:type="dcterms:W3CDTF">2025-10-20T03:35:13Z</dcterms:modified>
</cp:coreProperties>
</file>