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330" r:id="rId6"/>
    <p:sldId id="333" r:id="rId7"/>
    <p:sldId id="334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335" r:id="rId16"/>
    <p:sldId id="271" r:id="rId17"/>
    <p:sldId id="273" r:id="rId18"/>
    <p:sldId id="274" r:id="rId19"/>
    <p:sldId id="275" r:id="rId20"/>
    <p:sldId id="277" r:id="rId21"/>
    <p:sldId id="278" r:id="rId22"/>
    <p:sldId id="280" r:id="rId23"/>
    <p:sldId id="281" r:id="rId24"/>
    <p:sldId id="282" r:id="rId25"/>
    <p:sldId id="283" r:id="rId26"/>
    <p:sldId id="284" r:id="rId27"/>
    <p:sldId id="285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301" r:id="rId41"/>
    <p:sldId id="327" r:id="rId42"/>
    <p:sldId id="325" r:id="rId43"/>
    <p:sldId id="332" r:id="rId44"/>
    <p:sldId id="336" r:id="rId45"/>
    <p:sldId id="337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38" r:id="rId58"/>
    <p:sldId id="339" r:id="rId59"/>
    <p:sldId id="340" r:id="rId60"/>
    <p:sldId id="341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4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CC707-3BEE-4311-9C7C-48648BB89998}" v="1" dt="2021-03-16T13:28:36.258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>
        <p:scale>
          <a:sx n="70" d="100"/>
          <a:sy n="70" d="100"/>
        </p:scale>
        <p:origin x="-1302" y="-48"/>
      </p:cViewPr>
      <p:guideLst>
        <p:guide orient="horz" pos="2160"/>
        <p:guide orient="horz" pos="890"/>
        <p:guide pos="4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D1D87-676D-41F2-AC15-9F5D7637A5A2}" type="datetimeFigureOut">
              <a:rPr lang="zh-TW" altLang="en-US" smtClean="0"/>
              <a:pPr/>
              <a:t>2022/6/28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3C2D0-1201-4E06-8787-2B5081952CC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70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8032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grpSp>
        <p:nvGrpSpPr>
          <p:cNvPr id="2" name="群組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手繪多邊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手繪多邊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手繪多邊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線接點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en-US" sz="1600" dirty="0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400600"/>
          </a:xfrm>
        </p:spPr>
        <p:txBody>
          <a:bodyPr>
            <a:normAutofit/>
          </a:bodyPr>
          <a:lstStyle>
            <a:lvl1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lvl2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2pPr>
            <a:lvl3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3pPr>
            <a:lvl4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4pPr>
            <a:lvl5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>
          <a:xfrm>
            <a:off x="457200" y="130622"/>
            <a:ext cx="8229600" cy="778098"/>
          </a:xfrm>
        </p:spPr>
        <p:txBody>
          <a:bodyPr rtlCol="0">
            <a:normAutofit/>
          </a:bodyPr>
          <a:lstStyle>
            <a:lvl1pPr>
              <a:defRPr sz="36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＞形箭號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＞形箭號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手繪多邊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線接點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＞形箭號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＞形箭號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/>
          <p:cNvSpPr>
            <a:spLocks/>
          </p:cNvSpPr>
          <p:nvPr/>
        </p:nvSpPr>
        <p:spPr bwMode="auto">
          <a:xfrm>
            <a:off x="499273" y="6381388"/>
            <a:ext cx="4940624" cy="48462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手繪多邊形 11"/>
          <p:cNvSpPr>
            <a:spLocks/>
          </p:cNvSpPr>
          <p:nvPr/>
        </p:nvSpPr>
        <p:spPr bwMode="auto">
          <a:xfrm>
            <a:off x="485717" y="6381327"/>
            <a:ext cx="3690451" cy="49113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6303423"/>
            <a:ext cx="3402314" cy="568697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線接點 14"/>
          <p:cNvCxnSpPr>
            <a:stCxn id="14" idx="0"/>
          </p:cNvCxnSpPr>
          <p:nvPr/>
        </p:nvCxnSpPr>
        <p:spPr>
          <a:xfrm>
            <a:off x="-6042" y="6303423"/>
            <a:ext cx="3402314" cy="568698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0" name="文字版面配置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pic>
        <p:nvPicPr>
          <p:cNvPr id="11" name="Picture 2" descr="E:\LOGO.pn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092280" y="6561384"/>
            <a:ext cx="2066560" cy="324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11" Type="http://schemas.openxmlformats.org/officeDocument/2006/relationships/image" Target="../media/image16.wmf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5.bin"/><Relationship Id="rId4" Type="http://schemas.openxmlformats.org/officeDocument/2006/relationships/image" Target="../media/image13.wmf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6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wmf"/><Relationship Id="rId11" Type="http://schemas.openxmlformats.org/officeDocument/2006/relationships/image" Target="../media/image26.png"/><Relationship Id="rId5" Type="http://schemas.openxmlformats.org/officeDocument/2006/relationships/oleObject" Target="../embeddings/oleObject8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0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8.wmf"/><Relationship Id="rId9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02624" cy="1829761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Ch02 </a:t>
            </a:r>
            <a:r>
              <a:rPr lang="zh-TW" altLang="en-US" dirty="0">
                <a:solidFill>
                  <a:srgbClr val="0070C0"/>
                </a:solidFill>
              </a:rPr>
              <a:t>數字系統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630616" cy="1199704"/>
          </a:xfrm>
        </p:spPr>
        <p:txBody>
          <a:bodyPr>
            <a:normAutofit/>
          </a:bodyPr>
          <a:lstStyle/>
          <a:p>
            <a:endParaRPr lang="en-US" altLang="zh-TW" dirty="0"/>
          </a:p>
          <a:p>
            <a:r>
              <a:rPr lang="zh-TW" altLang="en-US" b="1" dirty="0">
                <a:solidFill>
                  <a:schemeClr val="tx1"/>
                </a:solidFill>
              </a:rPr>
              <a:t>李官陵 彭勝龍 羅壽之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90602"/>
            <a:ext cx="3816424" cy="51866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在電腦的世界裡是使用電子元件來儲存與運算資料</a:t>
            </a:r>
            <a:endParaRPr lang="en-US" altLang="zh-TW" dirty="0"/>
          </a:p>
          <a:p>
            <a:r>
              <a:rPr lang="zh-TW" altLang="en-US" dirty="0"/>
              <a:t>電子元件的穩定狀態有兩種</a:t>
            </a:r>
            <a:endParaRPr lang="en-US" altLang="zh-TW" dirty="0"/>
          </a:p>
          <a:p>
            <a:pPr lvl="1"/>
            <a:r>
              <a:rPr lang="zh-TW" altLang="en-US" dirty="0"/>
              <a:t>一種是「關」， 另一種是「開」</a:t>
            </a:r>
            <a:endParaRPr lang="en-US" altLang="zh-TW" dirty="0"/>
          </a:p>
          <a:p>
            <a:r>
              <a:rPr lang="zh-TW" altLang="en-US" dirty="0"/>
              <a:t>用來表示這兩種狀態的單位，我們稱之為</a:t>
            </a:r>
            <a:r>
              <a:rPr lang="zh-TW" altLang="en-US" b="1" dirty="0">
                <a:solidFill>
                  <a:srgbClr val="0070C0"/>
                </a:solidFill>
              </a:rPr>
              <a:t>位元 </a:t>
            </a:r>
            <a:r>
              <a:rPr lang="en-US" altLang="zh-TW" b="1" dirty="0">
                <a:solidFill>
                  <a:srgbClr val="0070C0"/>
                </a:solidFill>
              </a:rPr>
              <a:t>(bit</a:t>
            </a:r>
            <a:r>
              <a:rPr lang="en-US" altLang="zh-TW" b="1" dirty="0" smtClean="0">
                <a:solidFill>
                  <a:srgbClr val="0070C0"/>
                </a:solidFill>
              </a:rPr>
              <a:t>)</a:t>
            </a:r>
            <a:endParaRPr lang="en-US" altLang="zh-TW" dirty="0">
              <a:solidFill>
                <a:srgbClr val="0070C0"/>
              </a:solidFill>
            </a:endParaRPr>
          </a:p>
          <a:p>
            <a:pPr lvl="1"/>
            <a:r>
              <a:rPr lang="zh-TW" altLang="en-US" dirty="0"/>
              <a:t>電腦儲存或傳遞資料的最小單位</a:t>
            </a:r>
            <a:endParaRPr lang="en-US" altLang="zh-TW" dirty="0"/>
          </a:p>
          <a:p>
            <a:pPr lvl="1"/>
            <a:r>
              <a:rPr lang="zh-TW" altLang="en-US" dirty="0"/>
              <a:t>可以儲存 </a:t>
            </a:r>
            <a:r>
              <a:rPr lang="en-US" altLang="zh-TW" dirty="0"/>
              <a:t>0 </a:t>
            </a:r>
            <a:r>
              <a:rPr lang="zh-TW" altLang="en-US" dirty="0"/>
              <a:t>或 </a:t>
            </a:r>
            <a:r>
              <a:rPr lang="en-US" altLang="zh-TW" dirty="0"/>
              <a:t>1 </a:t>
            </a:r>
            <a:r>
              <a:rPr lang="zh-TW" altLang="en-US" dirty="0"/>
              <a:t>兩種狀態</a:t>
            </a:r>
            <a:endParaRPr lang="en-US" altLang="zh-TW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2.1</a:t>
            </a:r>
            <a:r>
              <a:rPr lang="zh-TW" altLang="en-US" dirty="0" smtClean="0"/>
              <a:t>電腦</a:t>
            </a:r>
            <a:r>
              <a:rPr lang="zh-TW" altLang="en-US" dirty="0"/>
              <a:t>儲存的單位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3583" y="4077072"/>
            <a:ext cx="3096834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電腦中是靠多個位元的組合來計數或描述多種狀態</a:t>
            </a:r>
            <a:endParaRPr lang="en-US" altLang="zh-TW" dirty="0"/>
          </a:p>
          <a:p>
            <a:r>
              <a:rPr lang="zh-TW" altLang="en-US" dirty="0" smtClean="0"/>
              <a:t>早期</a:t>
            </a:r>
            <a:r>
              <a:rPr lang="zh-TW" altLang="en-US" dirty="0"/>
              <a:t>的電腦中，以 </a:t>
            </a:r>
            <a:r>
              <a:rPr lang="en-US" altLang="zh-TW" dirty="0"/>
              <a:t>8 </a:t>
            </a:r>
            <a:r>
              <a:rPr lang="zh-TW" altLang="en-US" dirty="0"/>
              <a:t>個位元為一個存取單位，稱之為一個</a:t>
            </a:r>
            <a:r>
              <a:rPr lang="zh-TW" altLang="en-US" b="1" dirty="0">
                <a:solidFill>
                  <a:srgbClr val="0070C0"/>
                </a:solidFill>
              </a:rPr>
              <a:t>位元組 </a:t>
            </a:r>
            <a:r>
              <a:rPr lang="en-US" altLang="zh-TW" dirty="0">
                <a:solidFill>
                  <a:srgbClr val="0070C0"/>
                </a:solidFill>
              </a:rPr>
              <a:t>(byte, 1 byte = 8 bits)</a:t>
            </a:r>
          </a:p>
          <a:p>
            <a:pPr lvl="1"/>
            <a:r>
              <a:rPr lang="zh-TW" altLang="en-US" dirty="0"/>
              <a:t>最常被使用的表示單位</a:t>
            </a:r>
            <a:endParaRPr lang="en-US" altLang="zh-TW" dirty="0"/>
          </a:p>
          <a:p>
            <a:r>
              <a:rPr lang="zh-TW" altLang="en-US" dirty="0" smtClean="0"/>
              <a:t>另</a:t>
            </a:r>
            <a:r>
              <a:rPr lang="zh-TW" altLang="en-US" dirty="0"/>
              <a:t>一種存取資料的單位稱為</a:t>
            </a:r>
            <a:r>
              <a:rPr lang="zh-TW" altLang="en-US" dirty="0">
                <a:solidFill>
                  <a:srgbClr val="0070C0"/>
                </a:solidFill>
              </a:rPr>
              <a:t>字組</a:t>
            </a:r>
            <a:r>
              <a:rPr lang="zh-TW" altLang="en-US" dirty="0"/>
              <a:t> </a:t>
            </a:r>
            <a:r>
              <a:rPr lang="en-US" altLang="zh-TW" dirty="0"/>
              <a:t>(word)</a:t>
            </a:r>
          </a:p>
          <a:p>
            <a:pPr lvl="1"/>
            <a:r>
              <a:rPr lang="zh-TW" altLang="en-US" dirty="0"/>
              <a:t>可以由 </a:t>
            </a:r>
            <a:r>
              <a:rPr lang="en-US" altLang="zh-TW" dirty="0"/>
              <a:t>2</a:t>
            </a:r>
            <a:r>
              <a:rPr lang="zh-TW" altLang="en-US" dirty="0"/>
              <a:t>、</a:t>
            </a:r>
            <a:r>
              <a:rPr lang="en-US" altLang="zh-TW" dirty="0"/>
              <a:t>4 </a:t>
            </a:r>
            <a:r>
              <a:rPr lang="zh-TW" altLang="en-US" dirty="0"/>
              <a:t>或 </a:t>
            </a:r>
            <a:r>
              <a:rPr lang="en-US" altLang="zh-TW" dirty="0"/>
              <a:t>8 </a:t>
            </a:r>
            <a:r>
              <a:rPr lang="zh-TW" altLang="en-US" dirty="0"/>
              <a:t>個位元組所組成</a:t>
            </a:r>
            <a:endParaRPr lang="en-US" altLang="zh-TW" dirty="0"/>
          </a:p>
          <a:p>
            <a:pPr lvl="1"/>
            <a:r>
              <a:rPr lang="zh-TW" altLang="en-US" dirty="0"/>
              <a:t>一個字組包含了幾個位元組則視硬體的結構而定</a:t>
            </a:r>
            <a:endParaRPr lang="en-US" altLang="zh-TW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2.1</a:t>
            </a:r>
            <a:r>
              <a:rPr lang="zh-TW" altLang="en-US" dirty="0"/>
              <a:t>電腦儲存的單位</a:t>
            </a:r>
          </a:p>
        </p:txBody>
      </p:sp>
    </p:spTree>
    <p:extLst>
      <p:ext uri="{BB962C8B-B14F-4D97-AF65-F5344CB8AC3E}">
        <p14:creationId xmlns:p14="http://schemas.microsoft.com/office/powerpoint/2010/main" val="3206506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一個</a:t>
            </a:r>
            <a:r>
              <a:rPr lang="zh-TW" altLang="en-US" dirty="0"/>
              <a:t>位元只能描述兩種狀態</a:t>
            </a:r>
            <a:r>
              <a:rPr lang="zh-TW" altLang="en-US" dirty="0" smtClean="0"/>
              <a:t>變化</a:t>
            </a:r>
            <a:endParaRPr lang="en-US" altLang="zh-TW" dirty="0"/>
          </a:p>
          <a:p>
            <a:pPr lvl="1"/>
            <a:r>
              <a:rPr lang="en-US" altLang="zh-TW" dirty="0"/>
              <a:t>0 </a:t>
            </a:r>
            <a:r>
              <a:rPr lang="zh-TW" altLang="en-US" dirty="0"/>
              <a:t>與 </a:t>
            </a:r>
            <a:r>
              <a:rPr lang="en-US" altLang="zh-TW" dirty="0"/>
              <a:t>1</a:t>
            </a:r>
          </a:p>
          <a:p>
            <a:r>
              <a:rPr lang="zh-TW" altLang="en-US" dirty="0"/>
              <a:t> </a:t>
            </a:r>
            <a:r>
              <a:rPr lang="en-US" altLang="zh-TW" dirty="0"/>
              <a:t>2 </a:t>
            </a:r>
            <a:r>
              <a:rPr lang="zh-TW" altLang="en-US" dirty="0"/>
              <a:t>個位元組合出的變化</a:t>
            </a:r>
            <a:endParaRPr lang="en-US" altLang="zh-TW" dirty="0"/>
          </a:p>
          <a:p>
            <a:pPr lvl="1"/>
            <a:r>
              <a:rPr lang="en-US" altLang="zh-TW" dirty="0" smtClean="0"/>
              <a:t>{</a:t>
            </a:r>
            <a:r>
              <a:rPr lang="en-US" altLang="zh-TW" dirty="0"/>
              <a:t>00, 01, 10, 11}</a:t>
            </a:r>
            <a:r>
              <a:rPr lang="zh-TW" altLang="en-US" dirty="0"/>
              <a:t> </a:t>
            </a:r>
            <a:endParaRPr lang="en-US" altLang="zh-TW" dirty="0"/>
          </a:p>
          <a:p>
            <a:pPr lvl="1"/>
            <a:r>
              <a:rPr lang="en-US" altLang="zh-TW" dirty="0"/>
              <a:t>2 × 2 ( 2 </a:t>
            </a:r>
            <a:r>
              <a:rPr lang="zh-TW" altLang="en-US" dirty="0"/>
              <a:t>的 </a:t>
            </a:r>
            <a:r>
              <a:rPr lang="en-US" altLang="zh-TW" dirty="0"/>
              <a:t>2 </a:t>
            </a:r>
            <a:r>
              <a:rPr lang="zh-TW" altLang="en-US" dirty="0"/>
              <a:t>次方 </a:t>
            </a:r>
            <a:r>
              <a:rPr lang="en-US" altLang="zh-TW" dirty="0"/>
              <a:t>) </a:t>
            </a:r>
            <a:r>
              <a:rPr lang="zh-TW" altLang="en-US" dirty="0"/>
              <a:t>共四種變化</a:t>
            </a:r>
            <a:endParaRPr lang="en-US" altLang="zh-TW" dirty="0"/>
          </a:p>
          <a:p>
            <a:r>
              <a:rPr lang="zh-TW" altLang="en-US" dirty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zh-TW" altLang="en-US" dirty="0"/>
              <a:t>個位元呢</a:t>
            </a:r>
            <a:r>
              <a:rPr lang="en-US" altLang="zh-TW" dirty="0"/>
              <a:t>?</a:t>
            </a:r>
          </a:p>
          <a:p>
            <a:pPr lvl="1"/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en-US" altLang="zh-TW" i="1" baseline="30000" dirty="0"/>
              <a:t>n </a:t>
            </a:r>
          </a:p>
          <a:p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2.1</a:t>
            </a:r>
            <a:r>
              <a:rPr lang="zh-TW" altLang="en-US" dirty="0"/>
              <a:t>電腦儲存的單位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692696"/>
            <a:ext cx="2208562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501008"/>
            <a:ext cx="4104249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494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2.1</a:t>
            </a:r>
            <a:r>
              <a:rPr lang="zh-TW" altLang="en-US" dirty="0"/>
              <a:t>電腦儲存的單位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311" y="1268760"/>
            <a:ext cx="5655025" cy="515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0949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08720"/>
            <a:ext cx="8246199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827584" y="2636912"/>
            <a:ext cx="7632848" cy="21602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62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916210"/>
            <a:ext cx="8657907" cy="4889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467544" y="2708920"/>
            <a:ext cx="8136904" cy="2736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6803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68863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109728" indent="0">
              <a:buNone/>
            </a:pPr>
            <a:r>
              <a:rPr lang="zh-TW" altLang="en-US" b="1" dirty="0"/>
              <a:t>資訊容量的單位</a:t>
            </a:r>
            <a:endParaRPr lang="en-US" altLang="zh-TW" b="1" dirty="0"/>
          </a:p>
          <a:p>
            <a:r>
              <a:rPr lang="zh-TW" altLang="en-US" dirty="0"/>
              <a:t>常見的資訊容量有 </a:t>
            </a:r>
            <a:r>
              <a:rPr lang="en-US" altLang="zh-TW" dirty="0"/>
              <a:t>KB</a:t>
            </a:r>
            <a:r>
              <a:rPr lang="zh-TW" altLang="en-US" dirty="0"/>
              <a:t>、</a:t>
            </a:r>
            <a:r>
              <a:rPr lang="en-US" altLang="zh-TW" dirty="0"/>
              <a:t>MB</a:t>
            </a:r>
            <a:r>
              <a:rPr lang="zh-TW" altLang="en-US" dirty="0"/>
              <a:t>、</a:t>
            </a:r>
            <a:r>
              <a:rPr lang="en-US" altLang="zh-TW" dirty="0"/>
              <a:t>GB</a:t>
            </a:r>
            <a:r>
              <a:rPr lang="zh-TW" altLang="en-US" dirty="0"/>
              <a:t>、</a:t>
            </a:r>
            <a:r>
              <a:rPr lang="en-US" altLang="zh-TW" dirty="0"/>
              <a:t>TB </a:t>
            </a:r>
            <a:r>
              <a:rPr lang="zh-TW" altLang="en-US" dirty="0"/>
              <a:t>與 </a:t>
            </a:r>
            <a:r>
              <a:rPr lang="en-US" altLang="zh-TW" dirty="0"/>
              <a:t>PB</a:t>
            </a:r>
          </a:p>
          <a:p>
            <a:pPr lvl="1"/>
            <a:r>
              <a:rPr lang="zh-TW" altLang="en-US" dirty="0"/>
              <a:t>結尾的 </a:t>
            </a:r>
            <a:r>
              <a:rPr lang="en-US" altLang="zh-TW" dirty="0"/>
              <a:t>B </a:t>
            </a:r>
            <a:r>
              <a:rPr lang="zh-TW" altLang="en-US" dirty="0"/>
              <a:t>指的是位元組 </a:t>
            </a:r>
            <a:r>
              <a:rPr lang="en-US" altLang="zh-TW" dirty="0"/>
              <a:t>(byte)</a:t>
            </a:r>
          </a:p>
          <a:p>
            <a:pPr lvl="1"/>
            <a:r>
              <a:rPr lang="zh-TW" altLang="en-US" dirty="0"/>
              <a:t>開頭的 </a:t>
            </a:r>
            <a:r>
              <a:rPr lang="en-US" altLang="zh-TW" dirty="0"/>
              <a:t>K</a:t>
            </a:r>
            <a:r>
              <a:rPr lang="zh-TW" altLang="en-US" dirty="0"/>
              <a:t>、</a:t>
            </a:r>
            <a:r>
              <a:rPr lang="en-US" altLang="zh-TW" dirty="0"/>
              <a:t>M</a:t>
            </a:r>
            <a:r>
              <a:rPr lang="zh-TW" altLang="en-US" dirty="0"/>
              <a:t>、</a:t>
            </a:r>
            <a:r>
              <a:rPr lang="en-US" altLang="zh-TW" dirty="0"/>
              <a:t>G</a:t>
            </a:r>
            <a:r>
              <a:rPr lang="zh-TW" altLang="en-US" dirty="0"/>
              <a:t>、</a:t>
            </a:r>
            <a:r>
              <a:rPr lang="en-US" altLang="zh-TW" dirty="0"/>
              <a:t>T </a:t>
            </a:r>
            <a:r>
              <a:rPr lang="zh-TW" altLang="en-US" dirty="0"/>
              <a:t>與 </a:t>
            </a:r>
            <a:r>
              <a:rPr lang="en-US" altLang="zh-TW" dirty="0"/>
              <a:t>P </a:t>
            </a:r>
            <a:r>
              <a:rPr lang="zh-TW" altLang="en-US" dirty="0"/>
              <a:t>是數量詞</a:t>
            </a:r>
            <a:endParaRPr lang="en-US" altLang="zh-TW" dirty="0"/>
          </a:p>
          <a:p>
            <a:pPr lvl="1"/>
            <a:r>
              <a:rPr lang="en-US" altLang="zh-TW" dirty="0"/>
              <a:t>KB </a:t>
            </a:r>
            <a:r>
              <a:rPr lang="zh-TW" altLang="en-US" dirty="0"/>
              <a:t>的資料量是</a:t>
            </a:r>
            <a:r>
              <a:rPr lang="en-US" altLang="zh-TW" dirty="0"/>
              <a:t> 2</a:t>
            </a:r>
            <a:r>
              <a:rPr lang="en-US" altLang="zh-TW" baseline="30000" dirty="0"/>
              <a:t>10</a:t>
            </a:r>
            <a:r>
              <a:rPr lang="en-US" altLang="zh-TW" dirty="0"/>
              <a:t> bytes</a:t>
            </a:r>
          </a:p>
          <a:p>
            <a:pPr lvl="2"/>
            <a:r>
              <a:rPr lang="en-US" altLang="zh-TW" dirty="0"/>
              <a:t>1024 bytes</a:t>
            </a:r>
          </a:p>
          <a:p>
            <a:pPr lvl="2"/>
            <a:r>
              <a:rPr lang="en-US" altLang="zh-TW" dirty="0"/>
              <a:t>1024 </a:t>
            </a:r>
            <a:r>
              <a:rPr lang="zh-TW" altLang="en-US" dirty="0"/>
              <a:t>近似於一千，所以用 </a:t>
            </a:r>
            <a:r>
              <a:rPr lang="en-US" altLang="zh-TW" dirty="0"/>
              <a:t>Kilo </a:t>
            </a:r>
            <a:r>
              <a:rPr lang="zh-TW" altLang="en-US" dirty="0"/>
              <a:t>來表示它</a:t>
            </a:r>
            <a:endParaRPr lang="en-US" altLang="zh-TW" dirty="0"/>
          </a:p>
          <a:p>
            <a:pPr lvl="1"/>
            <a:r>
              <a:rPr lang="en-US" altLang="zh-TW" dirty="0"/>
              <a:t>MB </a:t>
            </a:r>
            <a:r>
              <a:rPr lang="zh-TW" altLang="en-US" dirty="0"/>
              <a:t>的資料量是 </a:t>
            </a:r>
            <a:r>
              <a:rPr lang="en-US" altLang="zh-TW" dirty="0"/>
              <a:t>2</a:t>
            </a:r>
            <a:r>
              <a:rPr lang="en-US" altLang="zh-TW" baseline="30000" dirty="0"/>
              <a:t>10</a:t>
            </a:r>
            <a:r>
              <a:rPr lang="en-US" altLang="zh-TW" dirty="0"/>
              <a:t> × 2</a:t>
            </a:r>
            <a:r>
              <a:rPr lang="en-US" altLang="zh-TW" baseline="30000" dirty="0"/>
              <a:t>10</a:t>
            </a:r>
            <a:r>
              <a:rPr lang="en-US" altLang="zh-TW" dirty="0"/>
              <a:t> bytes</a:t>
            </a:r>
          </a:p>
          <a:p>
            <a:pPr lvl="2"/>
            <a:r>
              <a:rPr lang="en-US" altLang="zh-TW" dirty="0"/>
              <a:t>1024 </a:t>
            </a:r>
            <a:r>
              <a:rPr lang="zh-TW" altLang="en-US" dirty="0"/>
              <a:t>個 </a:t>
            </a:r>
            <a:r>
              <a:rPr lang="en-US" altLang="zh-TW" dirty="0"/>
              <a:t>KB</a:t>
            </a:r>
          </a:p>
          <a:p>
            <a:pPr lvl="2"/>
            <a:r>
              <a:rPr lang="zh-TW" altLang="en-US" dirty="0"/>
              <a:t>所以用 </a:t>
            </a:r>
            <a:r>
              <a:rPr lang="en-US" altLang="zh-TW" dirty="0"/>
              <a:t>Mega ( </a:t>
            </a:r>
            <a:r>
              <a:rPr lang="zh-TW" altLang="en-US" dirty="0"/>
              <a:t>百萬 </a:t>
            </a:r>
            <a:r>
              <a:rPr lang="en-US" altLang="zh-TW" dirty="0"/>
              <a:t>) </a:t>
            </a:r>
            <a:r>
              <a:rPr lang="zh-TW" altLang="en-US" dirty="0"/>
              <a:t>來表示它</a:t>
            </a:r>
            <a:endParaRPr lang="en-US" altLang="zh-TW" dirty="0"/>
          </a:p>
          <a:p>
            <a:pPr lvl="1"/>
            <a:r>
              <a:rPr lang="zh-TW" altLang="en-US" dirty="0"/>
              <a:t>同樣的道理：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1 GB = 2</a:t>
            </a:r>
            <a:r>
              <a:rPr lang="en-US" altLang="zh-TW" baseline="30000" dirty="0"/>
              <a:t>10</a:t>
            </a:r>
            <a:r>
              <a:rPr lang="en-US" altLang="zh-TW" dirty="0"/>
              <a:t> MB</a:t>
            </a:r>
            <a:r>
              <a:rPr lang="zh-TW" altLang="en-US" dirty="0"/>
              <a:t>、</a:t>
            </a:r>
            <a:r>
              <a:rPr lang="en-US" altLang="zh-TW" dirty="0"/>
              <a:t>1 TB = 2</a:t>
            </a:r>
            <a:r>
              <a:rPr lang="en-US" altLang="zh-TW" baseline="30000" dirty="0"/>
              <a:t>10</a:t>
            </a:r>
            <a:r>
              <a:rPr lang="en-US" altLang="zh-TW" dirty="0"/>
              <a:t> GB </a:t>
            </a:r>
            <a:r>
              <a:rPr lang="zh-TW" altLang="en-US" dirty="0"/>
              <a:t>而 </a:t>
            </a:r>
            <a:r>
              <a:rPr lang="en-US" altLang="zh-TW" dirty="0"/>
              <a:t>1 PB = 2</a:t>
            </a:r>
            <a:r>
              <a:rPr lang="en-US" altLang="zh-TW" baseline="30000" dirty="0"/>
              <a:t>10</a:t>
            </a:r>
            <a:r>
              <a:rPr lang="en-US" altLang="zh-TW" dirty="0"/>
              <a:t> TB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2.1</a:t>
            </a:r>
            <a:r>
              <a:rPr lang="zh-TW" altLang="en-US" dirty="0"/>
              <a:t>電腦儲存的單位</a:t>
            </a:r>
          </a:p>
        </p:txBody>
      </p:sp>
    </p:spTree>
    <p:extLst>
      <p:ext uri="{BB962C8B-B14F-4D97-AF65-F5344CB8AC3E}">
        <p14:creationId xmlns:p14="http://schemas.microsoft.com/office/powerpoint/2010/main" val="170469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109728" indent="0">
              <a:buNone/>
            </a:pPr>
            <a:r>
              <a:rPr lang="zh-TW" altLang="en-US" b="1" dirty="0"/>
              <a:t>資訊容量的單位 </a:t>
            </a:r>
            <a:r>
              <a:rPr lang="en-US" altLang="zh-TW" b="1" dirty="0"/>
              <a:t>(</a:t>
            </a:r>
            <a:r>
              <a:rPr lang="zh-TW" altLang="en-US" b="1" dirty="0"/>
              <a:t>續</a:t>
            </a:r>
            <a:r>
              <a:rPr lang="en-US" altLang="zh-TW" b="1" dirty="0"/>
              <a:t>)</a:t>
            </a:r>
          </a:p>
          <a:p>
            <a:pPr marL="109728" indent="0">
              <a:buNone/>
            </a:pPr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2.1</a:t>
            </a:r>
            <a:r>
              <a:rPr lang="zh-TW" altLang="en-US" dirty="0"/>
              <a:t>電腦儲存的單位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844824"/>
            <a:ext cx="7570399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101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電腦世界裡使用的數字系統是二進位制</a:t>
            </a:r>
            <a:endParaRPr lang="en-US" altLang="zh-TW" dirty="0"/>
          </a:p>
          <a:p>
            <a:r>
              <a:rPr lang="zh-TW" altLang="en-US" dirty="0" smtClean="0"/>
              <a:t>十進位</a:t>
            </a:r>
            <a:r>
              <a:rPr lang="zh-TW" altLang="en-US" dirty="0"/>
              <a:t>數 </a:t>
            </a:r>
            <a:r>
              <a:rPr lang="en-US" altLang="zh-TW" dirty="0"/>
              <a:t>327.25</a:t>
            </a:r>
          </a:p>
          <a:p>
            <a:pPr lvl="1"/>
            <a:r>
              <a:rPr lang="zh-TW" altLang="en-US" dirty="0"/>
              <a:t>三個 </a:t>
            </a:r>
            <a:r>
              <a:rPr lang="en-US" altLang="zh-TW" dirty="0"/>
              <a:t>100</a:t>
            </a:r>
            <a:r>
              <a:rPr lang="zh-TW" altLang="en-US" dirty="0"/>
              <a:t>、二個 </a:t>
            </a:r>
            <a:r>
              <a:rPr lang="en-US" altLang="zh-TW" dirty="0"/>
              <a:t>10</a:t>
            </a:r>
            <a:r>
              <a:rPr lang="zh-TW" altLang="en-US" dirty="0"/>
              <a:t>、七個 </a:t>
            </a:r>
            <a:r>
              <a:rPr lang="en-US" altLang="zh-TW" dirty="0"/>
              <a:t>1</a:t>
            </a:r>
            <a:r>
              <a:rPr lang="zh-TW" altLang="en-US" dirty="0"/>
              <a:t>、二個 </a:t>
            </a:r>
            <a:r>
              <a:rPr lang="en-US" altLang="zh-TW" dirty="0"/>
              <a:t>0.1 </a:t>
            </a:r>
            <a:r>
              <a:rPr lang="zh-TW" altLang="en-US" dirty="0"/>
              <a:t>以及五個 </a:t>
            </a:r>
            <a:r>
              <a:rPr lang="en-US" altLang="zh-TW" dirty="0"/>
              <a:t>0.01</a:t>
            </a:r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2.2</a:t>
            </a:r>
            <a:r>
              <a:rPr lang="zh-TW" altLang="en-US" dirty="0" smtClean="0"/>
              <a:t>二進位</a:t>
            </a:r>
            <a:r>
              <a:rPr lang="zh-TW" altLang="en-US" dirty="0"/>
              <a:t>表示法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363" y="3689595"/>
            <a:ext cx="6047981" cy="2259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1993716"/>
              </p:ext>
            </p:extLst>
          </p:nvPr>
        </p:nvGraphicFramePr>
        <p:xfrm>
          <a:off x="1475656" y="2492896"/>
          <a:ext cx="6106500" cy="41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Equation" r:id="rId4" imgW="2997000" imgH="203040" progId="Equation.DSMT4">
                  <p:embed/>
                </p:oleObj>
              </mc:Choice>
              <mc:Fallback>
                <p:oleObj name="Equation" r:id="rId4" imgW="2997000" imgH="203040" progId="Equation.DSMT4">
                  <p:embed/>
                  <p:pic>
                    <p:nvPicPr>
                      <p:cNvPr id="5" name="物件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75656" y="2492896"/>
                        <a:ext cx="6106500" cy="41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113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一個 </a:t>
            </a:r>
            <a:r>
              <a:rPr lang="en-US" altLang="zh-TW" i="1" dirty="0"/>
              <a:t>K</a:t>
            </a:r>
            <a:r>
              <a:rPr lang="en-US" altLang="zh-TW" dirty="0"/>
              <a:t> </a:t>
            </a:r>
            <a:r>
              <a:rPr lang="zh-TW" altLang="en-US" dirty="0"/>
              <a:t>進位 的正數                                                     </a:t>
            </a:r>
            <a:r>
              <a:rPr lang="en-US" altLang="zh-TW" dirty="0"/>
              <a:t>)</a:t>
            </a:r>
          </a:p>
          <a:p>
            <a:pPr marL="109728" indent="0">
              <a:buNone/>
            </a:pPr>
            <a:r>
              <a:rPr lang="zh-TW" altLang="en-US" dirty="0"/>
              <a:t>                                                 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2.2</a:t>
            </a:r>
            <a:r>
              <a:rPr lang="zh-TW" altLang="en-US" dirty="0"/>
              <a:t>二進位表示法</a:t>
            </a:r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532153"/>
              </p:ext>
            </p:extLst>
          </p:nvPr>
        </p:nvGraphicFramePr>
        <p:xfrm>
          <a:off x="3419872" y="1052736"/>
          <a:ext cx="9191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" name="Equation" r:id="rId3" imgW="431640" imgH="203040" progId="Equation.DSMT4">
                  <p:embed/>
                </p:oleObj>
              </mc:Choice>
              <mc:Fallback>
                <p:oleObj name="Equation" r:id="rId3" imgW="431640" imgH="203040" progId="Equation.DSMT4">
                  <p:embed/>
                  <p:pic>
                    <p:nvPicPr>
                      <p:cNvPr id="5" name="物件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19872" y="1052736"/>
                        <a:ext cx="919163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941138"/>
              </p:ext>
            </p:extLst>
          </p:nvPr>
        </p:nvGraphicFramePr>
        <p:xfrm>
          <a:off x="4239320" y="1052736"/>
          <a:ext cx="321300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" name="Equation" r:id="rId5" imgW="1511280" imgH="203040" progId="Equation.DSMT4">
                  <p:embed/>
                </p:oleObj>
              </mc:Choice>
              <mc:Fallback>
                <p:oleObj name="Equation" r:id="rId5" imgW="1511280" imgH="203040" progId="Equation.DSMT4">
                  <p:embed/>
                  <p:pic>
                    <p:nvPicPr>
                      <p:cNvPr id="6" name="物件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39320" y="1052736"/>
                        <a:ext cx="3213000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21135"/>
              </p:ext>
            </p:extLst>
          </p:nvPr>
        </p:nvGraphicFramePr>
        <p:xfrm>
          <a:off x="1547664" y="1556792"/>
          <a:ext cx="64800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" name="Equation" r:id="rId7" imgW="304560" imgH="203040" progId="Equation.DSMT4">
                  <p:embed/>
                </p:oleObj>
              </mc:Choice>
              <mc:Fallback>
                <p:oleObj name="Equation" r:id="rId7" imgW="304560" imgH="203040" progId="Equation.DSMT4">
                  <p:embed/>
                  <p:pic>
                    <p:nvPicPr>
                      <p:cNvPr id="7" name="物件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47664" y="1556792"/>
                        <a:ext cx="648000" cy="4320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615019"/>
            <a:ext cx="6913602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671229"/>
              </p:ext>
            </p:extLst>
          </p:nvPr>
        </p:nvGraphicFramePr>
        <p:xfrm>
          <a:off x="384378" y="2276872"/>
          <a:ext cx="8424646" cy="10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" name="Equation" r:id="rId10" imgW="3924000" imgH="469800" progId="Equation.DSMT4">
                  <p:embed/>
                </p:oleObj>
              </mc:Choice>
              <mc:Fallback>
                <p:oleObj name="Equation" r:id="rId10" imgW="3924000" imgH="469800" progId="Equation.DSMT4">
                  <p:embed/>
                  <p:pic>
                    <p:nvPicPr>
                      <p:cNvPr id="8" name="物件 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84378" y="2276872"/>
                        <a:ext cx="8424646" cy="10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465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二進位數 </a:t>
            </a:r>
            <a:r>
              <a:rPr lang="en-US" altLang="zh-TW" dirty="0"/>
              <a:t>(1011.011)</a:t>
            </a:r>
            <a:r>
              <a:rPr lang="en-US" altLang="zh-TW" baseline="-25000" dirty="0"/>
              <a:t>2</a:t>
            </a:r>
            <a:r>
              <a:rPr lang="zh-TW" altLang="en-US" dirty="0"/>
              <a:t>，對應的十進位數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2.2</a:t>
            </a:r>
            <a:r>
              <a:rPr lang="zh-TW" altLang="en-US" dirty="0"/>
              <a:t>二進位表示法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313119"/>
            <a:ext cx="4464496" cy="1942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520478"/>
              </p:ext>
            </p:extLst>
          </p:nvPr>
        </p:nvGraphicFramePr>
        <p:xfrm>
          <a:off x="467544" y="1916832"/>
          <a:ext cx="8348362" cy="9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4" imgW="3822480" imgH="444240" progId="Equation.DSMT4">
                  <p:embed/>
                </p:oleObj>
              </mc:Choice>
              <mc:Fallback>
                <p:oleObj name="Equation" r:id="rId4" imgW="3822480" imgH="444240" progId="Equation.DSMT4">
                  <p:embed/>
                  <p:pic>
                    <p:nvPicPr>
                      <p:cNvPr id="5" name="物件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7544" y="1916832"/>
                        <a:ext cx="8348362" cy="97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3275856" y="2638110"/>
            <a:ext cx="40746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1000" b="1" dirty="0"/>
              <a:t>10</a:t>
            </a:r>
            <a:endParaRPr lang="zh-TW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852154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2.2</a:t>
            </a:r>
            <a:r>
              <a:rPr lang="zh-TW" altLang="en-US" dirty="0"/>
              <a:t>二進位表示法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1216738" y="4643943"/>
            <a:ext cx="7720103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給定一個十進位數，要如何算出它對應的二進位數呢？</a:t>
            </a:r>
          </a:p>
        </p:txBody>
      </p:sp>
      <p:pic>
        <p:nvPicPr>
          <p:cNvPr id="9243" name="Picture 2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149080"/>
            <a:ext cx="870847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248" y="1072592"/>
            <a:ext cx="7583501" cy="3076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1331640" y="2276872"/>
            <a:ext cx="6120680" cy="15841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541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179512" y="980728"/>
            <a:ext cx="5040560" cy="4392488"/>
          </a:xfrm>
        </p:spPr>
        <p:txBody>
          <a:bodyPr>
            <a:normAutofit/>
          </a:bodyPr>
          <a:lstStyle/>
          <a:p>
            <a:r>
              <a:rPr lang="zh-TW" altLang="en-US" dirty="0"/>
              <a:t>將十進位數 </a:t>
            </a:r>
            <a:r>
              <a:rPr lang="en-US" altLang="zh-TW" dirty="0"/>
              <a:t>(166)</a:t>
            </a:r>
            <a:r>
              <a:rPr lang="en-US" altLang="zh-TW" baseline="-25000" dirty="0"/>
              <a:t>10</a:t>
            </a:r>
            <a:r>
              <a:rPr lang="en-US" altLang="zh-TW" dirty="0"/>
              <a:t> </a:t>
            </a:r>
            <a:r>
              <a:rPr lang="zh-TW" altLang="en-US" dirty="0"/>
              <a:t>轉為二進位數 </a:t>
            </a:r>
          </a:p>
          <a:p>
            <a:pPr lvl="1"/>
            <a:r>
              <a:rPr lang="zh-TW" altLang="en-US" dirty="0"/>
              <a:t>將 </a:t>
            </a:r>
            <a:r>
              <a:rPr lang="en-US" altLang="zh-TW" dirty="0"/>
              <a:t>166 </a:t>
            </a:r>
            <a:r>
              <a:rPr lang="zh-TW" altLang="en-US" dirty="0"/>
              <a:t>除以 </a:t>
            </a:r>
            <a:r>
              <a:rPr lang="en-US" altLang="zh-TW" dirty="0"/>
              <a:t>2</a:t>
            </a:r>
            <a:r>
              <a:rPr lang="zh-TW" altLang="en-US" dirty="0"/>
              <a:t>，得到商數 </a:t>
            </a:r>
            <a:r>
              <a:rPr lang="en-US" altLang="zh-TW" dirty="0"/>
              <a:t>83</a:t>
            </a:r>
            <a:r>
              <a:rPr lang="zh-TW" altLang="en-US" dirty="0"/>
              <a:t>、餘數 </a:t>
            </a:r>
            <a:r>
              <a:rPr lang="en-US" altLang="zh-TW" dirty="0"/>
              <a:t>0</a:t>
            </a:r>
            <a:r>
              <a:rPr lang="zh-TW" altLang="en-US" dirty="0"/>
              <a:t>，因此我們知道　　   </a:t>
            </a:r>
            <a:endParaRPr lang="en-US" altLang="zh-TW" dirty="0"/>
          </a:p>
          <a:p>
            <a:pPr lvl="1"/>
            <a:r>
              <a:rPr lang="zh-TW" altLang="en-US" dirty="0"/>
              <a:t>繼續將 </a:t>
            </a:r>
            <a:r>
              <a:rPr lang="en-US" altLang="zh-TW" dirty="0"/>
              <a:t>83 </a:t>
            </a:r>
            <a:r>
              <a:rPr lang="zh-TW" altLang="en-US" dirty="0"/>
              <a:t>除以 </a:t>
            </a:r>
            <a:r>
              <a:rPr lang="en-US" altLang="zh-TW" dirty="0"/>
              <a:t>2</a:t>
            </a:r>
            <a:r>
              <a:rPr lang="zh-TW" altLang="en-US" dirty="0"/>
              <a:t>，得到商數 </a:t>
            </a:r>
            <a:r>
              <a:rPr lang="en-US" altLang="zh-TW" dirty="0"/>
              <a:t>41</a:t>
            </a:r>
            <a:r>
              <a:rPr lang="zh-TW" altLang="en-US" dirty="0"/>
              <a:t>、餘數 </a:t>
            </a:r>
            <a:r>
              <a:rPr lang="en-US" altLang="zh-TW" dirty="0"/>
              <a:t>1 →          </a:t>
            </a:r>
            <a:r>
              <a:rPr lang="zh-TW" altLang="en-US" dirty="0"/>
              <a:t>；</a:t>
            </a:r>
            <a:endParaRPr lang="en-US" altLang="zh-TW" dirty="0"/>
          </a:p>
          <a:p>
            <a:pPr lvl="1"/>
            <a:r>
              <a:rPr lang="zh-TW" altLang="en-US" dirty="0"/>
              <a:t>再將 </a:t>
            </a:r>
            <a:r>
              <a:rPr lang="en-US" altLang="zh-TW" dirty="0"/>
              <a:t>41 </a:t>
            </a:r>
            <a:r>
              <a:rPr lang="zh-TW" altLang="en-US" dirty="0"/>
              <a:t>除以 </a:t>
            </a:r>
            <a:r>
              <a:rPr lang="en-US" altLang="zh-TW" dirty="0"/>
              <a:t>2</a:t>
            </a:r>
            <a:r>
              <a:rPr lang="zh-TW" altLang="en-US" dirty="0"/>
              <a:t>，得到商數 </a:t>
            </a:r>
            <a:r>
              <a:rPr lang="en-US" altLang="zh-TW" dirty="0"/>
              <a:t>20</a:t>
            </a:r>
            <a:r>
              <a:rPr lang="zh-TW" altLang="en-US" dirty="0"/>
              <a:t>、餘數 </a:t>
            </a:r>
            <a:r>
              <a:rPr lang="en-US" altLang="zh-TW" dirty="0"/>
              <a:t>1 →</a:t>
            </a:r>
            <a:r>
              <a:rPr lang="zh-TW" altLang="en-US" dirty="0"/>
              <a:t>          ；</a:t>
            </a:r>
            <a:endParaRPr lang="en-US" altLang="zh-TW" dirty="0"/>
          </a:p>
          <a:p>
            <a:pPr lvl="1"/>
            <a:r>
              <a:rPr lang="zh-TW" altLang="en-US" dirty="0"/>
              <a:t>一直重複這個步驟直到商數為 </a:t>
            </a:r>
            <a:r>
              <a:rPr lang="en-US" altLang="zh-TW" dirty="0"/>
              <a:t>0</a:t>
            </a:r>
          </a:p>
          <a:p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2.2</a:t>
            </a:r>
            <a:r>
              <a:rPr lang="zh-TW" altLang="en-US" dirty="0"/>
              <a:t>二進位表示法</a:t>
            </a:r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751911"/>
              </p:ext>
            </p:extLst>
          </p:nvPr>
        </p:nvGraphicFramePr>
        <p:xfrm>
          <a:off x="3923928" y="1952880"/>
          <a:ext cx="928797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2" name="Equation" r:id="rId3" imgW="393480" imgH="203040" progId="Equation.DSMT4">
                  <p:embed/>
                </p:oleObj>
              </mc:Choice>
              <mc:Fallback>
                <p:oleObj name="Equation" r:id="rId3" imgW="393480" imgH="203040" progId="Equation.DSMT4">
                  <p:embed/>
                  <p:pic>
                    <p:nvPicPr>
                      <p:cNvPr id="5" name="物件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23928" y="1952880"/>
                        <a:ext cx="928797" cy="3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626119"/>
              </p:ext>
            </p:extLst>
          </p:nvPr>
        </p:nvGraphicFramePr>
        <p:xfrm>
          <a:off x="2195736" y="2808000"/>
          <a:ext cx="693380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3" name="Equation" r:id="rId5" imgW="355320" imgH="203040" progId="Equation.DSMT4">
                  <p:embed/>
                </p:oleObj>
              </mc:Choice>
              <mc:Fallback>
                <p:oleObj name="Equation" r:id="rId5" imgW="355320" imgH="203040" progId="Equation.DSMT4">
                  <p:embed/>
                  <p:pic>
                    <p:nvPicPr>
                      <p:cNvPr id="6" name="物件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2808000"/>
                        <a:ext cx="693380" cy="3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3896145"/>
              </p:ext>
            </p:extLst>
          </p:nvPr>
        </p:nvGraphicFramePr>
        <p:xfrm>
          <a:off x="2195736" y="3716738"/>
          <a:ext cx="717656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4" name="Equation" r:id="rId7" imgW="368280" imgH="203040" progId="Equation.DSMT4">
                  <p:embed/>
                </p:oleObj>
              </mc:Choice>
              <mc:Fallback>
                <p:oleObj name="Equation" r:id="rId7" imgW="368280" imgH="203040" progId="Equation.DSMT4">
                  <p:embed/>
                  <p:pic>
                    <p:nvPicPr>
                      <p:cNvPr id="8" name="物件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3716738"/>
                        <a:ext cx="717656" cy="3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物件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2387082"/>
              </p:ext>
            </p:extLst>
          </p:nvPr>
        </p:nvGraphicFramePr>
        <p:xfrm>
          <a:off x="1439955" y="4653136"/>
          <a:ext cx="2699997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5" name="Equation" r:id="rId9" imgW="1269720" imgH="203040" progId="Equation.DSMT4">
                  <p:embed/>
                </p:oleObj>
              </mc:Choice>
              <mc:Fallback>
                <p:oleObj name="Equation" r:id="rId9" imgW="1269720" imgH="203040" progId="Equation.DSMT4">
                  <p:embed/>
                  <p:pic>
                    <p:nvPicPr>
                      <p:cNvPr id="9" name="物件 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39955" y="4653136"/>
                        <a:ext cx="2699997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74" name="Picture 10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806" y="1268760"/>
            <a:ext cx="3737682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肘形接點 9"/>
          <p:cNvCxnSpPr/>
          <p:nvPr/>
        </p:nvCxnSpPr>
        <p:spPr>
          <a:xfrm rot="5400000" flipH="1" flipV="1">
            <a:off x="4896036" y="2960948"/>
            <a:ext cx="2448272" cy="360040"/>
          </a:xfrm>
          <a:prstGeom prst="bentConnector3">
            <a:avLst>
              <a:gd name="adj1" fmla="val 502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125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2.2</a:t>
            </a:r>
            <a:r>
              <a:rPr lang="zh-TW" altLang="en-US" dirty="0"/>
              <a:t>二進位表示法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980728"/>
            <a:ext cx="6912768" cy="5314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475656" y="2053646"/>
            <a:ext cx="6120680" cy="38236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663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79200"/>
            <a:ext cx="8568952" cy="5170579"/>
          </a:xfrm>
        </p:spPr>
        <p:txBody>
          <a:bodyPr/>
          <a:lstStyle/>
          <a:p>
            <a:r>
              <a:rPr lang="zh-TW" altLang="en-US" dirty="0"/>
              <a:t>給定十進位數</a:t>
            </a:r>
            <a:r>
              <a:rPr lang="en-US" altLang="zh-TW" dirty="0"/>
              <a:t> (0.625)</a:t>
            </a:r>
            <a:r>
              <a:rPr lang="en-US" altLang="zh-TW" baseline="-25000" dirty="0"/>
              <a:t>10</a:t>
            </a:r>
            <a:endParaRPr lang="en-US" altLang="zh-TW" dirty="0"/>
          </a:p>
          <a:p>
            <a:pPr lvl="1"/>
            <a:r>
              <a:rPr lang="zh-TW" altLang="en-US" dirty="0"/>
              <a:t>將 </a:t>
            </a:r>
            <a:r>
              <a:rPr lang="en-US" altLang="zh-TW" dirty="0"/>
              <a:t>0.625 </a:t>
            </a:r>
            <a:r>
              <a:rPr lang="zh-TW" altLang="en-US" dirty="0"/>
              <a:t>乘以 </a:t>
            </a:r>
            <a:r>
              <a:rPr lang="en-US" altLang="zh-TW" dirty="0"/>
              <a:t>2</a:t>
            </a:r>
            <a:r>
              <a:rPr lang="zh-TW" altLang="en-US" dirty="0"/>
              <a:t>，得到 </a:t>
            </a:r>
            <a:r>
              <a:rPr lang="en-US" altLang="zh-TW" dirty="0"/>
              <a:t>1.25 →</a:t>
            </a:r>
            <a:r>
              <a:rPr lang="zh-TW" altLang="en-US" dirty="0"/>
              <a:t>　      </a:t>
            </a:r>
            <a:r>
              <a:rPr lang="zh-TW" altLang="en-US" dirty="0" smtClean="0"/>
              <a:t>  </a:t>
            </a:r>
            <a:r>
              <a:rPr lang="zh-TW" altLang="en-US" dirty="0"/>
              <a:t>；</a:t>
            </a:r>
            <a:endParaRPr lang="en-US" altLang="zh-TW" dirty="0"/>
          </a:p>
          <a:p>
            <a:pPr lvl="1"/>
            <a:r>
              <a:rPr lang="zh-TW" altLang="en-US" dirty="0"/>
              <a:t>將整數部位去除，得到 </a:t>
            </a:r>
            <a:r>
              <a:rPr lang="en-US" altLang="zh-TW" dirty="0"/>
              <a:t>0.25</a:t>
            </a:r>
            <a:r>
              <a:rPr lang="zh-TW" altLang="en-US" dirty="0"/>
              <a:t>、將 </a:t>
            </a:r>
            <a:r>
              <a:rPr lang="en-US" altLang="zh-TW" dirty="0"/>
              <a:t>0.25 </a:t>
            </a:r>
            <a:r>
              <a:rPr lang="zh-TW" altLang="en-US" dirty="0"/>
              <a:t>乘以 </a:t>
            </a:r>
            <a:r>
              <a:rPr lang="en-US" altLang="zh-TW" dirty="0"/>
              <a:t>2</a:t>
            </a:r>
            <a:r>
              <a:rPr lang="zh-TW" altLang="en-US" dirty="0"/>
              <a:t>，得到 </a:t>
            </a:r>
            <a:r>
              <a:rPr lang="en-US" altLang="zh-TW" dirty="0"/>
              <a:t>0.5 →            </a:t>
            </a:r>
            <a:r>
              <a:rPr lang="zh-TW" altLang="en-US" dirty="0"/>
              <a:t>；</a:t>
            </a:r>
            <a:endParaRPr lang="en-US" altLang="zh-TW" dirty="0"/>
          </a:p>
          <a:p>
            <a:pPr lvl="1"/>
            <a:r>
              <a:rPr lang="zh-TW" altLang="en-US" dirty="0"/>
              <a:t>因為 </a:t>
            </a:r>
            <a:r>
              <a:rPr lang="en-US" altLang="zh-TW" dirty="0"/>
              <a:t>0.5 </a:t>
            </a:r>
            <a:r>
              <a:rPr lang="zh-TW" altLang="en-US" dirty="0"/>
              <a:t>的整數部位為 </a:t>
            </a:r>
            <a:r>
              <a:rPr lang="en-US" altLang="zh-TW" dirty="0"/>
              <a:t>0</a:t>
            </a:r>
            <a:r>
              <a:rPr lang="zh-TW" altLang="en-US" dirty="0"/>
              <a:t>，所以直接將 </a:t>
            </a:r>
            <a:r>
              <a:rPr lang="en-US" altLang="zh-TW" dirty="0"/>
              <a:t>0.5 </a:t>
            </a:r>
            <a:r>
              <a:rPr lang="zh-TW" altLang="en-US" dirty="0"/>
              <a:t>乘以 </a:t>
            </a:r>
            <a:r>
              <a:rPr lang="en-US" altLang="zh-TW" dirty="0"/>
              <a:t>2</a:t>
            </a:r>
            <a:r>
              <a:rPr lang="zh-TW" altLang="en-US" dirty="0"/>
              <a:t>，得到 </a:t>
            </a:r>
            <a:r>
              <a:rPr lang="en-US" altLang="zh-TW" dirty="0"/>
              <a:t>1 </a:t>
            </a:r>
            <a:r>
              <a:rPr lang="en-US" altLang="zh-TW" dirty="0" smtClean="0"/>
              <a:t>→</a:t>
            </a:r>
            <a:r>
              <a:rPr lang="zh-TW" altLang="en-US" dirty="0"/>
              <a:t> </a:t>
            </a:r>
            <a:r>
              <a:rPr lang="zh-TW" altLang="en-US" dirty="0" smtClean="0"/>
              <a:t>           ；</a:t>
            </a:r>
            <a:endParaRPr lang="en-US" altLang="zh-TW" dirty="0"/>
          </a:p>
          <a:p>
            <a:pPr lvl="1"/>
            <a:r>
              <a:rPr lang="zh-TW" altLang="en-US" dirty="0"/>
              <a:t>將 </a:t>
            </a:r>
            <a:r>
              <a:rPr lang="en-US" altLang="zh-TW" dirty="0"/>
              <a:t>1 </a:t>
            </a:r>
            <a:r>
              <a:rPr lang="zh-TW" altLang="en-US" dirty="0"/>
              <a:t>的整數部分去除得到了 </a:t>
            </a:r>
            <a:r>
              <a:rPr lang="en-US" altLang="zh-TW" dirty="0"/>
              <a:t>0</a:t>
            </a:r>
            <a:r>
              <a:rPr lang="zh-TW" altLang="en-US" dirty="0"/>
              <a:t>，轉換的過程</a:t>
            </a:r>
            <a:r>
              <a:rPr lang="zh-TW" altLang="en-US" dirty="0" smtClean="0"/>
              <a:t>結束。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2.2</a:t>
            </a:r>
            <a:r>
              <a:rPr lang="zh-TW" altLang="en-US" dirty="0"/>
              <a:t>二進位表示法</a:t>
            </a:r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158477"/>
              </p:ext>
            </p:extLst>
          </p:nvPr>
        </p:nvGraphicFramePr>
        <p:xfrm>
          <a:off x="5004144" y="1484784"/>
          <a:ext cx="86400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" name="Equation" r:id="rId3" imgW="406080" imgH="203040" progId="Equation.DSMT4">
                  <p:embed/>
                </p:oleObj>
              </mc:Choice>
              <mc:Fallback>
                <p:oleObj name="Equation" r:id="rId3" imgW="406080" imgH="203040" progId="Equation.DSMT4">
                  <p:embed/>
                  <p:pic>
                    <p:nvPicPr>
                      <p:cNvPr id="5" name="物件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04144" y="1484784"/>
                        <a:ext cx="864000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516743"/>
              </p:ext>
            </p:extLst>
          </p:nvPr>
        </p:nvGraphicFramePr>
        <p:xfrm>
          <a:off x="1403648" y="2349080"/>
          <a:ext cx="9445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Equation" r:id="rId5" imgW="444240" imgH="203040" progId="Equation.DSMT4">
                  <p:embed/>
                </p:oleObj>
              </mc:Choice>
              <mc:Fallback>
                <p:oleObj name="Equation" r:id="rId5" imgW="444240" imgH="203040" progId="Equation.DSMT4">
                  <p:embed/>
                  <p:pic>
                    <p:nvPicPr>
                      <p:cNvPr id="6" name="物件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349080"/>
                        <a:ext cx="9445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42889"/>
              </p:ext>
            </p:extLst>
          </p:nvPr>
        </p:nvGraphicFramePr>
        <p:xfrm>
          <a:off x="1404144" y="3276000"/>
          <a:ext cx="863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" name="Equation" r:id="rId7" imgW="406080" imgH="203040" progId="Equation.DSMT4">
                  <p:embed/>
                </p:oleObj>
              </mc:Choice>
              <mc:Fallback>
                <p:oleObj name="Equation" r:id="rId7" imgW="406080" imgH="203040" progId="Equation.DSMT4">
                  <p:embed/>
                  <p:pic>
                    <p:nvPicPr>
                      <p:cNvPr id="7" name="物件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144" y="3276000"/>
                        <a:ext cx="863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55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149080"/>
            <a:ext cx="3312368" cy="2604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2912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184576"/>
          </a:xfrm>
        </p:spPr>
        <p:txBody>
          <a:bodyPr>
            <a:normAutofit/>
          </a:bodyPr>
          <a:lstStyle/>
          <a:p>
            <a:endParaRPr lang="en-US" altLang="zh-TW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2.2</a:t>
            </a:r>
            <a:r>
              <a:rPr lang="zh-TW" altLang="en-US" dirty="0"/>
              <a:t>二進位表示法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1475656" y="4365104"/>
            <a:ext cx="7344816" cy="19902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不是所有的十進位小數都可以用有限的位元完整的表達，如 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(0.7)</a:t>
            </a:r>
            <a:r>
              <a:rPr lang="en-US" altLang="zh-TW" sz="2400" baseline="-250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10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對應的二進位數為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(0.1011001</a:t>
            </a:r>
            <a:r>
              <a:rPr lang="en-US" altLang="zh-TW" sz="2400" baseline="300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…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r>
              <a:rPr lang="en-US" altLang="zh-TW" sz="2400" baseline="-250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。</a:t>
            </a: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我們只須運算到符合轉換時給定的精確位數即可，如精確位數要到小數點後第四位，則我們可以說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(0.7)</a:t>
            </a:r>
            <a:r>
              <a:rPr lang="en-US" altLang="zh-TW" sz="2400" baseline="-250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10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= (0.1011)</a:t>
            </a:r>
            <a:r>
              <a:rPr lang="en-US" altLang="zh-TW" sz="2400" baseline="-250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。</a:t>
            </a:r>
          </a:p>
        </p:txBody>
      </p:sp>
      <p:pic>
        <p:nvPicPr>
          <p:cNvPr id="14363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509120"/>
            <a:ext cx="1152128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0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908720"/>
            <a:ext cx="7404101" cy="3305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1259632" y="2125653"/>
            <a:ext cx="6336704" cy="17353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044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 </a:t>
            </a:r>
            <a:r>
              <a:rPr lang="en-US" altLang="zh-TW" dirty="0"/>
              <a:t>(193.46)</a:t>
            </a:r>
            <a:r>
              <a:rPr lang="en-US" altLang="zh-TW" baseline="-25000" dirty="0"/>
              <a:t>10</a:t>
            </a:r>
            <a:r>
              <a:rPr lang="en-US" altLang="zh-TW" dirty="0"/>
              <a:t> </a:t>
            </a:r>
            <a:r>
              <a:rPr lang="zh-TW" altLang="en-US" dirty="0"/>
              <a:t>轉成其對應的二進位數，精確位數到小數點後第四位  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2.2</a:t>
            </a:r>
            <a:r>
              <a:rPr lang="zh-TW" altLang="en-US" dirty="0"/>
              <a:t>二進位表示法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9" r="48082"/>
          <a:stretch/>
        </p:blipFill>
        <p:spPr bwMode="auto">
          <a:xfrm>
            <a:off x="2555776" y="5157192"/>
            <a:ext cx="4032448" cy="888724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88840"/>
            <a:ext cx="3126593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204864"/>
            <a:ext cx="5688632" cy="1717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8729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179512" y="980729"/>
            <a:ext cx="8820472" cy="1944216"/>
          </a:xfrm>
        </p:spPr>
        <p:txBody>
          <a:bodyPr/>
          <a:lstStyle/>
          <a:p>
            <a:r>
              <a:rPr lang="zh-TW" altLang="en-US" dirty="0"/>
              <a:t>十六進位制是逢 </a:t>
            </a:r>
            <a:r>
              <a:rPr lang="en-US" altLang="zh-TW" dirty="0"/>
              <a:t>16 </a:t>
            </a:r>
            <a:r>
              <a:rPr lang="zh-TW" altLang="en-US" dirty="0"/>
              <a:t>就進 </a:t>
            </a:r>
            <a:r>
              <a:rPr lang="en-US" altLang="zh-TW" dirty="0"/>
              <a:t>1 </a:t>
            </a:r>
            <a:r>
              <a:rPr lang="zh-TW" altLang="en-US" dirty="0"/>
              <a:t>的進位制</a:t>
            </a:r>
            <a:endParaRPr lang="en-US" altLang="zh-TW" dirty="0"/>
          </a:p>
          <a:p>
            <a:pPr lvl="1"/>
            <a:r>
              <a:rPr lang="zh-TW" altLang="en-US" dirty="0"/>
              <a:t>用數字 </a:t>
            </a:r>
            <a:r>
              <a:rPr lang="en-US" altLang="zh-TW" dirty="0"/>
              <a:t>0 </a:t>
            </a:r>
            <a:r>
              <a:rPr lang="zh-TW" altLang="en-US" dirty="0"/>
              <a:t>到 </a:t>
            </a:r>
            <a:r>
              <a:rPr lang="en-US" altLang="zh-TW" dirty="0"/>
              <a:t>9 </a:t>
            </a:r>
            <a:r>
              <a:rPr lang="zh-TW" altLang="en-US" dirty="0"/>
              <a:t>與英文字母 </a:t>
            </a:r>
            <a:r>
              <a:rPr lang="en-US" altLang="zh-TW" dirty="0"/>
              <a:t>A~F </a:t>
            </a:r>
            <a:r>
              <a:rPr lang="zh-TW" altLang="en-US" dirty="0"/>
              <a:t>表示 </a:t>
            </a:r>
            <a:r>
              <a:rPr lang="en-US" altLang="zh-TW" dirty="0"/>
              <a:t>(A~F </a:t>
            </a:r>
            <a:r>
              <a:rPr lang="zh-TW" altLang="en-US" dirty="0"/>
              <a:t>代表 </a:t>
            </a:r>
            <a:r>
              <a:rPr lang="en-US" altLang="zh-TW" dirty="0"/>
              <a:t>10~15)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八進位制</a:t>
            </a:r>
            <a:endParaRPr lang="en-US" altLang="zh-TW" dirty="0"/>
          </a:p>
          <a:p>
            <a:pPr lvl="1"/>
            <a:r>
              <a:rPr lang="zh-TW" altLang="en-US" dirty="0"/>
              <a:t>利用八個符號 </a:t>
            </a:r>
            <a:r>
              <a:rPr lang="en-US" altLang="zh-TW" dirty="0"/>
              <a:t>0</a:t>
            </a:r>
            <a:r>
              <a:rPr lang="zh-TW" altLang="en-US" dirty="0"/>
              <a:t>、</a:t>
            </a:r>
            <a:r>
              <a:rPr lang="en-US" altLang="zh-TW" dirty="0"/>
              <a:t>1</a:t>
            </a:r>
            <a:r>
              <a:rPr lang="zh-TW" altLang="en-US" dirty="0"/>
              <a:t>、</a:t>
            </a:r>
            <a:r>
              <a:rPr lang="en-US" altLang="zh-TW" dirty="0"/>
              <a:t>2</a:t>
            </a:r>
            <a:r>
              <a:rPr lang="zh-TW" altLang="en-US" dirty="0"/>
              <a:t>、</a:t>
            </a:r>
            <a:r>
              <a:rPr lang="en-US" altLang="zh-TW" dirty="0"/>
              <a:t>…</a:t>
            </a:r>
            <a:r>
              <a:rPr lang="zh-TW" altLang="en-US" dirty="0"/>
              <a:t>、</a:t>
            </a:r>
            <a:r>
              <a:rPr lang="en-US" altLang="zh-TW" dirty="0"/>
              <a:t>7 </a:t>
            </a:r>
            <a:r>
              <a:rPr lang="zh-TW" altLang="en-US" dirty="0"/>
              <a:t>來代表任何數目的數字系統。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2.3</a:t>
            </a:r>
            <a:r>
              <a:rPr lang="zh-TW" altLang="en-US" dirty="0" smtClean="0"/>
              <a:t>八</a:t>
            </a:r>
            <a:r>
              <a:rPr lang="zh-TW" altLang="en-US" dirty="0"/>
              <a:t>進位制與十六進位制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068960"/>
            <a:ext cx="6650319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387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二進位數與十六進位數的互換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en-US" dirty="0" smtClean="0"/>
              <a:t>如何</a:t>
            </a:r>
            <a:r>
              <a:rPr lang="zh-TW" altLang="en-US" dirty="0"/>
              <a:t>將 </a:t>
            </a:r>
            <a:r>
              <a:rPr lang="en-US" altLang="zh-TW" dirty="0"/>
              <a:t>(110101101.101101)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zh-TW" altLang="en-US" dirty="0"/>
              <a:t>以十六進位的方式表示呢？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2.3</a:t>
            </a:r>
            <a:r>
              <a:rPr lang="zh-TW" altLang="en-US" dirty="0"/>
              <a:t>八進位制與十六進位制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103817"/>
            <a:ext cx="7417668" cy="3269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5447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二進位數與十六進位數的</a:t>
            </a:r>
            <a:r>
              <a:rPr lang="zh-TW" altLang="en-US" b="1" dirty="0" smtClean="0">
                <a:solidFill>
                  <a:schemeClr val="accent3"/>
                </a:solidFill>
              </a:rPr>
              <a:t>互換</a:t>
            </a:r>
            <a:endParaRPr lang="en-US" altLang="zh-TW" dirty="0" smtClean="0">
              <a:solidFill>
                <a:schemeClr val="accent3"/>
              </a:solidFill>
            </a:endParaRPr>
          </a:p>
          <a:p>
            <a:r>
              <a:rPr lang="zh-TW" altLang="en-US" dirty="0" smtClean="0"/>
              <a:t>將 </a:t>
            </a:r>
            <a:r>
              <a:rPr lang="en-US" altLang="zh-TW" dirty="0"/>
              <a:t>(25B.7C)</a:t>
            </a:r>
            <a:r>
              <a:rPr lang="en-US" altLang="zh-TW" baseline="-25000" dirty="0"/>
              <a:t>16</a:t>
            </a:r>
            <a:r>
              <a:rPr lang="en-US" altLang="zh-TW" dirty="0"/>
              <a:t> </a:t>
            </a:r>
            <a:r>
              <a:rPr lang="zh-TW" altLang="en-US" dirty="0"/>
              <a:t>轉成二進位數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2.3</a:t>
            </a:r>
            <a:r>
              <a:rPr lang="zh-TW" altLang="en-US" dirty="0"/>
              <a:t>八進位制與十六進位制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254" y="2119558"/>
            <a:ext cx="7670018" cy="3757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593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二進位數與八進位數的互換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en-US" dirty="0" smtClean="0"/>
              <a:t>如何</a:t>
            </a:r>
            <a:r>
              <a:rPr lang="zh-TW" altLang="en-US" dirty="0"/>
              <a:t>將 </a:t>
            </a:r>
            <a:r>
              <a:rPr lang="en-US" altLang="zh-TW" dirty="0"/>
              <a:t>(1110101101.10110)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zh-TW" altLang="en-US" dirty="0"/>
              <a:t>以八進位的方式表示呢？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2.3</a:t>
            </a:r>
            <a:r>
              <a:rPr lang="zh-TW" altLang="en-US" dirty="0"/>
              <a:t>八進位制與十六進位制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204864"/>
            <a:ext cx="7102484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021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二進位數與八進位數的互換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en-US" dirty="0" smtClean="0"/>
              <a:t>將 </a:t>
            </a:r>
            <a:r>
              <a:rPr lang="en-US" altLang="zh-TW" dirty="0"/>
              <a:t>(734.26)</a:t>
            </a:r>
            <a:r>
              <a:rPr lang="en-US" altLang="zh-TW" baseline="-25000" dirty="0"/>
              <a:t>8</a:t>
            </a:r>
            <a:r>
              <a:rPr lang="en-US" altLang="zh-TW" dirty="0"/>
              <a:t> </a:t>
            </a:r>
            <a:r>
              <a:rPr lang="zh-TW" altLang="en-US" dirty="0"/>
              <a:t>轉成二進位數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2.3</a:t>
            </a:r>
            <a:r>
              <a:rPr lang="zh-TW" altLang="en-US" dirty="0"/>
              <a:t>八進位制與十六進位制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988840"/>
            <a:ext cx="5976664" cy="4553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3600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表示正整數</a:t>
            </a:r>
            <a:endParaRPr lang="en-US" altLang="zh-TW" dirty="0"/>
          </a:p>
          <a:p>
            <a:pPr lvl="1"/>
            <a:r>
              <a:rPr lang="zh-TW" altLang="en-US" dirty="0"/>
              <a:t>假設我們利用 </a:t>
            </a:r>
            <a:r>
              <a:rPr lang="en-US" altLang="zh-TW" dirty="0"/>
              <a:t>8 </a:t>
            </a:r>
            <a:r>
              <a:rPr lang="zh-TW" altLang="en-US" dirty="0"/>
              <a:t>個位元 </a:t>
            </a:r>
            <a:r>
              <a:rPr lang="en-US" altLang="zh-TW" dirty="0"/>
              <a:t>( 1 </a:t>
            </a:r>
            <a:r>
              <a:rPr lang="zh-TW" altLang="en-US" dirty="0"/>
              <a:t>個位元組 </a:t>
            </a:r>
            <a:r>
              <a:rPr lang="en-US" altLang="zh-TW" dirty="0"/>
              <a:t>) </a:t>
            </a:r>
            <a:r>
              <a:rPr lang="zh-TW" altLang="en-US" dirty="0"/>
              <a:t>表示一個正整數，可以表示的正整數範圍</a:t>
            </a:r>
            <a:r>
              <a:rPr lang="zh-TW" altLang="en-US" dirty="0">
                <a:solidFill>
                  <a:srgbClr val="0070C0"/>
                </a:solidFill>
              </a:rPr>
              <a:t>為 </a:t>
            </a:r>
            <a:r>
              <a:rPr lang="en-US" altLang="zh-TW" dirty="0">
                <a:solidFill>
                  <a:srgbClr val="0070C0"/>
                </a:solidFill>
              </a:rPr>
              <a:t>0 ~ 2</a:t>
            </a:r>
            <a:r>
              <a:rPr lang="en-US" altLang="zh-TW" baseline="30000" dirty="0">
                <a:solidFill>
                  <a:srgbClr val="0070C0"/>
                </a:solidFill>
              </a:rPr>
              <a:t>8</a:t>
            </a:r>
            <a:r>
              <a:rPr lang="en-US" altLang="zh-TW" dirty="0">
                <a:solidFill>
                  <a:srgbClr val="0070C0"/>
                </a:solidFill>
              </a:rPr>
              <a:t> − 1</a:t>
            </a:r>
            <a:r>
              <a:rPr lang="zh-TW" altLang="en-US" dirty="0"/>
              <a:t>，也就是從 </a:t>
            </a:r>
            <a:r>
              <a:rPr lang="en-US" altLang="zh-TW" dirty="0"/>
              <a:t>0 </a:t>
            </a:r>
            <a:r>
              <a:rPr lang="zh-TW" altLang="en-US" dirty="0"/>
              <a:t>到 </a:t>
            </a:r>
            <a:r>
              <a:rPr lang="en-US" altLang="zh-TW" dirty="0"/>
              <a:t>255 </a:t>
            </a:r>
            <a:r>
              <a:rPr lang="zh-TW" altLang="en-US" dirty="0"/>
              <a:t>的整數</a:t>
            </a:r>
            <a:endParaRPr lang="en-US" altLang="zh-TW" dirty="0"/>
          </a:p>
          <a:p>
            <a:pPr lvl="1"/>
            <a:r>
              <a:rPr lang="zh-TW" altLang="en-US" dirty="0"/>
              <a:t>這樣不考慮正負數的整數，稱之為</a:t>
            </a:r>
            <a:r>
              <a:rPr lang="zh-TW" altLang="en-US" dirty="0">
                <a:solidFill>
                  <a:srgbClr val="0070C0"/>
                </a:solidFill>
              </a:rPr>
              <a:t>「無正負符號的整數」</a:t>
            </a:r>
            <a:r>
              <a:rPr lang="en-US" altLang="zh-TW" dirty="0"/>
              <a:t>(unsigned integer)</a:t>
            </a:r>
          </a:p>
          <a:p>
            <a:endParaRPr lang="en-US" altLang="zh-TW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2.4</a:t>
            </a:r>
            <a:r>
              <a:rPr lang="zh-TW" altLang="en-US" dirty="0" smtClean="0"/>
              <a:t>整數</a:t>
            </a:r>
            <a:r>
              <a:rPr lang="zh-TW" altLang="en-US" dirty="0"/>
              <a:t>表示法與補數概念</a:t>
            </a:r>
          </a:p>
        </p:txBody>
      </p:sp>
    </p:spTree>
    <p:extLst>
      <p:ext uri="{BB962C8B-B14F-4D97-AF65-F5344CB8AC3E}">
        <p14:creationId xmlns:p14="http://schemas.microsoft.com/office/powerpoint/2010/main" val="87560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當我們需要表示負數時該怎麼做呢？</a:t>
            </a:r>
            <a:endParaRPr lang="en-US" altLang="zh-TW" dirty="0"/>
          </a:p>
          <a:p>
            <a:pPr lvl="1"/>
            <a:r>
              <a:rPr lang="zh-TW" altLang="en-US" dirty="0"/>
              <a:t>最簡單的作法是將最左邊的位元切割出來，當作正負符號使用，稱之為</a:t>
            </a:r>
            <a:r>
              <a:rPr lang="zh-TW" altLang="en-US" dirty="0">
                <a:solidFill>
                  <a:srgbClr val="0070C0"/>
                </a:solidFill>
              </a:rPr>
              <a:t>符號位元 </a:t>
            </a:r>
            <a:r>
              <a:rPr lang="en-US" altLang="zh-TW" dirty="0">
                <a:solidFill>
                  <a:srgbClr val="0070C0"/>
                </a:solidFill>
              </a:rPr>
              <a:t>(sign bit)</a:t>
            </a:r>
          </a:p>
          <a:p>
            <a:pPr lvl="2"/>
            <a:r>
              <a:rPr lang="zh-TW" altLang="en-US" dirty="0"/>
              <a:t>符號位元為 </a:t>
            </a:r>
            <a:r>
              <a:rPr lang="en-US" altLang="zh-TW" dirty="0"/>
              <a:t>0 </a:t>
            </a:r>
            <a:r>
              <a:rPr lang="zh-TW" altLang="en-US" dirty="0"/>
              <a:t>時即代表正數，</a:t>
            </a:r>
            <a:r>
              <a:rPr lang="en-US" altLang="zh-TW" dirty="0"/>
              <a:t>1 </a:t>
            </a:r>
            <a:r>
              <a:rPr lang="zh-TW" altLang="en-US" dirty="0"/>
              <a:t>時則代表負數</a:t>
            </a:r>
            <a:endParaRPr lang="en-US" altLang="zh-TW" dirty="0"/>
          </a:p>
          <a:p>
            <a:pPr lvl="2"/>
            <a:r>
              <a:rPr lang="zh-TW" altLang="en-US" dirty="0"/>
              <a:t>剩下來的位元則用來表示數的大小，這樣的表示法我們稱之為</a:t>
            </a:r>
            <a:r>
              <a:rPr lang="zh-TW" altLang="en-US" dirty="0">
                <a:solidFill>
                  <a:srgbClr val="0070C0"/>
                </a:solidFill>
              </a:rPr>
              <a:t>「帶正負符號數字表示法」</a:t>
            </a:r>
            <a:r>
              <a:rPr lang="en-US" altLang="zh-TW" dirty="0"/>
              <a:t>(sign-magnitude representation)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077072"/>
            <a:ext cx="4892962" cy="2515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9714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帶正負符號數字表示法</a:t>
            </a:r>
            <a:endParaRPr lang="en-US" altLang="zh-TW" dirty="0"/>
          </a:p>
          <a:p>
            <a:pPr lvl="1"/>
            <a:r>
              <a:rPr lang="en-US" altLang="zh-TW" dirty="0"/>
              <a:t>8</a:t>
            </a:r>
            <a:r>
              <a:rPr lang="zh-TW" altLang="en-US" dirty="0"/>
              <a:t>個位元可以描述的數字範圍為</a:t>
            </a:r>
            <a:r>
              <a:rPr lang="en-US" altLang="zh-TW" dirty="0"/>
              <a:t> − (2</a:t>
            </a:r>
            <a:r>
              <a:rPr lang="en-US" altLang="zh-TW" baseline="30000" dirty="0"/>
              <a:t>7</a:t>
            </a:r>
            <a:r>
              <a:rPr lang="en-US" altLang="zh-TW" dirty="0"/>
              <a:t> − 1) ~ 2</a:t>
            </a:r>
            <a:r>
              <a:rPr lang="en-US" altLang="zh-TW" baseline="30000" dirty="0"/>
              <a:t>7</a:t>
            </a:r>
            <a:r>
              <a:rPr lang="en-US" altLang="zh-TW" dirty="0"/>
              <a:t> − 1</a:t>
            </a:r>
          </a:p>
          <a:p>
            <a:pPr lvl="2"/>
            <a:r>
              <a:rPr lang="zh-TW" altLang="en-US" dirty="0"/>
              <a:t> </a:t>
            </a:r>
            <a:r>
              <a:rPr lang="en-US" altLang="zh-TW" dirty="0"/>
              <a:t>− 127 ~ 127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目前的電腦並不採用這種方式表示整數</a:t>
            </a:r>
            <a:endParaRPr lang="en-US" altLang="zh-TW" dirty="0"/>
          </a:p>
          <a:p>
            <a:pPr lvl="2"/>
            <a:r>
              <a:rPr lang="en-US" altLang="zh-TW" dirty="0"/>
              <a:t>0 </a:t>
            </a:r>
            <a:r>
              <a:rPr lang="zh-TW" altLang="en-US" dirty="0"/>
              <a:t>存在兩種表示法</a:t>
            </a:r>
            <a:endParaRPr lang="en-US" altLang="zh-TW" dirty="0"/>
          </a:p>
          <a:p>
            <a:pPr lvl="2"/>
            <a:r>
              <a:rPr lang="zh-TW" altLang="en-US" dirty="0"/>
              <a:t>正數負數的運算 </a:t>
            </a:r>
            <a:r>
              <a:rPr lang="en-US" altLang="zh-TW" dirty="0"/>
              <a:t>( </a:t>
            </a:r>
            <a:r>
              <a:rPr lang="zh-TW" altLang="en-US" dirty="0"/>
              <a:t>如加法、減法 </a:t>
            </a:r>
            <a:r>
              <a:rPr lang="en-US" altLang="zh-TW" dirty="0"/>
              <a:t>) </a:t>
            </a:r>
            <a:r>
              <a:rPr lang="zh-TW" altLang="en-US" dirty="0"/>
              <a:t>並不直接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876574"/>
            <a:ext cx="7272808" cy="2648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圓角矩形 4"/>
          <p:cNvSpPr/>
          <p:nvPr/>
        </p:nvSpPr>
        <p:spPr>
          <a:xfrm>
            <a:off x="1062000" y="6110852"/>
            <a:ext cx="7200800" cy="34248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169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一的補數表示法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en-US" dirty="0" smtClean="0"/>
              <a:t>以</a:t>
            </a:r>
            <a:r>
              <a:rPr lang="zh-TW" altLang="en-US" dirty="0"/>
              <a:t>位元字串最左邊的位元表示正負符號</a:t>
            </a:r>
            <a:endParaRPr lang="en-US" altLang="zh-TW" dirty="0"/>
          </a:p>
          <a:p>
            <a:r>
              <a:rPr lang="zh-TW" altLang="en-US" dirty="0"/>
              <a:t>正數的表示方式與帶正負符號數字表示法相同</a:t>
            </a:r>
            <a:endParaRPr lang="en-US" altLang="zh-TW" dirty="0"/>
          </a:p>
          <a:p>
            <a:pPr lvl="1"/>
            <a:r>
              <a:rPr lang="zh-TW" altLang="en-US" dirty="0"/>
              <a:t>假設我們用 </a:t>
            </a:r>
            <a:r>
              <a:rPr lang="en-US" altLang="zh-TW" dirty="0"/>
              <a:t>1 </a:t>
            </a:r>
            <a:r>
              <a:rPr lang="zh-TW" altLang="en-US" dirty="0"/>
              <a:t>個位元組來表示整數</a:t>
            </a:r>
            <a:endParaRPr lang="en-US" altLang="zh-TW" dirty="0"/>
          </a:p>
          <a:p>
            <a:pPr lvl="1"/>
            <a:r>
              <a:rPr lang="zh-TW" altLang="en-US" dirty="0"/>
              <a:t>則 </a:t>
            </a:r>
            <a:r>
              <a:rPr lang="en-US" altLang="zh-TW" dirty="0"/>
              <a:t>(5)</a:t>
            </a:r>
            <a:r>
              <a:rPr lang="en-US" altLang="zh-TW" baseline="-25000" dirty="0"/>
              <a:t>10</a:t>
            </a:r>
            <a:r>
              <a:rPr lang="en-US" altLang="zh-TW" dirty="0"/>
              <a:t> </a:t>
            </a:r>
            <a:r>
              <a:rPr lang="zh-TW" altLang="en-US" dirty="0"/>
              <a:t>的一的補數表示法為 </a:t>
            </a:r>
            <a:r>
              <a:rPr lang="en-US" altLang="zh-TW" dirty="0"/>
              <a:t>(00000101)</a:t>
            </a:r>
            <a:r>
              <a:rPr lang="en-US" altLang="zh-TW" baseline="-25000" dirty="0"/>
              <a:t>2</a:t>
            </a:r>
            <a:endParaRPr lang="en-US" altLang="zh-TW" dirty="0"/>
          </a:p>
          <a:p>
            <a:r>
              <a:rPr lang="zh-TW" altLang="en-US" dirty="0"/>
              <a:t>利用 </a:t>
            </a:r>
            <a:r>
              <a:rPr lang="en-US" altLang="zh-TW" dirty="0"/>
              <a:t>8 </a:t>
            </a:r>
            <a:r>
              <a:rPr lang="zh-TW" altLang="en-US" dirty="0"/>
              <a:t>位元儲存整數能表示的正數範圍</a:t>
            </a:r>
            <a:endParaRPr lang="en-US" altLang="zh-TW" dirty="0"/>
          </a:p>
          <a:p>
            <a:pPr lvl="1"/>
            <a:r>
              <a:rPr lang="en-US" altLang="zh-TW" dirty="0"/>
              <a:t>(00000000)</a:t>
            </a:r>
            <a:r>
              <a:rPr lang="en-US" altLang="zh-TW" baseline="-25000" dirty="0"/>
              <a:t>2</a:t>
            </a:r>
            <a:r>
              <a:rPr lang="en-US" altLang="zh-TW" dirty="0"/>
              <a:t> ~ (01111111)</a:t>
            </a:r>
            <a:r>
              <a:rPr lang="en-US" altLang="zh-TW" baseline="-25000" dirty="0"/>
              <a:t>2</a:t>
            </a:r>
            <a:r>
              <a:rPr lang="zh-TW" altLang="en-US" dirty="0"/>
              <a:t>，也就是 </a:t>
            </a:r>
            <a:r>
              <a:rPr lang="en-US" altLang="zh-TW" dirty="0"/>
              <a:t>0~127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1187624" y="4581128"/>
            <a:ext cx="6084168" cy="8822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補數的觀念</a:t>
            </a: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若兩數的和為 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</a:t>
            </a: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，則此兩數互為 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 </a:t>
            </a: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的補數</a:t>
            </a:r>
          </a:p>
        </p:txBody>
      </p:sp>
    </p:spTree>
    <p:extLst>
      <p:ext uri="{BB962C8B-B14F-4D97-AF65-F5344CB8AC3E}">
        <p14:creationId xmlns:p14="http://schemas.microsoft.com/office/powerpoint/2010/main" val="131519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一的補數表示</a:t>
            </a:r>
            <a:r>
              <a:rPr lang="zh-TW" altLang="en-US" b="1" dirty="0" smtClean="0">
                <a:solidFill>
                  <a:schemeClr val="accent3"/>
                </a:solidFill>
              </a:rPr>
              <a:t>法</a:t>
            </a:r>
            <a:endParaRPr lang="en-US" altLang="zh-TW" dirty="0" smtClean="0"/>
          </a:p>
          <a:p>
            <a:r>
              <a:rPr lang="zh-TW" altLang="en-US" dirty="0" smtClean="0"/>
              <a:t>步驟 </a:t>
            </a:r>
            <a:r>
              <a:rPr lang="en-US" altLang="zh-TW" dirty="0"/>
              <a:t>1</a:t>
            </a:r>
            <a:r>
              <a:rPr lang="zh-TW" altLang="en-US" dirty="0"/>
              <a:t>：忽略其符號，將該數轉成二進位表示法，並利用 </a:t>
            </a:r>
            <a:r>
              <a:rPr lang="en-US" altLang="zh-TW" i="1" dirty="0"/>
              <a:t>n</a:t>
            </a:r>
            <a:r>
              <a:rPr lang="en-US" altLang="zh-TW" dirty="0"/>
              <a:t> − 1 </a:t>
            </a:r>
            <a:r>
              <a:rPr lang="zh-TW" altLang="en-US" dirty="0"/>
              <a:t>位元表示，若該數超過了 </a:t>
            </a:r>
            <a:r>
              <a:rPr lang="en-US" altLang="zh-TW" i="1" dirty="0"/>
              <a:t>n</a:t>
            </a:r>
            <a:r>
              <a:rPr lang="en-US" altLang="zh-TW" dirty="0"/>
              <a:t> − 1 </a:t>
            </a:r>
            <a:r>
              <a:rPr lang="zh-TW" altLang="en-US" dirty="0"/>
              <a:t>位元，則稱為溢位 </a:t>
            </a:r>
            <a:r>
              <a:rPr lang="en-US" altLang="zh-TW" dirty="0"/>
              <a:t>(overflow)</a:t>
            </a:r>
            <a:r>
              <a:rPr lang="zh-TW" altLang="en-US" dirty="0"/>
              <a:t>，意指該數無法用 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zh-TW" altLang="en-US" dirty="0"/>
              <a:t>位元一的補數表示法描述，轉換停止</a:t>
            </a:r>
            <a:endParaRPr lang="en-US" altLang="zh-TW" dirty="0"/>
          </a:p>
          <a:p>
            <a:r>
              <a:rPr lang="zh-TW" altLang="en-US" dirty="0"/>
              <a:t>步驟 </a:t>
            </a:r>
            <a:r>
              <a:rPr lang="en-US" altLang="zh-TW" dirty="0" smtClean="0"/>
              <a:t>2</a:t>
            </a:r>
            <a:r>
              <a:rPr lang="zh-TW" altLang="en-US" dirty="0" smtClean="0"/>
              <a:t>：</a:t>
            </a:r>
            <a:r>
              <a:rPr lang="zh-TW" altLang="en-US" dirty="0"/>
              <a:t>觀察該數的符號</a:t>
            </a:r>
            <a:endParaRPr lang="en-US" altLang="zh-TW" dirty="0"/>
          </a:p>
          <a:p>
            <a:pPr lvl="1"/>
            <a:r>
              <a:rPr lang="zh-TW" altLang="en-US" dirty="0"/>
              <a:t>若為正數：在 </a:t>
            </a:r>
            <a:r>
              <a:rPr lang="en-US" altLang="zh-TW" i="1" dirty="0"/>
              <a:t>n</a:t>
            </a:r>
            <a:r>
              <a:rPr lang="en-US" altLang="zh-TW" dirty="0"/>
              <a:t> − 1 </a:t>
            </a:r>
            <a:r>
              <a:rPr lang="zh-TW" altLang="en-US" dirty="0"/>
              <a:t>位元的左邊補上 </a:t>
            </a:r>
            <a:r>
              <a:rPr lang="en-US" altLang="zh-TW" dirty="0"/>
              <a:t>1 </a:t>
            </a:r>
            <a:r>
              <a:rPr lang="zh-TW" altLang="en-US" dirty="0"/>
              <a:t>個位元，並設為 </a:t>
            </a:r>
            <a:r>
              <a:rPr lang="en-US" altLang="zh-TW" dirty="0"/>
              <a:t>0</a:t>
            </a:r>
            <a:r>
              <a:rPr lang="zh-TW" altLang="en-US" dirty="0"/>
              <a:t>，完成轉換</a:t>
            </a:r>
            <a:endParaRPr lang="en-US" altLang="zh-TW" dirty="0"/>
          </a:p>
          <a:p>
            <a:pPr lvl="1"/>
            <a:r>
              <a:rPr lang="zh-TW" altLang="en-US" dirty="0"/>
              <a:t>若為負數：將每個位元做一補數的轉換，即將 </a:t>
            </a:r>
            <a:r>
              <a:rPr lang="en-US" altLang="zh-TW" dirty="0"/>
              <a:t>1 </a:t>
            </a:r>
            <a:r>
              <a:rPr lang="zh-TW" altLang="en-US" dirty="0"/>
              <a:t>轉成 </a:t>
            </a:r>
            <a:r>
              <a:rPr lang="en-US" altLang="zh-TW" dirty="0"/>
              <a:t>0</a:t>
            </a:r>
            <a:r>
              <a:rPr lang="zh-TW" altLang="en-US" dirty="0"/>
              <a:t>、</a:t>
            </a:r>
            <a:r>
              <a:rPr lang="en-US" altLang="zh-TW" dirty="0"/>
              <a:t>0 </a:t>
            </a:r>
            <a:r>
              <a:rPr lang="zh-TW" altLang="en-US" dirty="0"/>
              <a:t>轉成 </a:t>
            </a:r>
            <a:r>
              <a:rPr lang="en-US" altLang="zh-TW" dirty="0"/>
              <a:t>1</a:t>
            </a:r>
            <a:r>
              <a:rPr lang="zh-TW" altLang="en-US" dirty="0"/>
              <a:t>，完成後在此 </a:t>
            </a:r>
            <a:r>
              <a:rPr lang="en-US" altLang="zh-TW" i="1" dirty="0"/>
              <a:t>n</a:t>
            </a:r>
            <a:r>
              <a:rPr lang="en-US" altLang="zh-TW" dirty="0"/>
              <a:t> − 1 </a:t>
            </a:r>
            <a:r>
              <a:rPr lang="zh-TW" altLang="en-US" dirty="0"/>
              <a:t>位元的左邊補上 </a:t>
            </a:r>
            <a:r>
              <a:rPr lang="en-US" altLang="zh-TW" dirty="0"/>
              <a:t>1 </a:t>
            </a:r>
            <a:r>
              <a:rPr lang="zh-TW" altLang="en-US" dirty="0"/>
              <a:t>個位元，並設成 </a:t>
            </a:r>
            <a:r>
              <a:rPr lang="en-US" altLang="zh-TW" dirty="0"/>
              <a:t>1</a:t>
            </a:r>
            <a:r>
              <a:rPr lang="zh-TW" altLang="en-US" dirty="0"/>
              <a:t>，完成轉換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</p:spTree>
    <p:extLst>
      <p:ext uri="{BB962C8B-B14F-4D97-AF65-F5344CB8AC3E}">
        <p14:creationId xmlns:p14="http://schemas.microsoft.com/office/powerpoint/2010/main" val="394382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一的補數表示</a:t>
            </a:r>
            <a:r>
              <a:rPr lang="zh-TW" altLang="en-US" b="1" dirty="0" smtClean="0">
                <a:solidFill>
                  <a:schemeClr val="accent3"/>
                </a:solidFill>
              </a:rPr>
              <a:t>法</a:t>
            </a:r>
            <a:endParaRPr lang="en-US" altLang="zh-TW" dirty="0" smtClean="0"/>
          </a:p>
          <a:p>
            <a:r>
              <a:rPr lang="zh-TW" altLang="en-US" dirty="0" smtClean="0"/>
              <a:t>請</a:t>
            </a:r>
            <a:r>
              <a:rPr lang="zh-TW" altLang="en-US" dirty="0"/>
              <a:t>將 </a:t>
            </a:r>
            <a:r>
              <a:rPr lang="en-US" altLang="zh-TW" dirty="0"/>
              <a:t>(− 25)</a:t>
            </a:r>
            <a:r>
              <a:rPr lang="en-US" altLang="zh-TW" baseline="-25000" dirty="0"/>
              <a:t>10</a:t>
            </a:r>
            <a:r>
              <a:rPr lang="en-US" altLang="zh-TW" dirty="0"/>
              <a:t> </a:t>
            </a:r>
            <a:r>
              <a:rPr lang="zh-TW" altLang="en-US" dirty="0"/>
              <a:t>用 </a:t>
            </a:r>
            <a:r>
              <a:rPr lang="en-US" altLang="zh-TW" dirty="0"/>
              <a:t>8 </a:t>
            </a:r>
            <a:r>
              <a:rPr lang="zh-TW" altLang="en-US" dirty="0"/>
              <a:t>位元一的補數表示法表現。</a:t>
            </a:r>
            <a:endParaRPr lang="en-US" altLang="zh-TW" dirty="0"/>
          </a:p>
          <a:p>
            <a:pPr marL="109728" indent="0">
              <a:buNone/>
            </a:pPr>
            <a:r>
              <a:rPr lang="zh-TW" altLang="en-US" dirty="0">
                <a:solidFill>
                  <a:srgbClr val="FF0000"/>
                </a:solidFill>
              </a:rPr>
              <a:t>作法：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/>
              <a:t>步驟 </a:t>
            </a:r>
            <a:r>
              <a:rPr lang="en-US" altLang="zh-TW" dirty="0"/>
              <a:t>1</a:t>
            </a:r>
            <a:r>
              <a:rPr lang="zh-TW" altLang="en-US" dirty="0"/>
              <a:t>：忽略符號，將 </a:t>
            </a:r>
            <a:r>
              <a:rPr lang="en-US" altLang="zh-TW" dirty="0"/>
              <a:t>25 </a:t>
            </a:r>
            <a:r>
              <a:rPr lang="zh-TW" altLang="en-US" dirty="0"/>
              <a:t>轉成二進位數 </a:t>
            </a:r>
            <a:r>
              <a:rPr lang="en-US" altLang="zh-TW" dirty="0"/>
              <a:t>11001</a:t>
            </a:r>
            <a:r>
              <a:rPr lang="zh-TW" altLang="en-US" dirty="0"/>
              <a:t>，並用 </a:t>
            </a:r>
            <a:r>
              <a:rPr lang="en-US" altLang="zh-TW" dirty="0"/>
              <a:t>7 </a:t>
            </a:r>
            <a:r>
              <a:rPr lang="zh-TW" altLang="en-US" dirty="0"/>
              <a:t>個位元表示，得 </a:t>
            </a:r>
            <a:r>
              <a:rPr lang="en-US" altLang="zh-TW" dirty="0"/>
              <a:t>0011001</a:t>
            </a:r>
            <a:r>
              <a:rPr lang="zh-TW" altLang="en-US" dirty="0"/>
              <a:t> </a:t>
            </a:r>
          </a:p>
          <a:p>
            <a:r>
              <a:rPr lang="zh-TW" altLang="en-US" dirty="0"/>
              <a:t>步驟 </a:t>
            </a:r>
            <a:r>
              <a:rPr lang="en-US" altLang="zh-TW" dirty="0"/>
              <a:t>2</a:t>
            </a:r>
            <a:r>
              <a:rPr lang="zh-TW" altLang="en-US" dirty="0"/>
              <a:t>：因為是負數，所以將 </a:t>
            </a:r>
            <a:r>
              <a:rPr lang="en-US" altLang="zh-TW" dirty="0"/>
              <a:t>0011001 </a:t>
            </a:r>
            <a:r>
              <a:rPr lang="zh-TW" altLang="en-US" dirty="0"/>
              <a:t>轉成其一的補數 </a:t>
            </a:r>
            <a:r>
              <a:rPr lang="en-US" altLang="zh-TW" dirty="0"/>
              <a:t>1100110</a:t>
            </a:r>
          </a:p>
          <a:p>
            <a:r>
              <a:rPr lang="zh-TW" altLang="en-US" dirty="0"/>
              <a:t>接著左邊再補上 </a:t>
            </a:r>
            <a:r>
              <a:rPr lang="en-US" altLang="zh-TW" dirty="0"/>
              <a:t>1 </a:t>
            </a:r>
            <a:r>
              <a:rPr lang="zh-TW" altLang="en-US" dirty="0"/>
              <a:t>個位元並設為 </a:t>
            </a:r>
            <a:r>
              <a:rPr lang="en-US" altLang="zh-TW" dirty="0"/>
              <a:t>1 </a:t>
            </a:r>
            <a:r>
              <a:rPr lang="zh-TW" altLang="en-US" dirty="0"/>
              <a:t>代表負數，得到 </a:t>
            </a:r>
            <a:r>
              <a:rPr lang="en-US" altLang="zh-TW" dirty="0"/>
              <a:t>11100110</a:t>
            </a:r>
            <a:r>
              <a:rPr lang="zh-TW" altLang="en-US" dirty="0"/>
              <a:t>。 </a:t>
            </a:r>
          </a:p>
          <a:p>
            <a:r>
              <a:rPr lang="en-US" altLang="zh-TW" dirty="0"/>
              <a:t>11100110 </a:t>
            </a:r>
            <a:r>
              <a:rPr lang="zh-TW" altLang="en-US" dirty="0"/>
              <a:t>即為答案。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</p:spTree>
    <p:extLst>
      <p:ext uri="{BB962C8B-B14F-4D97-AF65-F5344CB8AC3E}">
        <p14:creationId xmlns:p14="http://schemas.microsoft.com/office/powerpoint/2010/main" val="53862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一的補數表示</a:t>
            </a:r>
            <a:r>
              <a:rPr lang="zh-TW" altLang="en-US" b="1" dirty="0" smtClean="0">
                <a:solidFill>
                  <a:schemeClr val="accent3"/>
                </a:solidFill>
              </a:rPr>
              <a:t>法</a:t>
            </a:r>
            <a:endParaRPr lang="en-US" altLang="zh-TW" dirty="0" smtClean="0"/>
          </a:p>
          <a:p>
            <a:r>
              <a:rPr lang="zh-TW" altLang="en-US" dirty="0" smtClean="0"/>
              <a:t>若 </a:t>
            </a:r>
            <a:r>
              <a:rPr lang="en-US" altLang="zh-TW" dirty="0"/>
              <a:t>(11001101)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zh-TW" altLang="en-US" dirty="0"/>
              <a:t>是利用一的補數表示法儲存的整數，請問它代表的是哪一個十進位數呢？</a:t>
            </a:r>
            <a:endParaRPr lang="en-US" altLang="zh-TW" dirty="0"/>
          </a:p>
          <a:p>
            <a:pPr marL="109728" indent="0">
              <a:buNone/>
            </a:pPr>
            <a:r>
              <a:rPr lang="zh-TW" altLang="en-US" dirty="0">
                <a:solidFill>
                  <a:srgbClr val="FF0000"/>
                </a:solidFill>
              </a:rPr>
              <a:t>作法：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/>
              <a:t>最左邊的位元為 </a:t>
            </a:r>
            <a:r>
              <a:rPr lang="en-US" altLang="zh-TW" dirty="0"/>
              <a:t>1</a:t>
            </a:r>
            <a:r>
              <a:rPr lang="zh-TW" altLang="en-US" dirty="0"/>
              <a:t>，所以代表的是負數</a:t>
            </a:r>
            <a:endParaRPr lang="en-US" altLang="zh-TW" dirty="0"/>
          </a:p>
          <a:p>
            <a:r>
              <a:rPr lang="zh-TW" altLang="en-US" dirty="0"/>
              <a:t>右邊的 </a:t>
            </a:r>
            <a:r>
              <a:rPr lang="en-US" altLang="zh-TW" dirty="0"/>
              <a:t>7</a:t>
            </a:r>
            <a:r>
              <a:rPr lang="zh-TW" altLang="en-US" dirty="0"/>
              <a:t>個位元 </a:t>
            </a:r>
            <a:r>
              <a:rPr lang="en-US" altLang="zh-TW" dirty="0"/>
              <a:t>(1001101) </a:t>
            </a:r>
            <a:r>
              <a:rPr lang="zh-TW" altLang="en-US" dirty="0"/>
              <a:t>取出，並將它還原為原來的數</a:t>
            </a:r>
            <a:endParaRPr lang="en-US" altLang="zh-TW" dirty="0"/>
          </a:p>
          <a:p>
            <a:r>
              <a:rPr lang="zh-TW" altLang="en-US" dirty="0"/>
              <a:t>原數為 </a:t>
            </a:r>
            <a:r>
              <a:rPr lang="en-US" altLang="zh-TW" dirty="0"/>
              <a:t>0110010</a:t>
            </a:r>
            <a:r>
              <a:rPr lang="zh-TW" altLang="en-US" dirty="0"/>
              <a:t>，將</a:t>
            </a:r>
            <a:r>
              <a:rPr lang="en-US" altLang="zh-TW" dirty="0"/>
              <a:t>0110010 </a:t>
            </a:r>
            <a:r>
              <a:rPr lang="zh-TW" altLang="en-US" dirty="0"/>
              <a:t>轉成十進位數得到 </a:t>
            </a:r>
            <a:r>
              <a:rPr lang="en-US" altLang="zh-TW" dirty="0"/>
              <a:t>50</a:t>
            </a:r>
          </a:p>
          <a:p>
            <a:r>
              <a:rPr lang="zh-TW" altLang="en-US" dirty="0"/>
              <a:t>最後將負號補上，故得到其代表的十進位數為 </a:t>
            </a:r>
            <a:r>
              <a:rPr lang="en-US" altLang="zh-TW" dirty="0"/>
              <a:t>− 50</a:t>
            </a:r>
            <a:r>
              <a:rPr lang="zh-TW" altLang="en-US" dirty="0"/>
              <a:t>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</p:spTree>
    <p:extLst>
      <p:ext uri="{BB962C8B-B14F-4D97-AF65-F5344CB8AC3E}">
        <p14:creationId xmlns:p14="http://schemas.microsoft.com/office/powerpoint/2010/main" val="179931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一的補數表示</a:t>
            </a:r>
            <a:r>
              <a:rPr lang="zh-TW" altLang="en-US" b="1" dirty="0" smtClean="0">
                <a:solidFill>
                  <a:schemeClr val="accent3"/>
                </a:solidFill>
              </a:rPr>
              <a:t>法</a:t>
            </a:r>
            <a:endParaRPr lang="en-US" altLang="zh-TW" dirty="0" smtClean="0"/>
          </a:p>
          <a:p>
            <a:r>
              <a:rPr lang="zh-TW" altLang="en-US" dirty="0" smtClean="0"/>
              <a:t>一</a:t>
            </a:r>
            <a:r>
              <a:rPr lang="zh-TW" altLang="en-US" dirty="0"/>
              <a:t>的補數表示法同樣有兩個</a:t>
            </a:r>
            <a:r>
              <a:rPr lang="en-US" altLang="zh-TW" dirty="0"/>
              <a:t>0</a:t>
            </a:r>
            <a:r>
              <a:rPr lang="zh-TW" altLang="en-US" dirty="0"/>
              <a:t> 的問題。</a:t>
            </a:r>
            <a:endParaRPr lang="en-US" altLang="zh-TW" dirty="0"/>
          </a:p>
          <a:p>
            <a:r>
              <a:rPr lang="zh-TW" altLang="en-US" dirty="0"/>
              <a:t>正負數運算 </a:t>
            </a:r>
            <a:r>
              <a:rPr lang="en-US" altLang="zh-TW" dirty="0"/>
              <a:t>( </a:t>
            </a:r>
            <a:r>
              <a:rPr lang="zh-TW" altLang="en-US" dirty="0"/>
              <a:t>如加法、減法 </a:t>
            </a:r>
            <a:r>
              <a:rPr lang="en-US" altLang="zh-TW" dirty="0"/>
              <a:t>) </a:t>
            </a:r>
            <a:r>
              <a:rPr lang="zh-TW" altLang="en-US" dirty="0"/>
              <a:t>並不那麼直接。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137" y="2348880"/>
            <a:ext cx="7407275" cy="345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圓角矩形 4"/>
          <p:cNvSpPr/>
          <p:nvPr/>
        </p:nvSpPr>
        <p:spPr>
          <a:xfrm>
            <a:off x="683568" y="5301208"/>
            <a:ext cx="7776864" cy="5036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121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二的補數表示法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en-US" dirty="0" smtClean="0"/>
              <a:t>十</a:t>
            </a:r>
            <a:r>
              <a:rPr lang="zh-TW" altLang="en-US" dirty="0"/>
              <a:t>補數</a:t>
            </a:r>
            <a:endParaRPr lang="en-US" altLang="zh-TW" dirty="0"/>
          </a:p>
          <a:p>
            <a:pPr lvl="1"/>
            <a:r>
              <a:rPr lang="en-US" altLang="zh-TW" dirty="0"/>
              <a:t>2 </a:t>
            </a:r>
            <a:r>
              <a:rPr lang="zh-TW" altLang="en-US" dirty="0"/>
              <a:t>的十補數為 </a:t>
            </a:r>
            <a:r>
              <a:rPr lang="en-US" altLang="zh-TW" dirty="0"/>
              <a:t>8 (2 +  8 = 10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lvl="1"/>
            <a:r>
              <a:rPr lang="en-US" altLang="zh-TW" dirty="0" smtClean="0">
                <a:uFill>
                  <a:solidFill>
                    <a:srgbClr val="0000CC"/>
                  </a:solidFill>
                </a:uFill>
              </a:rPr>
              <a:t>37 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的十補數為 </a:t>
            </a:r>
            <a:r>
              <a:rPr lang="en-US" altLang="zh-TW" dirty="0" smtClean="0">
                <a:uFill>
                  <a:solidFill>
                    <a:srgbClr val="0000CC"/>
                  </a:solidFill>
                </a:uFill>
              </a:rPr>
              <a:t>63 (37 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+ </a:t>
            </a:r>
            <a:r>
              <a:rPr lang="en-US" altLang="zh-TW" dirty="0" smtClean="0">
                <a:uFill>
                  <a:solidFill>
                    <a:srgbClr val="0000CC"/>
                  </a:solidFill>
                </a:uFill>
              </a:rPr>
              <a:t>63 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= </a:t>
            </a:r>
            <a:r>
              <a:rPr lang="en-US" altLang="zh-TW" dirty="0" smtClean="0">
                <a:uFill>
                  <a:solidFill>
                    <a:srgbClr val="0000CC"/>
                  </a:solidFill>
                </a:uFill>
              </a:rPr>
              <a:t>100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)</a:t>
            </a:r>
          </a:p>
          <a:p>
            <a:pPr lvl="1"/>
            <a:endParaRPr lang="en-US" altLang="zh-TW" dirty="0"/>
          </a:p>
          <a:p>
            <a:pPr marL="109728" indent="0">
              <a:buNone/>
            </a:pPr>
            <a:r>
              <a:rPr lang="zh-TW" altLang="en-US" dirty="0"/>
              <a:t>在二進位系統中，若兩數互為對方的二的補數，則代表兩數的和使得原來的每一個位數均為 </a:t>
            </a:r>
            <a:r>
              <a:rPr lang="en-US" altLang="zh-TW" dirty="0"/>
              <a:t>0</a:t>
            </a:r>
            <a:r>
              <a:rPr lang="zh-TW" altLang="en-US" dirty="0"/>
              <a:t>，並產生溢位。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</p:spTree>
    <p:extLst>
      <p:ext uri="{BB962C8B-B14F-4D97-AF65-F5344CB8AC3E}">
        <p14:creationId xmlns:p14="http://schemas.microsoft.com/office/powerpoint/2010/main" val="176942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094157"/>
            <a:ext cx="5760640" cy="5359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420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256584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二的補數表示法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 smtClean="0"/>
              <a:t>給</a:t>
            </a:r>
            <a:r>
              <a:rPr lang="zh-TW" altLang="en-US" dirty="0"/>
              <a:t>定一個二進位數，有沒有方法快速的將它的二補數算出來呢？</a:t>
            </a:r>
            <a:endParaRPr lang="en-US" altLang="zh-TW" dirty="0"/>
          </a:p>
          <a:p>
            <a:pPr lvl="1"/>
            <a:r>
              <a:rPr lang="zh-TW" altLang="en-US" dirty="0"/>
              <a:t>找出它的一補數 </a:t>
            </a:r>
            <a:r>
              <a:rPr lang="en-US" altLang="zh-TW" dirty="0"/>
              <a:t>( </a:t>
            </a:r>
            <a:r>
              <a:rPr lang="zh-TW" altLang="en-US" dirty="0"/>
              <a:t>即 </a:t>
            </a:r>
            <a:r>
              <a:rPr lang="en-US" altLang="zh-TW" dirty="0"/>
              <a:t>1 </a:t>
            </a:r>
            <a:r>
              <a:rPr lang="zh-TW" altLang="en-US" dirty="0"/>
              <a:t>變 </a:t>
            </a:r>
            <a:r>
              <a:rPr lang="en-US" altLang="zh-TW" dirty="0"/>
              <a:t>0</a:t>
            </a:r>
            <a:r>
              <a:rPr lang="zh-TW" altLang="en-US" dirty="0"/>
              <a:t>，</a:t>
            </a:r>
            <a:r>
              <a:rPr lang="en-US" altLang="zh-TW" dirty="0"/>
              <a:t>0 </a:t>
            </a:r>
            <a:r>
              <a:rPr lang="zh-TW" altLang="en-US" dirty="0"/>
              <a:t>變 </a:t>
            </a:r>
            <a:r>
              <a:rPr lang="en-US" altLang="zh-TW" dirty="0"/>
              <a:t>1 )</a:t>
            </a:r>
            <a:r>
              <a:rPr lang="zh-TW" altLang="en-US" dirty="0"/>
              <a:t>，接著再將此補數加上 </a:t>
            </a:r>
            <a:r>
              <a:rPr lang="en-US" altLang="zh-TW" dirty="0"/>
              <a:t>1</a:t>
            </a:r>
            <a:r>
              <a:rPr lang="zh-TW" altLang="en-US" dirty="0"/>
              <a:t>，即可得到此二進位數的二的補數</a:t>
            </a:r>
            <a:endParaRPr lang="en-US" altLang="zh-TW" dirty="0"/>
          </a:p>
          <a:p>
            <a:pPr lvl="1"/>
            <a:r>
              <a:rPr lang="zh-TW" altLang="en-US" dirty="0"/>
              <a:t>也就是說 </a:t>
            </a:r>
            <a:r>
              <a:rPr lang="en-US" altLang="zh-TW" dirty="0">
                <a:sym typeface="Symbol" panose="05050102010706020507" pitchFamily="18" charset="2"/>
              </a:rPr>
              <a:t></a:t>
            </a:r>
            <a:r>
              <a:rPr lang="zh-TW" altLang="en-US" dirty="0"/>
              <a:t>「</a:t>
            </a:r>
            <a:r>
              <a:rPr lang="en-US" altLang="zh-TW" dirty="0"/>
              <a:t>1 </a:t>
            </a:r>
            <a:r>
              <a:rPr lang="zh-TW" altLang="en-US" dirty="0"/>
              <a:t>變 </a:t>
            </a:r>
            <a:r>
              <a:rPr lang="en-US" altLang="zh-TW" dirty="0"/>
              <a:t>0</a:t>
            </a:r>
            <a:r>
              <a:rPr lang="zh-TW" altLang="en-US" dirty="0"/>
              <a:t>，</a:t>
            </a:r>
            <a:r>
              <a:rPr lang="en-US" altLang="zh-TW" dirty="0"/>
              <a:t>0 </a:t>
            </a:r>
            <a:r>
              <a:rPr lang="zh-TW" altLang="en-US" dirty="0"/>
              <a:t>變 </a:t>
            </a:r>
            <a:r>
              <a:rPr lang="en-US" altLang="zh-TW" dirty="0"/>
              <a:t>1</a:t>
            </a:r>
            <a:r>
              <a:rPr lang="zh-TW" altLang="en-US" dirty="0"/>
              <a:t>，變完之後再加 </a:t>
            </a:r>
            <a:r>
              <a:rPr lang="en-US" altLang="zh-TW" dirty="0"/>
              <a:t>1</a:t>
            </a:r>
            <a:r>
              <a:rPr lang="zh-TW" altLang="en-US" dirty="0"/>
              <a:t>」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</p:spTree>
    <p:extLst>
      <p:ext uri="{BB962C8B-B14F-4D97-AF65-F5344CB8AC3E}">
        <p14:creationId xmlns:p14="http://schemas.microsoft.com/office/powerpoint/2010/main" val="357723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二的補數表示</a:t>
            </a:r>
            <a:r>
              <a:rPr lang="zh-TW" altLang="en-US" b="1" dirty="0" smtClean="0">
                <a:solidFill>
                  <a:schemeClr val="accent3"/>
                </a:solidFill>
              </a:rPr>
              <a:t>法</a:t>
            </a:r>
            <a:endParaRPr lang="en-US" altLang="zh-TW" dirty="0" smtClean="0"/>
          </a:p>
          <a:p>
            <a:r>
              <a:rPr lang="zh-TW" altLang="en-US" dirty="0" smtClean="0"/>
              <a:t>二進位</a:t>
            </a:r>
            <a:r>
              <a:rPr lang="zh-TW" altLang="en-US" dirty="0"/>
              <a:t>數 </a:t>
            </a:r>
            <a:r>
              <a:rPr lang="en-US" altLang="zh-TW" dirty="0"/>
              <a:t>001100 </a:t>
            </a:r>
            <a:r>
              <a:rPr lang="zh-TW" altLang="en-US" dirty="0"/>
              <a:t>的二的補數</a:t>
            </a:r>
            <a:endParaRPr lang="en-US" altLang="zh-TW" dirty="0"/>
          </a:p>
          <a:p>
            <a:pPr lvl="1"/>
            <a:r>
              <a:rPr lang="zh-TW" altLang="en-US" dirty="0" smtClean="0"/>
              <a:t>先</a:t>
            </a:r>
            <a:r>
              <a:rPr lang="zh-TW" altLang="en-US" dirty="0"/>
              <a:t>將 </a:t>
            </a:r>
            <a:r>
              <a:rPr lang="en-US" altLang="zh-TW" dirty="0"/>
              <a:t>1 </a:t>
            </a:r>
            <a:r>
              <a:rPr lang="zh-TW" altLang="en-US" dirty="0"/>
              <a:t>變 </a:t>
            </a:r>
            <a:r>
              <a:rPr lang="en-US" altLang="zh-TW" dirty="0"/>
              <a:t>0</a:t>
            </a:r>
            <a:r>
              <a:rPr lang="zh-TW" altLang="en-US" dirty="0"/>
              <a:t>，</a:t>
            </a:r>
            <a:r>
              <a:rPr lang="en-US" altLang="zh-TW" dirty="0"/>
              <a:t>0 </a:t>
            </a:r>
            <a:r>
              <a:rPr lang="zh-TW" altLang="en-US" dirty="0"/>
              <a:t>變 </a:t>
            </a:r>
            <a:r>
              <a:rPr lang="en-US" altLang="zh-TW" dirty="0"/>
              <a:t>1</a:t>
            </a:r>
            <a:r>
              <a:rPr lang="zh-TW" altLang="en-US" dirty="0"/>
              <a:t>，得到 </a:t>
            </a:r>
            <a:r>
              <a:rPr lang="en-US" altLang="zh-TW" dirty="0"/>
              <a:t>110011</a:t>
            </a:r>
          </a:p>
          <a:p>
            <a:pPr lvl="1"/>
            <a:r>
              <a:rPr lang="zh-TW" altLang="en-US" dirty="0"/>
              <a:t>再將此數加上 </a:t>
            </a:r>
            <a:r>
              <a:rPr lang="en-US" altLang="zh-TW" dirty="0"/>
              <a:t>1</a:t>
            </a:r>
            <a:r>
              <a:rPr lang="zh-TW" altLang="en-US" dirty="0"/>
              <a:t>，即可得到 </a:t>
            </a:r>
            <a:r>
              <a:rPr lang="en-US" altLang="zh-TW" dirty="0"/>
              <a:t>001100 </a:t>
            </a:r>
            <a:r>
              <a:rPr lang="zh-TW" altLang="en-US" dirty="0"/>
              <a:t>的二補數為 </a:t>
            </a:r>
            <a:r>
              <a:rPr lang="en-US" altLang="zh-TW" dirty="0"/>
              <a:t>110100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924944"/>
            <a:ext cx="4066178" cy="2936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365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二的補數表示</a:t>
            </a:r>
            <a:r>
              <a:rPr lang="zh-TW" altLang="en-US" b="1" dirty="0" smtClean="0">
                <a:solidFill>
                  <a:schemeClr val="accent3"/>
                </a:solidFill>
              </a:rPr>
              <a:t>法</a:t>
            </a:r>
            <a:endParaRPr lang="en-US" altLang="zh-TW" dirty="0" smtClean="0"/>
          </a:p>
          <a:p>
            <a:r>
              <a:rPr lang="zh-TW" altLang="en-US" dirty="0" smtClean="0"/>
              <a:t>以</a:t>
            </a:r>
            <a:r>
              <a:rPr lang="zh-TW" altLang="en-US" dirty="0"/>
              <a:t>位元字串最左邊的位元表示正負符號，剩下來的位元則用來表示數的大小。</a:t>
            </a:r>
            <a:endParaRPr lang="en-US" altLang="zh-TW" dirty="0"/>
          </a:p>
          <a:p>
            <a:r>
              <a:rPr lang="zh-TW" altLang="en-US" dirty="0"/>
              <a:t>正數的表示方式與帶正負符號數字表示法相同</a:t>
            </a:r>
            <a:endParaRPr lang="en-US" altLang="zh-TW" dirty="0"/>
          </a:p>
          <a:p>
            <a:pPr lvl="1"/>
            <a:r>
              <a:rPr lang="zh-TW" altLang="en-US" dirty="0"/>
              <a:t>用 </a:t>
            </a:r>
            <a:r>
              <a:rPr lang="en-US" altLang="zh-TW" dirty="0"/>
              <a:t>1 </a:t>
            </a:r>
            <a:r>
              <a:rPr lang="zh-TW" altLang="en-US" dirty="0"/>
              <a:t>個位元組來表示整數，則</a:t>
            </a:r>
            <a:r>
              <a:rPr lang="en-US" altLang="zh-TW" dirty="0"/>
              <a:t> (5)</a:t>
            </a:r>
            <a:r>
              <a:rPr lang="en-US" altLang="zh-TW" baseline="-25000" dirty="0"/>
              <a:t>10</a:t>
            </a:r>
            <a:r>
              <a:rPr lang="en-US" altLang="zh-TW" dirty="0"/>
              <a:t> </a:t>
            </a:r>
            <a:r>
              <a:rPr lang="zh-TW" altLang="en-US" dirty="0"/>
              <a:t>的二的補數表示法為 </a:t>
            </a:r>
            <a:r>
              <a:rPr lang="en-US" altLang="zh-TW" dirty="0"/>
              <a:t>(00000101)</a:t>
            </a:r>
            <a:r>
              <a:rPr lang="en-US" altLang="zh-TW" baseline="-25000" dirty="0"/>
              <a:t>2</a:t>
            </a:r>
          </a:p>
          <a:p>
            <a:pPr lvl="1"/>
            <a:r>
              <a:rPr lang="zh-TW" altLang="en-US" dirty="0"/>
              <a:t>利用 </a:t>
            </a:r>
            <a:r>
              <a:rPr lang="en-US" altLang="zh-TW" dirty="0"/>
              <a:t>8 </a:t>
            </a:r>
            <a:r>
              <a:rPr lang="zh-TW" altLang="en-US" dirty="0"/>
              <a:t>位元儲存整數時，能表示的正整數範圍為</a:t>
            </a:r>
            <a:r>
              <a:rPr lang="en-US" altLang="zh-TW" dirty="0"/>
              <a:t> (00000000)</a:t>
            </a:r>
            <a:r>
              <a:rPr lang="en-US" altLang="zh-TW" baseline="-25000" dirty="0"/>
              <a:t>2</a:t>
            </a:r>
            <a:r>
              <a:rPr lang="en-US" altLang="zh-TW" dirty="0"/>
              <a:t> ~ (01111111)</a:t>
            </a:r>
            <a:r>
              <a:rPr lang="en-US" altLang="zh-TW" baseline="-25000" dirty="0"/>
              <a:t>2</a:t>
            </a:r>
            <a:r>
              <a:rPr lang="zh-TW" altLang="en-US" dirty="0"/>
              <a:t>，也就是 </a:t>
            </a:r>
            <a:r>
              <a:rPr lang="en-US" altLang="zh-TW" dirty="0"/>
              <a:t>0 ~ 127</a:t>
            </a:r>
          </a:p>
          <a:p>
            <a:r>
              <a:rPr lang="zh-TW" altLang="en-US" dirty="0"/>
              <a:t>負數表示 </a:t>
            </a:r>
            <a:r>
              <a:rPr lang="en-US" altLang="zh-TW" dirty="0"/>
              <a:t>( </a:t>
            </a:r>
            <a:r>
              <a:rPr lang="zh-TW" altLang="en-US" dirty="0"/>
              <a:t>以 </a:t>
            </a:r>
            <a:r>
              <a:rPr lang="en-US" altLang="zh-TW" dirty="0"/>
              <a:t>8 </a:t>
            </a:r>
            <a:r>
              <a:rPr lang="zh-TW" altLang="en-US" dirty="0"/>
              <a:t>位元為例 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先忽略其符號，並將該數轉成 </a:t>
            </a:r>
            <a:r>
              <a:rPr lang="en-US" altLang="zh-TW" dirty="0"/>
              <a:t>7 </a:t>
            </a:r>
            <a:r>
              <a:rPr lang="zh-TW" altLang="en-US" dirty="0"/>
              <a:t>位元的二進位數</a:t>
            </a:r>
            <a:endParaRPr lang="en-US" altLang="zh-TW" dirty="0"/>
          </a:p>
          <a:p>
            <a:pPr lvl="1"/>
            <a:r>
              <a:rPr lang="zh-TW" altLang="en-US" dirty="0"/>
              <a:t>將此二進位數換成其二的補數，最後在左邊加上 </a:t>
            </a:r>
            <a:r>
              <a:rPr lang="en-US" altLang="zh-TW" dirty="0"/>
              <a:t>1 </a:t>
            </a:r>
            <a:r>
              <a:rPr lang="zh-TW" altLang="en-US" dirty="0"/>
              <a:t>個位元並設為 </a:t>
            </a:r>
            <a:r>
              <a:rPr lang="en-US" altLang="zh-TW" dirty="0"/>
              <a:t>1 ( </a:t>
            </a:r>
            <a:r>
              <a:rPr lang="zh-TW" altLang="en-US" dirty="0"/>
              <a:t>代表負數 </a:t>
            </a:r>
            <a:r>
              <a:rPr lang="en-US" altLang="zh-TW" dirty="0"/>
              <a:t>) </a:t>
            </a:r>
            <a:r>
              <a:rPr lang="zh-TW" altLang="en-US" dirty="0"/>
              <a:t>即完成轉換。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</p:spTree>
    <p:extLst>
      <p:ext uri="{BB962C8B-B14F-4D97-AF65-F5344CB8AC3E}">
        <p14:creationId xmlns:p14="http://schemas.microsoft.com/office/powerpoint/2010/main" val="393720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二的補數表示</a:t>
            </a:r>
            <a:r>
              <a:rPr lang="zh-TW" altLang="en-US" b="1" dirty="0" smtClean="0">
                <a:solidFill>
                  <a:schemeClr val="accent3"/>
                </a:solidFill>
              </a:rPr>
              <a:t>法</a:t>
            </a:r>
            <a:endParaRPr lang="en-US" altLang="zh-TW" dirty="0" smtClean="0"/>
          </a:p>
          <a:p>
            <a:r>
              <a:rPr lang="zh-TW" altLang="en-US" dirty="0" smtClean="0"/>
              <a:t>以 </a:t>
            </a:r>
            <a:r>
              <a:rPr lang="en-US" altLang="zh-TW" dirty="0"/>
              <a:t>8 </a:t>
            </a:r>
            <a:r>
              <a:rPr lang="zh-TW" altLang="en-US" dirty="0"/>
              <a:t>位元表示</a:t>
            </a:r>
            <a:r>
              <a:rPr lang="en-US" altLang="zh-TW" dirty="0"/>
              <a:t> − (5)</a:t>
            </a:r>
            <a:r>
              <a:rPr lang="en-US" altLang="zh-TW" baseline="-25000" dirty="0"/>
              <a:t>10</a:t>
            </a:r>
            <a:r>
              <a:rPr lang="en-US" altLang="zh-TW" dirty="0"/>
              <a:t> </a:t>
            </a:r>
            <a:r>
              <a:rPr lang="zh-TW" altLang="en-US" dirty="0"/>
              <a:t>為例</a:t>
            </a:r>
            <a:endParaRPr lang="en-US" altLang="zh-TW" dirty="0"/>
          </a:p>
          <a:p>
            <a:pPr lvl="1"/>
            <a:r>
              <a:rPr lang="zh-TW" altLang="en-US" dirty="0" smtClean="0"/>
              <a:t>將 </a:t>
            </a:r>
            <a:r>
              <a:rPr lang="en-US" altLang="zh-TW" dirty="0"/>
              <a:t>5 </a:t>
            </a:r>
            <a:r>
              <a:rPr lang="zh-TW" altLang="en-US" dirty="0"/>
              <a:t>轉成一個 </a:t>
            </a:r>
            <a:r>
              <a:rPr lang="en-US" altLang="zh-TW" dirty="0"/>
              <a:t>7 </a:t>
            </a:r>
            <a:r>
              <a:rPr lang="zh-TW" altLang="en-US" dirty="0"/>
              <a:t>位元的二進位數，得到 </a:t>
            </a:r>
            <a:r>
              <a:rPr lang="en-US" altLang="zh-TW" dirty="0"/>
              <a:t>0000101</a:t>
            </a:r>
          </a:p>
          <a:p>
            <a:pPr lvl="1"/>
            <a:r>
              <a:rPr lang="zh-TW" altLang="en-US" dirty="0"/>
              <a:t>將 </a:t>
            </a:r>
            <a:r>
              <a:rPr lang="en-US" altLang="zh-TW" dirty="0"/>
              <a:t>0000101 </a:t>
            </a:r>
            <a:r>
              <a:rPr lang="zh-TW" altLang="en-US" dirty="0"/>
              <a:t>轉成其二的補數，得到 </a:t>
            </a:r>
            <a:r>
              <a:rPr lang="en-US" altLang="zh-TW" dirty="0"/>
              <a:t>1111011</a:t>
            </a:r>
          </a:p>
          <a:p>
            <a:pPr lvl="1"/>
            <a:r>
              <a:rPr lang="zh-TW" altLang="en-US" dirty="0"/>
              <a:t>最後在最左邊補上 </a:t>
            </a:r>
            <a:r>
              <a:rPr lang="en-US" altLang="zh-TW" dirty="0"/>
              <a:t>1 </a:t>
            </a:r>
            <a:r>
              <a:rPr lang="zh-TW" altLang="en-US" dirty="0"/>
              <a:t>個位元並設成 </a:t>
            </a:r>
            <a:r>
              <a:rPr lang="en-US" altLang="zh-TW" dirty="0"/>
              <a:t>1 ( </a:t>
            </a:r>
            <a:r>
              <a:rPr lang="zh-TW" altLang="en-US" dirty="0"/>
              <a:t>代表負數 </a:t>
            </a:r>
            <a:r>
              <a:rPr lang="en-US" altLang="zh-TW" dirty="0"/>
              <a:t>)</a:t>
            </a:r>
            <a:r>
              <a:rPr lang="zh-TW" altLang="en-US" dirty="0"/>
              <a:t>，即得到</a:t>
            </a:r>
            <a:r>
              <a:rPr lang="en-US" altLang="zh-TW" dirty="0"/>
              <a:t> (11111011)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zh-TW" altLang="en-US" dirty="0"/>
              <a:t>為 </a:t>
            </a:r>
            <a:r>
              <a:rPr lang="en-US" altLang="zh-TW" dirty="0"/>
              <a:t>− 5 </a:t>
            </a:r>
            <a:r>
              <a:rPr lang="zh-TW" altLang="en-US" dirty="0"/>
              <a:t>的二補數表示法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</p:spTree>
    <p:extLst>
      <p:ext uri="{BB962C8B-B14F-4D97-AF65-F5344CB8AC3E}">
        <p14:creationId xmlns:p14="http://schemas.microsoft.com/office/powerpoint/2010/main" val="70868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二的補數表示</a:t>
            </a:r>
            <a:r>
              <a:rPr lang="zh-TW" altLang="en-US" b="1" dirty="0" smtClean="0">
                <a:solidFill>
                  <a:schemeClr val="accent3"/>
                </a:solidFill>
              </a:rPr>
              <a:t>法</a:t>
            </a:r>
            <a:endParaRPr lang="en-US" altLang="zh-TW" dirty="0" smtClean="0"/>
          </a:p>
          <a:p>
            <a:r>
              <a:rPr lang="zh-TW" altLang="en-US" dirty="0" smtClean="0"/>
              <a:t>若 </a:t>
            </a:r>
            <a:r>
              <a:rPr lang="en-US" altLang="zh-TW" dirty="0"/>
              <a:t>(00010101)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zh-TW" altLang="en-US" dirty="0"/>
              <a:t>是利用二的補數法表示的整數，那麼它代表的十進位數為何？</a:t>
            </a:r>
            <a:endParaRPr lang="en-US" altLang="zh-TW" dirty="0"/>
          </a:p>
          <a:p>
            <a:pPr lvl="1"/>
            <a:r>
              <a:rPr lang="zh-TW" altLang="en-US" dirty="0" smtClean="0"/>
              <a:t>最</a:t>
            </a:r>
            <a:r>
              <a:rPr lang="zh-TW" altLang="en-US" dirty="0"/>
              <a:t>左邊的位元為 </a:t>
            </a:r>
            <a:r>
              <a:rPr lang="en-US" altLang="zh-TW" dirty="0"/>
              <a:t>0</a:t>
            </a:r>
            <a:r>
              <a:rPr lang="zh-TW" altLang="en-US" dirty="0"/>
              <a:t>，此數為一個正數</a:t>
            </a:r>
            <a:endParaRPr lang="en-US" altLang="zh-TW" dirty="0"/>
          </a:p>
          <a:p>
            <a:pPr lvl="1"/>
            <a:r>
              <a:rPr lang="zh-TW" altLang="en-US" dirty="0"/>
              <a:t>取出右邊 </a:t>
            </a:r>
            <a:r>
              <a:rPr lang="en-US" altLang="zh-TW" dirty="0"/>
              <a:t>7 </a:t>
            </a:r>
            <a:r>
              <a:rPr lang="zh-TW" altLang="en-US" dirty="0"/>
              <a:t>個位元 </a:t>
            </a:r>
            <a:r>
              <a:rPr lang="en-US" altLang="zh-TW" dirty="0"/>
              <a:t>( </a:t>
            </a:r>
            <a:r>
              <a:rPr lang="zh-TW" altLang="en-US" dirty="0"/>
              <a:t>代表著數的大小 </a:t>
            </a:r>
            <a:r>
              <a:rPr lang="en-US" altLang="zh-TW" dirty="0"/>
              <a:t>)</a:t>
            </a:r>
            <a:r>
              <a:rPr lang="zh-TW" altLang="en-US" dirty="0"/>
              <a:t>，算出其表示的十進位數為 </a:t>
            </a:r>
            <a:r>
              <a:rPr lang="en-US" altLang="zh-TW" dirty="0"/>
              <a:t>21</a:t>
            </a:r>
            <a:r>
              <a:rPr lang="zh-TW" altLang="en-US" dirty="0"/>
              <a:t>，即得到答案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</p:spTree>
    <p:extLst>
      <p:ext uri="{BB962C8B-B14F-4D97-AF65-F5344CB8AC3E}">
        <p14:creationId xmlns:p14="http://schemas.microsoft.com/office/powerpoint/2010/main" val="395062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二的補數表示</a:t>
            </a:r>
            <a:r>
              <a:rPr lang="zh-TW" altLang="en-US" b="1" dirty="0" smtClean="0">
                <a:solidFill>
                  <a:schemeClr val="accent3"/>
                </a:solidFill>
              </a:rPr>
              <a:t>法</a:t>
            </a:r>
            <a:endParaRPr lang="en-US" altLang="zh-TW" dirty="0" smtClean="0"/>
          </a:p>
          <a:p>
            <a:r>
              <a:rPr lang="zh-TW" altLang="en-US" dirty="0" smtClean="0"/>
              <a:t>若 </a:t>
            </a:r>
            <a:r>
              <a:rPr lang="en-US" altLang="zh-TW" dirty="0"/>
              <a:t>(10010101)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zh-TW" altLang="en-US" dirty="0"/>
              <a:t>是利用二的補數法表示的整數，那麼它代表的十進位數為何？</a:t>
            </a:r>
            <a:endParaRPr lang="en-US" altLang="zh-TW" dirty="0"/>
          </a:p>
          <a:p>
            <a:pPr lvl="1">
              <a:spcBef>
                <a:spcPts val="0"/>
              </a:spcBef>
            </a:pPr>
            <a:r>
              <a:rPr lang="zh-TW" altLang="en-US" dirty="0" smtClean="0"/>
              <a:t>最</a:t>
            </a:r>
            <a:r>
              <a:rPr lang="zh-TW" altLang="en-US" dirty="0"/>
              <a:t>左邊的位元為 </a:t>
            </a:r>
            <a:r>
              <a:rPr lang="en-US" altLang="zh-TW" dirty="0"/>
              <a:t>1</a:t>
            </a:r>
            <a:r>
              <a:rPr lang="zh-TW" altLang="en-US" dirty="0"/>
              <a:t>，此數為一個負數</a:t>
            </a:r>
            <a:endParaRPr lang="en-US" altLang="zh-TW" dirty="0"/>
          </a:p>
          <a:p>
            <a:pPr lvl="1"/>
            <a:r>
              <a:rPr lang="zh-TW" altLang="en-US" dirty="0"/>
              <a:t>取出右邊 </a:t>
            </a:r>
            <a:r>
              <a:rPr lang="en-US" altLang="zh-TW" dirty="0"/>
              <a:t>7 </a:t>
            </a:r>
            <a:r>
              <a:rPr lang="zh-TW" altLang="en-US" dirty="0"/>
              <a:t>個位元，並將其轉成原數</a:t>
            </a:r>
            <a:endParaRPr lang="en-US" altLang="zh-TW" dirty="0"/>
          </a:p>
          <a:p>
            <a:pPr lvl="2"/>
            <a:r>
              <a:rPr lang="zh-TW" altLang="en-US" dirty="0"/>
              <a:t>在補數系統中任何數的 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zh-TW" altLang="en-US" dirty="0"/>
              <a:t>補數的 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zh-TW" altLang="en-US" dirty="0"/>
              <a:t>補數會是它自己</a:t>
            </a:r>
            <a:endParaRPr lang="en-US" altLang="zh-TW" dirty="0"/>
          </a:p>
          <a:p>
            <a:pPr lvl="2"/>
            <a:r>
              <a:rPr lang="zh-TW" altLang="en-US" dirty="0"/>
              <a:t>原</a:t>
            </a:r>
            <a:r>
              <a:rPr lang="zh-TW" altLang="en-US" dirty="0" smtClean="0"/>
              <a:t>數為</a:t>
            </a:r>
            <a:r>
              <a:rPr lang="en-US" altLang="zh-TW" dirty="0"/>
              <a:t>1101011</a:t>
            </a:r>
          </a:p>
          <a:p>
            <a:pPr lvl="1"/>
            <a:r>
              <a:rPr lang="zh-TW" altLang="en-US" dirty="0"/>
              <a:t>算出原數表示的十進位數為 </a:t>
            </a:r>
            <a:r>
              <a:rPr lang="en-US" altLang="zh-TW" dirty="0"/>
              <a:t>107</a:t>
            </a:r>
            <a:r>
              <a:rPr lang="zh-TW" altLang="en-US" dirty="0"/>
              <a:t>，因此得知 </a:t>
            </a:r>
            <a:r>
              <a:rPr lang="en-US" altLang="zh-TW" dirty="0"/>
              <a:t>10010101 </a:t>
            </a:r>
            <a:r>
              <a:rPr lang="zh-TW" altLang="en-US" dirty="0"/>
              <a:t>表示的是 </a:t>
            </a:r>
            <a:r>
              <a:rPr lang="en-US" altLang="zh-TW" dirty="0"/>
              <a:t>− 107</a:t>
            </a:r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2915816" y="4653136"/>
            <a:ext cx="2782023" cy="193899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1101010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0010101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一補數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0010110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二補數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1101001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一補數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1101010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二補數</a:t>
            </a:r>
          </a:p>
        </p:txBody>
      </p:sp>
    </p:spTree>
    <p:extLst>
      <p:ext uri="{BB962C8B-B14F-4D97-AF65-F5344CB8AC3E}">
        <p14:creationId xmlns:p14="http://schemas.microsoft.com/office/powerpoint/2010/main" val="1558919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24744"/>
            <a:ext cx="7720218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圓角矩形 4"/>
          <p:cNvSpPr/>
          <p:nvPr/>
        </p:nvSpPr>
        <p:spPr>
          <a:xfrm>
            <a:off x="467544" y="4581128"/>
            <a:ext cx="7792226" cy="50405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3059832" y="5361571"/>
            <a:ext cx="2016224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/>
              <a:t>0</a:t>
            </a:r>
            <a:r>
              <a:rPr lang="zh-TW" altLang="en-US" dirty="0"/>
              <a:t>的表示法唯一</a:t>
            </a:r>
            <a:r>
              <a:rPr lang="en-US" altLang="zh-TW" dirty="0"/>
              <a:t>!!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905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二的補數表示</a:t>
            </a:r>
            <a:r>
              <a:rPr lang="zh-TW" altLang="en-US" b="1" dirty="0" smtClean="0">
                <a:solidFill>
                  <a:schemeClr val="accent3"/>
                </a:solidFill>
              </a:rPr>
              <a:t>法</a:t>
            </a:r>
            <a:endParaRPr lang="en-US" altLang="zh-TW" dirty="0" smtClean="0"/>
          </a:p>
          <a:p>
            <a:r>
              <a:rPr lang="zh-TW" altLang="en-US" dirty="0" smtClean="0"/>
              <a:t>二</a:t>
            </a:r>
            <a:r>
              <a:rPr lang="zh-TW" altLang="en-US" dirty="0"/>
              <a:t>的補數表示法能描述的負數範圍</a:t>
            </a:r>
            <a:endParaRPr lang="en-US" altLang="zh-TW" dirty="0"/>
          </a:p>
          <a:p>
            <a:pPr lvl="1"/>
            <a:r>
              <a:rPr lang="zh-TW" altLang="en-US" dirty="0"/>
              <a:t>以 </a:t>
            </a:r>
            <a:r>
              <a:rPr lang="en-US" altLang="zh-TW" dirty="0"/>
              <a:t>8 </a:t>
            </a:r>
            <a:r>
              <a:rPr lang="zh-TW" altLang="en-US" dirty="0"/>
              <a:t>位元為例，</a:t>
            </a:r>
            <a:r>
              <a:rPr lang="en-US" altLang="zh-TW" dirty="0"/>
              <a:t>10000000 </a:t>
            </a:r>
            <a:r>
              <a:rPr lang="zh-TW" altLang="en-US" dirty="0"/>
              <a:t>是其能表示的最大負數</a:t>
            </a:r>
            <a:endParaRPr lang="en-US" altLang="zh-TW" dirty="0"/>
          </a:p>
          <a:p>
            <a:pPr lvl="1"/>
            <a:r>
              <a:rPr lang="zh-TW" altLang="en-US" dirty="0"/>
              <a:t>最左邊的 </a:t>
            </a:r>
            <a:r>
              <a:rPr lang="en-US" altLang="zh-TW" dirty="0"/>
              <a:t>1 </a:t>
            </a:r>
            <a:r>
              <a:rPr lang="zh-TW" altLang="en-US" dirty="0"/>
              <a:t>代表負數，而 </a:t>
            </a:r>
            <a:r>
              <a:rPr lang="en-US" altLang="zh-TW" dirty="0"/>
              <a:t>0000000 </a:t>
            </a:r>
            <a:r>
              <a:rPr lang="zh-TW" altLang="en-US" dirty="0"/>
              <a:t>則為原數的二的補數，故可得到原數為 </a:t>
            </a:r>
            <a:r>
              <a:rPr lang="en-US" altLang="zh-TW" dirty="0"/>
              <a:t>(10000000)</a:t>
            </a:r>
            <a:r>
              <a:rPr lang="en-US" altLang="zh-TW" baseline="-25000" dirty="0"/>
              <a:t>2</a:t>
            </a:r>
            <a:r>
              <a:rPr lang="en-US" altLang="zh-TW" dirty="0"/>
              <a:t> = 2</a:t>
            </a:r>
            <a:r>
              <a:rPr lang="en-US" altLang="zh-TW" baseline="30000" dirty="0"/>
              <a:t>7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利用 </a:t>
            </a:r>
            <a:r>
              <a:rPr lang="en-US" altLang="zh-TW" dirty="0"/>
              <a:t>8 </a:t>
            </a:r>
            <a:r>
              <a:rPr lang="zh-TW" altLang="en-US" dirty="0"/>
              <a:t>位元儲存數字，二的補數表示法可表示的負整數範圍為 </a:t>
            </a:r>
            <a:r>
              <a:rPr lang="en-US" altLang="zh-TW" dirty="0"/>
              <a:t>− 1 ~ − 128</a:t>
            </a:r>
            <a:r>
              <a:rPr lang="zh-TW" altLang="en-US" dirty="0"/>
              <a:t>；將其擴充到 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zh-TW" altLang="en-US" dirty="0"/>
              <a:t>個位元，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zh-TW" altLang="en-US" dirty="0"/>
              <a:t>位元的二的補數表示法能表示的整數</a:t>
            </a:r>
            <a:r>
              <a:rPr lang="zh-TW" altLang="en-US" dirty="0" smtClean="0"/>
              <a:t>範圍為 </a:t>
            </a:r>
            <a:r>
              <a:rPr lang="pt-BR" altLang="zh-TW" dirty="0"/>
              <a:t>− 2</a:t>
            </a:r>
            <a:r>
              <a:rPr lang="pt-BR" altLang="zh-TW" i="1" baseline="30000" dirty="0"/>
              <a:t>n</a:t>
            </a:r>
            <a:r>
              <a:rPr lang="pt-BR" altLang="zh-TW" baseline="30000" dirty="0"/>
              <a:t> − 1</a:t>
            </a:r>
            <a:r>
              <a:rPr lang="pt-BR" altLang="zh-TW" dirty="0"/>
              <a:t> ~ 2</a:t>
            </a:r>
            <a:r>
              <a:rPr lang="pt-BR" altLang="zh-TW" i="1" baseline="30000" dirty="0"/>
              <a:t>n</a:t>
            </a:r>
            <a:r>
              <a:rPr lang="pt-BR" altLang="zh-TW" baseline="30000" dirty="0"/>
              <a:t> − 1</a:t>
            </a:r>
            <a:r>
              <a:rPr lang="pt-BR" altLang="zh-TW" dirty="0"/>
              <a:t> − 1</a:t>
            </a:r>
            <a:r>
              <a:rPr lang="zh-TW" altLang="pt-BR" dirty="0"/>
              <a:t>。</a:t>
            </a:r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</p:spTree>
    <p:extLst>
      <p:ext uri="{BB962C8B-B14F-4D97-AF65-F5344CB8AC3E}">
        <p14:creationId xmlns:p14="http://schemas.microsoft.com/office/powerpoint/2010/main" val="254932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472608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二的補數表示</a:t>
            </a:r>
            <a:r>
              <a:rPr lang="zh-TW" altLang="en-US" b="1" dirty="0" smtClean="0">
                <a:solidFill>
                  <a:schemeClr val="accent3"/>
                </a:solidFill>
              </a:rPr>
              <a:t>法</a:t>
            </a:r>
            <a:endParaRPr lang="en-US" altLang="zh-TW" dirty="0" smtClean="0"/>
          </a:p>
          <a:p>
            <a:r>
              <a:rPr lang="zh-TW" altLang="en-US" dirty="0" smtClean="0"/>
              <a:t>步驟 </a:t>
            </a:r>
            <a:r>
              <a:rPr lang="en-US" altLang="zh-TW" dirty="0"/>
              <a:t>1</a:t>
            </a:r>
            <a:r>
              <a:rPr lang="zh-TW" altLang="en-US" dirty="0"/>
              <a:t>：判斷該數大小</a:t>
            </a:r>
            <a:endParaRPr lang="en-US" altLang="zh-TW" dirty="0"/>
          </a:p>
          <a:p>
            <a:pPr lvl="1"/>
            <a:r>
              <a:rPr lang="zh-TW" altLang="en-US" dirty="0"/>
              <a:t>若該數為</a:t>
            </a:r>
            <a:r>
              <a:rPr lang="en-US" altLang="zh-TW" dirty="0"/>
              <a:t> − 2</a:t>
            </a:r>
            <a:r>
              <a:rPr lang="en-US" altLang="zh-TW" i="1" baseline="30000" dirty="0"/>
              <a:t>n</a:t>
            </a:r>
            <a:r>
              <a:rPr lang="en-US" altLang="zh-TW" baseline="30000" dirty="0"/>
              <a:t> − 1</a:t>
            </a:r>
            <a:r>
              <a:rPr lang="zh-TW" altLang="en-US" dirty="0"/>
              <a:t>：則 </a:t>
            </a:r>
            <a:r>
              <a:rPr lang="en-US" altLang="zh-TW" dirty="0"/>
              <a:t>1000</a:t>
            </a:r>
            <a:r>
              <a:rPr lang="en-US" altLang="zh-TW" baseline="30000" dirty="0"/>
              <a:t>…</a:t>
            </a:r>
            <a:r>
              <a:rPr lang="en-US" altLang="zh-TW" dirty="0"/>
              <a:t>000 (1 </a:t>
            </a:r>
            <a:r>
              <a:rPr lang="zh-TW" altLang="en-US" dirty="0"/>
              <a:t>後面跟著 </a:t>
            </a:r>
            <a:r>
              <a:rPr lang="en-US" altLang="zh-TW" i="1" dirty="0"/>
              <a:t>n</a:t>
            </a:r>
            <a:r>
              <a:rPr lang="en-US" altLang="zh-TW" dirty="0"/>
              <a:t> − 1 </a:t>
            </a:r>
            <a:r>
              <a:rPr lang="zh-TW" altLang="en-US" dirty="0"/>
              <a:t>個 </a:t>
            </a:r>
            <a:r>
              <a:rPr lang="en-US" altLang="zh-TW" dirty="0"/>
              <a:t>0) </a:t>
            </a:r>
            <a:r>
              <a:rPr lang="zh-TW" altLang="en-US" dirty="0"/>
              <a:t>即為所求，轉換結束</a:t>
            </a:r>
            <a:endParaRPr lang="en-US" altLang="zh-TW" dirty="0"/>
          </a:p>
          <a:p>
            <a:pPr lvl="1"/>
            <a:r>
              <a:rPr lang="zh-TW" altLang="en-US" dirty="0"/>
              <a:t>若該數不在</a:t>
            </a:r>
            <a:r>
              <a:rPr lang="en-US" altLang="zh-TW" dirty="0"/>
              <a:t> − 2</a:t>
            </a:r>
            <a:r>
              <a:rPr lang="en-US" altLang="zh-TW" i="1" baseline="30000" dirty="0"/>
              <a:t>n</a:t>
            </a:r>
            <a:r>
              <a:rPr lang="en-US" altLang="zh-TW" baseline="30000" dirty="0"/>
              <a:t> − 1</a:t>
            </a:r>
            <a:r>
              <a:rPr lang="en-US" altLang="zh-TW" dirty="0"/>
              <a:t> ~ − 2</a:t>
            </a:r>
            <a:r>
              <a:rPr lang="en-US" altLang="zh-TW" baseline="30000" dirty="0"/>
              <a:t>n − 1</a:t>
            </a:r>
            <a:r>
              <a:rPr lang="en-US" altLang="zh-TW" dirty="0"/>
              <a:t> – 1 </a:t>
            </a:r>
            <a:r>
              <a:rPr lang="zh-TW" altLang="en-US" dirty="0"/>
              <a:t>範圍內：該數無法用 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zh-TW" altLang="en-US" dirty="0"/>
              <a:t>位元二的補數表示法描述，轉換停止。</a:t>
            </a:r>
            <a:endParaRPr lang="en-US" altLang="zh-TW" dirty="0"/>
          </a:p>
          <a:p>
            <a:pPr lvl="1"/>
            <a:r>
              <a:rPr lang="zh-TW" altLang="en-US" dirty="0"/>
              <a:t>其它：繼續步驟 </a:t>
            </a:r>
            <a:r>
              <a:rPr lang="en-US" altLang="zh-TW" dirty="0"/>
              <a:t>2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zh-TW" altLang="en-US" dirty="0"/>
              <a:t>步驟 </a:t>
            </a:r>
            <a:r>
              <a:rPr lang="en-US" altLang="zh-TW" dirty="0"/>
              <a:t>2</a:t>
            </a:r>
            <a:r>
              <a:rPr lang="zh-TW" altLang="en-US" dirty="0"/>
              <a:t>：忽略其符號，將該數轉成 </a:t>
            </a:r>
            <a:r>
              <a:rPr lang="en-US" altLang="zh-TW" i="1" dirty="0"/>
              <a:t>n</a:t>
            </a:r>
            <a:r>
              <a:rPr lang="en-US" altLang="zh-TW" dirty="0"/>
              <a:t> − 1 </a:t>
            </a:r>
            <a:r>
              <a:rPr lang="zh-TW" altLang="en-US" dirty="0"/>
              <a:t>位元的二進位表示</a:t>
            </a:r>
            <a:r>
              <a:rPr lang="zh-TW" altLang="en-US" dirty="0" smtClean="0"/>
              <a:t>法</a:t>
            </a:r>
            <a:endParaRPr lang="en-US" altLang="zh-TW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</p:spTree>
    <p:extLst>
      <p:ext uri="{BB962C8B-B14F-4D97-AF65-F5344CB8AC3E}">
        <p14:creationId xmlns:p14="http://schemas.microsoft.com/office/powerpoint/2010/main" val="388522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472608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二的補數表示</a:t>
            </a:r>
            <a:r>
              <a:rPr lang="zh-TW" altLang="en-US" b="1" dirty="0" smtClean="0">
                <a:solidFill>
                  <a:schemeClr val="accent3"/>
                </a:solidFill>
              </a:rPr>
              <a:t>法</a:t>
            </a:r>
            <a:endParaRPr lang="en-US" altLang="zh-TW" dirty="0" smtClean="0"/>
          </a:p>
          <a:p>
            <a:r>
              <a:rPr lang="zh-TW" altLang="en-US" dirty="0" smtClean="0"/>
              <a:t>步驟 </a:t>
            </a:r>
            <a:r>
              <a:rPr lang="en-US" altLang="zh-TW" dirty="0"/>
              <a:t>3</a:t>
            </a:r>
            <a:r>
              <a:rPr lang="zh-TW" altLang="en-US" dirty="0"/>
              <a:t>：觀察該數的符號</a:t>
            </a:r>
            <a:endParaRPr lang="en-US" altLang="zh-TW" dirty="0"/>
          </a:p>
          <a:p>
            <a:pPr lvl="1"/>
            <a:r>
              <a:rPr lang="zh-TW" altLang="en-US" dirty="0"/>
              <a:t>若為正數：在 </a:t>
            </a:r>
            <a:r>
              <a:rPr lang="en-US" altLang="zh-TW" i="1" dirty="0"/>
              <a:t>n</a:t>
            </a:r>
            <a:r>
              <a:rPr lang="en-US" altLang="zh-TW" dirty="0"/>
              <a:t> − 1 </a:t>
            </a:r>
            <a:r>
              <a:rPr lang="zh-TW" altLang="en-US" dirty="0"/>
              <a:t>位元的左邊補上 </a:t>
            </a:r>
            <a:r>
              <a:rPr lang="en-US" altLang="zh-TW" dirty="0"/>
              <a:t>1 </a:t>
            </a:r>
            <a:r>
              <a:rPr lang="zh-TW" altLang="en-US" dirty="0"/>
              <a:t>個位元，並設為 </a:t>
            </a:r>
            <a:r>
              <a:rPr lang="en-US" altLang="zh-TW" dirty="0"/>
              <a:t>0</a:t>
            </a:r>
            <a:r>
              <a:rPr lang="zh-TW" altLang="en-US" dirty="0"/>
              <a:t>，完成轉換</a:t>
            </a:r>
            <a:endParaRPr lang="en-US" altLang="zh-TW" dirty="0"/>
          </a:p>
          <a:p>
            <a:pPr lvl="1"/>
            <a:r>
              <a:rPr lang="zh-TW" altLang="en-US" dirty="0"/>
              <a:t>若為負數：將每個位元做二補數的轉換，完成後在此 </a:t>
            </a:r>
            <a:r>
              <a:rPr lang="en-US" altLang="zh-TW" i="1" dirty="0"/>
              <a:t>n</a:t>
            </a:r>
            <a:r>
              <a:rPr lang="en-US" altLang="zh-TW" dirty="0"/>
              <a:t> − 1 </a:t>
            </a:r>
            <a:r>
              <a:rPr lang="zh-TW" altLang="en-US" dirty="0"/>
              <a:t>位元的左邊補上 </a:t>
            </a:r>
            <a:r>
              <a:rPr lang="en-US" altLang="zh-TW" dirty="0"/>
              <a:t>1 </a:t>
            </a:r>
            <a:r>
              <a:rPr lang="zh-TW" altLang="en-US" dirty="0"/>
              <a:t>個位元，並設成 </a:t>
            </a:r>
            <a:r>
              <a:rPr lang="en-US" altLang="zh-TW" dirty="0"/>
              <a:t>1</a:t>
            </a:r>
            <a:r>
              <a:rPr lang="zh-TW" altLang="en-US" dirty="0"/>
              <a:t>，完成轉換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</p:spTree>
    <p:extLst>
      <p:ext uri="{BB962C8B-B14F-4D97-AF65-F5344CB8AC3E}">
        <p14:creationId xmlns:p14="http://schemas.microsoft.com/office/powerpoint/2010/main" val="3254864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310494"/>
            <a:ext cx="7668344" cy="3990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081692" y="2438153"/>
            <a:ext cx="7018699" cy="25030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08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340768"/>
            <a:ext cx="8208912" cy="4199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755576" y="3037111"/>
            <a:ext cx="7776864" cy="22640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51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9"/>
            <a:ext cx="8568952" cy="2232248"/>
          </a:xfrm>
        </p:spPr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二補數系統的加法與減法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en-US" dirty="0" smtClean="0"/>
              <a:t>二</a:t>
            </a:r>
            <a:r>
              <a:rPr lang="zh-TW" altLang="en-US" dirty="0"/>
              <a:t>補數系統數字的加法和一般加法相同</a:t>
            </a:r>
            <a:endParaRPr lang="en-US" altLang="zh-TW" dirty="0"/>
          </a:p>
          <a:p>
            <a:r>
              <a:rPr lang="zh-TW" altLang="en-US" dirty="0"/>
              <a:t>在運算完成後就可以看出結果的正負號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1619672" y="2708920"/>
            <a:ext cx="7272808" cy="27802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須</a:t>
            </a:r>
            <a:r>
              <a:rPr lang="zh-TW" altLang="en-US" sz="2400" dirty="0" smtClean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要</a:t>
            </a: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注意兩個正數相加以及兩個負數相加時是否有</a:t>
            </a:r>
            <a:r>
              <a:rPr lang="zh-TW" altLang="en-US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溢位</a:t>
            </a: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產生</a:t>
            </a: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452628" lvl="0" indent="-342900">
              <a:spcBef>
                <a:spcPts val="400"/>
              </a:spcBef>
              <a:buClr>
                <a:srgbClr val="2DA2BF"/>
              </a:buClr>
              <a:buSzPct val="68000"/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最左邊代表符號的位元是否由 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0 </a:t>
            </a: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變成了 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 ( </a:t>
            </a: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兩正數相加時須注意 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，或是由 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 </a:t>
            </a: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變成了 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0 ( </a:t>
            </a: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兩負數相加時須注意 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marL="452628" lvl="0" indent="-342900">
              <a:spcBef>
                <a:spcPts val="400"/>
              </a:spcBef>
              <a:buClr>
                <a:srgbClr val="2DA2BF"/>
              </a:buClr>
              <a:buSzPct val="68000"/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發生溢位，代表目前使用的位元數不夠儲存相加後的結果，故得到的結果將被忽略，視為無效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573016"/>
            <a:ext cx="1152525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328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109728" indent="0">
              <a:buNone/>
            </a:pPr>
            <a:r>
              <a:rPr lang="zh-TW" altLang="en-US" dirty="0"/>
              <a:t>沒有溢位產生，所以 </a:t>
            </a:r>
            <a:r>
              <a:rPr lang="en-US" altLang="zh-TW" dirty="0"/>
              <a:t>00101001 </a:t>
            </a:r>
            <a:r>
              <a:rPr lang="zh-TW" altLang="en-US" dirty="0"/>
              <a:t>即為答案，也是 </a:t>
            </a:r>
            <a:r>
              <a:rPr lang="en-US" altLang="zh-TW" dirty="0"/>
              <a:t>41 </a:t>
            </a:r>
            <a:r>
              <a:rPr lang="zh-TW" altLang="en-US" dirty="0"/>
              <a:t>的二補數表示法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054" y="1698153"/>
            <a:ext cx="6122274" cy="1586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64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109728" indent="0">
              <a:buNone/>
            </a:pPr>
            <a:r>
              <a:rPr lang="zh-TW" altLang="en-US" dirty="0"/>
              <a:t>兩正數相加，有溢位產生 </a:t>
            </a:r>
            <a:r>
              <a:rPr lang="en-US" altLang="zh-TW" dirty="0"/>
              <a:t>( </a:t>
            </a:r>
            <a:r>
              <a:rPr lang="zh-TW" altLang="en-US" dirty="0"/>
              <a:t>符號位元從 </a:t>
            </a:r>
            <a:r>
              <a:rPr lang="en-US" altLang="zh-TW" dirty="0"/>
              <a:t>0 </a:t>
            </a:r>
            <a:r>
              <a:rPr lang="zh-TW" altLang="en-US" dirty="0"/>
              <a:t>變成 </a:t>
            </a:r>
            <a:r>
              <a:rPr lang="en-US" altLang="zh-TW" dirty="0"/>
              <a:t>1 )</a:t>
            </a:r>
            <a:r>
              <a:rPr lang="zh-TW" altLang="en-US" dirty="0"/>
              <a:t>，代表目前使用的位元數不夠儲存相加後的結果，故結果視為無效 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556792"/>
            <a:ext cx="5664401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599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dirty="0"/>
              <a:t>兩負數相加，沒有溢位產生 </a:t>
            </a:r>
            <a:r>
              <a:rPr lang="en-US" altLang="zh-TW" dirty="0"/>
              <a:t>( </a:t>
            </a:r>
            <a:r>
              <a:rPr lang="zh-TW" altLang="en-US" dirty="0"/>
              <a:t>符號位元沒有從 </a:t>
            </a:r>
            <a:r>
              <a:rPr lang="en-US" altLang="zh-TW" dirty="0"/>
              <a:t>1 </a:t>
            </a:r>
            <a:r>
              <a:rPr lang="zh-TW" altLang="en-US" dirty="0"/>
              <a:t>變成 </a:t>
            </a:r>
            <a:r>
              <a:rPr lang="en-US" altLang="zh-TW" dirty="0"/>
              <a:t>0 )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dirty="0"/>
              <a:t>最後產生的 </a:t>
            </a:r>
            <a:r>
              <a:rPr lang="en-US" altLang="zh-TW" dirty="0"/>
              <a:t>1 </a:t>
            </a:r>
            <a:r>
              <a:rPr lang="zh-TW" altLang="en-US" dirty="0"/>
              <a:t>超出了最左邊的位元，稱之為</a:t>
            </a:r>
            <a:r>
              <a:rPr lang="zh-TW" altLang="en-US" dirty="0">
                <a:solidFill>
                  <a:srgbClr val="FF0000"/>
                </a:solidFill>
              </a:rPr>
              <a:t>進位</a:t>
            </a:r>
            <a:endParaRPr lang="en-US" altLang="zh-TW" dirty="0"/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dirty="0"/>
              <a:t>進位在二的補數加法上是可以被忽略的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327008"/>
            <a:ext cx="6066109" cy="2390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3046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兩負數相加，有溢位產生 </a:t>
            </a:r>
            <a:r>
              <a:rPr lang="en-US" altLang="zh-TW" dirty="0"/>
              <a:t>( </a:t>
            </a:r>
            <a:r>
              <a:rPr lang="zh-TW" altLang="en-US" dirty="0"/>
              <a:t>符號位元從 </a:t>
            </a:r>
            <a:r>
              <a:rPr lang="en-US" altLang="zh-TW" dirty="0"/>
              <a:t>1 </a:t>
            </a:r>
            <a:r>
              <a:rPr lang="zh-TW" altLang="en-US" dirty="0"/>
              <a:t>變成 </a:t>
            </a:r>
            <a:r>
              <a:rPr lang="en-US" altLang="zh-TW" dirty="0"/>
              <a:t>0 )</a:t>
            </a:r>
            <a:r>
              <a:rPr lang="zh-TW" altLang="en-US" dirty="0"/>
              <a:t>，代表目前使用的位元數不夠儲存相加後的結果，故結果視為無效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546" y="1700808"/>
            <a:ext cx="5781706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993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正負數相加，故得到的結果即為所求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2.4</a:t>
            </a:r>
            <a:r>
              <a:rPr lang="zh-TW" altLang="en-US" dirty="0"/>
              <a:t>整數表示法與補數概念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628800"/>
            <a:ext cx="6389000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4737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IEEE </a:t>
            </a:r>
            <a:r>
              <a:rPr lang="zh-TW" altLang="en-US" dirty="0"/>
              <a:t>二進位浮點數算數標準 </a:t>
            </a:r>
            <a:r>
              <a:rPr lang="en-US" altLang="zh-TW" dirty="0"/>
              <a:t>IEEE 754</a:t>
            </a:r>
            <a:r>
              <a:rPr lang="zh-TW" altLang="en-US" dirty="0"/>
              <a:t>是電腦最常用的實數表示法</a:t>
            </a:r>
            <a:endParaRPr lang="en-US" altLang="zh-TW" dirty="0"/>
          </a:p>
          <a:p>
            <a:r>
              <a:rPr lang="zh-TW" altLang="en-US" dirty="0" smtClean="0"/>
              <a:t>科學</a:t>
            </a:r>
            <a:r>
              <a:rPr lang="zh-TW" altLang="en-US" dirty="0"/>
              <a:t>記號</a:t>
            </a:r>
            <a:endParaRPr lang="en-US" altLang="zh-TW" dirty="0"/>
          </a:p>
          <a:p>
            <a:pPr lvl="1"/>
            <a:r>
              <a:rPr lang="zh-TW" altLang="en-US" dirty="0"/>
              <a:t>可以將它視為是一種標準化</a:t>
            </a:r>
            <a:endParaRPr lang="en-US" altLang="zh-TW" dirty="0"/>
          </a:p>
          <a:p>
            <a:pPr lvl="1"/>
            <a:r>
              <a:rPr lang="en-US" altLang="zh-TW" dirty="0"/>
              <a:t>5732.889</a:t>
            </a:r>
            <a:r>
              <a:rPr lang="zh-TW" altLang="en-US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</a:t>
            </a:r>
            <a:r>
              <a:rPr lang="zh-TW" altLang="en-US" dirty="0"/>
              <a:t> </a:t>
            </a:r>
            <a:r>
              <a:rPr lang="en-US" altLang="zh-TW" dirty="0"/>
              <a:t>5.732889 × 10</a:t>
            </a:r>
            <a:r>
              <a:rPr lang="en-US" altLang="zh-TW" baseline="30000" dirty="0"/>
              <a:t>3</a:t>
            </a:r>
            <a:r>
              <a:rPr lang="en-US" altLang="zh-TW" dirty="0"/>
              <a:t> </a:t>
            </a:r>
          </a:p>
          <a:p>
            <a:pPr lvl="1"/>
            <a:r>
              <a:rPr lang="en-US" altLang="zh-TW" dirty="0"/>
              <a:t>0.032546</a:t>
            </a:r>
            <a:r>
              <a:rPr lang="zh-TW" altLang="en-US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</a:t>
            </a:r>
            <a:r>
              <a:rPr lang="zh-TW" altLang="en-US" dirty="0"/>
              <a:t> </a:t>
            </a:r>
            <a:r>
              <a:rPr lang="en-US" altLang="zh-TW" dirty="0"/>
              <a:t>3.2546 × 10</a:t>
            </a:r>
            <a:r>
              <a:rPr lang="en-US" altLang="zh-TW" baseline="30000" dirty="0"/>
              <a:t>−2</a:t>
            </a:r>
            <a:endParaRPr lang="en-US" altLang="zh-TW" dirty="0"/>
          </a:p>
          <a:p>
            <a:r>
              <a:rPr lang="zh-TW" altLang="en-US" dirty="0" smtClean="0"/>
              <a:t>用於</a:t>
            </a:r>
            <a:r>
              <a:rPr lang="zh-TW" altLang="en-US" dirty="0"/>
              <a:t>二進位數字系統</a:t>
            </a:r>
            <a:endParaRPr lang="en-US" altLang="zh-TW" dirty="0"/>
          </a:p>
          <a:p>
            <a:pPr lvl="1"/>
            <a:r>
              <a:rPr lang="zh-TW" altLang="en-US" dirty="0"/>
              <a:t>將二進位數改寫成 </a:t>
            </a:r>
            <a:r>
              <a:rPr lang="en-US" altLang="zh-TW" i="1" dirty="0"/>
              <a:t>a</a:t>
            </a:r>
            <a:r>
              <a:rPr lang="zh-TW" altLang="en-US" dirty="0"/>
              <a:t> </a:t>
            </a:r>
            <a:r>
              <a:rPr lang="en-US" altLang="zh-TW" dirty="0"/>
              <a:t>× 2</a:t>
            </a:r>
            <a:r>
              <a:rPr lang="en-US" altLang="zh-TW" i="1" baseline="30000" dirty="0"/>
              <a:t>n</a:t>
            </a:r>
            <a:r>
              <a:rPr lang="en-US" altLang="zh-TW" dirty="0"/>
              <a:t> </a:t>
            </a:r>
            <a:r>
              <a:rPr lang="zh-TW" altLang="en-US" dirty="0"/>
              <a:t>形式，其中 </a:t>
            </a:r>
            <a:r>
              <a:rPr lang="en-US" altLang="zh-TW" dirty="0"/>
              <a:t>1 ≤  </a:t>
            </a:r>
            <a:r>
              <a:rPr lang="en-US" altLang="zh-TW" i="1" dirty="0"/>
              <a:t>a</a:t>
            </a:r>
            <a:r>
              <a:rPr lang="en-US" altLang="zh-TW" dirty="0"/>
              <a:t> &lt; 2</a:t>
            </a:r>
            <a:r>
              <a:rPr lang="zh-TW" altLang="en-US" dirty="0"/>
              <a:t>，且 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zh-TW" altLang="en-US" dirty="0"/>
              <a:t>為整數</a:t>
            </a:r>
            <a:endParaRPr lang="en-US" altLang="zh-TW" dirty="0"/>
          </a:p>
          <a:p>
            <a:pPr lvl="2"/>
            <a:r>
              <a:rPr lang="en-US" altLang="zh-TW" dirty="0"/>
              <a:t>(1011.01101)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zh-TW" altLang="en-US" dirty="0"/>
              <a:t>標準化後會記為</a:t>
            </a:r>
            <a:r>
              <a:rPr lang="en-US" altLang="zh-TW" dirty="0"/>
              <a:t> 1.01101101 × 2</a:t>
            </a:r>
            <a:r>
              <a:rPr lang="en-US" altLang="zh-TW" baseline="30000" dirty="0"/>
              <a:t>3</a:t>
            </a:r>
          </a:p>
          <a:p>
            <a:pPr lvl="2"/>
            <a:r>
              <a:rPr lang="en-US" altLang="zh-TW" dirty="0"/>
              <a:t>(0.001011)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zh-TW" altLang="en-US" dirty="0"/>
              <a:t>標準化後會記為 </a:t>
            </a:r>
            <a:r>
              <a:rPr lang="en-US" altLang="zh-TW" dirty="0"/>
              <a:t>1.011 × 2</a:t>
            </a:r>
            <a:r>
              <a:rPr lang="en-US" altLang="zh-TW" baseline="30000" dirty="0"/>
              <a:t>−3</a:t>
            </a:r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2.5</a:t>
            </a:r>
            <a:r>
              <a:rPr lang="zh-TW" altLang="en-US" dirty="0" smtClean="0"/>
              <a:t>浮點</a:t>
            </a:r>
            <a:r>
              <a:rPr lang="zh-TW" altLang="en-US" dirty="0"/>
              <a:t>數表示法</a:t>
            </a:r>
          </a:p>
        </p:txBody>
      </p:sp>
    </p:spTree>
    <p:extLst>
      <p:ext uri="{BB962C8B-B14F-4D97-AF65-F5344CB8AC3E}">
        <p14:creationId xmlns:p14="http://schemas.microsoft.com/office/powerpoint/2010/main" val="420473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8"/>
            <a:ext cx="8640960" cy="5026563"/>
          </a:xfrm>
        </p:spPr>
        <p:txBody>
          <a:bodyPr/>
          <a:lstStyle/>
          <a:p>
            <a:r>
              <a:rPr lang="zh-TW" altLang="en-US" dirty="0"/>
              <a:t>小數點右邊的數，稱為尾數 </a:t>
            </a:r>
            <a:r>
              <a:rPr lang="en-US" altLang="zh-TW" dirty="0"/>
              <a:t>(mantissa</a:t>
            </a:r>
            <a:r>
              <a:rPr lang="zh-TW" altLang="en-US" dirty="0"/>
              <a:t>，以</a:t>
            </a:r>
            <a:r>
              <a:rPr lang="en-US" altLang="zh-TW" dirty="0"/>
              <a:t>1.01101101 × 2</a:t>
            </a:r>
            <a:r>
              <a:rPr lang="en-US" altLang="zh-TW" baseline="30000" dirty="0"/>
              <a:t>3</a:t>
            </a:r>
            <a:r>
              <a:rPr lang="en-US" altLang="zh-TW" dirty="0"/>
              <a:t> </a:t>
            </a:r>
            <a:r>
              <a:rPr lang="zh-TW" altLang="en-US" dirty="0"/>
              <a:t>為例，其尾數為</a:t>
            </a:r>
            <a:r>
              <a:rPr lang="en-US" altLang="zh-TW" dirty="0"/>
              <a:t>01101101)</a:t>
            </a:r>
          </a:p>
          <a:p>
            <a:r>
              <a:rPr lang="zh-TW" altLang="en-US" dirty="0"/>
              <a:t> </a:t>
            </a:r>
            <a:r>
              <a:rPr lang="en-US" altLang="zh-TW" dirty="0"/>
              <a:t>2 </a:t>
            </a:r>
            <a:r>
              <a:rPr lang="zh-TW" altLang="en-US" dirty="0"/>
              <a:t>的指數次方，稱為指數 </a:t>
            </a:r>
            <a:r>
              <a:rPr lang="en-US" altLang="zh-TW" dirty="0"/>
              <a:t>(exponent</a:t>
            </a:r>
            <a:r>
              <a:rPr lang="zh-TW" altLang="en-US" dirty="0"/>
              <a:t>，</a:t>
            </a:r>
            <a:r>
              <a:rPr lang="zh-TW" altLang="en-US" dirty="0" smtClean="0"/>
              <a:t>以</a:t>
            </a:r>
            <a:r>
              <a:rPr lang="en-US" altLang="zh-TW" dirty="0" smtClean="0"/>
              <a:t>1.01101101 </a:t>
            </a:r>
            <a:r>
              <a:rPr lang="en-US" altLang="zh-TW" dirty="0"/>
              <a:t>× 2</a:t>
            </a:r>
            <a:r>
              <a:rPr lang="en-US" altLang="zh-TW" baseline="30000" dirty="0"/>
              <a:t>3</a:t>
            </a:r>
            <a:r>
              <a:rPr lang="en-US" altLang="zh-TW" dirty="0"/>
              <a:t> </a:t>
            </a:r>
            <a:r>
              <a:rPr lang="zh-TW" altLang="en-US" dirty="0"/>
              <a:t>為例，其指數為 </a:t>
            </a:r>
            <a:r>
              <a:rPr lang="en-US" altLang="zh-TW" dirty="0"/>
              <a:t>3)</a:t>
            </a:r>
          </a:p>
          <a:p>
            <a:r>
              <a:rPr lang="zh-TW" altLang="en-US" dirty="0" smtClean="0"/>
              <a:t>如</a:t>
            </a:r>
            <a:r>
              <a:rPr lang="zh-TW" altLang="en-US" dirty="0"/>
              <a:t>某數的尾數為 </a:t>
            </a:r>
            <a:r>
              <a:rPr lang="en-US" altLang="zh-TW" dirty="0"/>
              <a:t>0100110 </a:t>
            </a:r>
            <a:r>
              <a:rPr lang="zh-TW" altLang="en-US" dirty="0"/>
              <a:t>且指數為 </a:t>
            </a:r>
            <a:r>
              <a:rPr lang="en-US" altLang="zh-TW" dirty="0"/>
              <a:t>− 8</a:t>
            </a:r>
          </a:p>
          <a:p>
            <a:pPr lvl="1"/>
            <a:r>
              <a:rPr lang="en-US" altLang="zh-TW" dirty="0">
                <a:sym typeface="Symbol" panose="05050102010706020507" pitchFamily="18" charset="2"/>
              </a:rPr>
              <a:t></a:t>
            </a:r>
            <a:r>
              <a:rPr lang="zh-TW" altLang="en-US" dirty="0"/>
              <a:t> 某數等於</a:t>
            </a:r>
            <a:r>
              <a:rPr lang="en-US" altLang="zh-TW" dirty="0"/>
              <a:t> 1.0100110 ×  2 </a:t>
            </a:r>
            <a:r>
              <a:rPr lang="en-US" altLang="zh-TW" baseline="30000" dirty="0"/>
              <a:t>−8</a:t>
            </a:r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2.5</a:t>
            </a:r>
            <a:r>
              <a:rPr lang="zh-TW" altLang="en-US" dirty="0"/>
              <a:t>浮點數表示法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861048"/>
            <a:ext cx="4104456" cy="2272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44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IEEE 754 </a:t>
            </a:r>
            <a:r>
              <a:rPr lang="zh-TW" altLang="en-US" dirty="0"/>
              <a:t>標準，它將儲存的空間分成三個部分：符號位元 </a:t>
            </a:r>
            <a:r>
              <a:rPr lang="en-US" altLang="zh-TW" dirty="0"/>
              <a:t>(sign bit)</a:t>
            </a:r>
            <a:r>
              <a:rPr lang="zh-TW" altLang="en-US" dirty="0"/>
              <a:t>、指數部分及尾數部分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2.5</a:t>
            </a:r>
            <a:r>
              <a:rPr lang="zh-TW" altLang="en-US" dirty="0"/>
              <a:t>浮點數表示法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708920"/>
            <a:ext cx="6504249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592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05607" y="1340768"/>
            <a:ext cx="8712968" cy="4824536"/>
          </a:xfrm>
        </p:spPr>
        <p:txBody>
          <a:bodyPr>
            <a:noAutofit/>
          </a:bodyPr>
          <a:lstStyle/>
          <a:p>
            <a:r>
              <a:rPr lang="zh-TW" altLang="en-US" dirty="0"/>
              <a:t>以單倍精確度為例：</a:t>
            </a:r>
            <a:endParaRPr lang="en-US" altLang="zh-TW" dirty="0"/>
          </a:p>
          <a:p>
            <a:pPr marL="360000" indent="-288000">
              <a:buSzPct val="100000"/>
              <a:buFont typeface="+mj-lt"/>
              <a:buAutoNum type="arabicPeriod"/>
            </a:pPr>
            <a:r>
              <a:rPr lang="zh-TW" altLang="en-US" dirty="0"/>
              <a:t>符號位元：以 </a:t>
            </a:r>
            <a:r>
              <a:rPr lang="en-US" altLang="zh-TW" dirty="0"/>
              <a:t>0 </a:t>
            </a:r>
            <a:r>
              <a:rPr lang="zh-TW" altLang="en-US" dirty="0"/>
              <a:t>代表正數，</a:t>
            </a:r>
            <a:r>
              <a:rPr lang="en-US" altLang="zh-TW" dirty="0"/>
              <a:t>1 </a:t>
            </a:r>
            <a:r>
              <a:rPr lang="zh-TW" altLang="en-US" dirty="0"/>
              <a:t>代表負數</a:t>
            </a:r>
            <a:endParaRPr lang="en-US" altLang="zh-TW" dirty="0"/>
          </a:p>
          <a:p>
            <a:pPr marL="360000" indent="-288000">
              <a:buSzPct val="100000"/>
              <a:buFont typeface="+mj-lt"/>
              <a:buAutoNum type="arabicPeriod"/>
            </a:pPr>
            <a:r>
              <a:rPr lang="zh-TW" altLang="en-US" dirty="0"/>
              <a:t>指數部分：以過剩 </a:t>
            </a:r>
            <a:r>
              <a:rPr lang="en-US" altLang="zh-TW" dirty="0"/>
              <a:t>127 (Excess 127) </a:t>
            </a:r>
            <a:r>
              <a:rPr lang="zh-TW" altLang="en-US" dirty="0"/>
              <a:t>的方式表現，其中 </a:t>
            </a:r>
            <a:r>
              <a:rPr lang="en-US" altLang="zh-TW" dirty="0"/>
              <a:t>127 </a:t>
            </a:r>
            <a:r>
              <a:rPr lang="zh-TW" altLang="en-US" dirty="0"/>
              <a:t>即為單倍精確度的</a:t>
            </a:r>
            <a:r>
              <a:rPr lang="zh-TW" altLang="en-US" dirty="0">
                <a:solidFill>
                  <a:srgbClr val="FF0000"/>
                </a:solidFill>
              </a:rPr>
              <a:t>指數偏移值 </a:t>
            </a:r>
            <a:r>
              <a:rPr lang="en-US" altLang="zh-TW" dirty="0">
                <a:solidFill>
                  <a:srgbClr val="FF0000"/>
                </a:solidFill>
              </a:rPr>
              <a:t>(exponent bias)</a:t>
            </a:r>
            <a:endParaRPr lang="en-US" altLang="zh-TW" dirty="0"/>
          </a:p>
          <a:p>
            <a:pPr marL="670932" lvl="1" indent="-342900">
              <a:buSzPct val="100000"/>
            </a:pPr>
            <a:r>
              <a:rPr lang="zh-TW" altLang="en-US" dirty="0"/>
              <a:t>將標準化後的數字的指數部分加上 </a:t>
            </a:r>
            <a:r>
              <a:rPr lang="en-US" altLang="zh-TW" dirty="0"/>
              <a:t>127 </a:t>
            </a:r>
            <a:r>
              <a:rPr lang="zh-TW" altLang="en-US" dirty="0"/>
              <a:t>後，再儲存下來</a:t>
            </a:r>
            <a:endParaRPr lang="en-US" altLang="zh-TW" dirty="0"/>
          </a:p>
          <a:p>
            <a:pPr marL="360000" indent="-288000">
              <a:buSzPct val="100000"/>
              <a:buFont typeface="+mj-lt"/>
              <a:buAutoNum type="arabicPeriod"/>
            </a:pPr>
            <a:r>
              <a:rPr lang="zh-TW" altLang="en-US" dirty="0"/>
              <a:t>尾數部分：儲存標準化後的小數部分，不夠的位元部分則補 </a:t>
            </a:r>
            <a:r>
              <a:rPr lang="en-US" altLang="zh-TW" dirty="0"/>
              <a:t>0</a:t>
            </a:r>
          </a:p>
          <a:p>
            <a:pPr marL="360000" indent="-288000">
              <a:buSzPct val="100000"/>
              <a:buFont typeface="+mj-lt"/>
              <a:buAutoNum type="arabicPeriod"/>
            </a:pPr>
            <a:endParaRPr lang="en-US" altLang="zh-TW" dirty="0"/>
          </a:p>
          <a:p>
            <a:pPr marL="360000" indent="-288000">
              <a:buSzPct val="100000"/>
              <a:buFont typeface="+mj-lt"/>
              <a:buAutoNum type="arabicPeriod"/>
            </a:pPr>
            <a:endParaRPr lang="en-US" altLang="zh-TW" dirty="0"/>
          </a:p>
          <a:p>
            <a:pPr marL="360000" indent="-288000">
              <a:buSzPct val="100000"/>
              <a:buFont typeface="+mj-lt"/>
              <a:buAutoNum type="arabicPeriod"/>
            </a:pPr>
            <a:endParaRPr lang="en-US" altLang="zh-TW" dirty="0"/>
          </a:p>
          <a:p>
            <a:pPr marL="414900" indent="-342900">
              <a:lnSpc>
                <a:spcPts val="1000"/>
              </a:lnSpc>
              <a:buSzPct val="100000"/>
            </a:pPr>
            <a:endParaRPr lang="en-US" altLang="zh-TW" dirty="0"/>
          </a:p>
          <a:p>
            <a:pPr marL="367200" indent="-255600"/>
            <a:r>
              <a:rPr lang="zh-TW" altLang="en-US" dirty="0"/>
              <a:t>在實務儲存上，有些值域是被保留下來用以表示一些特殊值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2.5</a:t>
            </a:r>
            <a:r>
              <a:rPr lang="zh-TW" altLang="en-US" dirty="0"/>
              <a:t>浮點數表示法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293096"/>
            <a:ext cx="7199722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026"/>
          <a:stretch/>
        </p:blipFill>
        <p:spPr bwMode="auto">
          <a:xfrm>
            <a:off x="4871718" y="260648"/>
            <a:ext cx="3948754" cy="148713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9155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2.5</a:t>
            </a:r>
            <a:r>
              <a:rPr lang="zh-TW" altLang="en-US" dirty="0"/>
              <a:t>浮點數表示法</a:t>
            </a: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84784"/>
            <a:ext cx="7779046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2225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2.5</a:t>
            </a:r>
            <a:r>
              <a:rPr lang="zh-TW" altLang="en-US" dirty="0"/>
              <a:t>浮點數表示法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052736"/>
            <a:ext cx="7560840" cy="5299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043608" y="2204864"/>
            <a:ext cx="6984776" cy="38164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0225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2.5</a:t>
            </a:r>
            <a:r>
              <a:rPr lang="zh-TW" altLang="en-US" dirty="0"/>
              <a:t>浮點數表示法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952455"/>
            <a:ext cx="7632848" cy="5428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043608" y="2204864"/>
            <a:ext cx="6984776" cy="38164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352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2.5</a:t>
            </a:r>
            <a:r>
              <a:rPr lang="zh-TW" altLang="en-US" dirty="0"/>
              <a:t>浮點數表示法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24744"/>
            <a:ext cx="8162814" cy="4682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827584" y="2924944"/>
            <a:ext cx="7560840" cy="28002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227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204864"/>
            <a:ext cx="4293761" cy="2807717"/>
          </a:xfrm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END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82880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匯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399</TotalTime>
  <Words>2940</Words>
  <Application>Microsoft Office PowerPoint</Application>
  <PresentationFormat>如螢幕大小 (4:3)</PresentationFormat>
  <Paragraphs>302</Paragraphs>
  <Slides>60</Slides>
  <Notes>0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60</vt:i4>
      </vt:variant>
    </vt:vector>
  </HeadingPairs>
  <TitlesOfParts>
    <vt:vector size="62" baseType="lpstr">
      <vt:lpstr>匯合</vt:lpstr>
      <vt:lpstr>Equation</vt:lpstr>
      <vt:lpstr>Ch02 數字系統</vt:lpstr>
      <vt:lpstr>2.1電腦儲存的單位</vt:lpstr>
      <vt:lpstr>2.1電腦儲存的單位</vt:lpstr>
      <vt:lpstr>2.1電腦儲存的單位</vt:lpstr>
      <vt:lpstr>2.1電腦儲存的單位</vt:lpstr>
      <vt:lpstr>PowerPoint 簡報</vt:lpstr>
      <vt:lpstr>PowerPoint 簡報</vt:lpstr>
      <vt:lpstr>2.1電腦儲存的單位</vt:lpstr>
      <vt:lpstr>2.1電腦儲存的單位</vt:lpstr>
      <vt:lpstr>2.2二進位表示法</vt:lpstr>
      <vt:lpstr>2.2二進位表示法</vt:lpstr>
      <vt:lpstr>2.2二進位表示法</vt:lpstr>
      <vt:lpstr>2.2二進位表示法</vt:lpstr>
      <vt:lpstr>2.2二進位表示法</vt:lpstr>
      <vt:lpstr>2.2二進位表示法</vt:lpstr>
      <vt:lpstr>2.2二進位表示法</vt:lpstr>
      <vt:lpstr>2.2二進位表示法</vt:lpstr>
      <vt:lpstr>2.2二進位表示法</vt:lpstr>
      <vt:lpstr>2.3八進位制與十六進位制</vt:lpstr>
      <vt:lpstr>2.3八進位制與十六進位制</vt:lpstr>
      <vt:lpstr>2.3八進位制與十六進位制</vt:lpstr>
      <vt:lpstr>2.3八進位制與十六進位制</vt:lpstr>
      <vt:lpstr>2.3八進位制與十六進位制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2.4整數表示法與補數概念</vt:lpstr>
      <vt:lpstr>2.5浮點數表示法</vt:lpstr>
      <vt:lpstr>2.5浮點數表示法</vt:lpstr>
      <vt:lpstr>2.5浮點數表示法</vt:lpstr>
      <vt:lpstr>2.5浮點數表示法</vt:lpstr>
      <vt:lpstr>2.5浮點數表示法</vt:lpstr>
      <vt:lpstr>2.5浮點數表示法</vt:lpstr>
      <vt:lpstr>2.5浮點數表示法</vt:lpstr>
      <vt:lpstr>2.5浮點數表示法</vt:lpstr>
      <vt:lpstr>THE 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電腦簡介</dc:title>
  <dc:creator>lobird</dc:creator>
  <cp:lastModifiedBy>winx</cp:lastModifiedBy>
  <cp:revision>145</cp:revision>
  <dcterms:created xsi:type="dcterms:W3CDTF">2014-07-06T07:33:00Z</dcterms:created>
  <dcterms:modified xsi:type="dcterms:W3CDTF">2022-06-28T05:30:42Z</dcterms:modified>
</cp:coreProperties>
</file>