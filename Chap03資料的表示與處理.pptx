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65"/>
  </p:notesMasterIdLst>
  <p:sldIdLst>
    <p:sldId id="256" r:id="rId2"/>
    <p:sldId id="257" r:id="rId3"/>
    <p:sldId id="259" r:id="rId4"/>
    <p:sldId id="306" r:id="rId5"/>
    <p:sldId id="361" r:id="rId6"/>
    <p:sldId id="307" r:id="rId7"/>
    <p:sldId id="308" r:id="rId8"/>
    <p:sldId id="309" r:id="rId9"/>
    <p:sldId id="362" r:id="rId10"/>
    <p:sldId id="311" r:id="rId11"/>
    <p:sldId id="312" r:id="rId12"/>
    <p:sldId id="313" r:id="rId13"/>
    <p:sldId id="314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322" r:id="rId22"/>
    <p:sldId id="323" r:id="rId23"/>
    <p:sldId id="324" r:id="rId24"/>
    <p:sldId id="325" r:id="rId25"/>
    <p:sldId id="327" r:id="rId26"/>
    <p:sldId id="328" r:id="rId27"/>
    <p:sldId id="329" r:id="rId28"/>
    <p:sldId id="363" r:id="rId29"/>
    <p:sldId id="330" r:id="rId30"/>
    <p:sldId id="353" r:id="rId31"/>
    <p:sldId id="331" r:id="rId32"/>
    <p:sldId id="332" r:id="rId33"/>
    <p:sldId id="357" r:id="rId34"/>
    <p:sldId id="354" r:id="rId35"/>
    <p:sldId id="333" r:id="rId36"/>
    <p:sldId id="334" r:id="rId37"/>
    <p:sldId id="335" r:id="rId38"/>
    <p:sldId id="364" r:id="rId39"/>
    <p:sldId id="337" r:id="rId40"/>
    <p:sldId id="358" r:id="rId41"/>
    <p:sldId id="338" r:id="rId42"/>
    <p:sldId id="339" r:id="rId43"/>
    <p:sldId id="340" r:id="rId44"/>
    <p:sldId id="341" r:id="rId45"/>
    <p:sldId id="342" r:id="rId46"/>
    <p:sldId id="343" r:id="rId47"/>
    <p:sldId id="344" r:id="rId48"/>
    <p:sldId id="345" r:id="rId49"/>
    <p:sldId id="346" r:id="rId50"/>
    <p:sldId id="347" r:id="rId51"/>
    <p:sldId id="348" r:id="rId52"/>
    <p:sldId id="349" r:id="rId53"/>
    <p:sldId id="350" r:id="rId54"/>
    <p:sldId id="355" r:id="rId55"/>
    <p:sldId id="351" r:id="rId56"/>
    <p:sldId id="356" r:id="rId57"/>
    <p:sldId id="360" r:id="rId58"/>
    <p:sldId id="365" r:id="rId59"/>
    <p:sldId id="366" r:id="rId60"/>
    <p:sldId id="368" r:id="rId61"/>
    <p:sldId id="359" r:id="rId62"/>
    <p:sldId id="367" r:id="rId63"/>
    <p:sldId id="369" r:id="rId6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572" y="-156"/>
      </p:cViewPr>
      <p:guideLst>
        <p:guide orient="horz" pos="1026"/>
        <p:guide pos="47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9D1D87-676D-41F2-AC15-9F5D7637A5A2}" type="datetimeFigureOut">
              <a:rPr lang="zh-TW" altLang="en-US" smtClean="0"/>
              <a:pPr/>
              <a:t>2022/6/28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3C2D0-1201-4E06-8787-2B5081952CC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3875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標題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7" name="副標題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grpSp>
        <p:nvGrpSpPr>
          <p:cNvPr id="2" name="群組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手繪多邊形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手繪多邊形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手繪多邊形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線接點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版面配置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endParaRPr lang="en-US" sz="1600" dirty="0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1196752"/>
            <a:ext cx="8496944" cy="5184576"/>
          </a:xfrm>
        </p:spPr>
        <p:txBody>
          <a:bodyPr>
            <a:normAutofit/>
          </a:bodyPr>
          <a:lstStyle>
            <a:lvl1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1pPr>
            <a:lvl2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2pPr>
            <a:lvl3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3pPr>
            <a:lvl4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4pPr>
            <a:lvl5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5pPr>
            <a:extLst/>
          </a:lstStyle>
          <a:p>
            <a:pPr lvl="0" eaLnBrk="1" latinLnBrk="0" hangingPunct="1"/>
            <a:r>
              <a:rPr lang="zh-TW" altLang="en-US" dirty="0"/>
              <a:t>按一下以編輯母片文字樣式</a:t>
            </a:r>
          </a:p>
          <a:p>
            <a:pPr lvl="1" eaLnBrk="1" latinLnBrk="0" hangingPunct="1"/>
            <a:r>
              <a:rPr lang="zh-TW" altLang="en-US" dirty="0"/>
              <a:t>第二層</a:t>
            </a:r>
          </a:p>
          <a:p>
            <a:pPr lvl="2" eaLnBrk="1" latinLnBrk="0" hangingPunct="1"/>
            <a:r>
              <a:rPr lang="zh-TW" altLang="en-US" dirty="0"/>
              <a:t>第三層</a:t>
            </a:r>
          </a:p>
          <a:p>
            <a:pPr lvl="3" eaLnBrk="1" latinLnBrk="0" hangingPunct="1"/>
            <a:r>
              <a:rPr lang="zh-TW" altLang="en-US" dirty="0"/>
              <a:t>第四層</a:t>
            </a:r>
          </a:p>
          <a:p>
            <a:pPr lvl="4" eaLnBrk="1" latinLnBrk="0" hangingPunct="1"/>
            <a:r>
              <a:rPr lang="zh-TW" altLang="en-US" dirty="0"/>
              <a:t>第五層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7" name="標題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 rtlCol="0">
            <a:normAutofit/>
          </a:bodyPr>
          <a:lstStyle>
            <a:lvl1pPr>
              <a:defRPr sz="36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1pPr>
            <a:extLst/>
          </a:lstStyle>
          <a:p>
            <a:r>
              <a:rPr kumimoji="0" lang="zh-TW" altLang="en-US" dirty="0"/>
              <a:t>按一下以編輯母片標題樣式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＞形箭號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＞形箭號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8" name="手繪多邊形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手繪多邊形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角三角形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直線接點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＞形箭號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＞形箭號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手繪多邊形 12"/>
          <p:cNvSpPr>
            <a:spLocks/>
          </p:cNvSpPr>
          <p:nvPr/>
        </p:nvSpPr>
        <p:spPr bwMode="auto">
          <a:xfrm>
            <a:off x="499273" y="6386413"/>
            <a:ext cx="4940624" cy="47959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手繪多邊形 11"/>
          <p:cNvSpPr>
            <a:spLocks/>
          </p:cNvSpPr>
          <p:nvPr/>
        </p:nvSpPr>
        <p:spPr bwMode="auto">
          <a:xfrm>
            <a:off x="485717" y="6386421"/>
            <a:ext cx="3690451" cy="48604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角三角形 13"/>
          <p:cNvSpPr>
            <a:spLocks/>
          </p:cNvSpPr>
          <p:nvPr/>
        </p:nvSpPr>
        <p:spPr bwMode="auto">
          <a:xfrm>
            <a:off x="-6042" y="6309320"/>
            <a:ext cx="3402314" cy="562800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直線接點 14"/>
          <p:cNvCxnSpPr>
            <a:stCxn id="14" idx="0"/>
          </p:cNvCxnSpPr>
          <p:nvPr/>
        </p:nvCxnSpPr>
        <p:spPr>
          <a:xfrm>
            <a:off x="-6042" y="6309320"/>
            <a:ext cx="3402314" cy="562801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標題版面配置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0" name="文字版面配置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0" name="日期版面配置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8" name="投影片編號版面配置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pic>
        <p:nvPicPr>
          <p:cNvPr id="11" name="Picture 2" descr="E:\LOGO.png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092280" y="6561384"/>
            <a:ext cx="2066560" cy="324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043608" y="1772816"/>
            <a:ext cx="7772400" cy="1872208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/>
              <a:t>				</a:t>
            </a:r>
            <a:r>
              <a:rPr lang="en-US" altLang="zh-TW" dirty="0" smtClean="0"/>
              <a:t>Ch03 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/>
              <a:t>		       </a:t>
            </a:r>
            <a:r>
              <a:rPr lang="zh-TW" altLang="zh-TW" dirty="0">
                <a:solidFill>
                  <a:srgbClr val="0070C0"/>
                </a:solidFill>
              </a:rPr>
              <a:t>資料的表示與處理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b="1" dirty="0">
              <a:solidFill>
                <a:schemeClr val="tx1"/>
              </a:solidFill>
            </a:endParaRPr>
          </a:p>
          <a:p>
            <a:r>
              <a:rPr lang="zh-TW" altLang="en-US" b="1" dirty="0">
                <a:solidFill>
                  <a:schemeClr val="tx1"/>
                </a:solidFill>
              </a:rPr>
              <a:t>李官陵 彭勝龍 羅壽之</a:t>
            </a:r>
          </a:p>
          <a:p>
            <a:endParaRPr lang="zh-TW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690602"/>
            <a:ext cx="3816424" cy="5186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不同形式的資料</a:t>
            </a:r>
            <a:r>
              <a:rPr lang="zh-TW" altLang="en-US" dirty="0"/>
              <a:t>：</a:t>
            </a:r>
            <a:r>
              <a:rPr lang="zh-TW" altLang="zh-TW" dirty="0">
                <a:solidFill>
                  <a:srgbClr val="0070C0"/>
                </a:solidFill>
              </a:rPr>
              <a:t>文字</a:t>
            </a:r>
            <a:r>
              <a:rPr lang="en-US" altLang="zh-TW" dirty="0"/>
              <a:t> (character)</a:t>
            </a:r>
            <a:r>
              <a:rPr lang="zh-TW" altLang="zh-TW" dirty="0"/>
              <a:t>、</a:t>
            </a:r>
            <a:r>
              <a:rPr lang="zh-TW" altLang="zh-TW" dirty="0">
                <a:solidFill>
                  <a:srgbClr val="0070C0"/>
                </a:solidFill>
              </a:rPr>
              <a:t>聲音</a:t>
            </a:r>
            <a:r>
              <a:rPr lang="en-US" altLang="zh-TW" dirty="0"/>
              <a:t> (audio)</a:t>
            </a:r>
            <a:r>
              <a:rPr lang="zh-TW" altLang="zh-TW" dirty="0"/>
              <a:t>、</a:t>
            </a:r>
            <a:r>
              <a:rPr lang="zh-TW" altLang="zh-TW" dirty="0">
                <a:solidFill>
                  <a:srgbClr val="0070C0"/>
                </a:solidFill>
              </a:rPr>
              <a:t>影像</a:t>
            </a:r>
            <a:r>
              <a:rPr lang="en-US" altLang="zh-TW" dirty="0"/>
              <a:t>(image) </a:t>
            </a:r>
            <a:r>
              <a:rPr lang="zh-TW" altLang="zh-TW" dirty="0" smtClean="0"/>
              <a:t>與</a:t>
            </a:r>
            <a:r>
              <a:rPr lang="zh-TW" altLang="en-US" dirty="0">
                <a:solidFill>
                  <a:srgbClr val="0070C0"/>
                </a:solidFill>
                <a:uFill>
                  <a:solidFill>
                    <a:srgbClr val="0000CC"/>
                  </a:solidFill>
                </a:uFill>
              </a:rPr>
              <a:t>視訊</a:t>
            </a:r>
            <a:r>
              <a:rPr lang="en-US" altLang="zh-TW" dirty="0" smtClean="0"/>
              <a:t> </a:t>
            </a:r>
            <a:r>
              <a:rPr lang="en-US" altLang="zh-TW" dirty="0"/>
              <a:t>(video) </a:t>
            </a:r>
            <a:r>
              <a:rPr lang="zh-TW" altLang="en-US" dirty="0"/>
              <a:t>等</a:t>
            </a:r>
            <a:endParaRPr lang="en-US" altLang="zh-TW" dirty="0"/>
          </a:p>
          <a:p>
            <a:r>
              <a:rPr lang="zh-TW" altLang="zh-TW" dirty="0"/>
              <a:t>透過</a:t>
            </a:r>
            <a:r>
              <a:rPr lang="zh-TW" altLang="zh-TW" dirty="0">
                <a:solidFill>
                  <a:srgbClr val="0070C0"/>
                </a:solidFill>
              </a:rPr>
              <a:t>編碼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(encoding) </a:t>
            </a:r>
            <a:r>
              <a:rPr lang="zh-TW" altLang="zh-TW" dirty="0"/>
              <a:t>利用不同的數字表示組成資料的</a:t>
            </a:r>
            <a:r>
              <a:rPr lang="zh-TW" altLang="zh-TW" dirty="0" smtClean="0"/>
              <a:t>基本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要素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r>
              <a:rPr lang="zh-TW" altLang="zh-TW" dirty="0"/>
              <a:t>資料數位化可能產生大量的內容，導致儲存與處理不易，資料</a:t>
            </a:r>
            <a:r>
              <a:rPr lang="zh-TW" altLang="zh-TW" dirty="0">
                <a:solidFill>
                  <a:srgbClr val="0070C0"/>
                </a:solidFill>
              </a:rPr>
              <a:t>壓縮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(compression) </a:t>
            </a:r>
            <a:r>
              <a:rPr lang="zh-TW" altLang="zh-TW" dirty="0"/>
              <a:t>能有效降低資料量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933056"/>
            <a:ext cx="8136904" cy="2160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英文文字的編碼</a:t>
            </a:r>
            <a:endParaRPr lang="en-US" altLang="zh-TW" dirty="0"/>
          </a:p>
          <a:p>
            <a:pPr lvl="1"/>
            <a:r>
              <a:rPr lang="zh-TW" altLang="en-US" dirty="0"/>
              <a:t>主要由</a:t>
            </a:r>
            <a:r>
              <a:rPr lang="zh-TW" altLang="zh-TW" dirty="0"/>
              <a:t>字母字元</a:t>
            </a:r>
            <a:r>
              <a:rPr lang="en-US" altLang="zh-TW" dirty="0"/>
              <a:t> (alphabetic character) </a:t>
            </a:r>
            <a:r>
              <a:rPr lang="zh-TW" altLang="en-US" dirty="0"/>
              <a:t>組成，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即</a:t>
            </a:r>
            <a:r>
              <a:rPr lang="en-US" altLang="zh-TW" dirty="0" err="1">
                <a:uFill>
                  <a:solidFill>
                    <a:srgbClr val="0000CC"/>
                  </a:solidFill>
                </a:uFill>
              </a:rPr>
              <a:t>a~z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pPr lvl="1"/>
            <a:r>
              <a:rPr lang="zh-TW" altLang="zh-TW" dirty="0"/>
              <a:t>編碼方式是依據美國標準協會制訂的</a:t>
            </a:r>
            <a:r>
              <a:rPr lang="en-US" altLang="zh-TW" dirty="0"/>
              <a:t>ASCII</a:t>
            </a:r>
            <a:r>
              <a:rPr lang="zh-TW" altLang="en-US" dirty="0"/>
              <a:t>碼</a:t>
            </a:r>
            <a:endParaRPr lang="en-US" altLang="zh-TW" dirty="0"/>
          </a:p>
          <a:p>
            <a:pPr lvl="1"/>
            <a:r>
              <a:rPr lang="zh-TW" altLang="en-US" dirty="0"/>
              <a:t>基本</a:t>
            </a:r>
            <a:r>
              <a:rPr lang="en-US" altLang="zh-TW" dirty="0"/>
              <a:t>ASCII</a:t>
            </a:r>
            <a:r>
              <a:rPr lang="zh-TW" altLang="en-US" dirty="0"/>
              <a:t>碼</a:t>
            </a:r>
            <a:r>
              <a:rPr lang="zh-TW" altLang="zh-TW" dirty="0"/>
              <a:t>利用一組</a:t>
            </a:r>
            <a:r>
              <a:rPr lang="en-US" altLang="zh-TW" dirty="0"/>
              <a:t>7</a:t>
            </a:r>
            <a:r>
              <a:rPr lang="zh-TW" altLang="zh-TW" dirty="0"/>
              <a:t>個位元的數字表示</a:t>
            </a:r>
            <a:r>
              <a:rPr lang="en-US" altLang="zh-TW" dirty="0"/>
              <a:t>128</a:t>
            </a:r>
            <a:r>
              <a:rPr lang="zh-TW" altLang="zh-TW" dirty="0"/>
              <a:t>個字元符號</a:t>
            </a:r>
            <a:r>
              <a:rPr lang="zh-TW" altLang="en-US" dirty="0"/>
              <a:t>，</a:t>
            </a:r>
            <a:r>
              <a:rPr lang="en-US" altLang="zh-TW" dirty="0"/>
              <a:t>95</a:t>
            </a:r>
            <a:r>
              <a:rPr lang="zh-TW" altLang="zh-TW" dirty="0"/>
              <a:t>個可以顯示與列印</a:t>
            </a:r>
            <a:r>
              <a:rPr lang="zh-TW" altLang="en-US" dirty="0"/>
              <a:t>，</a:t>
            </a:r>
            <a:r>
              <a:rPr lang="zh-TW" altLang="zh-TW" dirty="0"/>
              <a:t>另外</a:t>
            </a:r>
            <a:r>
              <a:rPr lang="en-US" altLang="zh-TW" dirty="0"/>
              <a:t>33</a:t>
            </a:r>
            <a:r>
              <a:rPr lang="zh-TW" altLang="zh-TW" dirty="0"/>
              <a:t>個不可顯示</a:t>
            </a:r>
            <a:endParaRPr lang="en-US" altLang="zh-TW" dirty="0"/>
          </a:p>
          <a:p>
            <a:pPr lvl="2"/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例如：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a = 97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，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b = 98</a:t>
            </a:r>
          </a:p>
          <a:p>
            <a:pPr lvl="1"/>
            <a:r>
              <a:rPr lang="en-US" altLang="zh-TW" dirty="0" smtClean="0"/>
              <a:t>EASCII </a:t>
            </a:r>
            <a:r>
              <a:rPr lang="en-US" altLang="zh-TW" dirty="0"/>
              <a:t>(Extended ASCII) </a:t>
            </a:r>
            <a:r>
              <a:rPr lang="zh-TW" altLang="en-US" dirty="0"/>
              <a:t>使用</a:t>
            </a:r>
            <a:r>
              <a:rPr lang="en-US" altLang="zh-TW" dirty="0"/>
              <a:t>8</a:t>
            </a:r>
            <a:r>
              <a:rPr lang="zh-TW" altLang="zh-TW" dirty="0"/>
              <a:t>個位元</a:t>
            </a:r>
            <a:r>
              <a:rPr lang="zh-TW" altLang="en-US" dirty="0"/>
              <a:t>，可表示</a:t>
            </a:r>
            <a:r>
              <a:rPr lang="en-US" altLang="zh-TW" dirty="0"/>
              <a:t>256</a:t>
            </a:r>
            <a:r>
              <a:rPr lang="zh-TW" altLang="zh-TW" dirty="0"/>
              <a:t>個字元符號</a:t>
            </a:r>
            <a:r>
              <a:rPr lang="zh-TW" altLang="en-US" dirty="0"/>
              <a:t>，可</a:t>
            </a:r>
            <a:r>
              <a:rPr lang="zh-TW" altLang="zh-TW" dirty="0" smtClean="0"/>
              <a:t>補足</a:t>
            </a:r>
            <a:r>
              <a:rPr lang="zh-TW" altLang="en-US" dirty="0" smtClean="0"/>
              <a:t>自己</a:t>
            </a:r>
            <a:r>
              <a:rPr lang="zh-TW" altLang="zh-TW" dirty="0" smtClean="0"/>
              <a:t>語系</a:t>
            </a:r>
            <a:r>
              <a:rPr lang="zh-TW" altLang="zh-TW" dirty="0"/>
              <a:t>所需使用的字母符號</a:t>
            </a:r>
            <a:endParaRPr lang="en-US" altLang="zh-TW" dirty="0"/>
          </a:p>
          <a:p>
            <a:pPr lvl="1"/>
            <a:endParaRPr lang="zh-TW" altLang="zh-TW" dirty="0"/>
          </a:p>
          <a:p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3.1</a:t>
            </a:r>
            <a:r>
              <a:rPr lang="zh-TW" altLang="en-US" dirty="0"/>
              <a:t>文字的表示與處理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3904" y="116632"/>
            <a:ext cx="4774360" cy="6552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095084"/>
            <a:ext cx="7352680" cy="4926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3107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中文文字編碼</a:t>
            </a:r>
            <a:endParaRPr lang="en-US" altLang="zh-TW" dirty="0"/>
          </a:p>
          <a:p>
            <a:pPr lvl="1"/>
            <a:r>
              <a:rPr lang="zh-TW" altLang="zh-TW" dirty="0"/>
              <a:t>中文的漢字非常多</a:t>
            </a:r>
            <a:r>
              <a:rPr lang="zh-TW" altLang="en-US" dirty="0"/>
              <a:t>，</a:t>
            </a:r>
            <a:r>
              <a:rPr lang="zh-TW" altLang="zh-TW" dirty="0"/>
              <a:t>康熙字典就收錄了</a:t>
            </a:r>
            <a:r>
              <a:rPr lang="en-US" altLang="zh-TW" dirty="0"/>
              <a:t>4</a:t>
            </a:r>
            <a:r>
              <a:rPr lang="zh-TW" altLang="zh-TW" dirty="0"/>
              <a:t>萬多個漢字</a:t>
            </a:r>
            <a:endParaRPr lang="en-US" altLang="zh-TW" dirty="0"/>
          </a:p>
          <a:p>
            <a:pPr lvl="1"/>
            <a:r>
              <a:rPr lang="zh-TW" altLang="zh-TW" dirty="0"/>
              <a:t>資策會設計一套大五碼</a:t>
            </a:r>
            <a:r>
              <a:rPr lang="en-US" altLang="zh-TW" dirty="0"/>
              <a:t> (Big5) </a:t>
            </a:r>
            <a:r>
              <a:rPr lang="zh-TW" altLang="zh-TW" dirty="0"/>
              <a:t>繁體中文編碼標準</a:t>
            </a:r>
            <a:r>
              <a:rPr lang="zh-TW" altLang="en-US" dirty="0"/>
              <a:t>，共收錄</a:t>
            </a:r>
            <a:r>
              <a:rPr lang="en-US" altLang="zh-TW" dirty="0"/>
              <a:t>1</a:t>
            </a:r>
            <a:r>
              <a:rPr lang="zh-TW" altLang="zh-TW" dirty="0"/>
              <a:t>萬</a:t>
            </a:r>
            <a:r>
              <a:rPr lang="en-US" altLang="zh-TW" dirty="0"/>
              <a:t>3</a:t>
            </a:r>
            <a:r>
              <a:rPr lang="zh-TW" altLang="zh-TW" dirty="0"/>
              <a:t>千多個常用的漢字</a:t>
            </a:r>
            <a:r>
              <a:rPr lang="zh-TW" altLang="en-US" dirty="0"/>
              <a:t>，使用</a:t>
            </a:r>
            <a:r>
              <a:rPr lang="zh-TW" altLang="zh-TW" dirty="0"/>
              <a:t>兩個位元組共</a:t>
            </a:r>
            <a:r>
              <a:rPr lang="en-US" altLang="zh-TW" dirty="0"/>
              <a:t>16</a:t>
            </a:r>
            <a:r>
              <a:rPr lang="zh-TW" altLang="zh-TW" dirty="0"/>
              <a:t>個位元</a:t>
            </a:r>
            <a:r>
              <a:rPr lang="zh-TW" altLang="en-US" dirty="0"/>
              <a:t>編碼</a:t>
            </a:r>
            <a:endParaRPr lang="en-US" altLang="zh-TW" dirty="0"/>
          </a:p>
          <a:p>
            <a:pPr lvl="2"/>
            <a:r>
              <a:rPr lang="zh-TW" altLang="en-US" dirty="0"/>
              <a:t>例如：</a:t>
            </a:r>
            <a:r>
              <a:rPr lang="zh-TW" altLang="zh-TW" dirty="0"/>
              <a:t>電</a:t>
            </a:r>
            <a:r>
              <a:rPr lang="en-US" altLang="zh-TW" dirty="0"/>
              <a:t> = B971</a:t>
            </a:r>
            <a:r>
              <a:rPr lang="zh-TW" altLang="zh-TW" dirty="0"/>
              <a:t>，腦</a:t>
            </a:r>
            <a:r>
              <a:rPr lang="en-US" altLang="zh-TW" dirty="0"/>
              <a:t> = B8A3</a:t>
            </a:r>
          </a:p>
          <a:p>
            <a:pPr lvl="1"/>
            <a:r>
              <a:rPr lang="en-US" altLang="zh-TW" dirty="0"/>
              <a:t>Big5</a:t>
            </a:r>
            <a:r>
              <a:rPr lang="zh-TW" altLang="zh-TW" dirty="0"/>
              <a:t>碼是一種內碼，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僅</a:t>
            </a:r>
            <a:r>
              <a:rPr lang="zh-TW" altLang="zh-TW" dirty="0"/>
              <a:t>適用於某種作業系統與應用程式內部使用</a:t>
            </a:r>
            <a:endParaRPr lang="en-US" altLang="zh-TW" dirty="0"/>
          </a:p>
          <a:p>
            <a:pPr lvl="1"/>
            <a:r>
              <a:rPr lang="zh-TW" altLang="zh-TW" dirty="0"/>
              <a:t>使用不同的中文內碼會導致資料交換不便，行政院公佈中文標準交換碼</a:t>
            </a:r>
            <a:r>
              <a:rPr lang="zh-TW" altLang="en-US" dirty="0"/>
              <a:t>，</a:t>
            </a:r>
            <a:r>
              <a:rPr lang="zh-TW" altLang="zh-TW" dirty="0"/>
              <a:t>編號為</a:t>
            </a:r>
            <a:r>
              <a:rPr lang="en-US" altLang="zh-TW" dirty="0"/>
              <a:t>CNS 11643</a:t>
            </a:r>
          </a:p>
          <a:p>
            <a:pPr lvl="1"/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3.1</a:t>
            </a:r>
            <a:r>
              <a:rPr lang="zh-TW" altLang="en-US" dirty="0"/>
              <a:t>文字的表示與處理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統整全世界文字的編碼需求，方便不同語系國家</a:t>
            </a:r>
            <a:r>
              <a:rPr lang="zh-TW" altLang="en-US" dirty="0"/>
              <a:t>的</a:t>
            </a:r>
            <a:r>
              <a:rPr lang="zh-TW" altLang="zh-TW" dirty="0"/>
              <a:t>文件瀏覽</a:t>
            </a:r>
            <a:endParaRPr lang="en-US" altLang="zh-TW" dirty="0"/>
          </a:p>
          <a:p>
            <a:r>
              <a:rPr lang="zh-TW" altLang="zh-TW" dirty="0"/>
              <a:t>國際統一碼聯盟制定</a:t>
            </a:r>
            <a:r>
              <a:rPr lang="zh-TW" altLang="zh-TW" dirty="0">
                <a:solidFill>
                  <a:srgbClr val="0070C0"/>
                </a:solidFill>
              </a:rPr>
              <a:t>萬國碼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(Universal Code</a:t>
            </a:r>
            <a:r>
              <a:rPr lang="zh-TW" altLang="zh-TW" dirty="0"/>
              <a:t>，</a:t>
            </a:r>
            <a:r>
              <a:rPr lang="en-US" altLang="zh-TW" dirty="0"/>
              <a:t>Unicode)</a:t>
            </a:r>
          </a:p>
          <a:p>
            <a:r>
              <a:rPr lang="zh-TW" altLang="zh-TW" dirty="0"/>
              <a:t>萬國碼將編碼區分</a:t>
            </a:r>
            <a:r>
              <a:rPr lang="en-US" altLang="zh-TW" dirty="0"/>
              <a:t>17</a:t>
            </a:r>
            <a:r>
              <a:rPr lang="zh-TW" altLang="zh-TW" dirty="0"/>
              <a:t>個群組，每一群組稱為一個平面</a:t>
            </a:r>
            <a:r>
              <a:rPr lang="en-US" altLang="zh-TW" dirty="0"/>
              <a:t> (plane)</a:t>
            </a:r>
            <a:r>
              <a:rPr lang="zh-TW" altLang="en-US" dirty="0"/>
              <a:t>，</a:t>
            </a:r>
            <a:r>
              <a:rPr lang="zh-TW" altLang="zh-TW" dirty="0"/>
              <a:t>每個平面用</a:t>
            </a:r>
            <a:r>
              <a:rPr lang="en-US" altLang="zh-TW" dirty="0"/>
              <a:t>2</a:t>
            </a:r>
            <a:r>
              <a:rPr lang="zh-TW" altLang="zh-TW" dirty="0"/>
              <a:t>個位元組編碼字元符號</a:t>
            </a:r>
            <a:endParaRPr lang="en-US" altLang="zh-TW" dirty="0"/>
          </a:p>
          <a:p>
            <a:r>
              <a:rPr lang="zh-TW" altLang="zh-TW" dirty="0"/>
              <a:t>平面</a:t>
            </a:r>
            <a:r>
              <a:rPr lang="en-US" altLang="zh-TW" dirty="0"/>
              <a:t>0</a:t>
            </a:r>
            <a:r>
              <a:rPr lang="zh-TW" altLang="zh-TW" dirty="0"/>
              <a:t>的編碼數字範圍為：</a:t>
            </a:r>
            <a:r>
              <a:rPr lang="en-US" altLang="zh-TW" dirty="0"/>
              <a:t>U + 0000 ~ U + FFFF</a:t>
            </a:r>
            <a:r>
              <a:rPr lang="zh-TW" altLang="zh-TW" dirty="0"/>
              <a:t>，後方</a:t>
            </a:r>
            <a:r>
              <a:rPr lang="en-US" altLang="zh-TW" dirty="0"/>
              <a:t>4</a:t>
            </a:r>
            <a:r>
              <a:rPr lang="zh-TW" altLang="zh-TW" dirty="0"/>
              <a:t>個十六進位的數字記錄編碼數字</a:t>
            </a:r>
            <a:endParaRPr lang="en-US" altLang="zh-TW" dirty="0"/>
          </a:p>
          <a:p>
            <a:r>
              <a:rPr lang="zh-TW" altLang="zh-TW" dirty="0"/>
              <a:t>平面</a:t>
            </a:r>
            <a:r>
              <a:rPr lang="en-US" altLang="zh-TW" dirty="0"/>
              <a:t>0</a:t>
            </a:r>
            <a:r>
              <a:rPr lang="zh-TW" altLang="zh-TW" dirty="0"/>
              <a:t>又稱</a:t>
            </a:r>
            <a:r>
              <a:rPr lang="zh-TW" altLang="zh-TW" dirty="0">
                <a:solidFill>
                  <a:srgbClr val="0070C0"/>
                </a:solidFill>
              </a:rPr>
              <a:t>基本多文種平面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(Basic Multilingual Plane, BMP)</a:t>
            </a:r>
            <a:r>
              <a:rPr lang="zh-TW" altLang="zh-TW" dirty="0"/>
              <a:t>，包括各國語言基本常用的字元符號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3.1</a:t>
            </a:r>
            <a:r>
              <a:rPr lang="zh-TW" altLang="en-US" dirty="0"/>
              <a:t>文字的表示與處理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對相同的英文字母符號，萬國碼比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ASCII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碼使用更多的位元組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r>
              <a:rPr lang="en-US" altLang="zh-TW" dirty="0"/>
              <a:t>UTF (Unicode Transformation Format) </a:t>
            </a:r>
            <a:r>
              <a:rPr lang="zh-TW" altLang="en-US" dirty="0"/>
              <a:t>是</a:t>
            </a:r>
            <a:r>
              <a:rPr lang="zh-TW" altLang="zh-TW" dirty="0"/>
              <a:t>實現萬國碼的一種方式</a:t>
            </a:r>
            <a:endParaRPr lang="en-US" altLang="zh-TW" dirty="0"/>
          </a:p>
          <a:p>
            <a:r>
              <a:rPr lang="en-US" altLang="zh-TW" dirty="0"/>
              <a:t>UTF-8</a:t>
            </a:r>
            <a:r>
              <a:rPr lang="zh-TW" altLang="zh-TW" dirty="0"/>
              <a:t>是目前最常見的一種，數字</a:t>
            </a:r>
            <a:r>
              <a:rPr lang="en-US" altLang="zh-TW" dirty="0"/>
              <a:t>8</a:t>
            </a:r>
            <a:r>
              <a:rPr lang="zh-TW" altLang="zh-TW" dirty="0"/>
              <a:t>表示最少使用</a:t>
            </a:r>
            <a:r>
              <a:rPr lang="en-US" altLang="zh-TW" dirty="0"/>
              <a:t>8</a:t>
            </a:r>
            <a:r>
              <a:rPr lang="zh-TW" altLang="zh-TW" dirty="0"/>
              <a:t>個位元編碼</a:t>
            </a:r>
            <a:endParaRPr lang="en-US" altLang="zh-TW" dirty="0"/>
          </a:p>
          <a:p>
            <a:r>
              <a:rPr lang="en-US" altLang="zh-TW" dirty="0"/>
              <a:t>UTF-8</a:t>
            </a:r>
            <a:r>
              <a:rPr lang="zh-TW" altLang="zh-TW" dirty="0"/>
              <a:t>採用變動寬度</a:t>
            </a:r>
            <a:r>
              <a:rPr lang="en-US" altLang="zh-TW" dirty="0"/>
              <a:t> (variable-width) </a:t>
            </a:r>
            <a:r>
              <a:rPr lang="zh-TW" altLang="zh-TW" dirty="0"/>
              <a:t>的編碼方式</a:t>
            </a:r>
            <a:endParaRPr lang="en-US" altLang="zh-TW" dirty="0"/>
          </a:p>
          <a:p>
            <a:pPr lvl="1"/>
            <a:r>
              <a:rPr lang="zh-TW" altLang="zh-TW" dirty="0"/>
              <a:t>依據編碼數字的大小，自動調整使用的位元組數量，至多用到</a:t>
            </a:r>
            <a:r>
              <a:rPr lang="en-US" altLang="zh-TW" dirty="0"/>
              <a:t>4</a:t>
            </a:r>
            <a:r>
              <a:rPr lang="zh-TW" altLang="zh-TW" dirty="0"/>
              <a:t>個位元組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3.1</a:t>
            </a:r>
            <a:r>
              <a:rPr lang="zh-TW" altLang="en-US" dirty="0"/>
              <a:t>文字的表示與處理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3.1</a:t>
            </a:r>
            <a:r>
              <a:rPr lang="zh-TW" altLang="en-US" dirty="0"/>
              <a:t>文字的表示與處理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340768"/>
            <a:ext cx="8023748" cy="4680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827584" y="3068960"/>
            <a:ext cx="7560840" cy="27363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2130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 smtClean="0">
                <a:solidFill>
                  <a:schemeClr val="accent3"/>
                </a:solidFill>
              </a:rPr>
              <a:t>文件的壓縮</a:t>
            </a:r>
            <a:endParaRPr lang="en-US" altLang="zh-TW" b="1" dirty="0" smtClean="0">
              <a:solidFill>
                <a:schemeClr val="accent3"/>
              </a:solidFill>
            </a:endParaRPr>
          </a:p>
          <a:p>
            <a:r>
              <a:rPr lang="zh-TW" altLang="zh-TW" dirty="0" smtClean="0"/>
              <a:t>在</a:t>
            </a:r>
            <a:r>
              <a:rPr lang="zh-TW" altLang="zh-TW" dirty="0"/>
              <a:t>資訊處理的應用上，如果能將大量</a:t>
            </a:r>
            <a:r>
              <a:rPr lang="zh-TW" altLang="en-US" dirty="0"/>
              <a:t>的</a:t>
            </a:r>
            <a:r>
              <a:rPr lang="zh-TW" altLang="zh-TW" dirty="0"/>
              <a:t>資料內容做適當的壓縮處理，可以節省儲存的空間，傳遞資料時也會比較省時</a:t>
            </a:r>
            <a:endParaRPr lang="en-US" altLang="zh-TW" dirty="0"/>
          </a:p>
          <a:p>
            <a:r>
              <a:rPr lang="zh-TW" altLang="zh-TW" dirty="0"/>
              <a:t>壓縮有兩種基本形式：</a:t>
            </a:r>
            <a:r>
              <a:rPr lang="zh-TW" altLang="zh-TW" dirty="0">
                <a:solidFill>
                  <a:srgbClr val="0070C0"/>
                </a:solidFill>
              </a:rPr>
              <a:t>不失真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(lossless) </a:t>
            </a:r>
            <a:r>
              <a:rPr lang="zh-TW" altLang="zh-TW" dirty="0"/>
              <a:t>壓縮與</a:t>
            </a:r>
            <a:r>
              <a:rPr lang="zh-TW" altLang="zh-TW" dirty="0">
                <a:solidFill>
                  <a:srgbClr val="0070C0"/>
                </a:solidFill>
              </a:rPr>
              <a:t>失真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</a:t>
            </a:r>
            <a:r>
              <a:rPr lang="en-US" altLang="zh-TW" dirty="0" err="1"/>
              <a:t>lossy</a:t>
            </a:r>
            <a:r>
              <a:rPr lang="en-US" altLang="zh-TW" dirty="0"/>
              <a:t>)</a:t>
            </a:r>
            <a:r>
              <a:rPr lang="zh-TW" altLang="zh-TW" dirty="0"/>
              <a:t>壓縮</a:t>
            </a:r>
            <a:endParaRPr lang="en-US" altLang="zh-TW" dirty="0"/>
          </a:p>
          <a:p>
            <a:r>
              <a:rPr lang="zh-TW" altLang="zh-TW" dirty="0"/>
              <a:t>壓縮效率一般用</a:t>
            </a:r>
            <a:r>
              <a:rPr lang="zh-TW" altLang="zh-TW" dirty="0" smtClean="0"/>
              <a:t>壓縮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率</a:t>
            </a:r>
            <a:r>
              <a:rPr lang="en-US" altLang="zh-TW" dirty="0" smtClean="0"/>
              <a:t>(</a:t>
            </a:r>
            <a:r>
              <a:rPr lang="en-US" altLang="zh-TW" dirty="0"/>
              <a:t>compression ratio) </a:t>
            </a:r>
            <a:r>
              <a:rPr lang="zh-TW" altLang="zh-TW" dirty="0"/>
              <a:t>表示，代表壓縮</a:t>
            </a:r>
            <a:r>
              <a:rPr lang="zh-TW" altLang="en-US" dirty="0"/>
              <a:t>後</a:t>
            </a:r>
            <a:r>
              <a:rPr lang="zh-TW" altLang="zh-TW" dirty="0"/>
              <a:t>與壓縮</a:t>
            </a:r>
            <a:r>
              <a:rPr lang="zh-TW" altLang="en-US" dirty="0"/>
              <a:t>前</a:t>
            </a:r>
            <a:r>
              <a:rPr lang="zh-TW" altLang="zh-TW" dirty="0"/>
              <a:t>檔案大小的</a:t>
            </a:r>
            <a:r>
              <a:rPr lang="zh-TW" altLang="en-US" dirty="0"/>
              <a:t>比值 </a:t>
            </a:r>
            <a:r>
              <a:rPr lang="en-US" altLang="zh-TW" dirty="0"/>
              <a:t>(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壓縮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後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/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壓縮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前</a:t>
            </a:r>
            <a:r>
              <a:rPr lang="en-US" altLang="zh-TW" dirty="0"/>
              <a:t>)</a:t>
            </a:r>
          </a:p>
          <a:p>
            <a:r>
              <a:rPr lang="zh-TW" altLang="zh-TW" dirty="0"/>
              <a:t>失真壓縮可以透過</a:t>
            </a:r>
            <a:r>
              <a:rPr lang="zh-TW" altLang="zh-TW" dirty="0" smtClean="0"/>
              <a:t>丟棄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大量</a:t>
            </a:r>
            <a:r>
              <a:rPr lang="zh-TW" altLang="zh-TW" dirty="0" smtClean="0"/>
              <a:t>資料</a:t>
            </a:r>
            <a:r>
              <a:rPr lang="zh-TW" altLang="zh-TW" dirty="0"/>
              <a:t>達到高的</a:t>
            </a:r>
            <a:r>
              <a:rPr lang="zh-TW" altLang="zh-TW" dirty="0" smtClean="0"/>
              <a:t>壓縮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率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pPr lvl="1"/>
            <a:r>
              <a:rPr lang="zh-TW" altLang="en-US" dirty="0"/>
              <a:t>使用者能容忍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失真即可</a:t>
            </a: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3.1</a:t>
            </a:r>
            <a:r>
              <a:rPr lang="zh-TW" altLang="en-US" dirty="0"/>
              <a:t>文字的表示與處理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文件的</a:t>
            </a:r>
            <a:r>
              <a:rPr lang="zh-TW" altLang="en-US" b="1" dirty="0" smtClean="0">
                <a:solidFill>
                  <a:schemeClr val="accent3"/>
                </a:solidFill>
              </a:rPr>
              <a:t>壓縮</a:t>
            </a:r>
            <a:endParaRPr lang="en-US" altLang="zh-TW" dirty="0" smtClean="0"/>
          </a:p>
          <a:p>
            <a:r>
              <a:rPr lang="zh-TW" altLang="zh-TW" dirty="0" smtClean="0">
                <a:solidFill>
                  <a:srgbClr val="0070C0"/>
                </a:solidFill>
              </a:rPr>
              <a:t>關鍵字</a:t>
            </a:r>
            <a:r>
              <a:rPr lang="zh-TW" altLang="zh-TW" dirty="0">
                <a:solidFill>
                  <a:srgbClr val="0070C0"/>
                </a:solidFill>
              </a:rPr>
              <a:t>編碼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(keyword encoding)</a:t>
            </a:r>
          </a:p>
          <a:p>
            <a:r>
              <a:rPr lang="zh-TW" altLang="zh-TW" dirty="0"/>
              <a:t>英文文章最常出現的關鍵字前五名依序為：</a:t>
            </a:r>
            <a:r>
              <a:rPr lang="en-US" altLang="zh-TW" dirty="0"/>
              <a:t>the</a:t>
            </a:r>
            <a:r>
              <a:rPr lang="zh-TW" altLang="zh-TW" dirty="0"/>
              <a:t>、</a:t>
            </a:r>
            <a:r>
              <a:rPr lang="en-US" altLang="zh-TW" dirty="0"/>
              <a:t>be</a:t>
            </a:r>
            <a:r>
              <a:rPr lang="zh-TW" altLang="zh-TW" dirty="0"/>
              <a:t>、</a:t>
            </a:r>
            <a:r>
              <a:rPr lang="en-US" altLang="zh-TW" dirty="0"/>
              <a:t>to</a:t>
            </a:r>
            <a:r>
              <a:rPr lang="zh-TW" altLang="zh-TW" dirty="0"/>
              <a:t>、</a:t>
            </a:r>
            <a:r>
              <a:rPr lang="en-US" altLang="zh-TW" dirty="0"/>
              <a:t>of </a:t>
            </a:r>
            <a:r>
              <a:rPr lang="zh-TW" altLang="zh-TW" dirty="0"/>
              <a:t>與</a:t>
            </a:r>
            <a:r>
              <a:rPr lang="en-US" altLang="zh-TW" dirty="0"/>
              <a:t>and</a:t>
            </a:r>
          </a:p>
          <a:p>
            <a:r>
              <a:rPr lang="zh-TW" altLang="en-US" dirty="0"/>
              <a:t>建立編碼表</a:t>
            </a: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3.1</a:t>
            </a:r>
            <a:r>
              <a:rPr lang="zh-TW" altLang="en-US" dirty="0"/>
              <a:t>文字的表示與處理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3363527"/>
            <a:ext cx="4032448" cy="2729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壓縮前：</a:t>
            </a:r>
            <a:r>
              <a:rPr lang="zh-TW" altLang="zh-TW" dirty="0"/>
              <a:t>「</a:t>
            </a:r>
            <a:r>
              <a:rPr lang="en-US" altLang="zh-TW" dirty="0"/>
              <a:t>to be, or not to be, that is the question.</a:t>
            </a:r>
            <a:r>
              <a:rPr lang="zh-TW" altLang="zh-TW" dirty="0"/>
              <a:t>」</a:t>
            </a:r>
            <a:endParaRPr lang="en-US" altLang="zh-TW" dirty="0"/>
          </a:p>
          <a:p>
            <a:r>
              <a:rPr lang="zh-TW" altLang="en-US" dirty="0"/>
              <a:t>壓縮後</a:t>
            </a:r>
            <a:r>
              <a:rPr lang="zh-TW" altLang="zh-TW" dirty="0"/>
              <a:t>「</a:t>
            </a:r>
            <a:r>
              <a:rPr lang="en-US" altLang="zh-TW" dirty="0"/>
              <a:t>% $, or not % $, that is # question.</a:t>
            </a:r>
            <a:r>
              <a:rPr lang="zh-TW" altLang="zh-TW" dirty="0"/>
              <a:t>」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使用</a:t>
            </a:r>
            <a:r>
              <a:rPr lang="zh-TW" altLang="en-US" dirty="0" smtClean="0"/>
              <a:t>限制</a:t>
            </a:r>
            <a:endParaRPr lang="en-US" altLang="zh-TW" dirty="0" smtClean="0"/>
          </a:p>
          <a:p>
            <a:pPr lvl="1"/>
            <a:r>
              <a:rPr lang="zh-TW" altLang="en-US" dirty="0"/>
              <a:t>壓縮與解壓縮須要採用相同的關鍵字編碼</a:t>
            </a:r>
            <a:r>
              <a:rPr lang="zh-TW" altLang="en-US" dirty="0" smtClean="0"/>
              <a:t>表</a:t>
            </a:r>
            <a:endParaRPr lang="en-US" altLang="zh-TW" dirty="0" smtClean="0"/>
          </a:p>
          <a:p>
            <a:pPr lvl="1"/>
            <a:r>
              <a:rPr lang="zh-TW" altLang="zh-TW" dirty="0" smtClean="0"/>
              <a:t>編碼</a:t>
            </a:r>
            <a:r>
              <a:rPr lang="zh-TW" altLang="zh-TW" dirty="0"/>
              <a:t>符號不可與文章其他出現的字元符號相同</a:t>
            </a:r>
          </a:p>
          <a:p>
            <a:pPr lvl="1"/>
            <a:r>
              <a:rPr lang="zh-TW" altLang="en-US" dirty="0" smtClean="0"/>
              <a:t>對</a:t>
            </a:r>
            <a:r>
              <a:rPr lang="zh-TW" altLang="en-US" dirty="0"/>
              <a:t>長度為</a:t>
            </a:r>
            <a:r>
              <a:rPr lang="en-US" altLang="zh-TW" dirty="0"/>
              <a:t>1 </a:t>
            </a:r>
            <a:r>
              <a:rPr lang="zh-TW" altLang="en-US" dirty="0"/>
              <a:t>個字元的關鍵字進行編碼是無意義的</a:t>
            </a: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3.1</a:t>
            </a:r>
            <a:r>
              <a:rPr lang="zh-TW" altLang="en-US" dirty="0"/>
              <a:t>文字的表示與處理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文件的儲存</a:t>
            </a:r>
            <a:endParaRPr lang="en-US" altLang="zh-TW" b="1" dirty="0" smtClean="0">
              <a:solidFill>
                <a:schemeClr val="accent3"/>
              </a:solidFill>
            </a:endParaRPr>
          </a:p>
          <a:p>
            <a:r>
              <a:rPr lang="zh-TW" altLang="zh-TW" dirty="0" smtClean="0">
                <a:solidFill>
                  <a:srgbClr val="0070C0"/>
                </a:solidFill>
              </a:rPr>
              <a:t>純</a:t>
            </a:r>
            <a:r>
              <a:rPr lang="zh-TW" altLang="zh-TW" dirty="0">
                <a:solidFill>
                  <a:srgbClr val="0070C0"/>
                </a:solidFill>
              </a:rPr>
              <a:t>文字格式</a:t>
            </a:r>
            <a:r>
              <a:rPr lang="zh-TW" altLang="zh-TW" dirty="0"/>
              <a:t>：只</a:t>
            </a:r>
            <a:r>
              <a:rPr lang="zh-TW" altLang="zh-TW" dirty="0" smtClean="0"/>
              <a:t>能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紀錄</a:t>
            </a:r>
            <a:r>
              <a:rPr lang="zh-TW" altLang="zh-TW" dirty="0" smtClean="0">
                <a:uFill>
                  <a:solidFill>
                    <a:srgbClr val="0000CC"/>
                  </a:solidFill>
                </a:uFill>
              </a:rPr>
              <a:t>文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字</a:t>
            </a:r>
            <a:r>
              <a:rPr lang="zh-TW" altLang="zh-TW" dirty="0" smtClean="0"/>
              <a:t>的</a:t>
            </a:r>
            <a:r>
              <a:rPr lang="zh-TW" altLang="zh-TW" dirty="0"/>
              <a:t>內容，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無法編排成多樣格式的文件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pPr lvl="1"/>
            <a:r>
              <a:rPr lang="zh-TW" altLang="zh-TW" dirty="0"/>
              <a:t>英文文件以</a:t>
            </a:r>
            <a:r>
              <a:rPr lang="en-US" altLang="zh-TW" dirty="0"/>
              <a:t> ASCII </a:t>
            </a:r>
            <a:r>
              <a:rPr lang="zh-TW" altLang="zh-TW" dirty="0"/>
              <a:t>碼儲存文字對應的</a:t>
            </a:r>
            <a:r>
              <a:rPr lang="zh-TW" altLang="en-US" dirty="0"/>
              <a:t>數字</a:t>
            </a:r>
            <a:r>
              <a:rPr lang="zh-TW" altLang="zh-TW" dirty="0"/>
              <a:t>碼，中文文件</a:t>
            </a:r>
            <a:r>
              <a:rPr lang="zh-TW" altLang="en-US" dirty="0"/>
              <a:t>一般以 </a:t>
            </a:r>
            <a:r>
              <a:rPr lang="en-US" altLang="zh-TW" dirty="0"/>
              <a:t>Big5 </a:t>
            </a:r>
            <a:r>
              <a:rPr lang="zh-TW" altLang="zh-TW" dirty="0"/>
              <a:t>碼儲存</a:t>
            </a:r>
            <a:endParaRPr lang="en-US" altLang="zh-TW" dirty="0"/>
          </a:p>
          <a:p>
            <a:pPr lvl="1"/>
            <a:r>
              <a:rPr lang="zh-TW" altLang="zh-TW" dirty="0"/>
              <a:t>常見的純文字檔案為</a:t>
            </a:r>
            <a:r>
              <a:rPr lang="en-US" altLang="zh-TW" dirty="0"/>
              <a:t> txt </a:t>
            </a:r>
            <a:r>
              <a:rPr lang="zh-TW" altLang="zh-TW" dirty="0"/>
              <a:t>檔案</a:t>
            </a:r>
            <a:r>
              <a:rPr lang="zh-TW" altLang="en-US" dirty="0"/>
              <a:t>，</a:t>
            </a:r>
            <a:r>
              <a:rPr lang="zh-TW" altLang="zh-TW" dirty="0"/>
              <a:t>在</a:t>
            </a:r>
            <a:r>
              <a:rPr lang="en-US" altLang="zh-TW" dirty="0"/>
              <a:t> Windows </a:t>
            </a:r>
            <a:r>
              <a:rPr lang="zh-TW" altLang="zh-TW" dirty="0"/>
              <a:t>系統中可以利用「記事本」程式，編輯與閱讀</a:t>
            </a:r>
            <a:endParaRPr lang="en-US" altLang="zh-TW" dirty="0"/>
          </a:p>
          <a:p>
            <a:pPr lvl="1"/>
            <a:r>
              <a:rPr lang="zh-TW" altLang="zh-TW" dirty="0"/>
              <a:t>只能利用空白鍵或換行鍵編排文件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3.1</a:t>
            </a:r>
            <a:r>
              <a:rPr lang="zh-TW" altLang="en-US" dirty="0"/>
              <a:t>文字的表示與處理</a:t>
            </a:r>
          </a:p>
        </p:txBody>
      </p:sp>
      <p:pic>
        <p:nvPicPr>
          <p:cNvPr id="6" name="圖片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4725144"/>
            <a:ext cx="3600400" cy="172819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395536" y="6453336"/>
            <a:ext cx="308007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3.3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Windows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的記事本程式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4725144"/>
            <a:ext cx="5027155" cy="21602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zh-TW" dirty="0">
                <a:solidFill>
                  <a:srgbClr val="0070C0"/>
                </a:solidFill>
              </a:rPr>
              <a:t>二進位格式</a:t>
            </a:r>
            <a:r>
              <a:rPr lang="zh-TW" altLang="zh-TW" dirty="0" smtClean="0"/>
              <a:t>：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除了紀錄</a:t>
            </a:r>
            <a:r>
              <a:rPr lang="zh-TW" altLang="zh-TW" dirty="0" smtClean="0">
                <a:uFill>
                  <a:solidFill>
                    <a:srgbClr val="0000CC"/>
                  </a:solidFill>
                </a:uFill>
              </a:rPr>
              <a:t>文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字</a:t>
            </a:r>
            <a:r>
              <a:rPr lang="zh-TW" altLang="zh-TW" dirty="0" smtClean="0">
                <a:uFill>
                  <a:solidFill>
                    <a:srgbClr val="0000CC"/>
                  </a:solidFill>
                </a:uFill>
              </a:rPr>
              <a:t>內容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外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，也</a:t>
            </a:r>
            <a:r>
              <a:rPr lang="zh-TW" altLang="zh-TW" dirty="0" smtClean="0">
                <a:uFill>
                  <a:solidFill>
                    <a:srgbClr val="0000CC"/>
                  </a:solidFill>
                </a:uFill>
              </a:rPr>
              <a:t>可以</a:t>
            </a:r>
            <a:r>
              <a:rPr lang="zh-TW" altLang="en-US" dirty="0" smtClean="0">
                <a:uFill>
                  <a:solidFill>
                    <a:srgbClr val="0000CC"/>
                  </a:solidFill>
                </a:uFill>
              </a:rPr>
              <a:t>紀錄文字</a:t>
            </a:r>
            <a:r>
              <a:rPr lang="zh-TW" altLang="zh-TW" dirty="0" smtClean="0"/>
              <a:t>編排</a:t>
            </a:r>
            <a:r>
              <a:rPr lang="zh-TW" altLang="zh-TW" dirty="0"/>
              <a:t>的格式</a:t>
            </a:r>
            <a:endParaRPr lang="en-US" altLang="zh-TW" dirty="0"/>
          </a:p>
          <a:p>
            <a:pPr lvl="1"/>
            <a:r>
              <a:rPr lang="zh-TW" altLang="zh-TW" dirty="0"/>
              <a:t>大小、字體與顏色等，讓文件可以圖文並茂</a:t>
            </a:r>
            <a:endParaRPr lang="en-US" altLang="zh-TW" dirty="0"/>
          </a:p>
          <a:p>
            <a:pPr lvl="1"/>
            <a:r>
              <a:rPr lang="zh-TW" altLang="zh-TW" dirty="0"/>
              <a:t>由開發應用程式的業者自行定義儲存的格式</a:t>
            </a:r>
            <a:endParaRPr lang="en-US" altLang="zh-TW" dirty="0"/>
          </a:p>
          <a:p>
            <a:pPr lvl="1"/>
            <a:r>
              <a:rPr lang="zh-TW" altLang="zh-TW" dirty="0"/>
              <a:t>整篇文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件以</a:t>
            </a:r>
            <a:r>
              <a:rPr lang="zh-TW" altLang="zh-TW" dirty="0"/>
              <a:t>二進位數字的內容</a:t>
            </a:r>
            <a:r>
              <a:rPr lang="zh-TW" altLang="en-US" dirty="0"/>
              <a:t>儲存</a:t>
            </a:r>
            <a:endParaRPr lang="en-US" altLang="zh-TW" dirty="0"/>
          </a:p>
          <a:p>
            <a:pPr lvl="1"/>
            <a:r>
              <a:rPr lang="zh-TW" altLang="zh-TW" dirty="0"/>
              <a:t>常見的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格式</a:t>
            </a:r>
            <a:r>
              <a:rPr lang="zh-TW" altLang="en-US" dirty="0"/>
              <a:t>如</a:t>
            </a:r>
            <a:r>
              <a:rPr lang="zh-TW" altLang="zh-TW" dirty="0"/>
              <a:t>微軟「</a:t>
            </a:r>
            <a:r>
              <a:rPr lang="en-US" altLang="zh-TW" dirty="0"/>
              <a:t>Word</a:t>
            </a:r>
            <a:r>
              <a:rPr lang="zh-TW" altLang="zh-TW" dirty="0"/>
              <a:t>」程式使用的</a:t>
            </a:r>
            <a:r>
              <a:rPr lang="en-US" altLang="zh-TW" dirty="0"/>
              <a:t> doc </a:t>
            </a:r>
            <a:r>
              <a:rPr lang="zh-TW" altLang="zh-TW" dirty="0"/>
              <a:t>檔案與</a:t>
            </a:r>
            <a:r>
              <a:rPr lang="en-US" altLang="zh-TW" dirty="0"/>
              <a:t> Adobe </a:t>
            </a:r>
            <a:r>
              <a:rPr lang="zh-TW" altLang="zh-TW" dirty="0"/>
              <a:t>公司使用的</a:t>
            </a:r>
            <a:r>
              <a:rPr lang="en-US" altLang="zh-TW" dirty="0"/>
              <a:t> </a:t>
            </a:r>
            <a:r>
              <a:rPr lang="en-US" altLang="zh-TW" dirty="0" err="1"/>
              <a:t>pdf</a:t>
            </a:r>
            <a:r>
              <a:rPr lang="en-US" altLang="zh-TW" dirty="0"/>
              <a:t> </a:t>
            </a:r>
            <a:r>
              <a:rPr lang="zh-TW" altLang="zh-TW" dirty="0"/>
              <a:t>檔案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3.1</a:t>
            </a:r>
            <a:r>
              <a:rPr lang="zh-TW" altLang="en-US" dirty="0"/>
              <a:t>文字的表示與處理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855" y="4365104"/>
            <a:ext cx="4530385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zh-TW" dirty="0">
                <a:solidFill>
                  <a:srgbClr val="0070C0"/>
                </a:solidFill>
              </a:rPr>
              <a:t>純文字格式化格式</a:t>
            </a:r>
            <a:r>
              <a:rPr lang="zh-TW" altLang="zh-TW" dirty="0"/>
              <a:t>：利用純文字格式儲存</a:t>
            </a:r>
            <a:r>
              <a:rPr lang="zh-TW" altLang="zh-TW" dirty="0" smtClean="0"/>
              <a:t>文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字</a:t>
            </a:r>
            <a:r>
              <a:rPr lang="zh-TW" altLang="zh-TW" dirty="0" smtClean="0"/>
              <a:t>內容</a:t>
            </a:r>
            <a:r>
              <a:rPr lang="zh-TW" altLang="zh-TW" dirty="0"/>
              <a:t>外，也儲存</a:t>
            </a:r>
            <a:r>
              <a:rPr lang="zh-TW" altLang="zh-TW" dirty="0" smtClean="0"/>
              <a:t>文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字</a:t>
            </a:r>
            <a:r>
              <a:rPr lang="zh-TW" altLang="zh-TW" dirty="0" smtClean="0"/>
              <a:t>編排</a:t>
            </a:r>
            <a:r>
              <a:rPr lang="zh-TW" altLang="zh-TW" dirty="0"/>
              <a:t>的資訊</a:t>
            </a:r>
            <a:endParaRPr lang="en-US" altLang="zh-TW" dirty="0"/>
          </a:p>
          <a:p>
            <a:pPr lvl="1"/>
            <a:r>
              <a:rPr lang="zh-TW" altLang="zh-TW" dirty="0"/>
              <a:t>常使用於全球資訊網的網頁，儲存成</a:t>
            </a:r>
            <a:r>
              <a:rPr lang="en-US" altLang="zh-TW" dirty="0"/>
              <a:t> html </a:t>
            </a:r>
            <a:r>
              <a:rPr lang="zh-TW" altLang="zh-TW" dirty="0"/>
              <a:t>或是</a:t>
            </a:r>
            <a:r>
              <a:rPr lang="en-US" altLang="zh-TW" dirty="0"/>
              <a:t> xml </a:t>
            </a:r>
            <a:r>
              <a:rPr lang="zh-TW" altLang="zh-TW" dirty="0"/>
              <a:t>檔案</a:t>
            </a:r>
            <a:endParaRPr lang="en-US" altLang="zh-TW" dirty="0"/>
          </a:p>
          <a:p>
            <a:pPr lvl="1"/>
            <a:r>
              <a:rPr lang="zh-TW" altLang="zh-TW" dirty="0"/>
              <a:t>微軟「</a:t>
            </a:r>
            <a:r>
              <a:rPr lang="en-US" altLang="zh-TW" dirty="0"/>
              <a:t>Word</a:t>
            </a:r>
            <a:r>
              <a:rPr lang="zh-TW" altLang="zh-TW" dirty="0"/>
              <a:t>」程式新提供的</a:t>
            </a:r>
            <a:r>
              <a:rPr lang="en-US" altLang="zh-TW" dirty="0"/>
              <a:t> </a:t>
            </a:r>
            <a:r>
              <a:rPr lang="en-US" altLang="zh-TW" dirty="0" err="1"/>
              <a:t>docx</a:t>
            </a:r>
            <a:r>
              <a:rPr lang="en-US" altLang="zh-TW" dirty="0"/>
              <a:t> </a:t>
            </a:r>
            <a:r>
              <a:rPr lang="zh-TW" altLang="zh-TW" dirty="0"/>
              <a:t>檔案，也是採用</a:t>
            </a:r>
            <a:r>
              <a:rPr lang="en-US" altLang="zh-TW" dirty="0"/>
              <a:t> xml </a:t>
            </a:r>
            <a:r>
              <a:rPr lang="zh-TW" altLang="zh-TW" dirty="0"/>
              <a:t>格式</a:t>
            </a:r>
            <a:r>
              <a:rPr lang="zh-TW" altLang="en-US" dirty="0"/>
              <a:t>，</a:t>
            </a:r>
            <a:r>
              <a:rPr lang="zh-TW" altLang="zh-TW" dirty="0"/>
              <a:t>格式的設定靠不同的標籤來完成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3.1</a:t>
            </a:r>
            <a:r>
              <a:rPr lang="zh-TW" altLang="en-US" dirty="0"/>
              <a:t>文字的表示與處理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573016"/>
            <a:ext cx="6822272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聲音的取樣</a:t>
            </a:r>
            <a:endParaRPr lang="en-US" altLang="zh-TW" b="1" dirty="0" smtClean="0">
              <a:solidFill>
                <a:schemeClr val="accent3"/>
              </a:solidFill>
            </a:endParaRPr>
          </a:p>
          <a:p>
            <a:r>
              <a:rPr lang="zh-TW" altLang="zh-TW" dirty="0" smtClean="0"/>
              <a:t>人</a:t>
            </a:r>
            <a:r>
              <a:rPr lang="zh-TW" altLang="zh-TW" dirty="0"/>
              <a:t>可以聽見聲音是因為聲音會導致空氣的振動，進而帶動耳膜的振動</a:t>
            </a:r>
            <a:endParaRPr lang="en-US" altLang="zh-TW" dirty="0"/>
          </a:p>
          <a:p>
            <a:r>
              <a:rPr lang="zh-TW" altLang="zh-TW" dirty="0"/>
              <a:t>振動</a:t>
            </a:r>
            <a:r>
              <a:rPr lang="zh-TW" altLang="zh-TW" dirty="0" smtClean="0"/>
              <a:t>的</a:t>
            </a:r>
            <a:r>
              <a:rPr lang="zh-TW" altLang="en-US" dirty="0" smtClean="0"/>
              <a:t>型態</a:t>
            </a:r>
            <a:r>
              <a:rPr lang="zh-TW" altLang="zh-TW" dirty="0" smtClean="0"/>
              <a:t>可以</a:t>
            </a:r>
            <a:r>
              <a:rPr lang="zh-TW" altLang="zh-TW" dirty="0"/>
              <a:t>利用波的形狀來描述，</a:t>
            </a:r>
            <a:r>
              <a:rPr lang="zh-TW" altLang="zh-TW" dirty="0">
                <a:solidFill>
                  <a:srgbClr val="0070C0"/>
                </a:solidFill>
              </a:rPr>
              <a:t>聲波</a:t>
            </a:r>
            <a:r>
              <a:rPr lang="en-US" altLang="zh-TW" dirty="0"/>
              <a:t> (sound wave) </a:t>
            </a:r>
            <a:r>
              <a:rPr lang="zh-TW" altLang="zh-TW" dirty="0"/>
              <a:t>是一種隨時間連續變化的類比</a:t>
            </a:r>
            <a:r>
              <a:rPr lang="zh-TW" altLang="zh-TW" dirty="0" smtClean="0"/>
              <a:t>形式</a:t>
            </a:r>
            <a:endParaRPr lang="en-US" altLang="zh-TW" dirty="0" smtClean="0"/>
          </a:p>
          <a:p>
            <a:r>
              <a:rPr lang="zh-TW" altLang="en-US" dirty="0" smtClean="0"/>
              <a:t>聲音</a:t>
            </a:r>
            <a:r>
              <a:rPr lang="zh-TW" altLang="en-US" dirty="0"/>
              <a:t>的大小決定聲波</a:t>
            </a:r>
            <a:r>
              <a:rPr lang="zh-TW" altLang="en-US" dirty="0" smtClean="0"/>
              <a:t>振幅</a:t>
            </a:r>
            <a:r>
              <a:rPr lang="en-US" altLang="zh-TW" dirty="0" smtClean="0"/>
              <a:t>(</a:t>
            </a:r>
            <a:r>
              <a:rPr lang="en-US" altLang="zh-TW" dirty="0"/>
              <a:t>amplitude) </a:t>
            </a:r>
            <a:r>
              <a:rPr lang="zh-TW" altLang="en-US" dirty="0"/>
              <a:t>的大小，而聲音的高低則決定聲波變化的快慢 </a:t>
            </a:r>
            <a:r>
              <a:rPr lang="en-US" altLang="zh-TW" dirty="0"/>
              <a:t>( </a:t>
            </a:r>
            <a:r>
              <a:rPr lang="zh-TW" altLang="en-US" dirty="0"/>
              <a:t>一般用</a:t>
            </a:r>
            <a:r>
              <a:rPr lang="zh-TW" altLang="en-US" dirty="0" smtClean="0"/>
              <a:t>頻率來</a:t>
            </a:r>
            <a:r>
              <a:rPr lang="zh-TW" altLang="en-US" dirty="0"/>
              <a:t>表示 </a:t>
            </a:r>
            <a:r>
              <a:rPr lang="en-US" altLang="zh-TW" dirty="0"/>
              <a:t>)</a:t>
            </a:r>
            <a:r>
              <a:rPr lang="zh-TW" altLang="en-US" dirty="0" smtClean="0"/>
              <a:t>。</a:t>
            </a:r>
            <a:endParaRPr lang="en-US" altLang="zh-TW" dirty="0"/>
          </a:p>
          <a:p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利用</a:t>
            </a:r>
            <a:r>
              <a:rPr lang="zh-TW" altLang="en-US" dirty="0">
                <a:solidFill>
                  <a:srgbClr val="0070C0"/>
                </a:solidFill>
                <a:uFill>
                  <a:solidFill>
                    <a:srgbClr val="0000CC"/>
                  </a:solidFill>
                </a:uFill>
              </a:rPr>
              <a:t>取樣 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(sampling) </a:t>
            </a:r>
            <a:r>
              <a:rPr lang="zh-TW" altLang="en-US" dirty="0" smtClean="0">
                <a:uFill>
                  <a:solidFill>
                    <a:srgbClr val="0000CC"/>
                  </a:solidFill>
                </a:uFill>
              </a:rPr>
              <a:t>將聲音資料數位化</a:t>
            </a:r>
            <a:endParaRPr lang="zh-TW" altLang="en-US" dirty="0">
              <a:uFill>
                <a:solidFill>
                  <a:srgbClr val="0000CC"/>
                </a:solidFill>
              </a:uFill>
            </a:endParaRP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3.2</a:t>
            </a:r>
            <a:r>
              <a:rPr lang="zh-TW" altLang="en-US" dirty="0" smtClean="0"/>
              <a:t>聲音</a:t>
            </a:r>
            <a:r>
              <a:rPr lang="zh-TW" altLang="en-US" dirty="0"/>
              <a:t>的表示與處理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取樣是隔固定的時間間隔，讀取聲波資料的振幅，並以整數的數字記錄大小</a:t>
            </a:r>
            <a:endParaRPr lang="en-US" altLang="zh-TW" dirty="0"/>
          </a:p>
          <a:p>
            <a:r>
              <a:rPr lang="zh-TW" altLang="zh-TW" dirty="0"/>
              <a:t>連續變化的類比資料變成不連續變化的數位資料</a:t>
            </a:r>
            <a:endParaRPr lang="en-US" altLang="zh-TW" dirty="0"/>
          </a:p>
          <a:p>
            <a:pPr lvl="1"/>
            <a:r>
              <a:rPr lang="zh-TW" altLang="en-US" dirty="0"/>
              <a:t>取樣結果：</a:t>
            </a:r>
            <a:r>
              <a:rPr lang="en-US" altLang="zh-TW" dirty="0"/>
              <a:t>2 3 2 4 3 3 6 2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3.2</a:t>
            </a:r>
            <a:r>
              <a:rPr lang="zh-TW" altLang="en-US" dirty="0"/>
              <a:t>聲音的表示與處理</a:t>
            </a:r>
          </a:p>
        </p:txBody>
      </p:sp>
      <p:pic>
        <p:nvPicPr>
          <p:cNvPr id="6" name="圖片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2996952"/>
            <a:ext cx="6192688" cy="3096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圓角矩形圖說文字 6"/>
          <p:cNvSpPr/>
          <p:nvPr/>
        </p:nvSpPr>
        <p:spPr>
          <a:xfrm>
            <a:off x="6444208" y="2924944"/>
            <a:ext cx="2232248" cy="864096"/>
          </a:xfrm>
          <a:prstGeom prst="wedgeRoundRectCallout">
            <a:avLst>
              <a:gd name="adj1" fmla="val -70410"/>
              <a:gd name="adj2" fmla="val 8841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利用紅線的方波表示藍色的聲波</a:t>
            </a:r>
          </a:p>
        </p:txBody>
      </p:sp>
      <p:sp>
        <p:nvSpPr>
          <p:cNvPr id="3" name="橢圓 2"/>
          <p:cNvSpPr/>
          <p:nvPr/>
        </p:nvSpPr>
        <p:spPr>
          <a:xfrm>
            <a:off x="2297377" y="5182634"/>
            <a:ext cx="72008" cy="7200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8" name="橢圓 7"/>
          <p:cNvSpPr/>
          <p:nvPr/>
        </p:nvSpPr>
        <p:spPr>
          <a:xfrm>
            <a:off x="2826544" y="4797400"/>
            <a:ext cx="72008" cy="7200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9" name="橢圓 8"/>
          <p:cNvSpPr/>
          <p:nvPr/>
        </p:nvSpPr>
        <p:spPr>
          <a:xfrm>
            <a:off x="3326077" y="5186867"/>
            <a:ext cx="72008" cy="7200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10" name="橢圓 9"/>
          <p:cNvSpPr/>
          <p:nvPr/>
        </p:nvSpPr>
        <p:spPr>
          <a:xfrm>
            <a:off x="3842543" y="4399467"/>
            <a:ext cx="72008" cy="7200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4367477" y="4793167"/>
            <a:ext cx="72008" cy="7200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4871243" y="4793167"/>
            <a:ext cx="72008" cy="7200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5396177" y="3599367"/>
            <a:ext cx="72008" cy="7200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5916877" y="5199567"/>
            <a:ext cx="72008" cy="7200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627784" y="6372036"/>
            <a:ext cx="3845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3.7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(a)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低取樣頻率與少量化等級</a:t>
            </a:r>
            <a:r>
              <a:rPr lang="zh-TW" altLang="en-US" dirty="0" smtClean="0">
                <a:latin typeface="Times New Roman" pitchFamily="18" charset="0"/>
                <a:cs typeface="Times New Roman" pitchFamily="18" charset="0"/>
              </a:rPr>
              <a:t>；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351427" y="602128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(a)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uFill>
                  <a:solidFill>
                    <a:srgbClr val="0000CC"/>
                  </a:solidFill>
                </a:uFill>
              </a:rPr>
              <a:t>如圖</a:t>
            </a:r>
            <a:r>
              <a:rPr lang="zh-TW" altLang="en-US" dirty="0"/>
              <a:t>實線的聲波與虛線的方波不盡相同</a:t>
            </a:r>
            <a:r>
              <a:rPr lang="zh-TW" altLang="zh-TW" dirty="0" smtClean="0"/>
              <a:t>，</a:t>
            </a:r>
            <a:r>
              <a:rPr lang="zh-TW" altLang="en-US" dirty="0" smtClean="0"/>
              <a:t>說明取樣過程會</a:t>
            </a:r>
            <a:r>
              <a:rPr lang="zh-TW" altLang="zh-TW" dirty="0" smtClean="0"/>
              <a:t>產生</a:t>
            </a:r>
            <a:r>
              <a:rPr lang="zh-TW" altLang="zh-TW" dirty="0">
                <a:solidFill>
                  <a:srgbClr val="0070C0"/>
                </a:solidFill>
              </a:rPr>
              <a:t>失真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(distortion) </a:t>
            </a:r>
            <a:r>
              <a:rPr lang="zh-TW" altLang="en-US" dirty="0"/>
              <a:t>的</a:t>
            </a:r>
            <a:r>
              <a:rPr lang="zh-TW" altLang="en-US" dirty="0" smtClean="0"/>
              <a:t>現象</a:t>
            </a:r>
            <a:endParaRPr lang="en-US" altLang="zh-TW" dirty="0"/>
          </a:p>
          <a:p>
            <a:r>
              <a:rPr lang="zh-TW" altLang="en-US" dirty="0" smtClean="0"/>
              <a:t>要</a:t>
            </a:r>
            <a:r>
              <a:rPr lang="zh-TW" altLang="en-US" dirty="0"/>
              <a:t>如何降低取樣的失真度</a:t>
            </a:r>
            <a:r>
              <a:rPr lang="zh-TW" altLang="en-US" dirty="0" smtClean="0"/>
              <a:t>呢</a:t>
            </a:r>
            <a:r>
              <a:rPr lang="en-US" altLang="zh-TW" dirty="0" smtClean="0"/>
              <a:t>?</a:t>
            </a:r>
            <a:endParaRPr lang="en-US" altLang="zh-TW" dirty="0"/>
          </a:p>
          <a:p>
            <a:pPr lvl="1"/>
            <a:r>
              <a:rPr lang="zh-TW" altLang="zh-TW" dirty="0">
                <a:solidFill>
                  <a:srgbClr val="0070C0"/>
                </a:solidFill>
              </a:rPr>
              <a:t>縮小取樣時間間隔</a:t>
            </a:r>
            <a:r>
              <a:rPr lang="zh-TW" altLang="zh-TW" dirty="0"/>
              <a:t>，</a:t>
            </a:r>
            <a:r>
              <a:rPr lang="zh-TW" altLang="zh-TW" dirty="0" smtClean="0"/>
              <a:t>或是</a:t>
            </a:r>
            <a:r>
              <a:rPr lang="zh-TW" altLang="zh-TW" dirty="0" smtClean="0">
                <a:solidFill>
                  <a:srgbClr val="0070C0"/>
                </a:solidFill>
              </a:rPr>
              <a:t>提高</a:t>
            </a:r>
            <a:r>
              <a:rPr lang="zh-TW" altLang="zh-TW" dirty="0">
                <a:solidFill>
                  <a:srgbClr val="0070C0"/>
                </a:solidFill>
              </a:rPr>
              <a:t>取樣頻率</a:t>
            </a:r>
            <a:endParaRPr lang="en-US" altLang="zh-TW" dirty="0">
              <a:solidFill>
                <a:srgbClr val="0070C0"/>
              </a:solidFill>
            </a:endParaRPr>
          </a:p>
          <a:p>
            <a:pPr lvl="1"/>
            <a:r>
              <a:rPr lang="zh-TW" altLang="zh-TW" dirty="0"/>
              <a:t>讓記錄振幅大小的刻度變得更密，另一種說法是增加</a:t>
            </a:r>
            <a:r>
              <a:rPr lang="zh-TW" altLang="zh-TW" dirty="0">
                <a:solidFill>
                  <a:srgbClr val="0070C0"/>
                </a:solidFill>
              </a:rPr>
              <a:t>量化等級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(quantization level</a:t>
            </a:r>
            <a:r>
              <a:rPr lang="en-US" altLang="zh-TW" dirty="0" smtClean="0"/>
              <a:t>)</a:t>
            </a:r>
            <a:endParaRPr lang="en-US" altLang="zh-TW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3.2</a:t>
            </a:r>
            <a:r>
              <a:rPr lang="zh-TW" altLang="en-US" dirty="0"/>
              <a:t>聲音的表示與處理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降低取樣失真度的方法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pPr lvl="1"/>
            <a:r>
              <a:rPr lang="zh-TW" altLang="zh-TW" dirty="0"/>
              <a:t>取樣結果：</a:t>
            </a:r>
            <a:r>
              <a:rPr lang="en-US" altLang="zh-TW" dirty="0"/>
              <a:t>4 6 6 4 3 5 7 7 6 5 6 10 11 8 3 1</a:t>
            </a: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3.2</a:t>
            </a:r>
            <a:r>
              <a:rPr lang="zh-TW" altLang="en-US" dirty="0"/>
              <a:t>聲音的表示與處理</a:t>
            </a:r>
          </a:p>
        </p:txBody>
      </p:sp>
      <p:pic>
        <p:nvPicPr>
          <p:cNvPr id="6" name="圖片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204864"/>
            <a:ext cx="6912768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橢圓 6"/>
          <p:cNvSpPr/>
          <p:nvPr/>
        </p:nvSpPr>
        <p:spPr>
          <a:xfrm>
            <a:off x="2204244" y="4606776"/>
            <a:ext cx="72008" cy="7200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8" name="橢圓 7"/>
          <p:cNvSpPr/>
          <p:nvPr/>
        </p:nvSpPr>
        <p:spPr>
          <a:xfrm>
            <a:off x="2496344" y="4119942"/>
            <a:ext cx="72008" cy="7200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9" name="橢圓 8"/>
          <p:cNvSpPr/>
          <p:nvPr/>
        </p:nvSpPr>
        <p:spPr>
          <a:xfrm>
            <a:off x="2784211" y="4111476"/>
            <a:ext cx="72008" cy="7200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10" name="橢圓 9"/>
          <p:cNvSpPr/>
          <p:nvPr/>
        </p:nvSpPr>
        <p:spPr>
          <a:xfrm>
            <a:off x="3072077" y="4594076"/>
            <a:ext cx="72008" cy="7200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3347244" y="4852309"/>
            <a:ext cx="72008" cy="7200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3639344" y="4369710"/>
            <a:ext cx="72008" cy="7200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3927210" y="3870176"/>
            <a:ext cx="72008" cy="7200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4215077" y="3861709"/>
            <a:ext cx="72008" cy="7200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4498710" y="4098777"/>
            <a:ext cx="72008" cy="7200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4795044" y="4352776"/>
            <a:ext cx="72008" cy="7200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17" name="橢圓 16"/>
          <p:cNvSpPr/>
          <p:nvPr/>
        </p:nvSpPr>
        <p:spPr>
          <a:xfrm>
            <a:off x="5065978" y="4115709"/>
            <a:ext cx="72008" cy="7200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5353844" y="3099710"/>
            <a:ext cx="72008" cy="7200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5658643" y="2854176"/>
            <a:ext cx="72008" cy="7200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5938044" y="3586542"/>
            <a:ext cx="72008" cy="7200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21" name="橢圓 20"/>
          <p:cNvSpPr/>
          <p:nvPr/>
        </p:nvSpPr>
        <p:spPr>
          <a:xfrm>
            <a:off x="6230144" y="4860777"/>
            <a:ext cx="72008" cy="7200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22" name="橢圓 21"/>
          <p:cNvSpPr/>
          <p:nvPr/>
        </p:nvSpPr>
        <p:spPr>
          <a:xfrm>
            <a:off x="6522244" y="5347610"/>
            <a:ext cx="72008" cy="7200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351427" y="602128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(b)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758584" y="6372036"/>
            <a:ext cx="3685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3.7 </a:t>
            </a: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b)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高取樣頻率與多量化等級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聲音的壓縮</a:t>
            </a:r>
            <a:endParaRPr lang="en-US" altLang="zh-TW" b="1" dirty="0" smtClean="0">
              <a:solidFill>
                <a:schemeClr val="accent3"/>
              </a:solidFill>
            </a:endParaRPr>
          </a:p>
          <a:p>
            <a:r>
              <a:rPr lang="zh-TW" altLang="en-US" dirty="0" smtClean="0"/>
              <a:t>將</a:t>
            </a:r>
            <a:r>
              <a:rPr lang="zh-TW" altLang="en-US" dirty="0"/>
              <a:t>取樣的結果用二進位</a:t>
            </a:r>
            <a:r>
              <a:rPr lang="zh-TW" altLang="en-US" dirty="0" smtClean="0"/>
              <a:t>的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形式</a:t>
            </a:r>
            <a:r>
              <a:rPr lang="zh-TW" altLang="en-US" dirty="0" smtClean="0"/>
              <a:t>記錄</a:t>
            </a:r>
            <a:endParaRPr lang="en-US" altLang="zh-TW" dirty="0"/>
          </a:p>
          <a:p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最簡單的作法是用固定且最小位元數表示每個取樣的數字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r>
              <a:rPr lang="zh-TW" altLang="en-US" dirty="0"/>
              <a:t>固定長度編碼範例</a:t>
            </a:r>
            <a:endParaRPr lang="en-US" altLang="zh-TW" dirty="0"/>
          </a:p>
          <a:p>
            <a:pPr lvl="1"/>
            <a:r>
              <a:rPr lang="zh-TW" altLang="zh-TW" dirty="0"/>
              <a:t>取樣結果：</a:t>
            </a:r>
            <a:r>
              <a:rPr lang="en-US" altLang="zh-TW" dirty="0"/>
              <a:t>2 3 2 4 3 3 6 2</a:t>
            </a:r>
            <a:endParaRPr lang="zh-TW" altLang="zh-TW" dirty="0"/>
          </a:p>
          <a:p>
            <a:pPr lvl="1"/>
            <a:r>
              <a:rPr lang="zh-TW" altLang="zh-TW" dirty="0"/>
              <a:t>編碼後：</a:t>
            </a:r>
            <a:r>
              <a:rPr lang="en-US" altLang="zh-TW" u="sng" dirty="0"/>
              <a:t>010</a:t>
            </a:r>
            <a:r>
              <a:rPr lang="en-US" altLang="zh-TW" dirty="0"/>
              <a:t> </a:t>
            </a:r>
            <a:r>
              <a:rPr lang="en-US" altLang="zh-TW" u="sng" dirty="0"/>
              <a:t>011</a:t>
            </a:r>
            <a:r>
              <a:rPr lang="en-US" altLang="zh-TW" dirty="0"/>
              <a:t> </a:t>
            </a:r>
            <a:r>
              <a:rPr lang="en-US" altLang="zh-TW" u="sng" dirty="0"/>
              <a:t>010</a:t>
            </a:r>
            <a:r>
              <a:rPr lang="en-US" altLang="zh-TW" dirty="0"/>
              <a:t> </a:t>
            </a:r>
            <a:r>
              <a:rPr lang="en-US" altLang="zh-TW" u="sng" dirty="0"/>
              <a:t>100</a:t>
            </a:r>
            <a:r>
              <a:rPr lang="en-US" altLang="zh-TW" dirty="0"/>
              <a:t> </a:t>
            </a:r>
            <a:r>
              <a:rPr lang="en-US" altLang="zh-TW" u="sng" dirty="0"/>
              <a:t>011</a:t>
            </a:r>
            <a:r>
              <a:rPr lang="en-US" altLang="zh-TW" dirty="0"/>
              <a:t> </a:t>
            </a:r>
            <a:r>
              <a:rPr lang="en-US" altLang="zh-TW" u="sng" dirty="0"/>
              <a:t>011</a:t>
            </a:r>
            <a:r>
              <a:rPr lang="en-US" altLang="zh-TW" dirty="0"/>
              <a:t> </a:t>
            </a:r>
            <a:r>
              <a:rPr lang="en-US" altLang="zh-TW" u="sng" dirty="0"/>
              <a:t>110</a:t>
            </a:r>
            <a:r>
              <a:rPr lang="en-US" altLang="zh-TW" dirty="0"/>
              <a:t> </a:t>
            </a:r>
            <a:r>
              <a:rPr lang="en-US" altLang="zh-TW" u="sng" dirty="0"/>
              <a:t>010</a:t>
            </a:r>
            <a:endParaRPr lang="zh-TW" altLang="zh-TW" u="sng" dirty="0"/>
          </a:p>
          <a:p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3.2</a:t>
            </a:r>
            <a:r>
              <a:rPr lang="zh-TW" altLang="en-US" dirty="0"/>
              <a:t>聲音的表示與處理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變動長度編碼的優勢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pPr lvl="1"/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總編碼長度變小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r>
              <a:rPr lang="zh-TW" altLang="en-US" dirty="0"/>
              <a:t>範例</a:t>
            </a:r>
            <a:endParaRPr lang="en-US" altLang="zh-TW" dirty="0"/>
          </a:p>
          <a:p>
            <a:pPr lvl="1"/>
            <a:r>
              <a:rPr lang="zh-TW" altLang="zh-TW" sz="2400" dirty="0"/>
              <a:t>取樣結果：</a:t>
            </a:r>
            <a:r>
              <a:rPr lang="en-US" altLang="zh-TW" sz="2400" dirty="0"/>
              <a:t>2 3 2 4 3 3 6 2</a:t>
            </a:r>
            <a:endParaRPr lang="zh-TW" altLang="zh-TW" sz="2400" dirty="0"/>
          </a:p>
          <a:p>
            <a:pPr lvl="1"/>
            <a:r>
              <a:rPr lang="zh-TW" altLang="zh-TW" sz="2400" dirty="0"/>
              <a:t>編碼後：</a:t>
            </a:r>
            <a:r>
              <a:rPr lang="en-US" altLang="zh-TW" sz="2400" u="sng" dirty="0"/>
              <a:t>01</a:t>
            </a:r>
            <a:r>
              <a:rPr lang="en-US" altLang="zh-TW" sz="2400" dirty="0"/>
              <a:t> </a:t>
            </a:r>
            <a:r>
              <a:rPr lang="en-US" altLang="zh-TW" sz="2400" u="sng" dirty="0"/>
              <a:t>1</a:t>
            </a:r>
            <a:r>
              <a:rPr lang="en-US" altLang="zh-TW" sz="2400" dirty="0"/>
              <a:t> </a:t>
            </a:r>
            <a:r>
              <a:rPr lang="en-US" altLang="zh-TW" sz="2400" u="sng" dirty="0"/>
              <a:t>01</a:t>
            </a:r>
            <a:r>
              <a:rPr lang="en-US" altLang="zh-TW" sz="2400" dirty="0"/>
              <a:t> </a:t>
            </a:r>
            <a:r>
              <a:rPr lang="en-US" altLang="zh-TW" sz="2400" u="sng" dirty="0"/>
              <a:t>000</a:t>
            </a:r>
            <a:r>
              <a:rPr lang="en-US" altLang="zh-TW" sz="2400" dirty="0"/>
              <a:t> </a:t>
            </a:r>
            <a:r>
              <a:rPr lang="en-US" altLang="zh-TW" sz="2400" u="sng" dirty="0"/>
              <a:t>1</a:t>
            </a:r>
            <a:r>
              <a:rPr lang="en-US" altLang="zh-TW" sz="2400" dirty="0"/>
              <a:t> </a:t>
            </a:r>
            <a:r>
              <a:rPr lang="en-US" altLang="zh-TW" sz="2400" u="sng" dirty="0"/>
              <a:t>1</a:t>
            </a:r>
            <a:r>
              <a:rPr lang="en-US" altLang="zh-TW" sz="2400" dirty="0"/>
              <a:t> </a:t>
            </a:r>
            <a:r>
              <a:rPr lang="en-US" altLang="zh-TW" sz="2400" u="sng" dirty="0"/>
              <a:t>001</a:t>
            </a:r>
            <a:r>
              <a:rPr lang="en-US" altLang="zh-TW" sz="2400" dirty="0"/>
              <a:t> </a:t>
            </a:r>
            <a:r>
              <a:rPr lang="en-US" altLang="zh-TW" sz="2400" u="sng" dirty="0"/>
              <a:t>01</a:t>
            </a:r>
            <a:endParaRPr lang="zh-TW" altLang="zh-TW" sz="2400" u="sng" dirty="0"/>
          </a:p>
          <a:p>
            <a:pPr lvl="1"/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3.2</a:t>
            </a:r>
            <a:r>
              <a:rPr lang="zh-TW" altLang="en-US" dirty="0"/>
              <a:t>聲音的表示與處理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310" y="4221088"/>
            <a:ext cx="6576074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3528" y="1196752"/>
            <a:ext cx="8496944" cy="1584176"/>
          </a:xfrm>
        </p:spPr>
        <p:txBody>
          <a:bodyPr>
            <a:normAutofit/>
          </a:bodyPr>
          <a:lstStyle/>
          <a:p>
            <a:r>
              <a:rPr lang="zh-TW" altLang="en-US" dirty="0"/>
              <a:t>實現變動長度編碼的方法之一，利用</a:t>
            </a:r>
            <a:r>
              <a:rPr lang="zh-TW" altLang="zh-TW" dirty="0">
                <a:solidFill>
                  <a:srgbClr val="0070C0"/>
                </a:solidFill>
              </a:rPr>
              <a:t>霍夫曼編碼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(Huffman encoding)</a:t>
            </a:r>
          </a:p>
          <a:p>
            <a:r>
              <a:rPr lang="zh-TW" altLang="zh-TW" dirty="0"/>
              <a:t>將常出現的數字，用較少的位元</a:t>
            </a:r>
            <a:r>
              <a:rPr lang="zh-TW" altLang="zh-TW" dirty="0" smtClean="0"/>
              <a:t>表示</a:t>
            </a:r>
            <a:endParaRPr lang="en-US" altLang="zh-TW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3.2</a:t>
            </a:r>
            <a:r>
              <a:rPr lang="zh-TW" altLang="en-US" dirty="0"/>
              <a:t>聲音的表示與處理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2708920"/>
            <a:ext cx="3859577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內容版面配置區 1"/>
          <p:cNvSpPr txBox="1">
            <a:spLocks/>
          </p:cNvSpPr>
          <p:nvPr/>
        </p:nvSpPr>
        <p:spPr>
          <a:xfrm>
            <a:off x="323528" y="2564904"/>
            <a:ext cx="4824536" cy="367240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1pPr>
            <a:lvl2pPr marL="621792" indent="-228600" algn="l" rtl="0" eaLnBrk="1" latinLnBrk="0" hangingPunct="1"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Font typeface="Verdana"/>
              <a:buChar char="◦"/>
              <a:defRPr kumimoji="0" sz="2400" kern="1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2pPr>
            <a:lvl3pPr marL="859536" indent="-228600" algn="l" rtl="0" eaLnBrk="1" latinLnBrk="0" hangingPunct="1"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3pPr>
            <a:lvl4pPr marL="1143000" indent="-228600" algn="l" rtl="0" eaLnBrk="1" latinLnBrk="0" hangingPunct="1"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4pPr>
            <a:lvl5pPr marL="1371600" indent="-228600" algn="l" rtl="0" eaLnBrk="1" latinLnBrk="0" hangingPunct="1"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zh-TW" altLang="en-US" dirty="0" smtClean="0"/>
              <a:t>編碼過程參考</a:t>
            </a:r>
            <a:r>
              <a:rPr lang="zh-TW" altLang="zh-TW" dirty="0" smtClean="0"/>
              <a:t>霍夫曼</a:t>
            </a:r>
            <a:r>
              <a:rPr lang="zh-TW" altLang="zh-TW" dirty="0" smtClean="0">
                <a:solidFill>
                  <a:srgbClr val="0070C0"/>
                </a:solidFill>
              </a:rPr>
              <a:t>編碼樹</a:t>
            </a:r>
            <a:r>
              <a:rPr lang="en-US" altLang="zh-TW" dirty="0" smtClean="0">
                <a:solidFill>
                  <a:srgbClr val="0070C0"/>
                </a:solidFill>
              </a:rPr>
              <a:t> </a:t>
            </a:r>
            <a:r>
              <a:rPr lang="en-US" altLang="zh-TW" dirty="0" smtClean="0"/>
              <a:t>(encoding tree)</a:t>
            </a:r>
          </a:p>
          <a:p>
            <a:pPr lvl="1"/>
            <a:r>
              <a:rPr lang="zh-TW" altLang="zh-TW" dirty="0" smtClean="0"/>
              <a:t>內部節點</a:t>
            </a:r>
            <a:r>
              <a:rPr lang="zh-TW" altLang="en-US" dirty="0" smtClean="0"/>
              <a:t> </a:t>
            </a:r>
            <a:r>
              <a:rPr lang="en-US" altLang="zh-TW" dirty="0" smtClean="0"/>
              <a:t>VS. </a:t>
            </a:r>
            <a:r>
              <a:rPr lang="zh-TW" altLang="zh-TW" dirty="0" smtClean="0"/>
              <a:t>外部節點</a:t>
            </a:r>
            <a:endParaRPr lang="en-US" altLang="zh-TW" dirty="0" smtClean="0"/>
          </a:p>
          <a:p>
            <a:pPr lvl="1"/>
            <a:r>
              <a:rPr lang="zh-TW" altLang="zh-TW" dirty="0" smtClean="0"/>
              <a:t>外部節點的標示</a:t>
            </a:r>
            <a:r>
              <a:rPr lang="en-US" altLang="zh-TW" dirty="0" smtClean="0"/>
              <a:t>X:Y</a:t>
            </a:r>
            <a:r>
              <a:rPr lang="zh-TW" altLang="zh-TW" dirty="0" smtClean="0"/>
              <a:t>，表示數字</a:t>
            </a:r>
            <a:r>
              <a:rPr lang="en-US" altLang="zh-TW" dirty="0" smtClean="0"/>
              <a:t>X</a:t>
            </a:r>
            <a:r>
              <a:rPr lang="zh-TW" altLang="zh-TW" dirty="0" smtClean="0"/>
              <a:t>出現的次數為</a:t>
            </a:r>
            <a:r>
              <a:rPr lang="en-US" altLang="zh-TW" dirty="0" smtClean="0"/>
              <a:t>Y</a:t>
            </a:r>
          </a:p>
          <a:p>
            <a:pPr lvl="1"/>
            <a:r>
              <a:rPr lang="zh-TW" altLang="zh-TW" dirty="0" smtClean="0"/>
              <a:t>內部節點的標示</a:t>
            </a:r>
            <a:r>
              <a:rPr lang="en-US" altLang="zh-TW" dirty="0" smtClean="0"/>
              <a:t>X</a:t>
            </a:r>
            <a:r>
              <a:rPr lang="zh-TW" altLang="zh-TW" dirty="0" smtClean="0"/>
              <a:t>，表示連接的兩個節點的次數總和為</a:t>
            </a:r>
            <a:r>
              <a:rPr lang="en-US" altLang="zh-TW" dirty="0" smtClean="0"/>
              <a:t>X</a:t>
            </a:r>
          </a:p>
          <a:p>
            <a:pPr lvl="1"/>
            <a:endParaRPr lang="en-US" altLang="zh-TW" dirty="0" smtClean="0"/>
          </a:p>
          <a:p>
            <a:pPr lvl="1"/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最上方的內部節點稱為</a:t>
            </a:r>
            <a:r>
              <a:rPr lang="zh-TW" altLang="zh-TW" dirty="0">
                <a:solidFill>
                  <a:srgbClr val="0070C0"/>
                </a:solidFill>
              </a:rPr>
              <a:t>樹根</a:t>
            </a:r>
            <a:r>
              <a:rPr lang="en-US" altLang="zh-TW" dirty="0"/>
              <a:t> (root)</a:t>
            </a:r>
          </a:p>
          <a:p>
            <a:r>
              <a:rPr lang="zh-TW" altLang="zh-TW" dirty="0"/>
              <a:t>所有向左的分支線標示位元</a:t>
            </a:r>
            <a:r>
              <a:rPr lang="en-US" altLang="zh-TW" dirty="0"/>
              <a:t>0</a:t>
            </a:r>
            <a:r>
              <a:rPr lang="zh-TW" altLang="zh-TW" dirty="0"/>
              <a:t>，向右的分支線標示位元</a:t>
            </a:r>
            <a:r>
              <a:rPr lang="en-US" altLang="zh-TW" dirty="0"/>
              <a:t>1</a:t>
            </a:r>
          </a:p>
          <a:p>
            <a:r>
              <a:rPr lang="zh-TW" altLang="zh-TW" dirty="0"/>
              <a:t>一個外部節點記錄的數字，編碼方式是參考由樹根走至這個節點的路徑，將路徑上的位元值列出</a:t>
            </a:r>
            <a:endParaRPr lang="en-US" altLang="zh-TW" dirty="0"/>
          </a:p>
          <a:p>
            <a:pPr lvl="1"/>
            <a:r>
              <a:rPr lang="zh-TW" altLang="zh-TW" dirty="0"/>
              <a:t>例如：數字</a:t>
            </a:r>
            <a:r>
              <a:rPr lang="en-US" altLang="zh-TW" dirty="0"/>
              <a:t>6</a:t>
            </a:r>
            <a:r>
              <a:rPr lang="zh-TW" altLang="zh-TW" dirty="0"/>
              <a:t>的編碼為</a:t>
            </a:r>
            <a:r>
              <a:rPr lang="en-US" altLang="zh-TW" dirty="0"/>
              <a:t>001</a:t>
            </a:r>
          </a:p>
          <a:p>
            <a:pPr lvl="1"/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例如：數字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3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的編碼為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1</a:t>
            </a:r>
          </a:p>
          <a:p>
            <a:pPr lvl="1"/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3.2</a:t>
            </a:r>
            <a:r>
              <a:rPr lang="zh-TW" altLang="en-US" dirty="0"/>
              <a:t>聲音的表示與處理</a:t>
            </a:r>
          </a:p>
        </p:txBody>
      </p:sp>
      <p:pic>
        <p:nvPicPr>
          <p:cNvPr id="7" name="圖片 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9992" y="3645024"/>
            <a:ext cx="3384376" cy="2712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建構方式：</a:t>
            </a:r>
          </a:p>
          <a:p>
            <a:pPr lvl="1"/>
            <a:r>
              <a:rPr lang="zh-TW" altLang="zh-TW" dirty="0"/>
              <a:t>步驟</a:t>
            </a:r>
            <a:r>
              <a:rPr lang="en-US" altLang="zh-TW" dirty="0"/>
              <a:t>1</a:t>
            </a:r>
            <a:r>
              <a:rPr lang="zh-TW" altLang="zh-TW" dirty="0"/>
              <a:t>：對出現的每個相</a:t>
            </a:r>
            <a:r>
              <a:rPr lang="zh-TW" altLang="zh-TW" dirty="0" smtClean="0"/>
              <a:t>異</a:t>
            </a:r>
            <a:r>
              <a:rPr lang="zh-TW" altLang="en-US" dirty="0" smtClean="0"/>
              <a:t>符號</a:t>
            </a:r>
            <a:r>
              <a:rPr lang="zh-TW" altLang="zh-TW" dirty="0" smtClean="0"/>
              <a:t>，</a:t>
            </a:r>
            <a:r>
              <a:rPr lang="zh-TW" altLang="zh-TW" dirty="0"/>
              <a:t>建立一個外部節點，並標示出現的次數</a:t>
            </a:r>
          </a:p>
          <a:p>
            <a:pPr lvl="1"/>
            <a:r>
              <a:rPr lang="zh-TW" altLang="zh-TW" dirty="0"/>
              <a:t>步驟</a:t>
            </a:r>
            <a:r>
              <a:rPr lang="en-US" altLang="zh-TW" dirty="0"/>
              <a:t>2</a:t>
            </a:r>
            <a:r>
              <a:rPr lang="zh-TW" altLang="zh-TW" dirty="0"/>
              <a:t>：找出標示次數最小的兩個節點</a:t>
            </a:r>
            <a:r>
              <a:rPr lang="en-US" altLang="zh-TW" dirty="0"/>
              <a:t> (</a:t>
            </a:r>
            <a:r>
              <a:rPr lang="zh-TW" altLang="zh-TW" dirty="0"/>
              <a:t>外部節點或內部節點皆可</a:t>
            </a:r>
            <a:r>
              <a:rPr lang="en-US" altLang="zh-TW" dirty="0"/>
              <a:t>)</a:t>
            </a:r>
            <a:r>
              <a:rPr lang="zh-TW" altLang="zh-TW" dirty="0"/>
              <a:t>，建立一個內部節點連至這兩個節點</a:t>
            </a:r>
            <a:r>
              <a:rPr lang="en-US" altLang="zh-TW" dirty="0"/>
              <a:t> (</a:t>
            </a:r>
            <a:r>
              <a:rPr lang="zh-TW" altLang="zh-TW" dirty="0"/>
              <a:t>誰放左、誰放右不重要</a:t>
            </a:r>
            <a:r>
              <a:rPr lang="en-US" altLang="zh-TW" dirty="0"/>
              <a:t>)</a:t>
            </a:r>
            <a:r>
              <a:rPr lang="zh-TW" altLang="zh-TW" dirty="0"/>
              <a:t>，並標示次數總和</a:t>
            </a:r>
          </a:p>
          <a:p>
            <a:pPr lvl="1"/>
            <a:r>
              <a:rPr lang="zh-TW" altLang="zh-TW" dirty="0"/>
              <a:t>步驟</a:t>
            </a:r>
            <a:r>
              <a:rPr lang="en-US" altLang="zh-TW" dirty="0"/>
              <a:t>3</a:t>
            </a:r>
            <a:r>
              <a:rPr lang="zh-TW" altLang="zh-TW" dirty="0"/>
              <a:t>：重複步驟</a:t>
            </a:r>
            <a:r>
              <a:rPr lang="en-US" altLang="zh-TW" dirty="0"/>
              <a:t>2</a:t>
            </a:r>
            <a:r>
              <a:rPr lang="zh-TW" altLang="zh-TW" dirty="0"/>
              <a:t>，直到所有建立的節點全部連成一棵編碼樹</a:t>
            </a:r>
          </a:p>
          <a:p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3.2</a:t>
            </a:r>
            <a:r>
              <a:rPr lang="zh-TW" altLang="en-US" dirty="0"/>
              <a:t>聲音的表示與處理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建構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範例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：</a:t>
            </a:r>
            <a:r>
              <a:rPr lang="en-US" altLang="zh-TW" sz="2800" dirty="0">
                <a:uFill>
                  <a:solidFill>
                    <a:srgbClr val="0000CC"/>
                  </a:solidFill>
                </a:uFill>
              </a:rPr>
              <a:t> 2 3 2 4 3 3 6 2</a:t>
            </a:r>
            <a:endParaRPr lang="zh-TW" altLang="zh-TW" dirty="0">
              <a:uFill>
                <a:solidFill>
                  <a:srgbClr val="0000CC"/>
                </a:solidFill>
              </a:uFill>
            </a:endParaRPr>
          </a:p>
          <a:p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3.2</a:t>
            </a:r>
            <a:r>
              <a:rPr lang="zh-TW" altLang="en-US" dirty="0"/>
              <a:t>聲音的表示與處理</a:t>
            </a: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772816"/>
            <a:ext cx="5411402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解碼程序</a:t>
            </a:r>
            <a:endParaRPr lang="en-US" altLang="zh-TW" dirty="0"/>
          </a:p>
          <a:p>
            <a:pPr lvl="1"/>
            <a:r>
              <a:rPr lang="zh-TW" altLang="zh-TW" dirty="0"/>
              <a:t>步驟</a:t>
            </a:r>
            <a:r>
              <a:rPr lang="en-US" altLang="zh-TW" dirty="0"/>
              <a:t>1</a:t>
            </a:r>
            <a:r>
              <a:rPr lang="zh-TW" altLang="zh-TW" dirty="0"/>
              <a:t>：移至編碼樹樹根，讀入待解碼的二進位資料</a:t>
            </a:r>
          </a:p>
          <a:p>
            <a:pPr lvl="1"/>
            <a:r>
              <a:rPr lang="zh-TW" altLang="zh-TW" dirty="0"/>
              <a:t>步驟</a:t>
            </a:r>
            <a:r>
              <a:rPr lang="en-US" altLang="zh-TW" dirty="0"/>
              <a:t>2</a:t>
            </a:r>
            <a:r>
              <a:rPr lang="zh-TW" altLang="zh-TW" dirty="0"/>
              <a:t>：若是讀入位元</a:t>
            </a:r>
            <a:r>
              <a:rPr lang="en-US" altLang="zh-TW" dirty="0" smtClean="0"/>
              <a:t>0</a:t>
            </a:r>
            <a:r>
              <a:rPr lang="zh-TW" altLang="en-US" dirty="0" smtClean="0"/>
              <a:t>，</a:t>
            </a:r>
            <a:r>
              <a:rPr lang="zh-TW" altLang="zh-TW" dirty="0" smtClean="0"/>
              <a:t>則</a:t>
            </a:r>
            <a:r>
              <a:rPr lang="zh-TW" altLang="zh-TW" dirty="0"/>
              <a:t>沿左邊的分支線走至下一個節點；若是讀入位元</a:t>
            </a:r>
            <a:r>
              <a:rPr lang="en-US" altLang="zh-TW" dirty="0" smtClean="0"/>
              <a:t>1</a:t>
            </a:r>
            <a:r>
              <a:rPr lang="zh-TW" altLang="en-US" dirty="0" smtClean="0"/>
              <a:t>，</a:t>
            </a:r>
            <a:r>
              <a:rPr lang="zh-TW" altLang="zh-TW" dirty="0" smtClean="0"/>
              <a:t>則</a:t>
            </a:r>
            <a:r>
              <a:rPr lang="zh-TW" altLang="zh-TW" dirty="0"/>
              <a:t>沿右邊的分支線走至下一個節點</a:t>
            </a:r>
          </a:p>
          <a:p>
            <a:pPr lvl="1"/>
            <a:r>
              <a:rPr lang="zh-TW" altLang="zh-TW" dirty="0"/>
              <a:t>步驟</a:t>
            </a:r>
            <a:r>
              <a:rPr lang="en-US" altLang="zh-TW" dirty="0"/>
              <a:t>3</a:t>
            </a:r>
            <a:r>
              <a:rPr lang="zh-TW" altLang="zh-TW" dirty="0"/>
              <a:t>：重複步驟</a:t>
            </a:r>
            <a:r>
              <a:rPr lang="en-US" altLang="zh-TW" dirty="0"/>
              <a:t>2</a:t>
            </a:r>
            <a:r>
              <a:rPr lang="zh-TW" altLang="zh-TW" dirty="0"/>
              <a:t>，若是走至外部</a:t>
            </a:r>
            <a:r>
              <a:rPr lang="zh-TW" altLang="zh-TW" dirty="0" smtClean="0"/>
              <a:t>節點</a:t>
            </a:r>
            <a:r>
              <a:rPr lang="zh-TW" altLang="en-US" dirty="0" smtClean="0"/>
              <a:t>，</a:t>
            </a:r>
            <a:r>
              <a:rPr lang="zh-TW" altLang="zh-TW" dirty="0" smtClean="0"/>
              <a:t>則</a:t>
            </a:r>
            <a:r>
              <a:rPr lang="zh-TW" altLang="zh-TW" dirty="0"/>
              <a:t>輸出記錄的</a:t>
            </a:r>
            <a:r>
              <a:rPr lang="zh-TW" altLang="zh-TW" dirty="0" smtClean="0"/>
              <a:t>編碼</a:t>
            </a:r>
            <a:r>
              <a:rPr lang="zh-TW" altLang="en-US" dirty="0" smtClean="0"/>
              <a:t>符號</a:t>
            </a:r>
            <a:r>
              <a:rPr lang="zh-TW" altLang="zh-TW" dirty="0" smtClean="0"/>
              <a:t>，</a:t>
            </a:r>
            <a:r>
              <a:rPr lang="zh-TW" altLang="zh-TW" dirty="0"/>
              <a:t>接著回到步驟</a:t>
            </a:r>
            <a:r>
              <a:rPr lang="en-US" altLang="zh-TW" dirty="0"/>
              <a:t>1</a:t>
            </a:r>
            <a:r>
              <a:rPr lang="zh-TW" altLang="zh-TW" dirty="0"/>
              <a:t>。若讀完待解碼的資料，則結束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3.2</a:t>
            </a:r>
            <a:r>
              <a:rPr lang="zh-TW" altLang="en-US" dirty="0"/>
              <a:t>聲音的表示與處理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解碼範例：</a:t>
            </a:r>
            <a:r>
              <a:rPr lang="en-US" altLang="zh-TW" dirty="0"/>
              <a:t>01101000</a:t>
            </a:r>
            <a:endParaRPr lang="zh-TW" altLang="zh-TW" dirty="0"/>
          </a:p>
          <a:p>
            <a:pPr marL="360000" indent="-288000">
              <a:buFont typeface="+mj-lt"/>
              <a:buAutoNum type="arabicPeriod"/>
            </a:pPr>
            <a:r>
              <a:rPr lang="zh-TW" altLang="zh-TW" dirty="0"/>
              <a:t>解碼資料：</a:t>
            </a:r>
            <a:r>
              <a:rPr lang="en-US" altLang="zh-TW" u="sng" dirty="0"/>
              <a:t>01</a:t>
            </a:r>
            <a:r>
              <a:rPr lang="en-US" altLang="zh-TW" dirty="0"/>
              <a:t>101000</a:t>
            </a:r>
            <a:endParaRPr lang="zh-TW" altLang="zh-TW" dirty="0"/>
          </a:p>
          <a:p>
            <a:pPr marL="360000" indent="-288000">
              <a:buNone/>
            </a:pPr>
            <a:r>
              <a:rPr lang="zh-TW" altLang="en-US" dirty="0"/>
              <a:t>    </a:t>
            </a:r>
            <a:r>
              <a:rPr lang="zh-TW" altLang="zh-TW" dirty="0"/>
              <a:t>解碼輸出：</a:t>
            </a:r>
            <a:r>
              <a:rPr lang="en-US" altLang="zh-TW" dirty="0"/>
              <a:t>2</a:t>
            </a:r>
            <a:endParaRPr lang="zh-TW" altLang="zh-TW" dirty="0"/>
          </a:p>
          <a:p>
            <a:pPr marL="360000" indent="-288000">
              <a:buFont typeface="+mj-lt"/>
              <a:buAutoNum type="arabicPeriod" startAt="2"/>
            </a:pPr>
            <a:r>
              <a:rPr lang="zh-TW" altLang="zh-TW" dirty="0"/>
              <a:t>解碼資料：</a:t>
            </a:r>
            <a:r>
              <a:rPr lang="en-US" altLang="zh-TW" u="sng" dirty="0"/>
              <a:t>1</a:t>
            </a:r>
            <a:r>
              <a:rPr lang="en-US" altLang="zh-TW" dirty="0"/>
              <a:t>01000</a:t>
            </a:r>
            <a:endParaRPr lang="zh-TW" altLang="zh-TW" dirty="0"/>
          </a:p>
          <a:p>
            <a:pPr marL="360000" indent="-288000">
              <a:buNone/>
            </a:pPr>
            <a:r>
              <a:rPr lang="zh-TW" altLang="en-US" dirty="0"/>
              <a:t>    </a:t>
            </a:r>
            <a:r>
              <a:rPr lang="zh-TW" altLang="zh-TW" dirty="0"/>
              <a:t>解碼輸出：</a:t>
            </a:r>
            <a:r>
              <a:rPr lang="en-US" altLang="zh-TW" dirty="0"/>
              <a:t>3</a:t>
            </a:r>
            <a:endParaRPr lang="zh-TW" altLang="zh-TW" dirty="0"/>
          </a:p>
          <a:p>
            <a:pPr marL="360000" indent="-288000">
              <a:buFont typeface="+mj-lt"/>
              <a:buAutoNum type="arabicPeriod" startAt="3"/>
            </a:pPr>
            <a:r>
              <a:rPr lang="zh-TW" altLang="zh-TW" dirty="0"/>
              <a:t>解碼資料：</a:t>
            </a:r>
            <a:r>
              <a:rPr lang="en-US" altLang="zh-TW" u="sng" dirty="0"/>
              <a:t>01</a:t>
            </a:r>
            <a:r>
              <a:rPr lang="en-US" altLang="zh-TW" dirty="0"/>
              <a:t>000</a:t>
            </a:r>
            <a:endParaRPr lang="zh-TW" altLang="zh-TW" dirty="0"/>
          </a:p>
          <a:p>
            <a:pPr marL="360000" indent="-288000">
              <a:buNone/>
            </a:pPr>
            <a:r>
              <a:rPr lang="zh-TW" altLang="en-US" dirty="0"/>
              <a:t>    </a:t>
            </a:r>
            <a:r>
              <a:rPr lang="zh-TW" altLang="zh-TW" dirty="0"/>
              <a:t>解碼輸出：</a:t>
            </a:r>
            <a:r>
              <a:rPr lang="en-US" altLang="zh-TW" dirty="0"/>
              <a:t>2</a:t>
            </a:r>
            <a:endParaRPr lang="zh-TW" altLang="zh-TW" dirty="0"/>
          </a:p>
          <a:p>
            <a:pPr marL="360000" indent="-288000">
              <a:buFont typeface="+mj-lt"/>
              <a:buAutoNum type="arabicPeriod" startAt="4"/>
            </a:pPr>
            <a:r>
              <a:rPr lang="zh-TW" altLang="zh-TW" dirty="0"/>
              <a:t>解碼資料：</a:t>
            </a:r>
            <a:r>
              <a:rPr lang="en-US" altLang="zh-TW" u="sng" dirty="0"/>
              <a:t>000</a:t>
            </a:r>
            <a:endParaRPr lang="zh-TW" altLang="zh-TW" dirty="0"/>
          </a:p>
          <a:p>
            <a:pPr marL="360000" indent="-288000">
              <a:buNone/>
            </a:pPr>
            <a:r>
              <a:rPr lang="zh-TW" altLang="en-US" dirty="0"/>
              <a:t>    </a:t>
            </a:r>
            <a:r>
              <a:rPr lang="zh-TW" altLang="zh-TW" dirty="0"/>
              <a:t>解碼輸出：</a:t>
            </a:r>
            <a:r>
              <a:rPr lang="en-US" altLang="zh-TW" dirty="0"/>
              <a:t>4</a:t>
            </a:r>
            <a:endParaRPr lang="zh-TW" altLang="zh-TW" dirty="0"/>
          </a:p>
          <a:p>
            <a:endParaRPr lang="en-US" altLang="zh-TW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3.2</a:t>
            </a:r>
            <a:r>
              <a:rPr lang="zh-TW" altLang="en-US" dirty="0"/>
              <a:t>聲音的表示與處理</a:t>
            </a:r>
          </a:p>
        </p:txBody>
      </p:sp>
      <p:pic>
        <p:nvPicPr>
          <p:cNvPr id="7" name="圖片 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2060848"/>
            <a:ext cx="3744416" cy="3096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3" y="282921"/>
            <a:ext cx="7021221" cy="6242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1403648" y="1772816"/>
            <a:ext cx="6480720" cy="43924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7120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聲音的儲存</a:t>
            </a:r>
            <a:endParaRPr lang="en-US" altLang="zh-TW" b="1" dirty="0" smtClean="0">
              <a:solidFill>
                <a:schemeClr val="accent3"/>
              </a:solidFill>
            </a:endParaRPr>
          </a:p>
          <a:p>
            <a:r>
              <a:rPr lang="zh-TW" altLang="zh-TW" dirty="0" smtClean="0"/>
              <a:t>唱片</a:t>
            </a:r>
            <a:r>
              <a:rPr lang="en-US" altLang="zh-TW" dirty="0"/>
              <a:t>CD (Compact Disk) </a:t>
            </a:r>
            <a:r>
              <a:rPr lang="zh-TW" altLang="zh-TW" dirty="0"/>
              <a:t>是最常見的儲存音樂媒介，採用的取樣頻率為</a:t>
            </a:r>
            <a:r>
              <a:rPr lang="en-US" altLang="zh-TW" dirty="0"/>
              <a:t>44,100 Hz</a:t>
            </a:r>
            <a:r>
              <a:rPr lang="zh-TW" altLang="zh-TW" dirty="0"/>
              <a:t>，量化等級總共有</a:t>
            </a:r>
            <a:r>
              <a:rPr lang="en-US" altLang="zh-TW" dirty="0"/>
              <a:t> 2</a:t>
            </a:r>
            <a:r>
              <a:rPr lang="en-US" altLang="zh-TW" baseline="30000" dirty="0"/>
              <a:t>16  </a:t>
            </a:r>
            <a:r>
              <a:rPr lang="en-US" altLang="zh-TW" dirty="0"/>
              <a:t>= 65,536 (</a:t>
            </a:r>
            <a:r>
              <a:rPr lang="zh-TW" altLang="zh-TW" dirty="0"/>
              <a:t>採用固定</a:t>
            </a:r>
            <a:r>
              <a:rPr lang="en-US" altLang="zh-TW" dirty="0"/>
              <a:t>16</a:t>
            </a:r>
            <a:r>
              <a:rPr lang="zh-TW" altLang="zh-TW" dirty="0"/>
              <a:t>位元記錄振輻大小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Windows</a:t>
            </a:r>
            <a:r>
              <a:rPr lang="zh-TW" altLang="zh-TW" dirty="0"/>
              <a:t>電腦</a:t>
            </a:r>
            <a:r>
              <a:rPr lang="zh-TW" altLang="en-US" dirty="0"/>
              <a:t>的聲音</a:t>
            </a:r>
            <a:r>
              <a:rPr lang="en-US" altLang="zh-TW" dirty="0"/>
              <a:t>wav</a:t>
            </a:r>
            <a:r>
              <a:rPr lang="zh-TW" altLang="zh-TW" dirty="0"/>
              <a:t>檔與</a:t>
            </a:r>
            <a:r>
              <a:rPr lang="en-US" altLang="zh-TW" dirty="0"/>
              <a:t>CD</a:t>
            </a:r>
            <a:r>
              <a:rPr lang="zh-TW" altLang="zh-TW" dirty="0"/>
              <a:t>的格式相似，均屬於未壓縮處理的聲音格式</a:t>
            </a:r>
            <a:endParaRPr lang="en-US" altLang="zh-TW" dirty="0"/>
          </a:p>
          <a:p>
            <a:r>
              <a:rPr lang="zh-TW" altLang="zh-TW" dirty="0"/>
              <a:t>壓縮的</a:t>
            </a:r>
            <a:r>
              <a:rPr lang="zh-TW" altLang="en-US" dirty="0"/>
              <a:t>聲音</a:t>
            </a:r>
            <a:r>
              <a:rPr lang="zh-TW" altLang="zh-TW" dirty="0"/>
              <a:t>檔案屬</a:t>
            </a:r>
            <a:r>
              <a:rPr lang="en-US" altLang="zh-TW" dirty="0"/>
              <a:t>MP3</a:t>
            </a:r>
            <a:r>
              <a:rPr lang="zh-TW" altLang="zh-TW" dirty="0"/>
              <a:t>最為耳熟能詳，採用失真壓縮的方式，</a:t>
            </a:r>
            <a:r>
              <a:rPr lang="zh-TW" altLang="en-US" dirty="0"/>
              <a:t>方法是</a:t>
            </a:r>
            <a:r>
              <a:rPr lang="zh-TW" altLang="zh-TW" dirty="0"/>
              <a:t>透過丟棄人耳不容易辨識的超低</a:t>
            </a:r>
            <a:r>
              <a:rPr lang="en-US" altLang="zh-TW" dirty="0"/>
              <a:t> (</a:t>
            </a:r>
            <a:r>
              <a:rPr lang="zh-TW" altLang="zh-TW" dirty="0"/>
              <a:t>低於</a:t>
            </a:r>
            <a:r>
              <a:rPr lang="en-US" altLang="zh-TW" dirty="0"/>
              <a:t>20 Hz) </a:t>
            </a:r>
            <a:r>
              <a:rPr lang="zh-TW" altLang="zh-TW" dirty="0"/>
              <a:t>與超高頻率</a:t>
            </a:r>
            <a:r>
              <a:rPr lang="en-US" altLang="zh-TW" dirty="0"/>
              <a:t> (</a:t>
            </a:r>
            <a:r>
              <a:rPr lang="zh-TW" altLang="zh-TW" dirty="0"/>
              <a:t>高於</a:t>
            </a:r>
            <a:r>
              <a:rPr lang="en-US" altLang="zh-TW" dirty="0"/>
              <a:t>20,000 Hz) </a:t>
            </a:r>
            <a:r>
              <a:rPr lang="zh-TW" altLang="zh-TW" dirty="0"/>
              <a:t>的聲音資料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3.2</a:t>
            </a:r>
            <a:r>
              <a:rPr lang="zh-TW" altLang="en-US" dirty="0"/>
              <a:t>聲音的表示與處理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AAC</a:t>
            </a:r>
            <a:r>
              <a:rPr lang="zh-TW" altLang="en-US" dirty="0"/>
              <a:t> </a:t>
            </a:r>
            <a:r>
              <a:rPr lang="en-US" altLang="zh-TW" dirty="0"/>
              <a:t>(Advanced Audio Coding</a:t>
            </a:r>
            <a:r>
              <a:rPr lang="en-US" altLang="zh-TW" dirty="0" smtClean="0"/>
              <a:t>)</a:t>
            </a:r>
            <a:r>
              <a:rPr lang="zh-TW" altLang="en-US" dirty="0"/>
              <a:t> </a:t>
            </a:r>
            <a:r>
              <a:rPr lang="zh-TW" altLang="en-US" dirty="0" smtClean="0"/>
              <a:t>檔</a:t>
            </a:r>
            <a:r>
              <a:rPr lang="zh-TW" altLang="en-US" dirty="0"/>
              <a:t>，</a:t>
            </a:r>
            <a:r>
              <a:rPr lang="en-US" altLang="zh-TW" dirty="0"/>
              <a:t>MP3</a:t>
            </a:r>
            <a:r>
              <a:rPr lang="zh-TW" altLang="en-US" dirty="0"/>
              <a:t>格式的接替者</a:t>
            </a:r>
            <a:endParaRPr lang="en-US" altLang="zh-TW" dirty="0"/>
          </a:p>
          <a:p>
            <a:r>
              <a:rPr lang="en-US" altLang="zh-TW" dirty="0" err="1" smtClean="0"/>
              <a:t>Ogg</a:t>
            </a:r>
            <a:r>
              <a:rPr lang="en-US" altLang="zh-TW" dirty="0" smtClean="0"/>
              <a:t> </a:t>
            </a:r>
            <a:r>
              <a:rPr lang="zh-TW" altLang="en-US" dirty="0"/>
              <a:t>檔</a:t>
            </a:r>
            <a:r>
              <a:rPr lang="zh-TW" altLang="en-US" dirty="0" smtClean="0"/>
              <a:t>，手機音樂儲存格式，特色</a:t>
            </a:r>
            <a:r>
              <a:rPr lang="zh-TW" altLang="en-US" dirty="0"/>
              <a:t>是開源、自由、免</a:t>
            </a:r>
          </a:p>
          <a:p>
            <a:pPr marL="109728" indent="0">
              <a:buNone/>
            </a:pPr>
            <a:r>
              <a:rPr lang="zh-TW" altLang="en-US" dirty="0" smtClean="0"/>
              <a:t>   費</a:t>
            </a:r>
            <a:r>
              <a:rPr lang="zh-TW" altLang="en-US" dirty="0"/>
              <a:t>的音訊編碼格式，沒有專利授權的</a:t>
            </a:r>
            <a:r>
              <a:rPr lang="zh-TW" altLang="en-US" dirty="0" smtClean="0"/>
              <a:t>問題</a:t>
            </a:r>
            <a:endParaRPr lang="en-US" altLang="zh-TW" dirty="0" smtClean="0"/>
          </a:p>
          <a:p>
            <a:r>
              <a:rPr lang="en-US" altLang="zh-TW" dirty="0" smtClean="0"/>
              <a:t>WMA </a:t>
            </a:r>
            <a:r>
              <a:rPr lang="en-US" altLang="zh-TW" dirty="0"/>
              <a:t>(Windows Media Audio</a:t>
            </a:r>
            <a:r>
              <a:rPr lang="en-US" altLang="zh-TW" dirty="0" smtClean="0"/>
              <a:t>) </a:t>
            </a:r>
            <a:r>
              <a:rPr lang="zh-TW" altLang="en-US" dirty="0" smtClean="0"/>
              <a:t>檔</a:t>
            </a:r>
            <a:r>
              <a:rPr lang="zh-TW" altLang="en-US" dirty="0"/>
              <a:t>，微軟開發的壓縮格式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3.2</a:t>
            </a:r>
            <a:r>
              <a:rPr lang="zh-TW" altLang="en-US" dirty="0"/>
              <a:t>聲音的表示與處理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208" y="3212976"/>
            <a:ext cx="7038184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5575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109728" indent="0">
              <a:buNone/>
            </a:pPr>
            <a:r>
              <a:rPr lang="zh-TW" altLang="en-US" b="1" dirty="0"/>
              <a:t>檔案大小的表示單位</a:t>
            </a:r>
            <a:endParaRPr lang="en-US" altLang="zh-TW" b="1" dirty="0" smtClean="0"/>
          </a:p>
          <a:p>
            <a:r>
              <a:rPr lang="zh-TW" altLang="zh-TW" dirty="0" smtClean="0"/>
              <a:t>電腦</a:t>
            </a:r>
            <a:r>
              <a:rPr lang="zh-TW" altLang="zh-TW" dirty="0"/>
              <a:t>的檔案大小用位元組為單位，以字母</a:t>
            </a:r>
            <a:r>
              <a:rPr lang="en-US" altLang="zh-TW" dirty="0"/>
              <a:t>B</a:t>
            </a:r>
            <a:r>
              <a:rPr lang="zh-TW" altLang="zh-TW" dirty="0"/>
              <a:t>表示</a:t>
            </a:r>
            <a:r>
              <a:rPr lang="en-US" altLang="zh-TW" dirty="0"/>
              <a:t> (Byte</a:t>
            </a:r>
            <a:r>
              <a:rPr lang="zh-TW" altLang="zh-TW" dirty="0"/>
              <a:t>的意思</a:t>
            </a:r>
            <a:r>
              <a:rPr lang="en-US" altLang="zh-TW" dirty="0"/>
              <a:t>)</a:t>
            </a:r>
          </a:p>
          <a:p>
            <a:pPr lvl="1"/>
            <a:r>
              <a:rPr lang="zh-TW" altLang="zh-TW" dirty="0"/>
              <a:t>例如：</a:t>
            </a:r>
            <a:r>
              <a:rPr lang="en-US" altLang="zh-TW" dirty="0"/>
              <a:t>1000 B</a:t>
            </a:r>
            <a:r>
              <a:rPr lang="zh-TW" altLang="zh-TW" dirty="0"/>
              <a:t>與</a:t>
            </a:r>
            <a:r>
              <a:rPr lang="en-US" altLang="zh-TW" dirty="0"/>
              <a:t>10000 B</a:t>
            </a:r>
          </a:p>
          <a:p>
            <a:r>
              <a:rPr lang="zh-TW" altLang="zh-TW" dirty="0"/>
              <a:t>位數很大時，可以配合利用</a:t>
            </a:r>
            <a:r>
              <a:rPr lang="en-US" altLang="zh-TW" dirty="0"/>
              <a:t>K (</a:t>
            </a:r>
            <a:r>
              <a:rPr lang="zh-TW" altLang="zh-TW" dirty="0"/>
              <a:t>念做</a:t>
            </a:r>
            <a:r>
              <a:rPr lang="en-US" altLang="zh-TW" dirty="0"/>
              <a:t>kilo)</a:t>
            </a:r>
            <a:r>
              <a:rPr lang="zh-TW" altLang="zh-TW" dirty="0"/>
              <a:t>、</a:t>
            </a:r>
            <a:r>
              <a:rPr lang="en-US" altLang="zh-TW" dirty="0"/>
              <a:t>M (</a:t>
            </a:r>
            <a:r>
              <a:rPr lang="zh-TW" altLang="zh-TW" dirty="0"/>
              <a:t>念做</a:t>
            </a:r>
            <a:r>
              <a:rPr lang="en-US" altLang="zh-TW" dirty="0"/>
              <a:t>mega) </a:t>
            </a:r>
            <a:r>
              <a:rPr lang="zh-TW" altLang="zh-TW" dirty="0"/>
              <a:t>與</a:t>
            </a:r>
            <a:r>
              <a:rPr lang="en-US" altLang="zh-TW" dirty="0"/>
              <a:t>G (</a:t>
            </a:r>
            <a:r>
              <a:rPr lang="zh-TW" altLang="zh-TW" dirty="0"/>
              <a:t>念做</a:t>
            </a:r>
            <a:r>
              <a:rPr lang="en-US" altLang="zh-TW" dirty="0" err="1"/>
              <a:t>giga</a:t>
            </a:r>
            <a:r>
              <a:rPr lang="en-US" altLang="zh-TW" dirty="0"/>
              <a:t>) </a:t>
            </a:r>
            <a:r>
              <a:rPr lang="zh-TW" altLang="zh-TW" dirty="0"/>
              <a:t>來表示</a:t>
            </a:r>
            <a:endParaRPr lang="en-US" altLang="zh-TW" dirty="0"/>
          </a:p>
          <a:p>
            <a:pPr lvl="1"/>
            <a:r>
              <a:rPr lang="en-US" altLang="zh-TW" dirty="0"/>
              <a:t>1 KB = 1000 B</a:t>
            </a:r>
            <a:r>
              <a:rPr lang="zh-TW" altLang="zh-TW" dirty="0"/>
              <a:t>、</a:t>
            </a:r>
            <a:r>
              <a:rPr lang="en-US" altLang="zh-TW" dirty="0"/>
              <a:t>1 MB = 1000 KB, 1 GB = 1000 MB</a:t>
            </a:r>
            <a:endParaRPr lang="zh-TW" altLang="zh-TW" dirty="0"/>
          </a:p>
          <a:p>
            <a:r>
              <a:rPr lang="en-US" altLang="zh-TW" dirty="0"/>
              <a:t>KB</a:t>
            </a:r>
            <a:r>
              <a:rPr lang="zh-TW" altLang="zh-TW" dirty="0"/>
              <a:t>、</a:t>
            </a:r>
            <a:r>
              <a:rPr lang="en-US" altLang="zh-TW" dirty="0"/>
              <a:t>MB</a:t>
            </a:r>
            <a:r>
              <a:rPr lang="zh-TW" altLang="zh-TW" dirty="0"/>
              <a:t>與</a:t>
            </a:r>
            <a:r>
              <a:rPr lang="en-US" altLang="zh-TW" dirty="0"/>
              <a:t>GB</a:t>
            </a:r>
            <a:r>
              <a:rPr lang="zh-TW" altLang="zh-TW" dirty="0"/>
              <a:t>的</a:t>
            </a:r>
            <a:r>
              <a:rPr lang="zh-TW" altLang="zh-TW" dirty="0" smtClean="0"/>
              <a:t>定義</a:t>
            </a:r>
            <a:r>
              <a:rPr lang="zh-TW" altLang="en-US" dirty="0" smtClean="0"/>
              <a:t>，使用</a:t>
            </a:r>
            <a:r>
              <a:rPr lang="en-US" altLang="zh-TW" dirty="0"/>
              <a:t>10</a:t>
            </a:r>
            <a:r>
              <a:rPr lang="zh-TW" altLang="zh-TW" dirty="0"/>
              <a:t>的次方，而不是</a:t>
            </a:r>
            <a:r>
              <a:rPr lang="en-US" altLang="zh-TW" dirty="0"/>
              <a:t>2</a:t>
            </a:r>
            <a:r>
              <a:rPr lang="zh-TW" altLang="zh-TW" dirty="0"/>
              <a:t>的次方</a:t>
            </a:r>
            <a:endParaRPr lang="en-US" altLang="zh-TW" dirty="0"/>
          </a:p>
          <a:p>
            <a:pPr lvl="1"/>
            <a:r>
              <a:rPr lang="zh-TW" altLang="zh-TW" dirty="0"/>
              <a:t>通常用來計算電腦記憶體的大小時，</a:t>
            </a:r>
            <a:r>
              <a:rPr lang="zh-TW" altLang="en-US" dirty="0"/>
              <a:t>用</a:t>
            </a:r>
            <a:r>
              <a:rPr lang="en-US" altLang="zh-TW" dirty="0"/>
              <a:t>2</a:t>
            </a:r>
            <a:r>
              <a:rPr lang="zh-TW" altLang="zh-TW" dirty="0"/>
              <a:t>的次方</a:t>
            </a:r>
            <a:r>
              <a:rPr lang="en-US" altLang="zh-TW" dirty="0"/>
              <a:t> (</a:t>
            </a:r>
            <a:r>
              <a:rPr lang="zh-TW" altLang="zh-TW" dirty="0"/>
              <a:t>即</a:t>
            </a:r>
            <a:r>
              <a:rPr lang="en-US" altLang="zh-TW" dirty="0"/>
              <a:t>1 KB = 1024 B)</a:t>
            </a:r>
            <a:r>
              <a:rPr lang="zh-TW" altLang="zh-TW" dirty="0"/>
              <a:t>，但用來計算硬碟、行動碟、記憶卡與光碟容量時，</a:t>
            </a:r>
            <a:r>
              <a:rPr lang="zh-TW" altLang="en-US" dirty="0"/>
              <a:t>用</a:t>
            </a:r>
            <a:r>
              <a:rPr lang="en-US" altLang="zh-TW" dirty="0"/>
              <a:t>10</a:t>
            </a:r>
            <a:r>
              <a:rPr lang="zh-TW" altLang="zh-TW" dirty="0"/>
              <a:t>的次方</a:t>
            </a:r>
            <a:r>
              <a:rPr lang="en-US" altLang="zh-TW" dirty="0"/>
              <a:t> (</a:t>
            </a:r>
            <a:r>
              <a:rPr lang="zh-TW" altLang="zh-TW" dirty="0"/>
              <a:t>即</a:t>
            </a:r>
            <a:r>
              <a:rPr lang="en-US" altLang="zh-TW" dirty="0"/>
              <a:t>1 KB = 1000 B)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3.2</a:t>
            </a:r>
            <a:r>
              <a:rPr lang="zh-TW" altLang="en-US" dirty="0"/>
              <a:t>聲音的表示與處理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 smtClean="0">
                <a:solidFill>
                  <a:schemeClr val="accent3"/>
                </a:solidFill>
              </a:rPr>
              <a:t>影像的編碼</a:t>
            </a:r>
            <a:endParaRPr lang="en-US" altLang="zh-TW" b="1" dirty="0" smtClean="0">
              <a:solidFill>
                <a:schemeClr val="accent3"/>
              </a:solidFill>
            </a:endParaRPr>
          </a:p>
          <a:p>
            <a:r>
              <a:rPr lang="zh-TW" altLang="zh-TW" dirty="0" smtClean="0"/>
              <a:t>數位相機</a:t>
            </a:r>
            <a:r>
              <a:rPr lang="zh-TW" altLang="zh-TW" dirty="0"/>
              <a:t>，利用感光的半導體元件</a:t>
            </a:r>
            <a:r>
              <a:rPr lang="en-US" altLang="zh-TW" dirty="0"/>
              <a:t>CCD</a:t>
            </a:r>
            <a:r>
              <a:rPr lang="zh-TW" altLang="zh-TW" dirty="0"/>
              <a:t>或是</a:t>
            </a:r>
            <a:r>
              <a:rPr lang="en-US" altLang="zh-TW" dirty="0"/>
              <a:t>CMOS</a:t>
            </a:r>
            <a:r>
              <a:rPr lang="zh-TW" altLang="zh-TW" dirty="0"/>
              <a:t>來捕捉光線</a:t>
            </a:r>
            <a:endParaRPr lang="en-US" altLang="zh-TW" dirty="0"/>
          </a:p>
          <a:p>
            <a:r>
              <a:rPr lang="zh-TW" altLang="zh-TW" dirty="0"/>
              <a:t>數位相機拍照的品質取決於感光</a:t>
            </a:r>
            <a:r>
              <a:rPr lang="zh-TW" altLang="zh-TW" dirty="0" smtClean="0"/>
              <a:t>元件</a:t>
            </a:r>
            <a:r>
              <a:rPr lang="zh-TW" altLang="en-US" dirty="0" smtClean="0"/>
              <a:t>分布</a:t>
            </a:r>
            <a:r>
              <a:rPr lang="zh-TW" altLang="zh-TW" dirty="0" smtClean="0"/>
              <a:t>的</a:t>
            </a:r>
            <a:r>
              <a:rPr lang="zh-TW" altLang="zh-TW" dirty="0"/>
              <a:t>密度</a:t>
            </a:r>
            <a:endParaRPr lang="en-US" altLang="zh-TW" dirty="0"/>
          </a:p>
          <a:p>
            <a:r>
              <a:rPr lang="zh-TW" altLang="zh-TW" dirty="0"/>
              <a:t>一個感光元件記錄一個光點的訊號，進而成為照片上一個影像點</a:t>
            </a:r>
            <a:r>
              <a:rPr lang="zh-TW" altLang="en-US" dirty="0"/>
              <a:t>或稱</a:t>
            </a:r>
            <a:r>
              <a:rPr lang="zh-TW" altLang="zh-TW" dirty="0">
                <a:solidFill>
                  <a:srgbClr val="0070C0"/>
                </a:solidFill>
              </a:rPr>
              <a:t>像素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(pixel)</a:t>
            </a:r>
          </a:p>
          <a:p>
            <a:pPr lvl="1"/>
            <a:r>
              <a:rPr lang="zh-TW" altLang="zh-TW" dirty="0"/>
              <a:t>支援</a:t>
            </a:r>
            <a:r>
              <a:rPr lang="en-US" altLang="zh-TW" dirty="0"/>
              <a:t>1</a:t>
            </a:r>
            <a:r>
              <a:rPr lang="zh-TW" altLang="zh-TW" dirty="0"/>
              <a:t>千萬像素的數位相機，感光元件的個數規模也是</a:t>
            </a:r>
            <a:r>
              <a:rPr lang="en-US" altLang="zh-TW" dirty="0"/>
              <a:t>1</a:t>
            </a:r>
            <a:r>
              <a:rPr lang="zh-TW" altLang="zh-TW" dirty="0"/>
              <a:t>千萬等級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3.3</a:t>
            </a:r>
            <a:r>
              <a:rPr lang="zh-TW" altLang="en-US" dirty="0" smtClean="0"/>
              <a:t>影像</a:t>
            </a:r>
            <a:r>
              <a:rPr lang="zh-TW" altLang="en-US" dirty="0"/>
              <a:t>的表示與處理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3.3</a:t>
            </a:r>
            <a:r>
              <a:rPr lang="zh-TW" altLang="en-US" dirty="0"/>
              <a:t>影像的表示與處理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196752"/>
            <a:ext cx="6048672" cy="5241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3767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智慧型手機的相機像素隨著技術進步而逐年增加，目前已可</a:t>
            </a:r>
            <a:r>
              <a:rPr lang="zh-TW" altLang="en-US" dirty="0" smtClean="0"/>
              <a:t>超過一億</a:t>
            </a:r>
            <a:r>
              <a:rPr lang="zh-TW" altLang="en-US" dirty="0"/>
              <a:t>像素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marL="109728" indent="0">
              <a:buNone/>
            </a:pPr>
            <a:endParaRPr lang="en-US" altLang="zh-TW" dirty="0"/>
          </a:p>
          <a:p>
            <a:r>
              <a:rPr lang="zh-TW" altLang="en-US" dirty="0"/>
              <a:t>位於智利的薇拉．魯賓天文台所建置的一台天文望遠鏡，</a:t>
            </a:r>
          </a:p>
          <a:p>
            <a:pPr marL="109728" indent="0">
              <a:buNone/>
            </a:pPr>
            <a:r>
              <a:rPr lang="zh-TW" altLang="en-US" dirty="0" smtClean="0"/>
              <a:t>   解析度</a:t>
            </a:r>
            <a:r>
              <a:rPr lang="zh-TW" altLang="en-US" dirty="0"/>
              <a:t>高達</a:t>
            </a:r>
            <a:r>
              <a:rPr lang="en-US" altLang="zh-TW" dirty="0"/>
              <a:t>32 </a:t>
            </a:r>
            <a:r>
              <a:rPr lang="zh-TW" altLang="en-US" dirty="0"/>
              <a:t>億像素，堪稱世界第一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marL="109728" indent="0">
              <a:buNone/>
            </a:pPr>
            <a:endParaRPr lang="en-US" altLang="zh-TW" dirty="0"/>
          </a:p>
          <a:p>
            <a:r>
              <a:rPr lang="zh-TW" altLang="en-US" dirty="0"/>
              <a:t>人眼相當於</a:t>
            </a:r>
            <a:r>
              <a:rPr lang="en-US" altLang="zh-TW" dirty="0"/>
              <a:t>5.76</a:t>
            </a:r>
            <a:r>
              <a:rPr lang="zh-TW" altLang="en-US" dirty="0"/>
              <a:t>億像素的相機，實際視情況而定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3.3</a:t>
            </a:r>
            <a:r>
              <a:rPr lang="zh-TW" altLang="en-US" dirty="0"/>
              <a:t>影像的表示與處理</a:t>
            </a:r>
          </a:p>
        </p:txBody>
      </p:sp>
    </p:spTree>
    <p:extLst>
      <p:ext uri="{BB962C8B-B14F-4D97-AF65-F5344CB8AC3E}">
        <p14:creationId xmlns:p14="http://schemas.microsoft.com/office/powerpoint/2010/main" val="4010993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將像素所表示的顏色用十進位的數字記錄，再以二進位的形式儲存</a:t>
            </a:r>
            <a:endParaRPr lang="en-US" altLang="zh-TW" dirty="0"/>
          </a:p>
          <a:p>
            <a:r>
              <a:rPr lang="zh-TW" altLang="zh-TW" dirty="0"/>
              <a:t>如果是黑白圖，則一個像素用數字</a:t>
            </a:r>
            <a:r>
              <a:rPr lang="en-US" altLang="zh-TW" dirty="0"/>
              <a:t>0</a:t>
            </a:r>
            <a:r>
              <a:rPr lang="zh-TW" altLang="zh-TW" dirty="0"/>
              <a:t>與</a:t>
            </a:r>
            <a:r>
              <a:rPr lang="en-US" altLang="zh-TW" dirty="0"/>
              <a:t>1</a:t>
            </a:r>
            <a:r>
              <a:rPr lang="zh-TW" altLang="zh-TW" dirty="0"/>
              <a:t>表示明暗，用一個位元的儲存空間即可</a:t>
            </a:r>
            <a:endParaRPr lang="en-US" altLang="zh-TW" dirty="0"/>
          </a:p>
          <a:p>
            <a:r>
              <a:rPr lang="zh-TW" altLang="zh-TW" dirty="0"/>
              <a:t>彩色圖就必須先決定希望呈現的顏色個數</a:t>
            </a:r>
            <a:endParaRPr lang="en-US" altLang="zh-TW" dirty="0"/>
          </a:p>
          <a:p>
            <a:pPr lvl="1"/>
            <a:r>
              <a:rPr lang="zh-TW" altLang="zh-TW" dirty="0"/>
              <a:t>記錄</a:t>
            </a:r>
            <a:r>
              <a:rPr lang="en-US" altLang="zh-TW" dirty="0"/>
              <a:t>16</a:t>
            </a:r>
            <a:r>
              <a:rPr lang="zh-TW" altLang="zh-TW" dirty="0"/>
              <a:t>種顏色，每個像素以</a:t>
            </a:r>
            <a:r>
              <a:rPr lang="en-US" altLang="zh-TW" dirty="0"/>
              <a:t>4</a:t>
            </a:r>
            <a:r>
              <a:rPr lang="zh-TW" altLang="zh-TW" dirty="0"/>
              <a:t>位元</a:t>
            </a:r>
            <a:r>
              <a:rPr lang="zh-TW" altLang="en-US" dirty="0"/>
              <a:t>儲存</a:t>
            </a:r>
            <a:endParaRPr lang="en-US" altLang="zh-TW" dirty="0"/>
          </a:p>
          <a:p>
            <a:pPr lvl="1"/>
            <a:r>
              <a:rPr lang="zh-TW" altLang="zh-TW" dirty="0"/>
              <a:t>記錄</a:t>
            </a:r>
            <a:r>
              <a:rPr lang="en-US" altLang="zh-TW" dirty="0"/>
              <a:t>256</a:t>
            </a:r>
            <a:r>
              <a:rPr lang="zh-TW" altLang="zh-TW" dirty="0"/>
              <a:t>種顏色，每個像素以</a:t>
            </a:r>
            <a:r>
              <a:rPr lang="en-US" altLang="zh-TW" dirty="0"/>
              <a:t>8</a:t>
            </a:r>
            <a:r>
              <a:rPr lang="zh-TW" altLang="zh-TW" dirty="0"/>
              <a:t>位元</a:t>
            </a:r>
            <a:r>
              <a:rPr lang="zh-TW" altLang="en-US" dirty="0"/>
              <a:t>儲存</a:t>
            </a:r>
            <a:endParaRPr lang="en-US" altLang="zh-TW" dirty="0"/>
          </a:p>
          <a:p>
            <a:r>
              <a:rPr lang="zh-TW" altLang="zh-TW" dirty="0"/>
              <a:t>用</a:t>
            </a:r>
            <a:r>
              <a:rPr lang="en-US" altLang="zh-TW" dirty="0"/>
              <a:t>24</a:t>
            </a:r>
            <a:r>
              <a:rPr lang="zh-TW" altLang="zh-TW" dirty="0"/>
              <a:t>個位元記錄顏色，可以表示</a:t>
            </a:r>
            <a:r>
              <a:rPr lang="en-US" altLang="zh-TW" dirty="0"/>
              <a:t>1</a:t>
            </a:r>
            <a:r>
              <a:rPr lang="zh-TW" altLang="zh-TW" dirty="0"/>
              <a:t>千</a:t>
            </a:r>
            <a:r>
              <a:rPr lang="en-US" altLang="zh-TW" dirty="0"/>
              <a:t>6</a:t>
            </a:r>
            <a:r>
              <a:rPr lang="zh-TW" altLang="zh-TW" dirty="0"/>
              <a:t>百多萬種顏色，已經接近肉眼可以辨識的</a:t>
            </a:r>
            <a:r>
              <a:rPr lang="zh-TW" altLang="en-US" dirty="0"/>
              <a:t>所有</a:t>
            </a:r>
            <a:r>
              <a:rPr lang="zh-TW" altLang="zh-TW" dirty="0"/>
              <a:t>顏色種類，因此也稱為</a:t>
            </a:r>
            <a:r>
              <a:rPr lang="zh-TW" altLang="zh-TW" dirty="0">
                <a:solidFill>
                  <a:srgbClr val="0070C0"/>
                </a:solidFill>
              </a:rPr>
              <a:t>全彩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(true color</a:t>
            </a:r>
            <a:r>
              <a:rPr lang="en-US" altLang="zh-TW" dirty="0" smtClean="0"/>
              <a:t>)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3.3</a:t>
            </a:r>
            <a:r>
              <a:rPr lang="zh-TW" altLang="en-US" dirty="0"/>
              <a:t>影像的表示與處理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各種顏色可以透過基本的三種顏色：紅</a:t>
            </a:r>
            <a:r>
              <a:rPr lang="en-US" altLang="zh-TW" dirty="0"/>
              <a:t> (Red)</a:t>
            </a:r>
            <a:r>
              <a:rPr lang="zh-TW" altLang="zh-TW" dirty="0"/>
              <a:t>、綠</a:t>
            </a:r>
            <a:r>
              <a:rPr lang="en-US" altLang="zh-TW" dirty="0"/>
              <a:t> (Green)</a:t>
            </a:r>
            <a:r>
              <a:rPr lang="zh-TW" altLang="zh-TW" dirty="0"/>
              <a:t>、藍</a:t>
            </a:r>
            <a:r>
              <a:rPr lang="en-US" altLang="zh-TW" dirty="0"/>
              <a:t> (Blue) </a:t>
            </a:r>
            <a:r>
              <a:rPr lang="zh-TW" altLang="zh-TW" dirty="0"/>
              <a:t>混合而成</a:t>
            </a:r>
            <a:endParaRPr lang="en-US" altLang="zh-TW" dirty="0"/>
          </a:p>
          <a:p>
            <a:r>
              <a:rPr lang="zh-TW" altLang="zh-TW" dirty="0"/>
              <a:t>每個像素所記錄的顏色可以區分三個部分：</a:t>
            </a:r>
            <a:r>
              <a:rPr lang="en-US" altLang="zh-TW" dirty="0"/>
              <a:t>R</a:t>
            </a:r>
            <a:r>
              <a:rPr lang="zh-TW" altLang="zh-TW" dirty="0"/>
              <a:t>、</a:t>
            </a:r>
            <a:r>
              <a:rPr lang="en-US" altLang="zh-TW" dirty="0"/>
              <a:t>G</a:t>
            </a:r>
            <a:r>
              <a:rPr lang="zh-TW" altLang="zh-TW" dirty="0"/>
              <a:t>與</a:t>
            </a:r>
            <a:r>
              <a:rPr lang="en-US" altLang="zh-TW" dirty="0"/>
              <a:t>B</a:t>
            </a:r>
            <a:r>
              <a:rPr lang="zh-TW" altLang="zh-TW" dirty="0"/>
              <a:t>，這種表示系統稱為</a:t>
            </a:r>
            <a:r>
              <a:rPr lang="en-US" altLang="zh-TW" dirty="0"/>
              <a:t>RGB</a:t>
            </a:r>
            <a:r>
              <a:rPr lang="zh-TW" altLang="zh-TW" dirty="0"/>
              <a:t>色彩</a:t>
            </a:r>
            <a:endParaRPr lang="en-US" altLang="zh-TW" dirty="0"/>
          </a:p>
          <a:p>
            <a:r>
              <a:rPr lang="zh-TW" altLang="zh-TW" dirty="0"/>
              <a:t>使用全彩時，</a:t>
            </a:r>
            <a:r>
              <a:rPr lang="en-US" altLang="zh-TW" dirty="0"/>
              <a:t>R</a:t>
            </a:r>
            <a:r>
              <a:rPr lang="zh-TW" altLang="zh-TW" dirty="0"/>
              <a:t>、</a:t>
            </a:r>
            <a:r>
              <a:rPr lang="en-US" altLang="zh-TW" dirty="0"/>
              <a:t>G</a:t>
            </a:r>
            <a:r>
              <a:rPr lang="zh-TW" altLang="zh-TW" dirty="0"/>
              <a:t>與</a:t>
            </a:r>
            <a:r>
              <a:rPr lang="en-US" altLang="zh-TW" dirty="0"/>
              <a:t>B</a:t>
            </a:r>
            <a:r>
              <a:rPr lang="zh-TW" altLang="zh-TW" dirty="0" smtClean="0"/>
              <a:t>各</a:t>
            </a:r>
            <a:r>
              <a:rPr lang="zh-TW" altLang="en-US" dirty="0" smtClean="0"/>
              <a:t>占</a:t>
            </a:r>
            <a:r>
              <a:rPr lang="zh-TW" altLang="zh-TW" dirty="0" smtClean="0"/>
              <a:t>用</a:t>
            </a:r>
            <a:r>
              <a:rPr lang="en-US" altLang="zh-TW" dirty="0"/>
              <a:t>8</a:t>
            </a:r>
            <a:r>
              <a:rPr lang="zh-TW" altLang="zh-TW" dirty="0"/>
              <a:t>個位元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3.3</a:t>
            </a:r>
            <a:r>
              <a:rPr lang="zh-TW" altLang="en-US" dirty="0"/>
              <a:t>影像的表示與處理</a:t>
            </a:r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8825" y="3645024"/>
            <a:ext cx="7626350" cy="262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RGB</a:t>
            </a:r>
            <a:r>
              <a:rPr lang="zh-TW" altLang="en-US" dirty="0"/>
              <a:t>色彩系統</a:t>
            </a: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3.3</a:t>
            </a:r>
            <a:r>
              <a:rPr lang="zh-TW" altLang="en-US" dirty="0"/>
              <a:t>影像的表示與處理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99" y="1988840"/>
            <a:ext cx="7186749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3.3</a:t>
            </a:r>
            <a:r>
              <a:rPr lang="zh-TW" altLang="en-US" dirty="0"/>
              <a:t>影像的表示與處理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268760"/>
            <a:ext cx="8101923" cy="4668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899592" y="3501008"/>
            <a:ext cx="7488832" cy="20162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8762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3528" y="1196752"/>
            <a:ext cx="8496944" cy="4968552"/>
          </a:xfrm>
        </p:spPr>
        <p:txBody>
          <a:bodyPr>
            <a:normAutofit/>
          </a:bodyPr>
          <a:lstStyle/>
          <a:p>
            <a:pPr marL="109728" indent="0">
              <a:lnSpc>
                <a:spcPct val="105000"/>
              </a:lnSpc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影像的儲存</a:t>
            </a:r>
            <a:endParaRPr lang="en-US" altLang="zh-TW" b="1" dirty="0" smtClean="0">
              <a:solidFill>
                <a:schemeClr val="accent3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zh-TW" dirty="0" smtClean="0"/>
              <a:t>BMP</a:t>
            </a:r>
            <a:r>
              <a:rPr lang="zh-TW" altLang="zh-TW" dirty="0"/>
              <a:t>檔</a:t>
            </a:r>
            <a:endParaRPr lang="en-US" altLang="zh-TW" dirty="0"/>
          </a:p>
          <a:p>
            <a:pPr lvl="1">
              <a:lnSpc>
                <a:spcPct val="105000"/>
              </a:lnSpc>
            </a:pPr>
            <a:r>
              <a:rPr lang="zh-TW" altLang="zh-TW" dirty="0"/>
              <a:t>未壓縮導致檔案過大，不適合在網路上傳輸</a:t>
            </a:r>
            <a:endParaRPr lang="en-US" altLang="zh-TW" dirty="0"/>
          </a:p>
          <a:p>
            <a:pPr>
              <a:lnSpc>
                <a:spcPct val="105000"/>
              </a:lnSpc>
            </a:pPr>
            <a:r>
              <a:rPr lang="en-US" altLang="zh-TW" dirty="0"/>
              <a:t>PNG</a:t>
            </a:r>
            <a:r>
              <a:rPr lang="zh-TW" altLang="zh-TW" dirty="0"/>
              <a:t>檔</a:t>
            </a:r>
            <a:endParaRPr lang="en-US" altLang="zh-TW" dirty="0"/>
          </a:p>
          <a:p>
            <a:pPr lvl="1">
              <a:lnSpc>
                <a:spcPct val="105000"/>
              </a:lnSpc>
            </a:pPr>
            <a:r>
              <a:rPr lang="zh-TW" altLang="zh-TW" dirty="0"/>
              <a:t>採用不失真壓縮，在網路上是常見的影像</a:t>
            </a:r>
            <a:r>
              <a:rPr lang="zh-TW" altLang="zh-TW" dirty="0" smtClean="0"/>
              <a:t>格式</a:t>
            </a:r>
            <a:endParaRPr lang="en-US" altLang="zh-TW" u="wavyDbl" dirty="0">
              <a:uFill>
                <a:solidFill>
                  <a:srgbClr val="0000CC"/>
                </a:solidFill>
              </a:uFill>
            </a:endParaRPr>
          </a:p>
          <a:p>
            <a:pPr>
              <a:lnSpc>
                <a:spcPct val="105000"/>
              </a:lnSpc>
            </a:pPr>
            <a:r>
              <a:rPr lang="en-US" altLang="zh-TW" dirty="0"/>
              <a:t>JPG</a:t>
            </a:r>
            <a:r>
              <a:rPr lang="zh-TW" altLang="zh-TW" dirty="0"/>
              <a:t>或</a:t>
            </a:r>
            <a:r>
              <a:rPr lang="en-US" altLang="zh-TW" dirty="0"/>
              <a:t>JPEG</a:t>
            </a:r>
            <a:r>
              <a:rPr lang="zh-TW" altLang="zh-TW" dirty="0"/>
              <a:t>檔</a:t>
            </a:r>
            <a:endParaRPr lang="en-US" altLang="zh-TW" dirty="0"/>
          </a:p>
          <a:p>
            <a:pPr lvl="1">
              <a:lnSpc>
                <a:spcPct val="105000"/>
              </a:lnSpc>
            </a:pPr>
            <a:r>
              <a:rPr lang="zh-TW" altLang="zh-TW" dirty="0"/>
              <a:t>採用失真壓縮，儲存時設定不同的影像品質等級，達到不同的壓縮</a:t>
            </a:r>
            <a:r>
              <a:rPr lang="zh-TW" altLang="zh-TW" dirty="0" smtClean="0"/>
              <a:t>率</a:t>
            </a:r>
            <a:endParaRPr lang="zh-TW" altLang="zh-TW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3.3</a:t>
            </a:r>
            <a:r>
              <a:rPr lang="zh-TW" altLang="en-US" dirty="0"/>
              <a:t>影像的表示與處理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3528" y="1196752"/>
            <a:ext cx="8496944" cy="4968552"/>
          </a:xfrm>
        </p:spPr>
        <p:txBody>
          <a:bodyPr>
            <a:normAutofit/>
          </a:bodyPr>
          <a:lstStyle/>
          <a:p>
            <a:pPr>
              <a:lnSpc>
                <a:spcPct val="105000"/>
              </a:lnSpc>
            </a:pPr>
            <a:r>
              <a:rPr lang="en-US" altLang="zh-TW" dirty="0" smtClean="0"/>
              <a:t>GIF</a:t>
            </a:r>
            <a:r>
              <a:rPr lang="zh-TW" altLang="zh-TW" dirty="0"/>
              <a:t>檔</a:t>
            </a:r>
            <a:endParaRPr lang="en-US" altLang="zh-TW" dirty="0"/>
          </a:p>
          <a:p>
            <a:pPr lvl="1">
              <a:lnSpc>
                <a:spcPct val="105000"/>
              </a:lnSpc>
            </a:pPr>
            <a:r>
              <a:rPr lang="zh-TW" altLang="en-US" dirty="0"/>
              <a:t>適合</a:t>
            </a:r>
            <a:r>
              <a:rPr lang="zh-TW" altLang="zh-TW" dirty="0"/>
              <a:t>影像內容是文字、幾何圖或簡單的圖示</a:t>
            </a:r>
            <a:endParaRPr lang="en-US" altLang="zh-TW" dirty="0"/>
          </a:p>
          <a:p>
            <a:pPr lvl="1">
              <a:lnSpc>
                <a:spcPct val="105000"/>
              </a:lnSpc>
            </a:pPr>
            <a:r>
              <a:rPr lang="zh-TW" altLang="zh-TW" dirty="0"/>
              <a:t>只支援</a:t>
            </a:r>
            <a:r>
              <a:rPr lang="en-US" altLang="zh-TW" dirty="0"/>
              <a:t>256</a:t>
            </a:r>
            <a:r>
              <a:rPr lang="zh-TW" altLang="zh-TW" dirty="0"/>
              <a:t>種顏色，但是支援背景透明設定</a:t>
            </a:r>
            <a:endParaRPr lang="en-US" altLang="zh-TW" dirty="0"/>
          </a:p>
          <a:p>
            <a:pPr lvl="1">
              <a:lnSpc>
                <a:spcPct val="105000"/>
              </a:lnSpc>
            </a:pPr>
            <a:r>
              <a:rPr lang="zh-TW" altLang="zh-TW" dirty="0"/>
              <a:t>支援動畫格式</a:t>
            </a:r>
          </a:p>
          <a:p>
            <a:pPr>
              <a:lnSpc>
                <a:spcPct val="105000"/>
              </a:lnSpc>
            </a:pP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3.3</a:t>
            </a:r>
            <a:r>
              <a:rPr lang="zh-TW" altLang="en-US" dirty="0"/>
              <a:t>影像的表示與處理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068960"/>
            <a:ext cx="5943810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3969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CMYK</a:t>
            </a:r>
            <a:r>
              <a:rPr lang="zh-TW" altLang="zh-TW" dirty="0"/>
              <a:t>色彩系統</a:t>
            </a:r>
            <a:endParaRPr lang="en-US" altLang="zh-TW" dirty="0"/>
          </a:p>
          <a:p>
            <a:pPr lvl="1"/>
            <a:r>
              <a:rPr lang="zh-TW" altLang="zh-TW" dirty="0"/>
              <a:t>彩色雷射印表機都使用四種顏色的碳粉匣：青</a:t>
            </a:r>
            <a:r>
              <a:rPr lang="en-US" altLang="zh-TW" dirty="0"/>
              <a:t> (Cyan)</a:t>
            </a:r>
            <a:r>
              <a:rPr lang="zh-TW" altLang="zh-TW" dirty="0"/>
              <a:t>，洋红</a:t>
            </a:r>
            <a:r>
              <a:rPr lang="en-US" altLang="zh-TW" dirty="0"/>
              <a:t> (Magenta)</a:t>
            </a:r>
            <a:r>
              <a:rPr lang="zh-TW" altLang="zh-TW" dirty="0"/>
              <a:t>，黄</a:t>
            </a:r>
            <a:r>
              <a:rPr lang="en-US" altLang="zh-TW" dirty="0"/>
              <a:t> (Yellow) </a:t>
            </a:r>
            <a:r>
              <a:rPr lang="zh-TW" altLang="zh-TW" dirty="0"/>
              <a:t>與黑色</a:t>
            </a:r>
            <a:r>
              <a:rPr lang="en-US" altLang="zh-TW" dirty="0"/>
              <a:t> (</a:t>
            </a:r>
            <a:r>
              <a:rPr lang="en-US" altLang="zh-TW" dirty="0" err="1"/>
              <a:t>blacK</a:t>
            </a:r>
            <a:r>
              <a:rPr lang="en-US" altLang="zh-TW" dirty="0"/>
              <a:t>)</a:t>
            </a:r>
          </a:p>
          <a:p>
            <a:pPr lvl="1"/>
            <a:r>
              <a:rPr lang="zh-TW" altLang="zh-TW" dirty="0"/>
              <a:t>這種調色方式</a:t>
            </a:r>
            <a:r>
              <a:rPr lang="zh-TW" altLang="en-US" dirty="0"/>
              <a:t>最多</a:t>
            </a:r>
            <a:r>
              <a:rPr lang="zh-TW" altLang="zh-TW" dirty="0"/>
              <a:t>只能呈現</a:t>
            </a:r>
            <a:r>
              <a:rPr lang="en-US" altLang="zh-TW" dirty="0"/>
              <a:t>1</a:t>
            </a:r>
            <a:r>
              <a:rPr lang="zh-TW" altLang="zh-TW" dirty="0"/>
              <a:t>百多萬種</a:t>
            </a:r>
            <a:r>
              <a:rPr lang="zh-TW" altLang="zh-TW" dirty="0" smtClean="0"/>
              <a:t>顏色</a:t>
            </a:r>
            <a:endParaRPr lang="en-US" altLang="zh-TW" dirty="0" smtClean="0"/>
          </a:p>
          <a:p>
            <a:r>
              <a:rPr lang="en-US" altLang="zh-TW" dirty="0" smtClean="0"/>
              <a:t>TIFF</a:t>
            </a:r>
            <a:r>
              <a:rPr lang="zh-TW" altLang="zh-TW" dirty="0"/>
              <a:t>檔</a:t>
            </a:r>
            <a:endParaRPr lang="en-US" altLang="zh-TW" dirty="0"/>
          </a:p>
          <a:p>
            <a:pPr lvl="1"/>
            <a:r>
              <a:rPr lang="zh-TW" altLang="zh-TW" dirty="0"/>
              <a:t>記錄</a:t>
            </a:r>
            <a:r>
              <a:rPr lang="en-US" altLang="zh-TW" dirty="0"/>
              <a:t>CMYK</a:t>
            </a:r>
            <a:r>
              <a:rPr lang="zh-TW" altLang="zh-TW" dirty="0"/>
              <a:t>的顏色資訊，方便照片的列印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3.3</a:t>
            </a:r>
            <a:r>
              <a:rPr lang="zh-TW" altLang="en-US" dirty="0"/>
              <a:t>影像的表示與處理</a:t>
            </a:r>
          </a:p>
        </p:txBody>
      </p:sp>
      <p:pic>
        <p:nvPicPr>
          <p:cNvPr id="49154" name="Picture 2" descr="http://www.ginifab.com/feeds/pms/images/cmyk_vs_rg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4139788"/>
            <a:ext cx="4104456" cy="201827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影像的壓縮</a:t>
            </a:r>
            <a:endParaRPr lang="en-US" altLang="zh-TW" b="1" dirty="0" smtClean="0">
              <a:solidFill>
                <a:schemeClr val="accent3"/>
              </a:solidFill>
            </a:endParaRPr>
          </a:p>
          <a:p>
            <a:r>
              <a:rPr lang="zh-TW" altLang="en-US" dirty="0" smtClean="0"/>
              <a:t>失真</a:t>
            </a:r>
            <a:r>
              <a:rPr lang="zh-TW" altLang="en-US" dirty="0"/>
              <a:t>壓縮：</a:t>
            </a:r>
            <a:r>
              <a:rPr lang="en-US" altLang="zh-TW" dirty="0"/>
              <a:t>JPEG</a:t>
            </a:r>
            <a:r>
              <a:rPr lang="zh-TW" altLang="en-US" dirty="0"/>
              <a:t>檔採用</a:t>
            </a:r>
            <a:r>
              <a:rPr lang="zh-TW" altLang="zh-TW" dirty="0"/>
              <a:t>離散餘弦轉換</a:t>
            </a:r>
            <a:r>
              <a:rPr lang="en-US" altLang="zh-TW" dirty="0"/>
              <a:t> (Discrete Cosine Transform</a:t>
            </a:r>
            <a:r>
              <a:rPr lang="zh-TW" altLang="zh-TW" dirty="0"/>
              <a:t>，</a:t>
            </a:r>
            <a:r>
              <a:rPr lang="en-US" altLang="zh-TW" dirty="0"/>
              <a:t>DCT) </a:t>
            </a:r>
            <a:r>
              <a:rPr lang="zh-TW" altLang="en-US" dirty="0"/>
              <a:t>技巧</a:t>
            </a:r>
            <a:endParaRPr lang="en-US" altLang="zh-TW" dirty="0"/>
          </a:p>
          <a:p>
            <a:pPr lvl="1"/>
            <a:r>
              <a:rPr lang="zh-TW" altLang="zh-TW" dirty="0"/>
              <a:t>影像切割成許多</a:t>
            </a:r>
            <a:r>
              <a:rPr lang="en-US" altLang="zh-TW" dirty="0"/>
              <a:t>8 </a:t>
            </a:r>
            <a:r>
              <a:rPr lang="zh-TW" altLang="zh-TW" dirty="0"/>
              <a:t>×</a:t>
            </a:r>
            <a:r>
              <a:rPr lang="en-US" altLang="zh-TW" dirty="0"/>
              <a:t> 8</a:t>
            </a:r>
            <a:r>
              <a:rPr lang="zh-TW" altLang="zh-TW" dirty="0"/>
              <a:t>的格子，每個格子代表一個像素</a:t>
            </a:r>
            <a:endParaRPr lang="en-US" altLang="zh-TW" dirty="0"/>
          </a:p>
          <a:p>
            <a:pPr lvl="1"/>
            <a:r>
              <a:rPr lang="zh-TW" altLang="zh-TW" dirty="0"/>
              <a:t>將像素的色彩資訊轉成訊號波形的樣式</a:t>
            </a:r>
            <a:endParaRPr lang="en-US" altLang="zh-TW" dirty="0"/>
          </a:p>
          <a:p>
            <a:pPr lvl="1"/>
            <a:r>
              <a:rPr lang="zh-TW" altLang="zh-TW" dirty="0"/>
              <a:t>基於一個波形可視為無數個不同頻率的波</a:t>
            </a:r>
            <a:r>
              <a:rPr lang="en-US" altLang="zh-TW" dirty="0"/>
              <a:t> (</a:t>
            </a:r>
            <a:r>
              <a:rPr lang="zh-TW" altLang="zh-TW" dirty="0"/>
              <a:t>這裡的波是指數學的餘弦函數波</a:t>
            </a:r>
            <a:r>
              <a:rPr lang="en-US" altLang="zh-TW" dirty="0"/>
              <a:t>) </a:t>
            </a:r>
            <a:r>
              <a:rPr lang="zh-TW" altLang="zh-TW" dirty="0"/>
              <a:t>所組合而成</a:t>
            </a:r>
            <a:endParaRPr lang="en-US" altLang="zh-TW" dirty="0"/>
          </a:p>
          <a:p>
            <a:pPr lvl="1"/>
            <a:r>
              <a:rPr lang="zh-TW" altLang="zh-TW" dirty="0"/>
              <a:t>高頻的波主要來自物體邊緣的影像</a:t>
            </a:r>
            <a:r>
              <a:rPr lang="zh-TW" altLang="en-US" dirty="0"/>
              <a:t>，</a:t>
            </a:r>
            <a:r>
              <a:rPr lang="zh-TW" altLang="zh-TW" dirty="0"/>
              <a:t>如同聲音的取樣處理，使用</a:t>
            </a:r>
            <a:r>
              <a:rPr lang="zh-TW" altLang="en-US" dirty="0"/>
              <a:t>的</a:t>
            </a:r>
            <a:r>
              <a:rPr lang="zh-TW" altLang="zh-TW" dirty="0"/>
              <a:t>量化等級</a:t>
            </a:r>
            <a:r>
              <a:rPr lang="zh-TW" altLang="en-US" dirty="0"/>
              <a:t>較少</a:t>
            </a:r>
            <a:r>
              <a:rPr lang="zh-TW" altLang="zh-TW" dirty="0"/>
              <a:t>，減少資訊記錄量</a:t>
            </a:r>
            <a:endParaRPr lang="en-US" altLang="zh-TW" dirty="0"/>
          </a:p>
          <a:p>
            <a:pPr lvl="1"/>
            <a:r>
              <a:rPr lang="zh-TW" altLang="zh-TW" dirty="0"/>
              <a:t>低頻波採用</a:t>
            </a:r>
            <a:r>
              <a:rPr lang="zh-TW" altLang="en-US" dirty="0"/>
              <a:t>的</a:t>
            </a:r>
            <a:r>
              <a:rPr lang="zh-TW" altLang="zh-TW" dirty="0"/>
              <a:t>量化等級</a:t>
            </a:r>
            <a:r>
              <a:rPr lang="zh-TW" altLang="en-US" dirty="0"/>
              <a:t>較多</a:t>
            </a:r>
            <a:r>
              <a:rPr lang="zh-TW" altLang="zh-TW" dirty="0"/>
              <a:t>，減少失真</a:t>
            </a:r>
            <a:endParaRPr lang="en-US" altLang="zh-TW" dirty="0"/>
          </a:p>
          <a:p>
            <a:pPr lvl="1"/>
            <a:r>
              <a:rPr lang="zh-TW" altLang="zh-TW" dirty="0"/>
              <a:t>量化後的數值，透過霍夫曼編碼成二進位數字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3.3</a:t>
            </a:r>
            <a:r>
              <a:rPr lang="zh-TW" altLang="en-US" dirty="0"/>
              <a:t>影像的表示與處理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3.3</a:t>
            </a:r>
            <a:r>
              <a:rPr lang="zh-TW" altLang="en-US" dirty="0"/>
              <a:t>影像的表示與處理</a:t>
            </a:r>
          </a:p>
        </p:txBody>
      </p:sp>
      <p:pic>
        <p:nvPicPr>
          <p:cNvPr id="6" name="圖片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0032" y="2060848"/>
            <a:ext cx="3240360" cy="3096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圖片 6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1628800"/>
            <a:ext cx="3528392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449392" y="5517232"/>
            <a:ext cx="37625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3.14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JPEG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檔案的壓縮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(762 KB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壓</a:t>
            </a:r>
          </a:p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縮至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16.2 KB)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開始呈現失真</a:t>
            </a:r>
          </a:p>
        </p:txBody>
      </p:sp>
      <p:sp>
        <p:nvSpPr>
          <p:cNvPr id="4" name="文字方塊 3"/>
          <p:cNvSpPr txBox="1"/>
          <p:nvPr/>
        </p:nvSpPr>
        <p:spPr>
          <a:xfrm>
            <a:off x="4716016" y="5229200"/>
            <a:ext cx="36439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3.15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JPEG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壓縮將影像切成許多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8 X 8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的格子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不失真壓縮：</a:t>
            </a:r>
            <a:r>
              <a:rPr lang="zh-TW" altLang="zh-TW" dirty="0">
                <a:solidFill>
                  <a:srgbClr val="0070C0"/>
                </a:solidFill>
              </a:rPr>
              <a:t>區段長度編碼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(Run-Length Encoding</a:t>
            </a:r>
            <a:r>
              <a:rPr lang="zh-TW" altLang="zh-TW" dirty="0"/>
              <a:t>，</a:t>
            </a:r>
            <a:r>
              <a:rPr lang="en-US" altLang="zh-TW" dirty="0"/>
              <a:t>RLE)</a:t>
            </a:r>
          </a:p>
          <a:p>
            <a:pPr lvl="1"/>
            <a:r>
              <a:rPr lang="zh-TW" altLang="zh-TW" dirty="0" smtClean="0"/>
              <a:t>相同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字母</a:t>
            </a:r>
            <a:r>
              <a:rPr lang="zh-TW" altLang="zh-TW" dirty="0" smtClean="0"/>
              <a:t>連續</a:t>
            </a:r>
            <a:r>
              <a:rPr lang="zh-TW" altLang="zh-TW" dirty="0"/>
              <a:t>出現的部分稱為</a:t>
            </a:r>
            <a:r>
              <a:rPr lang="zh-TW" altLang="zh-TW" dirty="0">
                <a:solidFill>
                  <a:srgbClr val="0070C0"/>
                </a:solidFill>
              </a:rPr>
              <a:t>區段</a:t>
            </a:r>
            <a:r>
              <a:rPr lang="en-US" altLang="zh-TW" dirty="0"/>
              <a:t> (run)</a:t>
            </a:r>
            <a:r>
              <a:rPr lang="zh-TW" altLang="zh-TW" dirty="0"/>
              <a:t>，連續出現的個數稱為該區段的長度</a:t>
            </a:r>
            <a:endParaRPr lang="en-US" altLang="zh-TW" dirty="0"/>
          </a:p>
          <a:p>
            <a:pPr lvl="1"/>
            <a:r>
              <a:rPr lang="zh-TW" altLang="zh-TW" dirty="0"/>
              <a:t>連續出現</a:t>
            </a:r>
            <a:r>
              <a:rPr lang="zh-TW" altLang="zh-TW" dirty="0" smtClean="0"/>
              <a:t>的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字母</a:t>
            </a:r>
            <a:r>
              <a:rPr lang="zh-TW" altLang="zh-TW" dirty="0" smtClean="0"/>
              <a:t>只</a:t>
            </a:r>
            <a:r>
              <a:rPr lang="zh-TW" altLang="zh-TW" dirty="0"/>
              <a:t>記錄一次，後面跟著表示區段長度的數字</a:t>
            </a:r>
            <a:endParaRPr lang="en-US" altLang="zh-TW" dirty="0"/>
          </a:p>
          <a:p>
            <a:pPr lvl="1"/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範例：</a:t>
            </a:r>
            <a:r>
              <a:rPr lang="en-US" altLang="zh-TW" dirty="0" err="1">
                <a:uFill>
                  <a:solidFill>
                    <a:srgbClr val="0000CC"/>
                  </a:solidFill>
                </a:uFill>
              </a:rPr>
              <a:t>aaaabb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記錄成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a</a:t>
            </a:r>
            <a:r>
              <a:rPr lang="en-US" altLang="zh-TW" b="1" dirty="0">
                <a:solidFill>
                  <a:srgbClr val="0070C0"/>
                </a:solidFill>
                <a:uFill>
                  <a:solidFill>
                    <a:srgbClr val="0000CC"/>
                  </a:solidFill>
                </a:uFill>
              </a:rPr>
              <a:t>4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b</a:t>
            </a:r>
            <a:r>
              <a:rPr lang="en-US" altLang="zh-TW" b="1" dirty="0">
                <a:solidFill>
                  <a:srgbClr val="0070C0"/>
                </a:solidFill>
                <a:uFill>
                  <a:solidFill>
                    <a:srgbClr val="0000CC"/>
                  </a:solidFill>
                </a:uFill>
              </a:rPr>
              <a:t>2</a:t>
            </a:r>
          </a:p>
          <a:p>
            <a:pPr lvl="1"/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範例：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111133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記錄成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1</a:t>
            </a:r>
            <a:r>
              <a:rPr lang="en-US" altLang="zh-TW" b="1" dirty="0">
                <a:solidFill>
                  <a:srgbClr val="0070C0"/>
                </a:solidFill>
                <a:uFill>
                  <a:solidFill>
                    <a:srgbClr val="0000CC"/>
                  </a:solidFill>
                </a:uFill>
              </a:rPr>
              <a:t>4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3</a:t>
            </a:r>
            <a:r>
              <a:rPr lang="en-US" altLang="zh-TW" b="1" dirty="0">
                <a:solidFill>
                  <a:srgbClr val="0070C0"/>
                </a:solidFill>
                <a:uFill>
                  <a:solidFill>
                    <a:srgbClr val="0000CC"/>
                  </a:solidFill>
                </a:uFill>
              </a:rPr>
              <a:t>2</a:t>
            </a:r>
          </a:p>
          <a:p>
            <a:pPr lvl="1"/>
            <a:r>
              <a:rPr lang="zh-TW" altLang="zh-TW" dirty="0"/>
              <a:t>適合重複性高的資料</a:t>
            </a:r>
            <a:endParaRPr lang="en-US" altLang="zh-TW" dirty="0"/>
          </a:p>
          <a:p>
            <a:pPr lvl="1"/>
            <a:r>
              <a:rPr lang="zh-TW" altLang="zh-TW" dirty="0"/>
              <a:t>只出現一次</a:t>
            </a:r>
            <a:r>
              <a:rPr lang="zh-TW" altLang="zh-TW" dirty="0" smtClean="0"/>
              <a:t>的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字母</a:t>
            </a:r>
            <a:r>
              <a:rPr lang="zh-TW" altLang="zh-TW" dirty="0" smtClean="0"/>
              <a:t>，仍</a:t>
            </a:r>
            <a:r>
              <a:rPr lang="zh-TW" altLang="en-US" dirty="0" smtClean="0"/>
              <a:t>須</a:t>
            </a:r>
            <a:r>
              <a:rPr lang="zh-TW" altLang="zh-TW" dirty="0" smtClean="0"/>
              <a:t>要</a:t>
            </a:r>
            <a:r>
              <a:rPr lang="zh-TW" altLang="zh-TW" dirty="0"/>
              <a:t>記錄長度</a:t>
            </a:r>
            <a:r>
              <a:rPr lang="zh-TW" altLang="en-US" dirty="0"/>
              <a:t>，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反而變成浪費</a:t>
            </a:r>
            <a:endParaRPr lang="zh-TW" altLang="en-US" b="1" dirty="0">
              <a:solidFill>
                <a:srgbClr val="0070C0"/>
              </a:solidFill>
              <a:uFill>
                <a:solidFill>
                  <a:srgbClr val="0000CC"/>
                </a:solidFill>
              </a:uFill>
            </a:endParaRPr>
          </a:p>
          <a:p>
            <a:pPr lvl="1"/>
            <a:endParaRPr lang="zh-TW" altLang="en-US" b="1" dirty="0">
              <a:solidFill>
                <a:srgbClr val="0070C0"/>
              </a:solidFill>
            </a:endParaRP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3.3</a:t>
            </a:r>
            <a:r>
              <a:rPr lang="zh-TW" altLang="en-US" dirty="0"/>
              <a:t>影像的表示與處理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對連續的字母做壓縮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3.3</a:t>
            </a:r>
            <a:r>
              <a:rPr lang="zh-TW" altLang="en-US" dirty="0"/>
              <a:t>影像的表示與處理</a:t>
            </a:r>
          </a:p>
        </p:txBody>
      </p:sp>
      <p:pic>
        <p:nvPicPr>
          <p:cNvPr id="6" name="圖片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844824"/>
            <a:ext cx="6840760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>
            <a:extLst>
              <a:ext uri="{FF2B5EF4-FFF2-40B4-BE49-F238E27FC236}">
                <a16:creationId xmlns="" xmlns:a16="http://schemas.microsoft.com/office/drawing/2014/main" id="{3A61F1D5-1C7F-4554-93CC-A0F96FA02292}"/>
              </a:ext>
            </a:extLst>
          </p:cNvPr>
          <p:cNvSpPr txBox="1"/>
          <p:nvPr/>
        </p:nvSpPr>
        <p:spPr>
          <a:xfrm>
            <a:off x="5580112" y="575058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u="wavyDbl" dirty="0">
                <a:uFill>
                  <a:solidFill>
                    <a:srgbClr val="0000CC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字母可進一步轉成數字</a:t>
            </a:r>
          </a:p>
        </p:txBody>
      </p:sp>
      <p:sp>
        <p:nvSpPr>
          <p:cNvPr id="4" name="文字方塊 3"/>
          <p:cNvSpPr txBox="1"/>
          <p:nvPr/>
        </p:nvSpPr>
        <p:spPr>
          <a:xfrm>
            <a:off x="2555776" y="6228020"/>
            <a:ext cx="4700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3.16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利用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RLE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對連續的字母與數字做壓縮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對連續的</a:t>
            </a:r>
            <a:r>
              <a:rPr lang="zh-TW" altLang="en-US" dirty="0"/>
              <a:t>數字</a:t>
            </a:r>
            <a:r>
              <a:rPr lang="zh-TW" altLang="zh-TW" dirty="0"/>
              <a:t>做壓縮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3.3</a:t>
            </a:r>
            <a:r>
              <a:rPr lang="zh-TW" altLang="en-US" dirty="0"/>
              <a:t>影像的表示與處理</a:t>
            </a:r>
          </a:p>
        </p:txBody>
      </p:sp>
      <p:pic>
        <p:nvPicPr>
          <p:cNvPr id="7" name="圖片 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1916832"/>
            <a:ext cx="5184576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3912204" y="5661248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3.16 </a:t>
            </a: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zh-TW" altLang="en-US" dirty="0" smtClean="0">
                <a:latin typeface="Times New Roman" pitchFamily="18" charset="0"/>
                <a:cs typeface="Times New Roman" pitchFamily="18" charset="0"/>
              </a:rPr>
              <a:t>續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影片的編碼</a:t>
            </a:r>
            <a:endParaRPr lang="en-US" altLang="zh-TW" b="1" dirty="0" smtClean="0">
              <a:solidFill>
                <a:schemeClr val="accent3"/>
              </a:solidFill>
            </a:endParaRPr>
          </a:p>
          <a:p>
            <a:r>
              <a:rPr lang="zh-TW" altLang="zh-TW" dirty="0" smtClean="0"/>
              <a:t>影片</a:t>
            </a:r>
            <a:r>
              <a:rPr lang="zh-TW" altLang="zh-TW" dirty="0"/>
              <a:t>是連續的影像，攝影機在固定的時間間格，拍下影像</a:t>
            </a:r>
            <a:endParaRPr lang="en-US" altLang="zh-TW" dirty="0"/>
          </a:p>
          <a:p>
            <a:r>
              <a:rPr lang="zh-TW" altLang="zh-TW" dirty="0"/>
              <a:t>播放連續影像時，由於眼睛有視覺暫留的現象，會短時間記憶前一個影像，比較下一個影像的差異後，產生影像在動的錯覺</a:t>
            </a:r>
            <a:endParaRPr lang="en-US" altLang="zh-TW" dirty="0"/>
          </a:p>
          <a:p>
            <a:r>
              <a:rPr lang="zh-TW" altLang="zh-TW" dirty="0"/>
              <a:t>一張張影像又稱為</a:t>
            </a:r>
            <a:r>
              <a:rPr lang="zh-TW" altLang="zh-TW" dirty="0">
                <a:solidFill>
                  <a:srgbClr val="0070C0"/>
                </a:solidFill>
              </a:rPr>
              <a:t>畫面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(frame)</a:t>
            </a:r>
          </a:p>
          <a:p>
            <a:pPr lvl="1"/>
            <a:r>
              <a:rPr lang="zh-TW" altLang="zh-TW" dirty="0"/>
              <a:t>讓眼睛察覺不出影片間斷的移動，一秒播放的畫面必須達到</a:t>
            </a:r>
            <a:r>
              <a:rPr lang="en-US" altLang="zh-TW" dirty="0"/>
              <a:t>24</a:t>
            </a:r>
            <a:r>
              <a:rPr lang="zh-TW" altLang="zh-TW" dirty="0"/>
              <a:t>個畫面以上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3.4</a:t>
            </a:r>
            <a:r>
              <a:rPr lang="zh-TW" altLang="en-US" dirty="0"/>
              <a:t>影片的表示與處理</a:t>
            </a:r>
          </a:p>
        </p:txBody>
      </p:sp>
      <p:pic>
        <p:nvPicPr>
          <p:cNvPr id="6" name="圖片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5856" y="4293096"/>
            <a:ext cx="3960440" cy="2001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3851920" y="6372036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3.17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影片記錄方式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影片畫面的解析度與畫面長與寬的像素個數有關</a:t>
            </a:r>
            <a:endParaRPr lang="en-US" altLang="zh-TW" dirty="0"/>
          </a:p>
          <a:p>
            <a:pPr lvl="1"/>
            <a:r>
              <a:rPr lang="en-US" altLang="zh-TW" dirty="0"/>
              <a:t>VCD</a:t>
            </a:r>
            <a:r>
              <a:rPr lang="zh-TW" altLang="zh-TW" dirty="0"/>
              <a:t>影片的解析度是</a:t>
            </a:r>
            <a:r>
              <a:rPr lang="en-US" altLang="zh-TW" dirty="0"/>
              <a:t>352 </a:t>
            </a:r>
            <a:r>
              <a:rPr lang="zh-TW" altLang="zh-TW" dirty="0"/>
              <a:t>×</a:t>
            </a:r>
            <a:r>
              <a:rPr lang="en-US" altLang="zh-TW" dirty="0"/>
              <a:t> 240</a:t>
            </a:r>
            <a:r>
              <a:rPr lang="zh-TW" altLang="zh-TW" dirty="0"/>
              <a:t>像素</a:t>
            </a:r>
            <a:endParaRPr lang="en-US" altLang="zh-TW" dirty="0"/>
          </a:p>
          <a:p>
            <a:pPr lvl="1"/>
            <a:r>
              <a:rPr lang="en-US" altLang="zh-TW" dirty="0"/>
              <a:t>DVD</a:t>
            </a:r>
            <a:r>
              <a:rPr lang="zh-TW" altLang="zh-TW" dirty="0"/>
              <a:t>影片的解析度是</a:t>
            </a:r>
            <a:r>
              <a:rPr lang="en-US" altLang="zh-TW" dirty="0"/>
              <a:t>720 </a:t>
            </a:r>
            <a:r>
              <a:rPr lang="zh-TW" altLang="zh-TW" dirty="0"/>
              <a:t>×</a:t>
            </a:r>
            <a:r>
              <a:rPr lang="en-US" altLang="zh-TW" dirty="0"/>
              <a:t> 480</a:t>
            </a:r>
            <a:r>
              <a:rPr lang="zh-TW" altLang="zh-TW" dirty="0"/>
              <a:t>像素</a:t>
            </a:r>
            <a:endParaRPr lang="en-US" altLang="zh-TW" dirty="0"/>
          </a:p>
          <a:p>
            <a:pPr lvl="1"/>
            <a:r>
              <a:rPr lang="en-US" altLang="zh-TW" dirty="0"/>
              <a:t>BD</a:t>
            </a:r>
            <a:r>
              <a:rPr lang="zh-TW" altLang="zh-TW" dirty="0"/>
              <a:t>影片的解析度</a:t>
            </a:r>
            <a:r>
              <a:rPr lang="zh-TW" altLang="en-US" dirty="0"/>
              <a:t>是</a:t>
            </a:r>
            <a:r>
              <a:rPr lang="en-US" altLang="zh-TW" dirty="0"/>
              <a:t>1920 </a:t>
            </a:r>
            <a:r>
              <a:rPr lang="zh-TW" altLang="zh-TW" dirty="0"/>
              <a:t>×</a:t>
            </a:r>
            <a:r>
              <a:rPr lang="en-US" altLang="zh-TW" dirty="0"/>
              <a:t> 1080</a:t>
            </a:r>
            <a:r>
              <a:rPr lang="zh-TW" altLang="zh-TW" dirty="0"/>
              <a:t>像素，俗稱高畫質</a:t>
            </a:r>
            <a:r>
              <a:rPr lang="en-US" altLang="zh-TW" dirty="0"/>
              <a:t> (High-Definition, HD)</a:t>
            </a:r>
          </a:p>
          <a:p>
            <a:pPr lvl="1"/>
            <a:r>
              <a:rPr lang="en-US" altLang="zh-TW" dirty="0"/>
              <a:t>4K</a:t>
            </a:r>
            <a:r>
              <a:rPr lang="zh-TW" altLang="zh-TW" dirty="0"/>
              <a:t>超高畫質</a:t>
            </a:r>
            <a:r>
              <a:rPr lang="en-US" altLang="zh-TW" dirty="0"/>
              <a:t> (Ultra High-Definition, UHD)</a:t>
            </a:r>
            <a:r>
              <a:rPr lang="zh-TW" altLang="en-US" dirty="0"/>
              <a:t>，</a:t>
            </a:r>
            <a:r>
              <a:rPr lang="zh-TW" altLang="zh-TW" dirty="0"/>
              <a:t>解析度是</a:t>
            </a:r>
            <a:r>
              <a:rPr lang="en-US" altLang="zh-TW" dirty="0"/>
              <a:t>3840 </a:t>
            </a:r>
            <a:r>
              <a:rPr lang="zh-TW" altLang="zh-TW" dirty="0"/>
              <a:t>×</a:t>
            </a:r>
            <a:r>
              <a:rPr lang="en-US" altLang="zh-TW" dirty="0"/>
              <a:t> 2160</a:t>
            </a:r>
            <a:r>
              <a:rPr lang="zh-TW" altLang="zh-TW" dirty="0"/>
              <a:t>像素</a:t>
            </a:r>
            <a:r>
              <a:rPr lang="en-US" altLang="zh-TW" dirty="0"/>
              <a:t> (4</a:t>
            </a:r>
            <a:r>
              <a:rPr lang="zh-TW" altLang="zh-TW" dirty="0"/>
              <a:t>倍</a:t>
            </a:r>
            <a:r>
              <a:rPr lang="en-US" altLang="zh-TW" dirty="0"/>
              <a:t>HD</a:t>
            </a:r>
            <a:r>
              <a:rPr lang="zh-TW" altLang="zh-TW" dirty="0"/>
              <a:t>畫質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8K</a:t>
            </a:r>
            <a:r>
              <a:rPr lang="zh-TW" altLang="zh-TW" dirty="0"/>
              <a:t>超高畫質</a:t>
            </a:r>
            <a:r>
              <a:rPr lang="zh-TW" altLang="en-US" dirty="0"/>
              <a:t>，</a:t>
            </a:r>
            <a:r>
              <a:rPr lang="zh-TW" altLang="zh-TW" dirty="0"/>
              <a:t>解析度是</a:t>
            </a:r>
            <a:r>
              <a:rPr lang="en-US" altLang="zh-TW" dirty="0"/>
              <a:t>7680 </a:t>
            </a:r>
            <a:r>
              <a:rPr lang="zh-TW" altLang="zh-TW" dirty="0"/>
              <a:t>×</a:t>
            </a:r>
            <a:r>
              <a:rPr lang="en-US" altLang="zh-TW" dirty="0"/>
              <a:t> 4230</a:t>
            </a:r>
            <a:r>
              <a:rPr lang="zh-TW" altLang="zh-TW" dirty="0"/>
              <a:t>像素</a:t>
            </a:r>
            <a:r>
              <a:rPr lang="en-US" altLang="zh-TW" dirty="0"/>
              <a:t> 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(16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倍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HD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畫質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)</a:t>
            </a:r>
            <a:endParaRPr lang="zh-TW" altLang="en-US" dirty="0">
              <a:uFill>
                <a:solidFill>
                  <a:srgbClr val="0000CC"/>
                </a:solidFill>
              </a:uFill>
            </a:endParaRPr>
          </a:p>
          <a:p>
            <a:pPr lvl="1"/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3.4</a:t>
            </a:r>
            <a:r>
              <a:rPr lang="zh-TW" altLang="en-US" dirty="0"/>
              <a:t>影片的表示與處理</a:t>
            </a:r>
          </a:p>
        </p:txBody>
      </p:sp>
      <p:grpSp>
        <p:nvGrpSpPr>
          <p:cNvPr id="22" name="群組 21"/>
          <p:cNvGrpSpPr/>
          <p:nvPr/>
        </p:nvGrpSpPr>
        <p:grpSpPr>
          <a:xfrm>
            <a:off x="1835696" y="4941168"/>
            <a:ext cx="3240360" cy="1728192"/>
            <a:chOff x="2823488" y="4293096"/>
            <a:chExt cx="4102974" cy="2160240"/>
          </a:xfrm>
        </p:grpSpPr>
        <p:pic>
          <p:nvPicPr>
            <p:cNvPr id="52228" name="Picture 4" descr="http://www.rtings.com/images/resolutions-ultra-hd-4k-1080p-720p-dvd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843807" y="4293096"/>
              <a:ext cx="4082655" cy="2160240"/>
            </a:xfrm>
            <a:prstGeom prst="rect">
              <a:avLst/>
            </a:prstGeom>
            <a:noFill/>
          </p:spPr>
        </p:pic>
        <p:cxnSp>
          <p:nvCxnSpPr>
            <p:cNvPr id="8" name="直線接點 7"/>
            <p:cNvCxnSpPr/>
            <p:nvPr/>
          </p:nvCxnSpPr>
          <p:spPr>
            <a:xfrm>
              <a:off x="2842518" y="4540250"/>
              <a:ext cx="504056" cy="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接點 8"/>
            <p:cNvCxnSpPr/>
            <p:nvPr/>
          </p:nvCxnSpPr>
          <p:spPr>
            <a:xfrm flipV="1">
              <a:off x="3347824" y="4293096"/>
              <a:ext cx="40" cy="249046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字方塊 17"/>
            <p:cNvSpPr txBox="1"/>
            <p:nvPr/>
          </p:nvSpPr>
          <p:spPr>
            <a:xfrm>
              <a:off x="2823488" y="4293096"/>
              <a:ext cx="45236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ngsuh" pitchFamily="18" charset="-127"/>
                  <a:ea typeface="Gungsuh" pitchFamily="18" charset="-127"/>
                </a:rPr>
                <a:t>VCD</a:t>
              </a:r>
              <a:endParaRPr lang="zh-TW" altLang="en-US" sz="1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ngsuh" pitchFamily="18" charset="-127"/>
                <a:ea typeface="Gungsuh" pitchFamily="18" charset="-127"/>
              </a:endParaRPr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3278106" y="5013176"/>
              <a:ext cx="35779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ngsuh" pitchFamily="18" charset="-127"/>
                  <a:ea typeface="Gungsuh" pitchFamily="18" charset="-127"/>
                </a:rPr>
                <a:t>HD</a:t>
              </a:r>
              <a:endParaRPr lang="zh-TW" altLang="en-US" sz="1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ngsuh" pitchFamily="18" charset="-127"/>
                <a:ea typeface="Gungsuh" pitchFamily="18" charset="-127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螢幕顯示畫面時，會將畫面水平切割成一條條的掃描線</a:t>
            </a:r>
            <a:r>
              <a:rPr lang="en-US" altLang="zh-TW" dirty="0"/>
              <a:t>(scan line)</a:t>
            </a:r>
            <a:r>
              <a:rPr lang="zh-TW" altLang="zh-TW" dirty="0"/>
              <a:t>，個數與畫面縱向的像素相同</a:t>
            </a:r>
            <a:endParaRPr lang="en-US" altLang="zh-TW" dirty="0"/>
          </a:p>
          <a:p>
            <a:r>
              <a:rPr lang="zh-TW" altLang="zh-TW" dirty="0"/>
              <a:t>掃描線呈現的方式有兩種：</a:t>
            </a:r>
            <a:r>
              <a:rPr lang="zh-TW" altLang="zh-TW" dirty="0">
                <a:solidFill>
                  <a:srgbClr val="0070C0"/>
                </a:solidFill>
              </a:rPr>
              <a:t>交錯式</a:t>
            </a:r>
            <a:r>
              <a:rPr lang="en-US" altLang="zh-TW" dirty="0"/>
              <a:t> (interlaced) </a:t>
            </a:r>
            <a:r>
              <a:rPr lang="zh-TW" altLang="zh-TW" dirty="0"/>
              <a:t>與</a:t>
            </a:r>
            <a:r>
              <a:rPr lang="zh-TW" altLang="zh-TW" dirty="0">
                <a:solidFill>
                  <a:srgbClr val="0070C0"/>
                </a:solidFill>
              </a:rPr>
              <a:t>循序式</a:t>
            </a:r>
            <a:r>
              <a:rPr lang="en-US" altLang="zh-TW" dirty="0"/>
              <a:t>(progressive)</a:t>
            </a:r>
          </a:p>
          <a:p>
            <a:pPr lvl="1"/>
            <a:r>
              <a:rPr lang="zh-TW" altLang="zh-TW" dirty="0"/>
              <a:t>每秒播放</a:t>
            </a:r>
            <a:r>
              <a:rPr lang="en-US" altLang="zh-TW" dirty="0"/>
              <a:t>60</a:t>
            </a:r>
            <a:r>
              <a:rPr lang="zh-TW" altLang="zh-TW" dirty="0"/>
              <a:t>個畫面為例，交錯式以</a:t>
            </a:r>
            <a:r>
              <a:rPr lang="en-US" altLang="zh-TW" dirty="0"/>
              <a:t>60i</a:t>
            </a:r>
            <a:r>
              <a:rPr lang="zh-TW" altLang="zh-TW" dirty="0"/>
              <a:t>標示，循序式以</a:t>
            </a:r>
            <a:r>
              <a:rPr lang="en-US" altLang="zh-TW" dirty="0"/>
              <a:t>60p</a:t>
            </a:r>
            <a:r>
              <a:rPr lang="zh-TW" altLang="zh-TW" dirty="0"/>
              <a:t>標示</a:t>
            </a:r>
            <a:endParaRPr lang="en-US" altLang="zh-TW" dirty="0"/>
          </a:p>
          <a:p>
            <a:r>
              <a:rPr lang="zh-TW" altLang="zh-TW" dirty="0"/>
              <a:t>循序表示將一個畫面全部的掃描線依序顯示</a:t>
            </a:r>
            <a:endParaRPr lang="en-US" altLang="zh-TW" dirty="0"/>
          </a:p>
          <a:p>
            <a:r>
              <a:rPr lang="zh-TW" altLang="zh-TW" dirty="0"/>
              <a:t>交錯則是先顯示第一個畫面的奇數掃描線，接著顯示</a:t>
            </a:r>
            <a:r>
              <a:rPr lang="zh-TW" altLang="en-US" dirty="0"/>
              <a:t>相同</a:t>
            </a:r>
            <a:r>
              <a:rPr lang="zh-TW" altLang="zh-TW" dirty="0"/>
              <a:t>畫面的偶數掃描線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3.4</a:t>
            </a:r>
            <a:r>
              <a:rPr lang="zh-TW" altLang="en-US" dirty="0"/>
              <a:t>影片的表示與處理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影片的儲存</a:t>
            </a:r>
            <a:endParaRPr lang="en-US" altLang="zh-TW" b="1" dirty="0" smtClean="0">
              <a:solidFill>
                <a:schemeClr val="accent3"/>
              </a:solidFill>
            </a:endParaRPr>
          </a:p>
          <a:p>
            <a:r>
              <a:rPr lang="zh-TW" altLang="zh-TW" dirty="0" smtClean="0"/>
              <a:t>高</a:t>
            </a:r>
            <a:r>
              <a:rPr lang="zh-TW" altLang="zh-TW" dirty="0"/>
              <a:t>畫質的影片大小動輒好幾</a:t>
            </a:r>
            <a:r>
              <a:rPr lang="en-US" altLang="zh-TW" dirty="0" smtClean="0">
                <a:uFill>
                  <a:solidFill>
                    <a:srgbClr val="0000CC"/>
                  </a:solidFill>
                </a:uFill>
              </a:rPr>
              <a:t>GB</a:t>
            </a:r>
            <a:r>
              <a:rPr lang="zh-TW" altLang="zh-TW" dirty="0" smtClean="0"/>
              <a:t>，</a:t>
            </a:r>
            <a:r>
              <a:rPr lang="zh-TW" altLang="zh-TW" dirty="0"/>
              <a:t>需使用高效率的失真壓縮處理</a:t>
            </a:r>
            <a:endParaRPr lang="en-US" altLang="zh-TW" dirty="0"/>
          </a:p>
          <a:p>
            <a:r>
              <a:rPr lang="zh-TW" altLang="zh-TW" dirty="0"/>
              <a:t>壓縮與解壓縮</a:t>
            </a:r>
            <a:r>
              <a:rPr lang="zh-TW" altLang="en-US" dirty="0"/>
              <a:t>需要</a:t>
            </a:r>
            <a:r>
              <a:rPr lang="zh-TW" altLang="zh-TW" dirty="0"/>
              <a:t>編解器</a:t>
            </a:r>
            <a:r>
              <a:rPr lang="en-US" altLang="zh-TW" dirty="0"/>
              <a:t> (Codec) </a:t>
            </a:r>
            <a:r>
              <a:rPr lang="zh-TW" altLang="en-US" dirty="0"/>
              <a:t>的</a:t>
            </a:r>
            <a:r>
              <a:rPr lang="zh-TW" altLang="zh-TW" dirty="0"/>
              <a:t>程式</a:t>
            </a:r>
            <a:r>
              <a:rPr lang="zh-TW" altLang="en-US" dirty="0"/>
              <a:t>：</a:t>
            </a:r>
            <a:r>
              <a:rPr lang="zh-TW" altLang="zh-TW" dirty="0"/>
              <a:t>結合編碼</a:t>
            </a:r>
            <a:r>
              <a:rPr lang="en-US" altLang="zh-TW" dirty="0"/>
              <a:t> (coding)</a:t>
            </a:r>
            <a:r>
              <a:rPr lang="zh-TW" altLang="zh-TW" dirty="0"/>
              <a:t>與解碼</a:t>
            </a:r>
            <a:r>
              <a:rPr lang="en-US" altLang="zh-TW" dirty="0"/>
              <a:t> (decoding)</a:t>
            </a:r>
          </a:p>
          <a:p>
            <a:r>
              <a:rPr lang="en-US" altLang="zh-TW" dirty="0"/>
              <a:t>MPEG</a:t>
            </a:r>
            <a:r>
              <a:rPr lang="zh-TW" altLang="zh-TW" dirty="0"/>
              <a:t>是致力於視訊壓縮的專業組織，前後發表</a:t>
            </a:r>
            <a:r>
              <a:rPr lang="en-US" altLang="zh-TW" dirty="0"/>
              <a:t>MPEG-1</a:t>
            </a:r>
            <a:r>
              <a:rPr lang="zh-TW" altLang="zh-TW" dirty="0"/>
              <a:t>、</a:t>
            </a:r>
            <a:r>
              <a:rPr lang="en-US" altLang="zh-TW" dirty="0"/>
              <a:t>MPEG-2</a:t>
            </a:r>
            <a:r>
              <a:rPr lang="zh-TW" altLang="zh-TW" dirty="0"/>
              <a:t>與</a:t>
            </a:r>
            <a:r>
              <a:rPr lang="en-US" altLang="zh-TW" dirty="0"/>
              <a:t>MPEG-4</a:t>
            </a:r>
          </a:p>
          <a:p>
            <a:pPr lvl="1"/>
            <a:r>
              <a:rPr lang="en-US" altLang="zh-TW" dirty="0"/>
              <a:t>MPEG-1</a:t>
            </a:r>
            <a:r>
              <a:rPr lang="zh-TW" altLang="zh-TW" dirty="0"/>
              <a:t>用於</a:t>
            </a:r>
            <a:r>
              <a:rPr lang="en-US" altLang="zh-TW" dirty="0"/>
              <a:t>VCD</a:t>
            </a:r>
            <a:r>
              <a:rPr lang="zh-TW" altLang="zh-TW" dirty="0"/>
              <a:t>影片的儲存</a:t>
            </a:r>
            <a:r>
              <a:rPr lang="en-US" altLang="zh-TW" dirty="0"/>
              <a:t> (</a:t>
            </a:r>
            <a:r>
              <a:rPr lang="en-US" altLang="zh-TW" dirty="0" err="1"/>
              <a:t>dat</a:t>
            </a:r>
            <a:r>
              <a:rPr lang="zh-TW" altLang="zh-TW" dirty="0"/>
              <a:t>檔</a:t>
            </a:r>
            <a:r>
              <a:rPr lang="en-US" altLang="zh-TW" dirty="0"/>
              <a:t>)</a:t>
            </a:r>
            <a:r>
              <a:rPr lang="zh-TW" altLang="zh-TW" dirty="0"/>
              <a:t>，常見的</a:t>
            </a:r>
            <a:r>
              <a:rPr lang="en-US" altLang="zh-TW" dirty="0"/>
              <a:t>MP3</a:t>
            </a:r>
            <a:r>
              <a:rPr lang="zh-TW" altLang="zh-TW" dirty="0"/>
              <a:t>音樂檔格式也是源自</a:t>
            </a:r>
            <a:r>
              <a:rPr lang="en-US" altLang="zh-TW" dirty="0"/>
              <a:t>MPEG-1</a:t>
            </a:r>
          </a:p>
          <a:p>
            <a:pPr lvl="1"/>
            <a:r>
              <a:rPr lang="en-US" altLang="zh-TW" dirty="0"/>
              <a:t>MPEG-2</a:t>
            </a:r>
            <a:r>
              <a:rPr lang="zh-TW" altLang="zh-TW" dirty="0"/>
              <a:t>用於</a:t>
            </a:r>
            <a:r>
              <a:rPr lang="en-US" altLang="zh-TW" dirty="0"/>
              <a:t>DVD</a:t>
            </a:r>
            <a:r>
              <a:rPr lang="zh-TW" altLang="zh-TW" dirty="0"/>
              <a:t>影片的儲存</a:t>
            </a:r>
            <a:r>
              <a:rPr lang="en-US" altLang="zh-TW" dirty="0"/>
              <a:t> (</a:t>
            </a:r>
            <a:r>
              <a:rPr lang="en-US" altLang="zh-TW" dirty="0" err="1"/>
              <a:t>vob</a:t>
            </a:r>
            <a:r>
              <a:rPr lang="zh-TW" altLang="zh-TW" dirty="0"/>
              <a:t>檔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MPEG-4 </a:t>
            </a:r>
            <a:r>
              <a:rPr lang="zh-TW" altLang="en-US" dirty="0"/>
              <a:t>適用</a:t>
            </a:r>
            <a:r>
              <a:rPr lang="en-US" altLang="zh-TW" dirty="0"/>
              <a:t>HD</a:t>
            </a:r>
            <a:r>
              <a:rPr lang="zh-TW" altLang="zh-TW" dirty="0"/>
              <a:t>高畫質影片</a:t>
            </a:r>
            <a:r>
              <a:rPr lang="zh-TW" altLang="en-US" dirty="0"/>
              <a:t>，</a:t>
            </a:r>
            <a:r>
              <a:rPr lang="en-US" altLang="zh-TW" dirty="0" err="1"/>
              <a:t>avi</a:t>
            </a:r>
            <a:r>
              <a:rPr lang="zh-TW" altLang="zh-TW" dirty="0"/>
              <a:t>、</a:t>
            </a:r>
            <a:r>
              <a:rPr lang="en-US" altLang="zh-TW" dirty="0" err="1"/>
              <a:t>dat</a:t>
            </a:r>
            <a:r>
              <a:rPr lang="zh-TW" altLang="zh-TW" dirty="0"/>
              <a:t>、</a:t>
            </a:r>
            <a:r>
              <a:rPr lang="en-US" altLang="zh-TW" dirty="0" err="1"/>
              <a:t>vob</a:t>
            </a:r>
            <a:r>
              <a:rPr lang="zh-TW" altLang="zh-TW" dirty="0"/>
              <a:t>、</a:t>
            </a:r>
            <a:r>
              <a:rPr lang="en-US" altLang="zh-TW" dirty="0"/>
              <a:t>mpeg</a:t>
            </a:r>
            <a:r>
              <a:rPr lang="zh-TW" altLang="zh-TW" dirty="0"/>
              <a:t>、</a:t>
            </a:r>
            <a:r>
              <a:rPr lang="en-US" altLang="zh-TW" dirty="0"/>
              <a:t>mpg</a:t>
            </a:r>
            <a:r>
              <a:rPr lang="zh-TW" altLang="zh-TW" dirty="0"/>
              <a:t>、</a:t>
            </a:r>
            <a:r>
              <a:rPr lang="en-US" altLang="zh-TW" dirty="0"/>
              <a:t>mp4</a:t>
            </a:r>
            <a:r>
              <a:rPr lang="zh-TW" altLang="zh-TW" dirty="0"/>
              <a:t>、</a:t>
            </a:r>
            <a:r>
              <a:rPr lang="en-US" altLang="zh-TW" dirty="0" err="1"/>
              <a:t>divx</a:t>
            </a:r>
            <a:r>
              <a:rPr lang="zh-TW" altLang="zh-TW" dirty="0"/>
              <a:t>與</a:t>
            </a:r>
            <a:r>
              <a:rPr lang="en-US" altLang="zh-TW" dirty="0" err="1"/>
              <a:t>xvid</a:t>
            </a:r>
            <a:r>
              <a:rPr lang="zh-TW" altLang="zh-TW" dirty="0"/>
              <a:t>等</a:t>
            </a:r>
            <a:r>
              <a:rPr lang="zh-TW" altLang="en-US" dirty="0"/>
              <a:t>檔案格式</a:t>
            </a: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3.4</a:t>
            </a:r>
            <a:r>
              <a:rPr lang="zh-TW" altLang="en-US" dirty="0"/>
              <a:t>影片的表示與處理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網路影片如果每次在觀賞前需要將整份檔案下載，會浪費不少時間</a:t>
            </a:r>
            <a:endParaRPr lang="en-US" altLang="zh-TW" dirty="0"/>
          </a:p>
          <a:p>
            <a:pPr lvl="1"/>
            <a:r>
              <a:rPr lang="zh-TW" altLang="zh-TW" dirty="0"/>
              <a:t>每個人擁有</a:t>
            </a:r>
            <a:r>
              <a:rPr lang="zh-TW" altLang="en-US" dirty="0"/>
              <a:t>下載</a:t>
            </a:r>
            <a:r>
              <a:rPr lang="zh-TW" altLang="zh-TW" dirty="0"/>
              <a:t>檔案，缺乏智慧財產的保護</a:t>
            </a:r>
            <a:endParaRPr lang="en-US" altLang="zh-TW" dirty="0"/>
          </a:p>
          <a:p>
            <a:r>
              <a:rPr lang="zh-TW" altLang="zh-TW" dirty="0">
                <a:solidFill>
                  <a:srgbClr val="0070C0"/>
                </a:solidFill>
              </a:rPr>
              <a:t>影音串流</a:t>
            </a:r>
            <a:r>
              <a:rPr lang="en-US" altLang="zh-TW" dirty="0"/>
              <a:t> (video streaming)</a:t>
            </a:r>
            <a:r>
              <a:rPr lang="zh-TW" altLang="zh-TW" dirty="0"/>
              <a:t> 強調邊傳邊播，播過就丟棄資料</a:t>
            </a:r>
            <a:endParaRPr lang="en-US" altLang="zh-TW" dirty="0"/>
          </a:p>
          <a:p>
            <a:pPr lvl="1"/>
            <a:r>
              <a:rPr lang="en-US" altLang="zh-TW" dirty="0"/>
              <a:t>Real Networks</a:t>
            </a:r>
            <a:r>
              <a:rPr lang="zh-TW" altLang="zh-TW" dirty="0"/>
              <a:t>公司推出的</a:t>
            </a:r>
            <a:r>
              <a:rPr lang="en-US" altLang="zh-TW" dirty="0" err="1"/>
              <a:t>rm</a:t>
            </a:r>
            <a:r>
              <a:rPr lang="zh-TW" altLang="zh-TW" dirty="0"/>
              <a:t>或</a:t>
            </a:r>
            <a:r>
              <a:rPr lang="en-US" altLang="zh-TW" dirty="0"/>
              <a:t>ram</a:t>
            </a:r>
            <a:r>
              <a:rPr lang="zh-TW" altLang="zh-TW" dirty="0"/>
              <a:t>檔</a:t>
            </a:r>
            <a:endParaRPr lang="en-US" altLang="zh-TW" dirty="0"/>
          </a:p>
          <a:p>
            <a:pPr lvl="1"/>
            <a:r>
              <a:rPr lang="zh-TW" altLang="zh-TW" dirty="0"/>
              <a:t>微軟的</a:t>
            </a:r>
            <a:r>
              <a:rPr lang="en-US" altLang="zh-TW" dirty="0" err="1"/>
              <a:t>wmv</a:t>
            </a:r>
            <a:r>
              <a:rPr lang="zh-TW" altLang="zh-TW" dirty="0"/>
              <a:t>檔，蘋果公司的</a:t>
            </a:r>
            <a:r>
              <a:rPr lang="en-US" altLang="zh-TW" dirty="0" err="1"/>
              <a:t>mov</a:t>
            </a:r>
            <a:r>
              <a:rPr lang="zh-TW" altLang="zh-TW" dirty="0" smtClean="0"/>
              <a:t>檔</a:t>
            </a:r>
            <a:endParaRPr lang="en-US" altLang="zh-TW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3.4</a:t>
            </a:r>
            <a:r>
              <a:rPr lang="zh-TW" altLang="en-US" dirty="0"/>
              <a:t>影片的表示與處理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MPEG</a:t>
            </a:r>
            <a:r>
              <a:rPr lang="zh-TW" altLang="zh-TW" dirty="0"/>
              <a:t>影片在壓縮時同時考慮時間與空間上的壓縮</a:t>
            </a:r>
            <a:endParaRPr lang="en-US" altLang="zh-TW" dirty="0"/>
          </a:p>
          <a:p>
            <a:r>
              <a:rPr lang="zh-TW" altLang="zh-TW" dirty="0">
                <a:solidFill>
                  <a:srgbClr val="0070C0"/>
                </a:solidFill>
              </a:rPr>
              <a:t>空間壓縮</a:t>
            </a:r>
            <a:r>
              <a:rPr lang="zh-TW" altLang="zh-TW" dirty="0"/>
              <a:t>指單張畫面的靜止影像壓縮</a:t>
            </a:r>
            <a:r>
              <a:rPr lang="zh-TW" altLang="en-US" dirty="0"/>
              <a:t>，</a:t>
            </a:r>
            <a:r>
              <a:rPr lang="zh-TW" altLang="zh-TW" dirty="0"/>
              <a:t>利用自身畫面相鄰區域的差異性</a:t>
            </a:r>
            <a:endParaRPr lang="en-US" altLang="zh-TW" dirty="0"/>
          </a:p>
          <a:p>
            <a:r>
              <a:rPr lang="zh-TW" altLang="zh-TW" dirty="0">
                <a:solidFill>
                  <a:srgbClr val="0070C0"/>
                </a:solidFill>
              </a:rPr>
              <a:t>時間壓縮</a:t>
            </a:r>
            <a:r>
              <a:rPr lang="zh-TW" altLang="zh-TW" dirty="0"/>
              <a:t>指連續畫面的壓縮</a:t>
            </a:r>
            <a:r>
              <a:rPr lang="zh-TW" altLang="en-US" dirty="0"/>
              <a:t>，</a:t>
            </a:r>
            <a:r>
              <a:rPr lang="zh-TW" altLang="zh-TW" dirty="0"/>
              <a:t>利用前後畫面間的差異性</a:t>
            </a:r>
            <a:endParaRPr lang="en-US" altLang="zh-TW" dirty="0"/>
          </a:p>
          <a:p>
            <a:r>
              <a:rPr lang="zh-TW" altLang="en-US" dirty="0"/>
              <a:t>差異性壓縮原則</a:t>
            </a:r>
            <a:endParaRPr lang="en-US" altLang="zh-TW" dirty="0"/>
          </a:p>
          <a:p>
            <a:pPr lvl="1"/>
            <a:r>
              <a:rPr lang="zh-TW" altLang="zh-TW" dirty="0"/>
              <a:t>數</a:t>
            </a:r>
            <a:r>
              <a:rPr lang="zh-TW" altLang="en-US" u="wavyDbl" dirty="0">
                <a:uFill>
                  <a:solidFill>
                    <a:srgbClr val="0000CC"/>
                  </a:solidFill>
                </a:uFill>
              </a:rPr>
              <a:t>列</a:t>
            </a:r>
            <a:r>
              <a:rPr lang="en-US" altLang="zh-TW" dirty="0"/>
              <a:t>”252 253 252 255”</a:t>
            </a:r>
          </a:p>
          <a:p>
            <a:pPr lvl="1"/>
            <a:r>
              <a:rPr lang="zh-TW" altLang="zh-TW" dirty="0"/>
              <a:t>以第一個數字</a:t>
            </a:r>
            <a:r>
              <a:rPr lang="en-US" altLang="zh-TW" dirty="0"/>
              <a:t>252</a:t>
            </a:r>
            <a:r>
              <a:rPr lang="zh-TW" altLang="zh-TW" dirty="0"/>
              <a:t>為基準</a:t>
            </a:r>
            <a:r>
              <a:rPr lang="zh-TW" altLang="en-US" dirty="0"/>
              <a:t>，</a:t>
            </a:r>
            <a:r>
              <a:rPr lang="zh-TW" altLang="zh-TW" dirty="0"/>
              <a:t>將數列其他的數字均減去基準數，得到</a:t>
            </a:r>
            <a:r>
              <a:rPr lang="en-US" altLang="zh-TW" dirty="0"/>
              <a:t>”252 1 0 3”</a:t>
            </a:r>
          </a:p>
          <a:p>
            <a:pPr lvl="1"/>
            <a:r>
              <a:rPr lang="zh-TW" altLang="zh-TW" dirty="0"/>
              <a:t>差異數值用</a:t>
            </a:r>
            <a:r>
              <a:rPr lang="en-US" altLang="zh-TW" dirty="0"/>
              <a:t>2</a:t>
            </a:r>
            <a:r>
              <a:rPr lang="zh-TW" altLang="zh-TW" dirty="0"/>
              <a:t>個位元即可記錄，比起原先的數字</a:t>
            </a:r>
            <a:r>
              <a:rPr lang="zh-TW" altLang="en-US" dirty="0"/>
              <a:t>均</a:t>
            </a:r>
            <a:r>
              <a:rPr lang="zh-TW" altLang="zh-TW" dirty="0"/>
              <a:t>用</a:t>
            </a:r>
            <a:r>
              <a:rPr lang="en-US" altLang="zh-TW" dirty="0"/>
              <a:t>8</a:t>
            </a:r>
            <a:r>
              <a:rPr lang="zh-TW" altLang="zh-TW" dirty="0"/>
              <a:t>個位元還省空間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3.4</a:t>
            </a:r>
            <a:r>
              <a:rPr lang="zh-TW" altLang="en-US" dirty="0"/>
              <a:t>影片的表示與處理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4000" y="1196752"/>
            <a:ext cx="8568480" cy="3888432"/>
          </a:xfrm>
        </p:spPr>
        <p:txBody>
          <a:bodyPr>
            <a:normAutofit fontScale="92500"/>
          </a:bodyPr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影片的壓縮</a:t>
            </a:r>
            <a:endParaRPr lang="en-US" altLang="zh-TW" b="1" dirty="0" smtClean="0">
              <a:solidFill>
                <a:schemeClr val="accent3"/>
              </a:solidFill>
            </a:endParaRPr>
          </a:p>
          <a:p>
            <a:r>
              <a:rPr lang="en-US" altLang="zh-TW" dirty="0" smtClean="0"/>
              <a:t>MPEG</a:t>
            </a:r>
            <a:r>
              <a:rPr lang="zh-TW" altLang="en-US" dirty="0"/>
              <a:t>的時間壓縮</a:t>
            </a:r>
            <a:endParaRPr lang="en-US" altLang="zh-TW" dirty="0"/>
          </a:p>
          <a:p>
            <a:pPr lvl="1"/>
            <a:r>
              <a:rPr lang="zh-TW" altLang="zh-TW" dirty="0"/>
              <a:t>連續的影片畫面可能來自相同的場景，背景的物體相同，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差異在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主要人物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的姿態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pPr lvl="1"/>
            <a:r>
              <a:rPr lang="zh-TW" altLang="zh-TW" dirty="0"/>
              <a:t>利用畫面影像間的差異性，記錄基準畫面與差異的部分即可</a:t>
            </a:r>
            <a:endParaRPr lang="en-US" altLang="zh-TW" dirty="0"/>
          </a:p>
          <a:p>
            <a:r>
              <a:rPr lang="en-US" altLang="zh-TW" dirty="0"/>
              <a:t>MPEG</a:t>
            </a:r>
            <a:r>
              <a:rPr lang="zh-TW" altLang="zh-TW" dirty="0"/>
              <a:t>壓縮將整個影片切割</a:t>
            </a:r>
            <a:r>
              <a:rPr lang="zh-TW" altLang="zh-TW" dirty="0" smtClean="0"/>
              <a:t>成</a:t>
            </a:r>
            <a:r>
              <a:rPr lang="zh-TW" altLang="en-US" dirty="0" smtClean="0">
                <a:solidFill>
                  <a:srgbClr val="0070C0"/>
                </a:solidFill>
              </a:rPr>
              <a:t>圖像群組</a:t>
            </a:r>
            <a:r>
              <a:rPr lang="en-US" altLang="zh-TW" dirty="0" smtClean="0"/>
              <a:t>(</a:t>
            </a:r>
            <a:r>
              <a:rPr lang="en-US" altLang="zh-TW" dirty="0"/>
              <a:t>Group of Pictures</a:t>
            </a:r>
            <a:r>
              <a:rPr lang="zh-TW" altLang="zh-TW" dirty="0"/>
              <a:t>，</a:t>
            </a:r>
            <a:r>
              <a:rPr lang="en-US" altLang="zh-TW" dirty="0"/>
              <a:t>GOP)</a:t>
            </a:r>
          </a:p>
          <a:p>
            <a:pPr lvl="1"/>
            <a:r>
              <a:rPr lang="zh-TW" altLang="zh-TW" dirty="0"/>
              <a:t>每一群包含三種形式的畫面：</a:t>
            </a:r>
            <a:r>
              <a:rPr lang="en-US" altLang="zh-TW" dirty="0"/>
              <a:t>I</a:t>
            </a:r>
            <a:r>
              <a:rPr lang="zh-TW" altLang="zh-TW" dirty="0"/>
              <a:t>、</a:t>
            </a:r>
            <a:r>
              <a:rPr lang="en-US" altLang="zh-TW" dirty="0"/>
              <a:t>P</a:t>
            </a:r>
            <a:r>
              <a:rPr lang="zh-TW" altLang="zh-TW" dirty="0"/>
              <a:t>與</a:t>
            </a:r>
            <a:r>
              <a:rPr lang="en-US" altLang="zh-TW" dirty="0"/>
              <a:t> B</a:t>
            </a:r>
            <a:r>
              <a:rPr lang="zh-TW" altLang="zh-TW" dirty="0"/>
              <a:t>畫面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3.4</a:t>
            </a:r>
            <a:r>
              <a:rPr lang="zh-TW" altLang="en-US" dirty="0"/>
              <a:t>影片的表示與處理</a:t>
            </a:r>
          </a:p>
        </p:txBody>
      </p:sp>
      <p:pic>
        <p:nvPicPr>
          <p:cNvPr id="60418" name="Picture 2" descr="http://www.tfcc.cn/artimg/2004-9-10_11-21-0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4810044"/>
            <a:ext cx="3168352" cy="187573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4000" y="1195200"/>
            <a:ext cx="8229600" cy="2883775"/>
          </a:xfrm>
        </p:spPr>
        <p:txBody>
          <a:bodyPr>
            <a:normAutofit/>
          </a:bodyPr>
          <a:lstStyle/>
          <a:p>
            <a:r>
              <a:rPr lang="en-US" altLang="zh-TW" dirty="0"/>
              <a:t>I</a:t>
            </a:r>
            <a:r>
              <a:rPr lang="zh-TW" altLang="zh-TW" dirty="0"/>
              <a:t>畫面：內部編碼畫面</a:t>
            </a:r>
            <a:r>
              <a:rPr lang="en-US" altLang="zh-TW" dirty="0"/>
              <a:t> (</a:t>
            </a:r>
            <a:r>
              <a:rPr lang="en-US" altLang="zh-TW" dirty="0" err="1"/>
              <a:t>intracoded</a:t>
            </a:r>
            <a:r>
              <a:rPr lang="en-US" altLang="zh-TW" dirty="0"/>
              <a:t> frame)</a:t>
            </a:r>
            <a:r>
              <a:rPr lang="zh-TW" altLang="zh-TW" dirty="0"/>
              <a:t>，壓縮時只透過自身畫面的空間差異性，</a:t>
            </a:r>
            <a:r>
              <a:rPr lang="zh-TW" altLang="zh-TW" dirty="0" smtClean="0"/>
              <a:t>可</a:t>
            </a:r>
            <a:r>
              <a:rPr lang="zh-TW" altLang="en-US" dirty="0" smtClean="0"/>
              <a:t>作</a:t>
            </a:r>
            <a:r>
              <a:rPr lang="zh-TW" altLang="zh-TW" dirty="0" smtClean="0"/>
              <a:t>為</a:t>
            </a:r>
            <a:r>
              <a:rPr lang="zh-TW" altLang="zh-TW" dirty="0"/>
              <a:t>其他畫面的基準畫面</a:t>
            </a:r>
          </a:p>
          <a:p>
            <a:r>
              <a:rPr lang="en-US" altLang="zh-TW" dirty="0"/>
              <a:t>P</a:t>
            </a:r>
            <a:r>
              <a:rPr lang="zh-TW" altLang="zh-TW" dirty="0"/>
              <a:t>畫面：預測畫面</a:t>
            </a:r>
            <a:r>
              <a:rPr lang="en-US" altLang="zh-TW" dirty="0"/>
              <a:t> (predicted frame)</a:t>
            </a:r>
            <a:r>
              <a:rPr lang="zh-TW" altLang="zh-TW" dirty="0"/>
              <a:t>，會參考前一個</a:t>
            </a:r>
            <a:r>
              <a:rPr lang="en-US" altLang="zh-TW" dirty="0"/>
              <a:t>I</a:t>
            </a:r>
            <a:r>
              <a:rPr lang="zh-TW" altLang="zh-TW" dirty="0"/>
              <a:t>畫面或</a:t>
            </a:r>
            <a:r>
              <a:rPr lang="en-US" altLang="zh-TW" dirty="0"/>
              <a:t>P</a:t>
            </a:r>
            <a:r>
              <a:rPr lang="zh-TW" altLang="zh-TW" dirty="0"/>
              <a:t>畫面，並記錄差異的部分</a:t>
            </a:r>
          </a:p>
          <a:p>
            <a:r>
              <a:rPr lang="en-US" altLang="zh-TW" dirty="0"/>
              <a:t>B</a:t>
            </a:r>
            <a:r>
              <a:rPr lang="zh-TW" altLang="zh-TW" dirty="0"/>
              <a:t>畫面：雙向畫面</a:t>
            </a:r>
            <a:r>
              <a:rPr lang="en-US" altLang="zh-TW" dirty="0"/>
              <a:t> (bidirectional frame)</a:t>
            </a:r>
            <a:r>
              <a:rPr lang="zh-TW" altLang="zh-TW" dirty="0"/>
              <a:t>，會參考前後的</a:t>
            </a:r>
            <a:r>
              <a:rPr lang="en-US" altLang="zh-TW" dirty="0"/>
              <a:t>I</a:t>
            </a:r>
            <a:r>
              <a:rPr lang="zh-TW" altLang="zh-TW" dirty="0"/>
              <a:t>畫面與</a:t>
            </a:r>
            <a:r>
              <a:rPr lang="en-US" altLang="zh-TW" dirty="0"/>
              <a:t>P</a:t>
            </a:r>
            <a:r>
              <a:rPr lang="zh-TW" altLang="zh-TW" dirty="0"/>
              <a:t>畫面，並記錄差異的部分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3.4</a:t>
            </a:r>
            <a:r>
              <a:rPr lang="zh-TW" altLang="en-US" dirty="0"/>
              <a:t>影片的表示與處理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76723" y="3990661"/>
            <a:ext cx="3783509" cy="2246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文字方塊 2"/>
          <p:cNvSpPr txBox="1"/>
          <p:nvPr/>
        </p:nvSpPr>
        <p:spPr>
          <a:xfrm>
            <a:off x="2658816" y="6300028"/>
            <a:ext cx="4001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3.18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MPEG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壓縮參考畫面間的差異</a:t>
            </a:r>
          </a:p>
        </p:txBody>
      </p:sp>
    </p:spTree>
    <p:extLst>
      <p:ext uri="{BB962C8B-B14F-4D97-AF65-F5344CB8AC3E}">
        <p14:creationId xmlns:p14="http://schemas.microsoft.com/office/powerpoint/2010/main" val="3588641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4000" y="1196752"/>
            <a:ext cx="8424464" cy="2883775"/>
          </a:xfrm>
        </p:spPr>
        <p:txBody>
          <a:bodyPr>
            <a:normAutofit/>
          </a:bodyPr>
          <a:lstStyle/>
          <a:p>
            <a:r>
              <a:rPr lang="zh-TW" altLang="en-US" dirty="0"/>
              <a:t>希望機密</a:t>
            </a:r>
            <a:r>
              <a:rPr lang="zh-TW" altLang="zh-TW" dirty="0"/>
              <a:t>資料就只有特定人士看得見，其他人無法閱讀</a:t>
            </a:r>
            <a:endParaRPr lang="en-US" altLang="zh-TW" dirty="0"/>
          </a:p>
          <a:p>
            <a:r>
              <a:rPr lang="zh-TW" altLang="zh-TW" dirty="0"/>
              <a:t>古老的作法是將文件鎖在保險庫中，只有擁有鑰匙的人才可以打開</a:t>
            </a:r>
            <a:endParaRPr lang="en-US" altLang="zh-TW" dirty="0"/>
          </a:p>
          <a:p>
            <a:r>
              <a:rPr lang="zh-TW" altLang="en-US" dirty="0"/>
              <a:t>現在可</a:t>
            </a:r>
            <a:r>
              <a:rPr lang="zh-TW" altLang="zh-TW" dirty="0"/>
              <a:t>運用密碼學技術將資料內容隱藏起來</a:t>
            </a:r>
            <a:endParaRPr lang="en-US" altLang="zh-TW" dirty="0"/>
          </a:p>
          <a:p>
            <a:r>
              <a:rPr lang="zh-TW" altLang="zh-TW" dirty="0"/>
              <a:t>密碼學是一種利用數學方式來對資料</a:t>
            </a:r>
            <a:r>
              <a:rPr lang="zh-TW" altLang="zh-TW" dirty="0">
                <a:solidFill>
                  <a:srgbClr val="0070C0"/>
                </a:solidFill>
              </a:rPr>
              <a:t>加</a:t>
            </a:r>
            <a:r>
              <a:rPr lang="zh-TW" altLang="zh-TW" dirty="0" smtClean="0">
                <a:solidFill>
                  <a:srgbClr val="0070C0"/>
                </a:solidFill>
              </a:rPr>
              <a:t>密</a:t>
            </a:r>
            <a:r>
              <a:rPr lang="en-US" altLang="zh-TW" dirty="0" smtClean="0"/>
              <a:t> (encryption) </a:t>
            </a:r>
            <a:r>
              <a:rPr lang="zh-TW" altLang="zh-TW" dirty="0" smtClean="0"/>
              <a:t>與</a:t>
            </a:r>
            <a:r>
              <a:rPr lang="zh-TW" altLang="zh-TW" dirty="0">
                <a:solidFill>
                  <a:srgbClr val="0070C0"/>
                </a:solidFill>
              </a:rPr>
              <a:t>解</a:t>
            </a:r>
            <a:r>
              <a:rPr lang="zh-TW" altLang="zh-TW" dirty="0" smtClean="0">
                <a:solidFill>
                  <a:srgbClr val="0070C0"/>
                </a:solidFill>
              </a:rPr>
              <a:t>密</a:t>
            </a:r>
            <a:r>
              <a:rPr lang="en-US" altLang="zh-TW" dirty="0" smtClean="0">
                <a:solidFill>
                  <a:srgbClr val="0070C0"/>
                </a:solidFill>
              </a:rPr>
              <a:t> </a:t>
            </a:r>
            <a:r>
              <a:rPr lang="en-US" altLang="zh-TW" dirty="0" smtClean="0"/>
              <a:t>(decryption) </a:t>
            </a:r>
            <a:r>
              <a:rPr lang="zh-TW" altLang="zh-TW" dirty="0" smtClean="0"/>
              <a:t>的</a:t>
            </a:r>
            <a:r>
              <a:rPr lang="zh-TW" altLang="zh-TW" dirty="0"/>
              <a:t>科學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3.5</a:t>
            </a:r>
            <a:r>
              <a:rPr lang="zh-TW" altLang="en-US" dirty="0" smtClean="0"/>
              <a:t>資料</a:t>
            </a:r>
            <a:r>
              <a:rPr lang="zh-TW" altLang="en-US" dirty="0"/>
              <a:t>的加解密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4000" y="1196752"/>
            <a:ext cx="8496472" cy="5040560"/>
          </a:xfrm>
        </p:spPr>
        <p:txBody>
          <a:bodyPr>
            <a:noAutofit/>
          </a:bodyPr>
          <a:lstStyle/>
          <a:p>
            <a:r>
              <a:rPr lang="zh-TW" altLang="zh-TW" dirty="0"/>
              <a:t>基本加密運算方式包含</a:t>
            </a:r>
            <a:r>
              <a:rPr lang="zh-TW" altLang="zh-TW" dirty="0" smtClean="0">
                <a:solidFill>
                  <a:srgbClr val="0070C0"/>
                </a:solidFill>
              </a:rPr>
              <a:t>取代</a:t>
            </a:r>
            <a:r>
              <a:rPr lang="en-US" altLang="zh-TW" dirty="0" smtClean="0"/>
              <a:t> (substitution) </a:t>
            </a:r>
            <a:r>
              <a:rPr lang="zh-TW" altLang="zh-TW" dirty="0" smtClean="0"/>
              <a:t>與</a:t>
            </a:r>
            <a:r>
              <a:rPr lang="zh-TW" altLang="zh-TW" dirty="0">
                <a:solidFill>
                  <a:srgbClr val="0070C0"/>
                </a:solidFill>
              </a:rPr>
              <a:t>換</a:t>
            </a:r>
            <a:r>
              <a:rPr lang="zh-TW" altLang="zh-TW" dirty="0" smtClean="0">
                <a:solidFill>
                  <a:srgbClr val="0070C0"/>
                </a:solidFill>
              </a:rPr>
              <a:t>位</a:t>
            </a:r>
            <a:r>
              <a:rPr lang="en-US" altLang="zh-TW" dirty="0" smtClean="0"/>
              <a:t> (transposition</a:t>
            </a:r>
            <a:r>
              <a:rPr lang="en-US" altLang="zh-TW" dirty="0"/>
              <a:t>)</a:t>
            </a:r>
          </a:p>
          <a:p>
            <a:r>
              <a:rPr lang="zh-TW" altLang="zh-TW" dirty="0" smtClean="0">
                <a:solidFill>
                  <a:srgbClr val="0070C0"/>
                </a:solidFill>
              </a:rPr>
              <a:t>凱撒</a:t>
            </a:r>
            <a:r>
              <a:rPr lang="en-US" altLang="zh-TW" dirty="0" smtClean="0">
                <a:solidFill>
                  <a:srgbClr val="0070C0"/>
                </a:solidFill>
              </a:rPr>
              <a:t> (Caesar) </a:t>
            </a:r>
            <a:r>
              <a:rPr lang="zh-TW" altLang="zh-TW" dirty="0" smtClean="0">
                <a:solidFill>
                  <a:srgbClr val="0070C0"/>
                </a:solidFill>
              </a:rPr>
              <a:t>加</a:t>
            </a:r>
            <a:r>
              <a:rPr lang="zh-TW" altLang="zh-TW" dirty="0">
                <a:solidFill>
                  <a:srgbClr val="0070C0"/>
                </a:solidFill>
              </a:rPr>
              <a:t>密法</a:t>
            </a:r>
            <a:r>
              <a:rPr lang="zh-TW" altLang="zh-TW" dirty="0"/>
              <a:t>，是將每個字母用其後的第三個字母取代</a:t>
            </a:r>
            <a:r>
              <a:rPr lang="zh-TW" altLang="en-US" dirty="0"/>
              <a:t>，</a:t>
            </a:r>
            <a:r>
              <a:rPr lang="zh-TW" altLang="zh-TW" dirty="0"/>
              <a:t>例如：</a:t>
            </a:r>
          </a:p>
          <a:p>
            <a:pPr lvl="1"/>
            <a:r>
              <a:rPr lang="zh-TW" altLang="zh-TW" dirty="0"/>
              <a:t>明文：</a:t>
            </a:r>
            <a:r>
              <a:rPr lang="en-US" altLang="zh-TW" dirty="0"/>
              <a:t>computer</a:t>
            </a:r>
            <a:endParaRPr lang="zh-TW" altLang="zh-TW" dirty="0"/>
          </a:p>
          <a:p>
            <a:pPr lvl="1"/>
            <a:r>
              <a:rPr lang="zh-TW" altLang="zh-TW" dirty="0"/>
              <a:t>密文：</a:t>
            </a:r>
            <a:r>
              <a:rPr lang="en-US" altLang="zh-TW" dirty="0" err="1" smtClean="0"/>
              <a:t>frpsxwhu</a:t>
            </a:r>
            <a:endParaRPr lang="en-US" altLang="zh-TW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3.5</a:t>
            </a:r>
            <a:r>
              <a:rPr lang="zh-TW" altLang="en-US" dirty="0"/>
              <a:t>資料的加解密</a:t>
            </a:r>
          </a:p>
        </p:txBody>
      </p:sp>
    </p:spTree>
    <p:extLst>
      <p:ext uri="{BB962C8B-B14F-4D97-AF65-F5344CB8AC3E}">
        <p14:creationId xmlns:p14="http://schemas.microsoft.com/office/powerpoint/2010/main" val="949969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4000" y="1196752"/>
            <a:ext cx="8424464" cy="5040560"/>
          </a:xfrm>
        </p:spPr>
        <p:txBody>
          <a:bodyPr>
            <a:noAutofit/>
          </a:bodyPr>
          <a:lstStyle/>
          <a:p>
            <a:r>
              <a:rPr lang="zh-TW" altLang="zh-TW" dirty="0" smtClean="0">
                <a:solidFill>
                  <a:srgbClr val="0070C0"/>
                </a:solidFill>
              </a:rPr>
              <a:t>柵欄</a:t>
            </a:r>
            <a:r>
              <a:rPr lang="en-US" altLang="zh-TW" dirty="0" smtClean="0">
                <a:solidFill>
                  <a:srgbClr val="0070C0"/>
                </a:solidFill>
              </a:rPr>
              <a:t> (Rail Fence) </a:t>
            </a:r>
            <a:r>
              <a:rPr lang="zh-TW" altLang="zh-TW" dirty="0" smtClean="0">
                <a:solidFill>
                  <a:srgbClr val="0070C0"/>
                </a:solidFill>
              </a:rPr>
              <a:t>加</a:t>
            </a:r>
            <a:r>
              <a:rPr lang="zh-TW" altLang="zh-TW" dirty="0">
                <a:solidFill>
                  <a:srgbClr val="0070C0"/>
                </a:solidFill>
              </a:rPr>
              <a:t>密法</a:t>
            </a:r>
            <a:r>
              <a:rPr lang="zh-TW" altLang="zh-TW" dirty="0"/>
              <a:t>是利用換位的技巧，例如明文為</a:t>
            </a:r>
            <a:r>
              <a:rPr lang="en-US" altLang="zh-TW" dirty="0"/>
              <a:t>computer</a:t>
            </a:r>
            <a:r>
              <a:rPr lang="zh-TW" altLang="zh-TW" dirty="0"/>
              <a:t>，寫入至</a:t>
            </a:r>
            <a:r>
              <a:rPr lang="en-US" altLang="zh-TW" dirty="0"/>
              <a:t>3</a:t>
            </a:r>
            <a:r>
              <a:rPr lang="zh-TW" altLang="zh-TW" dirty="0"/>
              <a:t>排柵欄時，依據向下斜對角然後向上斜對角反覆進行，如下：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zh-TW" dirty="0" smtClean="0"/>
              <a:t>接著</a:t>
            </a:r>
            <a:r>
              <a:rPr lang="zh-TW" altLang="zh-TW" dirty="0"/>
              <a:t>由左至右逐行讀出得到密文：</a:t>
            </a:r>
            <a:r>
              <a:rPr lang="en-US" altLang="zh-TW" dirty="0" err="1"/>
              <a:t>cuoptrme</a:t>
            </a:r>
            <a:endParaRPr lang="zh-TW" altLang="zh-TW" dirty="0"/>
          </a:p>
          <a:p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3.5</a:t>
            </a:r>
            <a:r>
              <a:rPr lang="zh-TW" altLang="en-US" dirty="0"/>
              <a:t>資料的加解密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2"/>
          <a:srcRect r="44035"/>
          <a:stretch/>
        </p:blipFill>
        <p:spPr>
          <a:xfrm>
            <a:off x="2051720" y="2708920"/>
            <a:ext cx="4989887" cy="154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739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3.5</a:t>
            </a:r>
            <a:r>
              <a:rPr lang="zh-TW" altLang="en-US" dirty="0"/>
              <a:t>資料的加解密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844824"/>
            <a:ext cx="8183325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611560" y="3140968"/>
            <a:ext cx="7488832" cy="900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3705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實際的加解密演算法會混合使用取代與換位，讓密文更加複雜</a:t>
            </a:r>
            <a:r>
              <a:rPr lang="zh-TW" altLang="en-US" dirty="0" smtClean="0"/>
              <a:t>難懂</a:t>
            </a:r>
            <a:r>
              <a:rPr lang="zh-TW" altLang="en-US" dirty="0"/>
              <a:t>。一般加解密演算法的算式本身是公開的資訊，加密文件的保護只</a:t>
            </a:r>
            <a:r>
              <a:rPr lang="zh-TW" altLang="en-US" dirty="0" smtClean="0"/>
              <a:t>來自</a:t>
            </a:r>
            <a:r>
              <a:rPr lang="zh-TW" altLang="en-US" dirty="0"/>
              <a:t>金鑰本身。因此，金鑰必須妥善保管，不能輕易洩漏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如果</a:t>
            </a:r>
            <a:r>
              <a:rPr lang="zh-TW" altLang="en-US" dirty="0"/>
              <a:t>嘗試</a:t>
            </a:r>
            <a:r>
              <a:rPr lang="zh-TW" altLang="en-US" dirty="0" smtClean="0"/>
              <a:t>所有</a:t>
            </a:r>
            <a:r>
              <a:rPr lang="zh-TW" altLang="en-US" dirty="0"/>
              <a:t>可能的金鑰內容破解密文，這稱為暴力攻擊法 </a:t>
            </a:r>
            <a:r>
              <a:rPr lang="en-US" altLang="zh-TW" dirty="0"/>
              <a:t>(brute-force attack)</a:t>
            </a:r>
            <a:r>
              <a:rPr lang="zh-TW" altLang="en-US" dirty="0" smtClean="0"/>
              <a:t>。以</a:t>
            </a:r>
            <a:r>
              <a:rPr lang="zh-TW" altLang="en-US" dirty="0"/>
              <a:t>金鑰長度為 </a:t>
            </a:r>
            <a:r>
              <a:rPr lang="en-US" altLang="zh-TW" dirty="0"/>
              <a:t>10 </a:t>
            </a:r>
            <a:r>
              <a:rPr lang="zh-TW" altLang="en-US" dirty="0"/>
              <a:t>個小寫英文字母為例，可能的金鑰組合有 </a:t>
            </a:r>
            <a:r>
              <a:rPr lang="en-US" altLang="zh-TW" dirty="0"/>
              <a:t>2610 </a:t>
            </a:r>
            <a:r>
              <a:rPr lang="zh-TW" altLang="en-US" dirty="0" smtClean="0"/>
              <a:t>這麼多</a:t>
            </a:r>
            <a:r>
              <a:rPr lang="zh-TW" altLang="en-US" dirty="0"/>
              <a:t>！所以長度越長的金鑰越安全。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3.5</a:t>
            </a:r>
            <a:r>
              <a:rPr lang="zh-TW" altLang="en-US" dirty="0"/>
              <a:t>資料的加解密</a:t>
            </a:r>
          </a:p>
        </p:txBody>
      </p:sp>
    </p:spTree>
    <p:extLst>
      <p:ext uri="{BB962C8B-B14F-4D97-AF65-F5344CB8AC3E}">
        <p14:creationId xmlns:p14="http://schemas.microsoft.com/office/powerpoint/2010/main" val="255086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對稱</a:t>
            </a:r>
            <a:r>
              <a:rPr lang="zh-TW" altLang="en-US" dirty="0" smtClean="0"/>
              <a:t>式加</a:t>
            </a:r>
            <a:r>
              <a:rPr lang="zh-TW" altLang="en-US" dirty="0"/>
              <a:t>解密使用相同的金鑰，處理運算速度較</a:t>
            </a:r>
            <a:r>
              <a:rPr lang="zh-TW" altLang="en-US" dirty="0" smtClean="0"/>
              <a:t>快</a:t>
            </a:r>
            <a:endParaRPr lang="en-US" altLang="zh-TW" dirty="0" smtClean="0"/>
          </a:p>
          <a:p>
            <a:pPr marL="708025" indent="-342900">
              <a:buFont typeface="新細明體" pitchFamily="18" charset="-120"/>
              <a:buChar char="。"/>
            </a:pPr>
            <a:r>
              <a:rPr lang="zh-TW" altLang="en-US" dirty="0" smtClean="0"/>
              <a:t>例如</a:t>
            </a:r>
            <a:r>
              <a:rPr lang="en-US" altLang="zh-TW" dirty="0" smtClean="0"/>
              <a:t>:DES </a:t>
            </a:r>
            <a:r>
              <a:rPr lang="en-US" altLang="zh-TW" dirty="0"/>
              <a:t>(Data Encryption Standard) </a:t>
            </a:r>
            <a:r>
              <a:rPr lang="zh-TW" altLang="en-US" dirty="0"/>
              <a:t>與</a:t>
            </a:r>
            <a:r>
              <a:rPr lang="en-US" altLang="zh-TW" dirty="0"/>
              <a:t>AES (Advanced Encryption Standard</a:t>
            </a:r>
            <a:r>
              <a:rPr lang="en-US" altLang="zh-TW" dirty="0" smtClean="0"/>
              <a:t>)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/>
              <a:t>非對稱式加解密同時使用一對金鑰：公開金鑰 </a:t>
            </a:r>
            <a:r>
              <a:rPr lang="en-US" altLang="zh-TW" dirty="0"/>
              <a:t>(</a:t>
            </a:r>
            <a:r>
              <a:rPr lang="en-US" altLang="zh-TW" dirty="0" err="1" smtClean="0"/>
              <a:t>publickey</a:t>
            </a:r>
            <a:r>
              <a:rPr lang="en-US" altLang="zh-TW" dirty="0"/>
              <a:t>) </a:t>
            </a:r>
            <a:r>
              <a:rPr lang="zh-TW" altLang="en-US" dirty="0"/>
              <a:t>與私密金鑰 </a:t>
            </a:r>
            <a:r>
              <a:rPr lang="en-US" altLang="zh-TW" dirty="0"/>
              <a:t>(private key)</a:t>
            </a:r>
            <a:r>
              <a:rPr lang="zh-TW" altLang="en-US" dirty="0"/>
              <a:t>，加密使用公開金鑰，而解密使用私</a:t>
            </a:r>
            <a:r>
              <a:rPr lang="zh-TW" altLang="en-US" dirty="0" smtClean="0"/>
              <a:t>密金</a:t>
            </a:r>
            <a:r>
              <a:rPr lang="zh-TW" altLang="en-US" dirty="0"/>
              <a:t>鑰 </a:t>
            </a:r>
            <a:r>
              <a:rPr lang="en-US" altLang="zh-TW" dirty="0"/>
              <a:t>( </a:t>
            </a:r>
            <a:r>
              <a:rPr lang="zh-TW" altLang="en-US" dirty="0"/>
              <a:t>註：相反亦可，即加密使用私密金鑰，解密使用公開金鑰，</a:t>
            </a:r>
            <a:r>
              <a:rPr lang="zh-TW" altLang="en-US" dirty="0" smtClean="0"/>
              <a:t>但用途</a:t>
            </a:r>
            <a:r>
              <a:rPr lang="zh-TW" altLang="en-US" dirty="0"/>
              <a:t>不同 </a:t>
            </a:r>
            <a:r>
              <a:rPr lang="en-US" altLang="zh-TW" dirty="0"/>
              <a:t>)</a:t>
            </a:r>
            <a:r>
              <a:rPr lang="zh-TW" altLang="en-US" dirty="0"/>
              <a:t>，整體運算處理速度較慢，但是比對稱式方法</a:t>
            </a:r>
            <a:r>
              <a:rPr lang="zh-TW" altLang="en-US" dirty="0" smtClean="0"/>
              <a:t>安全</a:t>
            </a:r>
            <a:endParaRPr lang="en-US" altLang="zh-TW" dirty="0" smtClean="0"/>
          </a:p>
          <a:p>
            <a:pPr marL="704850" indent="-342900">
              <a:buFont typeface="新細明體" pitchFamily="18" charset="-120"/>
              <a:buChar char="。"/>
            </a:pPr>
            <a:r>
              <a:rPr lang="zh-TW" altLang="en-US" dirty="0" smtClean="0"/>
              <a:t>例如</a:t>
            </a:r>
            <a:r>
              <a:rPr lang="en-US" altLang="zh-TW" dirty="0" smtClean="0"/>
              <a:t>:RSA </a:t>
            </a:r>
            <a:r>
              <a:rPr lang="zh-TW" altLang="en-US" dirty="0" smtClean="0"/>
              <a:t>演算法</a:t>
            </a:r>
            <a:endParaRPr lang="en-US" altLang="zh-TW" dirty="0" smtClean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3.5</a:t>
            </a:r>
            <a:r>
              <a:rPr lang="zh-TW" altLang="en-US" dirty="0"/>
              <a:t>資料的加解密</a:t>
            </a:r>
          </a:p>
        </p:txBody>
      </p:sp>
    </p:spTree>
    <p:extLst>
      <p:ext uri="{BB962C8B-B14F-4D97-AF65-F5344CB8AC3E}">
        <p14:creationId xmlns:p14="http://schemas.microsoft.com/office/powerpoint/2010/main" val="3774750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3.5</a:t>
            </a:r>
            <a:r>
              <a:rPr lang="zh-TW" altLang="en-US" dirty="0"/>
              <a:t>資料的加解密</a:t>
            </a:r>
          </a:p>
        </p:txBody>
      </p:sp>
      <p:pic>
        <p:nvPicPr>
          <p:cNvPr id="4" name="圖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196752"/>
            <a:ext cx="7344816" cy="369902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字方塊 4"/>
          <p:cNvSpPr txBox="1"/>
          <p:nvPr/>
        </p:nvSpPr>
        <p:spPr>
          <a:xfrm>
            <a:off x="2571292" y="5013176"/>
            <a:ext cx="4001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3.19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對稱式與非對稱式加解密運算</a:t>
            </a:r>
          </a:p>
        </p:txBody>
      </p:sp>
    </p:spTree>
    <p:extLst>
      <p:ext uri="{BB962C8B-B14F-4D97-AF65-F5344CB8AC3E}">
        <p14:creationId xmlns:p14="http://schemas.microsoft.com/office/powerpoint/2010/main" val="3790422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非對稱式加密演算法也可以應用於文件的</a:t>
            </a:r>
            <a:r>
              <a:rPr lang="zh-TW" altLang="en-US" dirty="0">
                <a:solidFill>
                  <a:srgbClr val="0070C0"/>
                </a:solidFill>
              </a:rPr>
              <a:t>數位簽章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en-US" altLang="zh-TW" dirty="0" smtClean="0"/>
              <a:t>digital</a:t>
            </a:r>
            <a:r>
              <a:rPr lang="zh-TW" altLang="en-US" dirty="0" smtClean="0"/>
              <a:t> </a:t>
            </a:r>
            <a:r>
              <a:rPr lang="en-US" altLang="zh-TW" dirty="0" smtClean="0"/>
              <a:t>signature</a:t>
            </a:r>
            <a:r>
              <a:rPr lang="en-US" altLang="zh-TW" dirty="0"/>
              <a:t>)</a:t>
            </a:r>
            <a:r>
              <a:rPr lang="zh-TW" altLang="en-US" dirty="0"/>
              <a:t>，就像在紙本文件上蓋上發文單位的證明章一樣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作法</a:t>
            </a:r>
            <a:r>
              <a:rPr lang="zh-TW" altLang="en-US" dirty="0"/>
              <a:t>是</a:t>
            </a:r>
            <a:r>
              <a:rPr lang="zh-TW" altLang="en-US" dirty="0" smtClean="0"/>
              <a:t>利用</a:t>
            </a:r>
            <a:r>
              <a:rPr lang="zh-TW" altLang="en-US" dirty="0"/>
              <a:t>專屬個人或單位組織的私密金鑰加密文件，任何人都可以透過公</a:t>
            </a:r>
            <a:r>
              <a:rPr lang="zh-TW" altLang="en-US" dirty="0" smtClean="0"/>
              <a:t>開金</a:t>
            </a:r>
            <a:r>
              <a:rPr lang="zh-TW" altLang="en-US" dirty="0"/>
              <a:t>鑰解開文件，但重要的是我們可以相信這份文件絕非來自其他人</a:t>
            </a:r>
            <a:r>
              <a:rPr lang="zh-TW" altLang="en-US" dirty="0" smtClean="0"/>
              <a:t>杜撰</a:t>
            </a:r>
            <a:r>
              <a:rPr lang="zh-TW" altLang="en-US" dirty="0"/>
              <a:t>的版本，因為私密金鑰並不公開，擁有者是唯一的。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3.5</a:t>
            </a:r>
            <a:r>
              <a:rPr lang="zh-TW" altLang="en-US" dirty="0"/>
              <a:t>資料的加解密</a:t>
            </a:r>
          </a:p>
        </p:txBody>
      </p:sp>
    </p:spTree>
    <p:extLst>
      <p:ext uri="{BB962C8B-B14F-4D97-AF65-F5344CB8AC3E}">
        <p14:creationId xmlns:p14="http://schemas.microsoft.com/office/powerpoint/2010/main" val="434608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2204864"/>
            <a:ext cx="4293761" cy="2807717"/>
          </a:xfrm>
        </p:spPr>
      </p:pic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END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52340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匯合">
  <a:themeElements>
    <a:clrScheme name="匯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匯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匯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1695</TotalTime>
  <Words>4185</Words>
  <Application>Microsoft Office PowerPoint</Application>
  <PresentationFormat>如螢幕大小 (4:3)</PresentationFormat>
  <Paragraphs>324</Paragraphs>
  <Slides>63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63</vt:i4>
      </vt:variant>
    </vt:vector>
  </HeadingPairs>
  <TitlesOfParts>
    <vt:vector size="64" baseType="lpstr">
      <vt:lpstr>匯合</vt:lpstr>
      <vt:lpstr>     Ch03           資料的表示與處理</vt:lpstr>
      <vt:lpstr>PowerPoint 簡報</vt:lpstr>
      <vt:lpstr>3.1文字的表示與處理</vt:lpstr>
      <vt:lpstr>PowerPoint 簡報</vt:lpstr>
      <vt:lpstr>PowerPoint 簡報</vt:lpstr>
      <vt:lpstr>3.1文字的表示與處理</vt:lpstr>
      <vt:lpstr>3.1文字的表示與處理</vt:lpstr>
      <vt:lpstr>3.1文字的表示與處理</vt:lpstr>
      <vt:lpstr>3.1文字的表示與處理</vt:lpstr>
      <vt:lpstr>3.1文字的表示與處理</vt:lpstr>
      <vt:lpstr>3.1文字的表示與處理</vt:lpstr>
      <vt:lpstr>3.1文字的表示與處理</vt:lpstr>
      <vt:lpstr>3.1文字的表示與處理</vt:lpstr>
      <vt:lpstr>3.1文字的表示與處理</vt:lpstr>
      <vt:lpstr>3.1文字的表示與處理</vt:lpstr>
      <vt:lpstr>3.2聲音的表示與處理</vt:lpstr>
      <vt:lpstr>3.2聲音的表示與處理</vt:lpstr>
      <vt:lpstr>3.2聲音的表示與處理</vt:lpstr>
      <vt:lpstr>3.2聲音的表示與處理</vt:lpstr>
      <vt:lpstr>3.2聲音的表示與處理</vt:lpstr>
      <vt:lpstr>3.2聲音的表示與處理</vt:lpstr>
      <vt:lpstr>3.2聲音的表示與處理</vt:lpstr>
      <vt:lpstr>3.2聲音的表示與處理</vt:lpstr>
      <vt:lpstr>3.2聲音的表示與處理</vt:lpstr>
      <vt:lpstr>3.2聲音的表示與處理</vt:lpstr>
      <vt:lpstr>3.2聲音的表示與處理</vt:lpstr>
      <vt:lpstr>3.2聲音的表示與處理</vt:lpstr>
      <vt:lpstr>PowerPoint 簡報</vt:lpstr>
      <vt:lpstr>3.2聲音的表示與處理</vt:lpstr>
      <vt:lpstr>3.2聲音的表示與處理</vt:lpstr>
      <vt:lpstr>3.2聲音的表示與處理</vt:lpstr>
      <vt:lpstr>3.3影像的表示與處理</vt:lpstr>
      <vt:lpstr>3.3影像的表示與處理</vt:lpstr>
      <vt:lpstr>3.3影像的表示與處理</vt:lpstr>
      <vt:lpstr>3.3影像的表示與處理</vt:lpstr>
      <vt:lpstr>3.3影像的表示與處理</vt:lpstr>
      <vt:lpstr>3.3影像的表示與處理</vt:lpstr>
      <vt:lpstr>3.3影像的表示與處理</vt:lpstr>
      <vt:lpstr>3.3影像的表示與處理</vt:lpstr>
      <vt:lpstr>3.3影像的表示與處理</vt:lpstr>
      <vt:lpstr>3.3影像的表示與處理</vt:lpstr>
      <vt:lpstr>3.3影像的表示與處理</vt:lpstr>
      <vt:lpstr>3.3影像的表示與處理</vt:lpstr>
      <vt:lpstr>3.3影像的表示與處理</vt:lpstr>
      <vt:lpstr>3.3影像的表示與處理</vt:lpstr>
      <vt:lpstr>3.3影像的表示與處理</vt:lpstr>
      <vt:lpstr>3.4影片的表示與處理</vt:lpstr>
      <vt:lpstr>3.4影片的表示與處理</vt:lpstr>
      <vt:lpstr>3.4影片的表示與處理</vt:lpstr>
      <vt:lpstr>3.4影片的表示與處理</vt:lpstr>
      <vt:lpstr>3.4影片的表示與處理</vt:lpstr>
      <vt:lpstr>3.4影片的表示與處理</vt:lpstr>
      <vt:lpstr>3.4影片的表示與處理</vt:lpstr>
      <vt:lpstr>3.4影片的表示與處理</vt:lpstr>
      <vt:lpstr>3.5資料的加解密</vt:lpstr>
      <vt:lpstr>3.5資料的加解密</vt:lpstr>
      <vt:lpstr>3.5資料的加解密</vt:lpstr>
      <vt:lpstr>3.5資料的加解密</vt:lpstr>
      <vt:lpstr>3.5資料的加解密</vt:lpstr>
      <vt:lpstr>3.5資料的加解密</vt:lpstr>
      <vt:lpstr>3.5資料的加解密</vt:lpstr>
      <vt:lpstr>3.5資料的加解密</vt:lpstr>
      <vt:lpstr>THE END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電腦簡介</dc:title>
  <dc:creator>lobird</dc:creator>
  <cp:lastModifiedBy>winx</cp:lastModifiedBy>
  <cp:revision>161</cp:revision>
  <dcterms:created xsi:type="dcterms:W3CDTF">2014-07-06T07:33:00Z</dcterms:created>
  <dcterms:modified xsi:type="dcterms:W3CDTF">2022-06-28T05:31:41Z</dcterms:modified>
</cp:coreProperties>
</file>