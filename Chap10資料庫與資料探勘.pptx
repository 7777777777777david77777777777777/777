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6"/>
  </p:notesMasterIdLst>
  <p:sldIdLst>
    <p:sldId id="256" r:id="rId2"/>
    <p:sldId id="258" r:id="rId3"/>
    <p:sldId id="259" r:id="rId4"/>
    <p:sldId id="260" r:id="rId5"/>
    <p:sldId id="261" r:id="rId6"/>
    <p:sldId id="262" r:id="rId7"/>
    <p:sldId id="284" r:id="rId8"/>
    <p:sldId id="298" r:id="rId9"/>
    <p:sldId id="263" r:id="rId10"/>
    <p:sldId id="264" r:id="rId11"/>
    <p:sldId id="265" r:id="rId12"/>
    <p:sldId id="266" r:id="rId13"/>
    <p:sldId id="318" r:id="rId14"/>
    <p:sldId id="268" r:id="rId15"/>
    <p:sldId id="269" r:id="rId16"/>
    <p:sldId id="270" r:id="rId17"/>
    <p:sldId id="287" r:id="rId18"/>
    <p:sldId id="291" r:id="rId19"/>
    <p:sldId id="272" r:id="rId20"/>
    <p:sldId id="273" r:id="rId21"/>
    <p:sldId id="274" r:id="rId22"/>
    <p:sldId id="275" r:id="rId23"/>
    <p:sldId id="276" r:id="rId24"/>
    <p:sldId id="319" r:id="rId25"/>
    <p:sldId id="278" r:id="rId26"/>
    <p:sldId id="320" r:id="rId27"/>
    <p:sldId id="280" r:id="rId28"/>
    <p:sldId id="321" r:id="rId29"/>
    <p:sldId id="294" r:id="rId30"/>
    <p:sldId id="295" r:id="rId31"/>
    <p:sldId id="296" r:id="rId32"/>
    <p:sldId id="306" r:id="rId33"/>
    <p:sldId id="323" r:id="rId34"/>
    <p:sldId id="309" r:id="rId35"/>
    <p:sldId id="307" r:id="rId36"/>
    <p:sldId id="310" r:id="rId37"/>
    <p:sldId id="317" r:id="rId38"/>
    <p:sldId id="311" r:id="rId39"/>
    <p:sldId id="312" r:id="rId40"/>
    <p:sldId id="313" r:id="rId41"/>
    <p:sldId id="314" r:id="rId42"/>
    <p:sldId id="315" r:id="rId43"/>
    <p:sldId id="324" r:id="rId44"/>
    <p:sldId id="325"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568">
          <p15:clr>
            <a:srgbClr val="A4A3A4"/>
          </p15:clr>
        </p15:guide>
        <p15:guide id="4" orient="horz" pos="890">
          <p15:clr>
            <a:srgbClr val="A4A3A4"/>
          </p15:clr>
        </p15:guide>
        <p15:guide id="5"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a:srgbClr val="FFFFFF"/>
    <a:srgbClr val="00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60"/>
  </p:normalViewPr>
  <p:slideViewPr>
    <p:cSldViewPr>
      <p:cViewPr varScale="1">
        <p:scale>
          <a:sx n="128" d="100"/>
          <a:sy n="128" d="100"/>
        </p:scale>
        <p:origin x="1704" y="176"/>
      </p:cViewPr>
      <p:guideLst>
        <p:guide orient="horz" pos="2160"/>
        <p:guide pos="2880"/>
        <p:guide orient="horz" pos="2568"/>
        <p:guide orient="horz" pos="890"/>
        <p:guide pos="52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9D1D87-676D-41F2-AC15-9F5D7637A5A2}" type="datetimeFigureOut">
              <a:rPr lang="zh-TW" altLang="en-US" smtClean="0"/>
              <a:pPr/>
              <a:t>2024/11/27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B3C2D0-1201-4E06-8787-2B5081952CC0}" type="slidenum">
              <a:rPr lang="zh-TW" altLang="en-US" smtClean="0"/>
              <a:pPr/>
              <a:t>‹#›</a:t>
            </a:fld>
            <a:endParaRPr lang="zh-TW" altLang="en-US"/>
          </a:p>
        </p:txBody>
      </p:sp>
    </p:spTree>
    <p:extLst>
      <p:ext uri="{BB962C8B-B14F-4D97-AF65-F5344CB8AC3E}">
        <p14:creationId xmlns:p14="http://schemas.microsoft.com/office/powerpoint/2010/main" val="2250704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標題 8"/>
          <p:cNvSpPr>
            <a:spLocks noGrp="1"/>
          </p:cNvSpPr>
          <p:nvPr>
            <p:ph type="ctrTitle"/>
          </p:nvPr>
        </p:nvSpPr>
        <p:spPr>
          <a:xfrm>
            <a:off x="688032"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TW" altLang="en-US"/>
              <a:t>按一下以編輯母片標題樣式</a:t>
            </a:r>
            <a:endParaRPr kumimoji="0" lang="en-US"/>
          </a:p>
        </p:txBody>
      </p:sp>
      <p:sp>
        <p:nvSpPr>
          <p:cNvPr id="17" name="副標題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a:t>按一下以編輯母片副標題樣式</a:t>
            </a:r>
            <a:endParaRPr kumimoji="0" lang="en-US"/>
          </a:p>
        </p:txBody>
      </p:sp>
      <p:grpSp>
        <p:nvGrpSpPr>
          <p:cNvPr id="2" name="群組 1"/>
          <p:cNvGrpSpPr/>
          <p:nvPr/>
        </p:nvGrpSpPr>
        <p:grpSpPr>
          <a:xfrm>
            <a:off x="-3765" y="4953000"/>
            <a:ext cx="9147765" cy="1912088"/>
            <a:chOff x="-3765" y="4832896"/>
            <a:chExt cx="9147765" cy="2032192"/>
          </a:xfrm>
        </p:grpSpPr>
        <p:sp>
          <p:nvSpPr>
            <p:cNvPr id="7" name="手繪多邊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手繪多邊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手繪多邊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線接點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版面配置區 29"/>
          <p:cNvSpPr>
            <a:spLocks noGrp="1"/>
          </p:cNvSpPr>
          <p:nvPr>
            <p:ph type="dt" sz="half" idx="10"/>
          </p:nvPr>
        </p:nvSpPr>
        <p:spPr/>
        <p:txBody>
          <a:bodyPr/>
          <a:lstStyle>
            <a:lvl1pPr>
              <a:defRPr>
                <a:solidFill>
                  <a:srgbClr val="FFFFFF"/>
                </a:solidFill>
              </a:defRPr>
            </a:lvl1pPr>
            <a:extLst/>
          </a:lstStyle>
          <a:p>
            <a:endParaRPr lang="en-US" sz="1600" dirty="0"/>
          </a:p>
        </p:txBody>
      </p:sp>
      <p:sp>
        <p:nvSpPr>
          <p:cNvPr id="27" name="投影片編號版面配置區 26"/>
          <p:cNvSpPr>
            <a:spLocks noGrp="1"/>
          </p:cNvSpPr>
          <p:nvPr>
            <p:ph type="sldNum" sz="quarter" idx="12"/>
          </p:nvPr>
        </p:nvSpPr>
        <p:spPr/>
        <p:txBody>
          <a:bodyPr/>
          <a:lstStyle>
            <a:lvl1pPr>
              <a:defRPr>
                <a:solidFill>
                  <a:srgbClr val="FFFFFF"/>
                </a:solidFill>
              </a:defRPr>
            </a:lvl1pPr>
            <a:extLst/>
          </a:lstStyle>
          <a:p>
            <a:fld id="{EA7C8D44-3667-46F6-9772-CC52308E2A7F}" type="slidenum">
              <a:rPr kumimoji="0" lang="en-US" smtClean="0"/>
              <a:pPr/>
              <a:t>‹#›</a:t>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23528" y="980728"/>
            <a:ext cx="8568952" cy="5328592"/>
          </a:xfrm>
        </p:spPr>
        <p:txBody>
          <a:bodyPr>
            <a:normAutofit/>
          </a:bodyPr>
          <a:lstStyle>
            <a:lvl1pPr>
              <a:lnSpc>
                <a:spcPts val="3200"/>
              </a:lnSpc>
              <a:spcBef>
                <a:spcPts val="500"/>
              </a:spcBef>
              <a:spcAft>
                <a:spcPts val="0"/>
              </a:spcAft>
              <a:defRPr sz="2400">
                <a:latin typeface="Times New Roman" pitchFamily="18" charset="0"/>
                <a:ea typeface="標楷體" pitchFamily="65" charset="-120"/>
                <a:cs typeface="Times New Roman" pitchFamily="18" charset="0"/>
              </a:defRPr>
            </a:lvl1pPr>
            <a:lvl2pPr>
              <a:lnSpc>
                <a:spcPts val="3200"/>
              </a:lnSpc>
              <a:spcBef>
                <a:spcPts val="500"/>
              </a:spcBef>
              <a:spcAft>
                <a:spcPts val="0"/>
              </a:spcAft>
              <a:defRPr sz="2400">
                <a:latin typeface="Times New Roman" pitchFamily="18" charset="0"/>
                <a:ea typeface="標楷體" pitchFamily="65" charset="-120"/>
                <a:cs typeface="Times New Roman" pitchFamily="18" charset="0"/>
              </a:defRPr>
            </a:lvl2pPr>
            <a:lvl3pPr>
              <a:lnSpc>
                <a:spcPts val="3200"/>
              </a:lnSpc>
              <a:spcBef>
                <a:spcPts val="500"/>
              </a:spcBef>
              <a:spcAft>
                <a:spcPts val="0"/>
              </a:spcAft>
              <a:defRPr sz="2400">
                <a:latin typeface="Times New Roman" pitchFamily="18" charset="0"/>
                <a:ea typeface="標楷體" pitchFamily="65" charset="-120"/>
                <a:cs typeface="Times New Roman" pitchFamily="18" charset="0"/>
              </a:defRPr>
            </a:lvl3pPr>
            <a:lvl4pPr>
              <a:lnSpc>
                <a:spcPts val="3200"/>
              </a:lnSpc>
              <a:spcBef>
                <a:spcPts val="500"/>
              </a:spcBef>
              <a:spcAft>
                <a:spcPts val="0"/>
              </a:spcAft>
              <a:defRPr sz="2400">
                <a:latin typeface="Times New Roman" pitchFamily="18" charset="0"/>
                <a:ea typeface="標楷體" pitchFamily="65" charset="-120"/>
                <a:cs typeface="Times New Roman" pitchFamily="18" charset="0"/>
              </a:defRPr>
            </a:lvl4pPr>
            <a:lvl5pPr>
              <a:lnSpc>
                <a:spcPts val="3200"/>
              </a:lnSpc>
              <a:spcBef>
                <a:spcPts val="500"/>
              </a:spcBef>
              <a:spcAft>
                <a:spcPts val="0"/>
              </a:spcAft>
              <a:defRPr sz="2400">
                <a:latin typeface="Times New Roman" pitchFamily="18" charset="0"/>
                <a:ea typeface="標楷體" pitchFamily="65" charset="-120"/>
                <a:cs typeface="Times New Roman" pitchFamily="18" charset="0"/>
              </a:defRPr>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sz="1400" dirty="0">
              <a:solidFill>
                <a:schemeClr val="tx2"/>
              </a:solidFill>
            </a:endParaRPr>
          </a:p>
        </p:txBody>
      </p:sp>
      <p:sp>
        <p:nvSpPr>
          <p:cNvPr id="6" name="投影片編號版面配置區 5"/>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7" name="標題 6"/>
          <p:cNvSpPr>
            <a:spLocks noGrp="1"/>
          </p:cNvSpPr>
          <p:nvPr>
            <p:ph type="title"/>
          </p:nvPr>
        </p:nvSpPr>
        <p:spPr>
          <a:xfrm>
            <a:off x="457200" y="130622"/>
            <a:ext cx="8229600" cy="778098"/>
          </a:xfrm>
        </p:spPr>
        <p:txBody>
          <a:bodyPr rtlCol="0">
            <a:normAutofit/>
          </a:bodyPr>
          <a:lstStyle>
            <a:lvl1pPr>
              <a:defRPr sz="3600">
                <a:latin typeface="Times New Roman" pitchFamily="18" charset="0"/>
                <a:ea typeface="標楷體" pitchFamily="65" charset="-120"/>
                <a:cs typeface="Times New Roman" pitchFamily="18" charset="0"/>
              </a:defRPr>
            </a:lvl1pPr>
            <a:extLst/>
          </a:lstStyle>
          <a:p>
            <a:r>
              <a:rPr kumimoji="0" lang="zh-TW" altLang="en-US"/>
              <a:t>按一下以編輯母片標題樣式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Ref idx="1002">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7" name="＞形箭號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形箭號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bg>
      <p:bgRef idx="1002">
        <a:schemeClr val="bg1"/>
      </p:bgRef>
    </p:bg>
    <p:spTree>
      <p:nvGrpSpPr>
        <p:cNvPr id="1" name=""/>
        <p:cNvGrpSpPr/>
        <p:nvPr/>
      </p:nvGrpSpPr>
      <p:grpSpPr>
        <a:xfrm>
          <a:off x="0" y="0"/>
          <a:ext cx="0" cy="0"/>
          <a:chOff x="0" y="0"/>
          <a:chExt cx="0" cy="0"/>
        </a:xfrm>
      </p:grpSpPr>
      <p:sp>
        <p:nvSpPr>
          <p:cNvPr id="3" name="內容版面配置區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endParaRPr lang="en-US"/>
          </a:p>
        </p:txBody>
      </p:sp>
      <p:sp>
        <p:nvSpPr>
          <p:cNvPr id="7" name="投影片編號版面配置區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標題 7"/>
          <p:cNvSpPr>
            <a:spLocks noGrp="1"/>
          </p:cNvSpPr>
          <p:nvPr>
            <p:ph type="title"/>
          </p:nvPr>
        </p:nvSpPr>
        <p:spPr/>
        <p:txBody>
          <a:bodyPr rtlCol="0"/>
          <a:lstStyle/>
          <a:p>
            <a:r>
              <a:rPr kumimoji="0" lang="zh-TW" altLang="en-US"/>
              <a:t>按一下以編輯母片標題樣式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bg>
      <p:bgRef idx="1003">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8229600" cy="1143000"/>
          </a:xfrm>
        </p:spPr>
        <p:txBody>
          <a:bodyPr anchor="ctr"/>
          <a:lstStyle>
            <a:lvl1pPr>
              <a:defRPr/>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7" name="日期版面配置區 6"/>
          <p:cNvSpPr>
            <a:spLocks noGrp="1"/>
          </p:cNvSpPr>
          <p:nvPr>
            <p:ph type="dt" sz="half" idx="10"/>
          </p:nvPr>
        </p:nvSpPr>
        <p:spPr/>
        <p:txBody>
          <a:bodyPr/>
          <a:lstStyle/>
          <a:p>
            <a:endParaRPr lang="en-US"/>
          </a:p>
        </p:txBody>
      </p:sp>
      <p:sp>
        <p:nvSpPr>
          <p:cNvPr id="8" name="頁尾版面配置區 7"/>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9" name="投影片編號版面配置區 8"/>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bg>
      <p:bgRef idx="1002">
        <a:schemeClr val="bg1"/>
      </p:bgRef>
    </p:bg>
    <p:spTree>
      <p:nvGrpSpPr>
        <p:cNvPr id="1" name=""/>
        <p:cNvGrpSpPr/>
        <p:nvPr/>
      </p:nvGrpSpPr>
      <p:grpSpPr>
        <a:xfrm>
          <a:off x="0" y="0"/>
          <a:ext cx="0" cy="0"/>
          <a:chOff x="0" y="0"/>
          <a:chExt cx="0" cy="0"/>
        </a:xfrm>
      </p:grpSpPr>
      <p:sp>
        <p:nvSpPr>
          <p:cNvPr id="3" name="日期版面配置區 2"/>
          <p:cNvSpPr>
            <a:spLocks noGrp="1"/>
          </p:cNvSpPr>
          <p:nvPr>
            <p:ph type="dt" sz="half" idx="10"/>
          </p:nvPr>
        </p:nvSpPr>
        <p:spPr/>
        <p:txBody>
          <a:bodyPr/>
          <a:lstStyle/>
          <a:p>
            <a:endParaRPr lang="en-US"/>
          </a:p>
        </p:txBody>
      </p:sp>
      <p:sp>
        <p:nvSpPr>
          <p:cNvPr id="4" name="頁尾版面配置區 3"/>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5" name="投影片編號版面配置區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標題 5"/>
          <p:cNvSpPr>
            <a:spLocks noGrp="1"/>
          </p:cNvSpPr>
          <p:nvPr>
            <p:ph type="title"/>
          </p:nvPr>
        </p:nvSpPr>
        <p:spPr/>
        <p:txBody>
          <a:bodyPr rtlCol="0"/>
          <a:lstStyle/>
          <a:p>
            <a:r>
              <a:rPr kumimoji="0" lang="zh-TW" altLang="en-US"/>
              <a:t>按一下以編輯母片標題樣式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en-US"/>
          </a:p>
        </p:txBody>
      </p:sp>
      <p:sp>
        <p:nvSpPr>
          <p:cNvPr id="4" name="投影片編號版面配置區 3"/>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bg>
      <p:bgRef idx="1003">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a:xfrm>
            <a:off x="6727032" y="6407944"/>
            <a:ext cx="1920240" cy="365760"/>
          </a:xfrm>
        </p:spPr>
        <p:txBody>
          <a:bodyPr/>
          <a:lstStyle/>
          <a:p>
            <a:endParaRPr lang="en-US"/>
          </a:p>
        </p:txBody>
      </p:sp>
      <p:sp>
        <p:nvSpPr>
          <p:cNvPr id="7" name="投影片編號版面配置區 6"/>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2">
        <a:schemeClr val="bg1"/>
      </p:bgRef>
    </p:bg>
    <p:spTree>
      <p:nvGrpSpPr>
        <p:cNvPr id="1" name=""/>
        <p:cNvGrpSpPr/>
        <p:nvPr/>
      </p:nvGrpSpPr>
      <p:grpSpPr>
        <a:xfrm>
          <a:off x="0" y="0"/>
          <a:ext cx="0" cy="0"/>
          <a:chOff x="0" y="0"/>
          <a:chExt cx="0" cy="0"/>
        </a:xfrm>
      </p:grpSpPr>
      <p:sp>
        <p:nvSpPr>
          <p:cNvPr id="4" name="文字版面配置區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TW" altLang="en-US"/>
              <a:t>按一下以編輯母片文字樣式</a:t>
            </a:r>
          </a:p>
        </p:txBody>
      </p:sp>
      <p:sp>
        <p:nvSpPr>
          <p:cNvPr id="3" name="圖片版面配置區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TW" altLang="en-US"/>
              <a:t>按一下圖示以新增圖片</a:t>
            </a:r>
            <a:endParaRPr kumimoji="0" lang="en-US" dirty="0"/>
          </a:p>
        </p:txBody>
      </p:sp>
      <p:sp>
        <p:nvSpPr>
          <p:cNvPr id="5" name="日期版面配置區 4"/>
          <p:cNvSpPr>
            <a:spLocks noGrp="1"/>
          </p:cNvSpPr>
          <p:nvPr>
            <p:ph type="dt" sz="half" idx="10"/>
          </p:nvPr>
        </p:nvSpPr>
        <p:spPr/>
        <p:txBody>
          <a:bodyPr/>
          <a:lstStyle>
            <a:lvl1pPr>
              <a:defRPr>
                <a:solidFill>
                  <a:schemeClr val="tx1"/>
                </a:solidFill>
              </a:defRPr>
            </a:lvl1pPr>
            <a:extLst/>
          </a:lstStyle>
          <a:p>
            <a:endParaRPr lang="en-US"/>
          </a:p>
        </p:txBody>
      </p:sp>
      <p:sp>
        <p:nvSpPr>
          <p:cNvPr id="7" name="投影片編號版面配置區 6"/>
          <p:cNvSpPr>
            <a:spLocks noGrp="1"/>
          </p:cNvSpPr>
          <p:nvPr>
            <p:ph type="sldNum" sz="quarter" idx="12"/>
          </p:nvPr>
        </p:nvSpPr>
        <p:spPr/>
        <p:txBody>
          <a:bodyPr/>
          <a:lstStyle>
            <a:lvl1pPr>
              <a:defRPr>
                <a:solidFill>
                  <a:schemeClr val="tx1"/>
                </a:solidFill>
              </a:defRPr>
            </a:lvl1pPr>
            <a:extLst/>
          </a:lstStyle>
          <a:p>
            <a:fld id="{EA7C8D44-3667-46F6-9772-CC52308E2A7F}" type="slidenum">
              <a:rPr kumimoji="0" lang="en-US" smtClean="0"/>
              <a:pPr/>
              <a:t>‹#›</a:t>
            </a:fld>
            <a:endParaRPr kumimoji="0" lang="en-US"/>
          </a:p>
        </p:txBody>
      </p:sp>
      <p:sp>
        <p:nvSpPr>
          <p:cNvPr id="2" name="標題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TW" altLang="en-US"/>
              <a:t>按一下以編輯母片標題樣式</a:t>
            </a:r>
            <a:endParaRPr kumimoji="0" lang="en-US"/>
          </a:p>
        </p:txBody>
      </p:sp>
      <p:sp>
        <p:nvSpPr>
          <p:cNvPr id="8" name="手繪多邊形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手繪多邊形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線接點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形箭號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形箭號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1481329"/>
            <a:ext cx="8229600" cy="4386071"/>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44013" y="274640"/>
            <a:ext cx="1777470" cy="5592761"/>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274641"/>
            <a:ext cx="6324600" cy="5592760"/>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手繪多邊形 12"/>
          <p:cNvSpPr>
            <a:spLocks/>
          </p:cNvSpPr>
          <p:nvPr/>
        </p:nvSpPr>
        <p:spPr bwMode="auto">
          <a:xfrm>
            <a:off x="499273" y="6325050"/>
            <a:ext cx="4940624" cy="54096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手繪多邊形 11"/>
          <p:cNvSpPr>
            <a:spLocks/>
          </p:cNvSpPr>
          <p:nvPr/>
        </p:nvSpPr>
        <p:spPr bwMode="auto">
          <a:xfrm>
            <a:off x="485717" y="6324233"/>
            <a:ext cx="3690451" cy="54822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6237311"/>
            <a:ext cx="3402314" cy="634809"/>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線接點 14"/>
          <p:cNvCxnSpPr>
            <a:stCxn id="14" idx="0"/>
          </p:cNvCxnSpPr>
          <p:nvPr/>
        </p:nvCxnSpPr>
        <p:spPr>
          <a:xfrm>
            <a:off x="-6042" y="6237311"/>
            <a:ext cx="3402314" cy="634810"/>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標題版面配置區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TW" altLang="en-US"/>
              <a:t>按一下以編輯母片標題樣式</a:t>
            </a:r>
            <a:endParaRPr kumimoji="0" lang="en-US"/>
          </a:p>
        </p:txBody>
      </p:sp>
      <p:sp>
        <p:nvSpPr>
          <p:cNvPr id="30" name="文字版面配置區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10" name="日期版面配置區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sz="1400" dirty="0">
              <a:solidFill>
                <a:schemeClr val="tx2"/>
              </a:solidFill>
            </a:endParaRPr>
          </a:p>
        </p:txBody>
      </p:sp>
      <p:sp>
        <p:nvSpPr>
          <p:cNvPr id="18" name="投影片編號版面配置區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pic>
        <p:nvPicPr>
          <p:cNvPr id="11" name="Picture 2" descr="E:\LOGO.png"/>
          <p:cNvPicPr>
            <a:picLocks noChangeAspect="1" noChangeArrowheads="1"/>
          </p:cNvPicPr>
          <p:nvPr userDrawn="1"/>
        </p:nvPicPr>
        <p:blipFill>
          <a:blip r:embed="rId14" cstate="print"/>
          <a:srcRect/>
          <a:stretch>
            <a:fillRect/>
          </a:stretch>
        </p:blipFill>
        <p:spPr bwMode="auto">
          <a:xfrm>
            <a:off x="7092280" y="6561384"/>
            <a:ext cx="2066560" cy="324000"/>
          </a:xfrm>
          <a:prstGeom prst="rect">
            <a:avLst/>
          </a:prstGeom>
          <a:noFill/>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4716016" y="827366"/>
            <a:ext cx="3888432" cy="2889666"/>
          </a:xfrm>
        </p:spPr>
        <p:txBody>
          <a:bodyPr>
            <a:normAutofit/>
          </a:bodyPr>
          <a:lstStyle/>
          <a:p>
            <a:r>
              <a:rPr lang="en-US" altLang="zh-TW" sz="4000" dirty="0"/>
              <a:t>Ch10 </a:t>
            </a:r>
            <a:br>
              <a:rPr lang="en-US" altLang="zh-TW" sz="4000" dirty="0"/>
            </a:br>
            <a:r>
              <a:rPr lang="zh-TW" altLang="en-US" dirty="0">
                <a:solidFill>
                  <a:srgbClr val="0070C0"/>
                </a:solidFill>
              </a:rPr>
              <a:t>資料庫與</a:t>
            </a:r>
            <a:br>
              <a:rPr lang="en-US" altLang="zh-TW" dirty="0">
                <a:solidFill>
                  <a:srgbClr val="0070C0"/>
                </a:solidFill>
              </a:rPr>
            </a:br>
            <a:r>
              <a:rPr lang="zh-TW" altLang="en-US" dirty="0">
                <a:solidFill>
                  <a:srgbClr val="0070C0"/>
                </a:solidFill>
              </a:rPr>
              <a:t>資料探勘</a:t>
            </a:r>
          </a:p>
        </p:txBody>
      </p:sp>
      <p:sp>
        <p:nvSpPr>
          <p:cNvPr id="3" name="副標題 2"/>
          <p:cNvSpPr>
            <a:spLocks noGrp="1"/>
          </p:cNvSpPr>
          <p:nvPr>
            <p:ph type="subTitle" idx="1"/>
          </p:nvPr>
        </p:nvSpPr>
        <p:spPr>
          <a:xfrm>
            <a:off x="685800" y="3611607"/>
            <a:ext cx="7630616" cy="1199704"/>
          </a:xfrm>
        </p:spPr>
        <p:txBody>
          <a:bodyPr>
            <a:normAutofit/>
          </a:bodyPr>
          <a:lstStyle/>
          <a:p>
            <a:endParaRPr lang="en-US" altLang="zh-TW" dirty="0"/>
          </a:p>
          <a:p>
            <a:r>
              <a:rPr lang="zh-TW" altLang="en-US" b="1" dirty="0">
                <a:solidFill>
                  <a:schemeClr val="tx1"/>
                </a:solidFill>
              </a:rPr>
              <a:t>李官陵 彭勝龍 羅壽之</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690602"/>
            <a:ext cx="3816424" cy="51866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0070C0"/>
                </a:solidFill>
              </a:rPr>
              <a:t>資料庫系統 </a:t>
            </a:r>
            <a:r>
              <a:rPr lang="en-US" altLang="zh-TW" dirty="0">
                <a:solidFill>
                  <a:srgbClr val="0070C0"/>
                </a:solidFill>
              </a:rPr>
              <a:t>(database system) </a:t>
            </a:r>
            <a:r>
              <a:rPr lang="zh-TW" altLang="en-US" dirty="0"/>
              <a:t>即為數位化資料的儲存系統，使用者與管理者可透過它提供的各種應用程式來存取或管理這些資料。</a:t>
            </a:r>
            <a:endParaRPr lang="en-US" altLang="zh-TW" dirty="0"/>
          </a:p>
          <a:p>
            <a:pPr lvl="1"/>
            <a:r>
              <a:rPr lang="zh-TW" altLang="en-US" dirty="0"/>
              <a:t>一個資料庫系統可視為由</a:t>
            </a:r>
            <a:r>
              <a:rPr lang="zh-TW" altLang="en-US" dirty="0">
                <a:solidFill>
                  <a:srgbClr val="0070C0"/>
                </a:solidFill>
              </a:rPr>
              <a:t>資料庫 </a:t>
            </a:r>
            <a:r>
              <a:rPr lang="en-US" altLang="zh-TW" dirty="0">
                <a:solidFill>
                  <a:srgbClr val="0070C0"/>
                </a:solidFill>
              </a:rPr>
              <a:t>(</a:t>
            </a:r>
            <a:r>
              <a:rPr lang="en-US" altLang="zh-TW" dirty="0" err="1">
                <a:solidFill>
                  <a:srgbClr val="0070C0"/>
                </a:solidFill>
              </a:rPr>
              <a:t>DataBase</a:t>
            </a:r>
            <a:r>
              <a:rPr lang="en-US" altLang="zh-TW" dirty="0">
                <a:solidFill>
                  <a:srgbClr val="0070C0"/>
                </a:solidFill>
              </a:rPr>
              <a:t>, DB) </a:t>
            </a:r>
            <a:r>
              <a:rPr lang="zh-TW" altLang="en-US" dirty="0"/>
              <a:t>以及</a:t>
            </a:r>
            <a:r>
              <a:rPr lang="zh-TW" altLang="en-US" dirty="0">
                <a:solidFill>
                  <a:srgbClr val="0070C0"/>
                </a:solidFill>
              </a:rPr>
              <a:t>資料庫管理系統 </a:t>
            </a:r>
            <a:r>
              <a:rPr lang="en-US" altLang="zh-TW" dirty="0">
                <a:solidFill>
                  <a:srgbClr val="0070C0"/>
                </a:solidFill>
              </a:rPr>
              <a:t>(</a:t>
            </a:r>
            <a:r>
              <a:rPr lang="en-US" altLang="zh-TW" dirty="0" err="1">
                <a:solidFill>
                  <a:srgbClr val="0070C0"/>
                </a:solidFill>
              </a:rPr>
              <a:t>DataBase</a:t>
            </a:r>
            <a:r>
              <a:rPr lang="en-US" altLang="zh-TW" dirty="0">
                <a:solidFill>
                  <a:srgbClr val="0070C0"/>
                </a:solidFill>
              </a:rPr>
              <a:t> Management System, DBMS) </a:t>
            </a:r>
            <a:r>
              <a:rPr lang="zh-TW" altLang="en-US" dirty="0"/>
              <a:t>兩部分所組成。</a:t>
            </a:r>
            <a:endParaRPr lang="en-US" altLang="zh-TW" dirty="0"/>
          </a:p>
          <a:p>
            <a:pPr lvl="2"/>
            <a:r>
              <a:rPr lang="zh-TW" altLang="en-US" dirty="0"/>
              <a:t>資料庫就是將一群相關的資料集合起來並儲存的地方。</a:t>
            </a:r>
            <a:endParaRPr lang="en-US" altLang="zh-TW" dirty="0"/>
          </a:p>
          <a:p>
            <a:pPr lvl="2"/>
            <a:r>
              <a:rPr lang="zh-TW" altLang="en-US" dirty="0"/>
              <a:t>資料庫管理系統就是管理資料庫的軟體，也就是資料庫管理者以及使用者與資料庫間的溝通橋樑。</a:t>
            </a:r>
          </a:p>
        </p:txBody>
      </p:sp>
      <p:sp>
        <p:nvSpPr>
          <p:cNvPr id="4" name="標題 3"/>
          <p:cNvSpPr>
            <a:spLocks noGrp="1"/>
          </p:cNvSpPr>
          <p:nvPr>
            <p:ph type="title"/>
          </p:nvPr>
        </p:nvSpPr>
        <p:spPr/>
        <p:txBody>
          <a:bodyPr/>
          <a:lstStyle/>
          <a:p>
            <a:r>
              <a:rPr lang="en-US" altLang="zh-TW" dirty="0"/>
              <a:t>10.1</a:t>
            </a:r>
            <a:r>
              <a:rPr lang="zh-TW" altLang="en-US" dirty="0"/>
              <a:t>資料庫系統基本概念 </a:t>
            </a:r>
          </a:p>
        </p:txBody>
      </p:sp>
    </p:spTree>
    <p:extLst>
      <p:ext uri="{BB962C8B-B14F-4D97-AF65-F5344CB8AC3E}">
        <p14:creationId xmlns:p14="http://schemas.microsoft.com/office/powerpoint/2010/main" val="198083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10.1</a:t>
            </a:r>
            <a:r>
              <a:rPr lang="zh-TW" altLang="en-US" dirty="0"/>
              <a:t>資料庫系統基本概念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772816"/>
            <a:ext cx="5478066" cy="3619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9744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資料與日俱增，資料的管理就會面臨下列幾個問題：</a:t>
            </a:r>
            <a:endParaRPr lang="en-US" altLang="zh-TW" dirty="0"/>
          </a:p>
          <a:p>
            <a:pPr lvl="1">
              <a:buFont typeface="新細明體" panose="02020500000000000000" pitchFamily="18" charset="-120"/>
              <a:buChar char="。"/>
            </a:pPr>
            <a:r>
              <a:rPr lang="zh-TW" altLang="en-US" b="1" dirty="0"/>
              <a:t>資料重複儲存與不一致的問題</a:t>
            </a:r>
            <a:endParaRPr lang="en-US" altLang="zh-TW" b="1" dirty="0"/>
          </a:p>
          <a:p>
            <a:pPr lvl="2">
              <a:buFont typeface="新細明體" panose="02020500000000000000" pitchFamily="18" charset="-120"/>
              <a:buChar char="·"/>
            </a:pPr>
            <a:r>
              <a:rPr lang="zh-TW" altLang="en-US" dirty="0"/>
              <a:t>在非資料庫系統中，每個應用程式有其各自的檔案，因此資料可能會被重複儲存。</a:t>
            </a:r>
            <a:endParaRPr lang="en-US" altLang="zh-TW" dirty="0"/>
          </a:p>
          <a:p>
            <a:pPr lvl="1">
              <a:buFont typeface="新細明體" panose="02020500000000000000" pitchFamily="18" charset="-120"/>
              <a:buChar char="。"/>
            </a:pPr>
            <a:r>
              <a:rPr lang="zh-TW" altLang="en-US" b="1" dirty="0"/>
              <a:t>資料同時存取時所發生的錯誤問題</a:t>
            </a:r>
            <a:endParaRPr lang="en-US" altLang="zh-TW" b="1" dirty="0"/>
          </a:p>
          <a:p>
            <a:pPr marL="946404" lvl="2" indent="-342900">
              <a:buFont typeface="新細明體" panose="02020500000000000000" pitchFamily="18" charset="-120"/>
              <a:buChar char="·"/>
            </a:pPr>
            <a:r>
              <a:rPr lang="zh-TW" altLang="en-US" dirty="0"/>
              <a:t>當多個應用程式或多個使用者同時修改資料與存取資料時，如果沒將資料管控好，則會發生錯誤。</a:t>
            </a:r>
            <a:endParaRPr lang="en-US" altLang="zh-TW" dirty="0"/>
          </a:p>
          <a:p>
            <a:pPr lvl="1">
              <a:buFont typeface="新細明體" panose="02020500000000000000" pitchFamily="18" charset="-120"/>
              <a:buChar char="。"/>
            </a:pPr>
            <a:r>
              <a:rPr lang="zh-TW" altLang="en-US" b="1" dirty="0"/>
              <a:t>資料使用權限控管的問題</a:t>
            </a:r>
            <a:endParaRPr lang="en-US" altLang="zh-TW" b="1" dirty="0"/>
          </a:p>
          <a:p>
            <a:pPr marL="946404" lvl="2" indent="-342900">
              <a:buFont typeface="新細明體" panose="02020500000000000000" pitchFamily="18" charset="-120"/>
              <a:buChar char="·"/>
            </a:pPr>
            <a:r>
              <a:rPr lang="zh-TW" altLang="en-US" dirty="0"/>
              <a:t>在非資料庫系統中，資料的安全是由個別的應用程式控制。</a:t>
            </a:r>
          </a:p>
        </p:txBody>
      </p:sp>
      <p:sp>
        <p:nvSpPr>
          <p:cNvPr id="4" name="標題 3"/>
          <p:cNvSpPr>
            <a:spLocks noGrp="1"/>
          </p:cNvSpPr>
          <p:nvPr>
            <p:ph type="title"/>
          </p:nvPr>
        </p:nvSpPr>
        <p:spPr/>
        <p:txBody>
          <a:bodyPr/>
          <a:lstStyle/>
          <a:p>
            <a:r>
              <a:rPr lang="en-US" altLang="zh-TW" dirty="0"/>
              <a:t>10.1</a:t>
            </a:r>
            <a:r>
              <a:rPr lang="zh-TW" altLang="en-US" dirty="0"/>
              <a:t>資料庫系統基本概念 </a:t>
            </a:r>
          </a:p>
        </p:txBody>
      </p:sp>
    </p:spTree>
    <p:extLst>
      <p:ext uri="{BB962C8B-B14F-4D97-AF65-F5344CB8AC3E}">
        <p14:creationId xmlns:p14="http://schemas.microsoft.com/office/powerpoint/2010/main" val="20133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3" dur="500"/>
                                        <p:tgtEl>
                                          <p:spTgt spid="2">
                                            <p:txEl>
                                              <p:pRg st="5" end="5"/>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a:buFont typeface="新細明體" panose="02020500000000000000" pitchFamily="18" charset="-120"/>
              <a:buChar char="。"/>
            </a:pPr>
            <a:r>
              <a:rPr lang="zh-TW" altLang="en-US" b="1" dirty="0"/>
              <a:t>資料難以存取的問題 </a:t>
            </a:r>
            <a:endParaRPr lang="en-US" altLang="zh-TW" b="1" dirty="0"/>
          </a:p>
          <a:p>
            <a:pPr marL="946404" lvl="2" indent="-342900">
              <a:buFont typeface="新細明體" panose="02020500000000000000" pitchFamily="18" charset="-120"/>
              <a:buChar char="·"/>
            </a:pPr>
            <a:r>
              <a:rPr lang="zh-TW" altLang="en-US" dirty="0"/>
              <a:t>隨著時間的演進與資訊科技的進步，資料儲存的方式以及慣用程式語言的變化，使得在多年前開發的應用程式沒法存取新的檔案格式資料，而利用新的程式語言開發的程式又無法存取舊的檔案格式。</a:t>
            </a:r>
            <a:endParaRPr lang="en-US" altLang="zh-TW" dirty="0"/>
          </a:p>
        </p:txBody>
      </p:sp>
      <p:sp>
        <p:nvSpPr>
          <p:cNvPr id="4" name="標題 3"/>
          <p:cNvSpPr>
            <a:spLocks noGrp="1"/>
          </p:cNvSpPr>
          <p:nvPr>
            <p:ph type="title"/>
          </p:nvPr>
        </p:nvSpPr>
        <p:spPr/>
        <p:txBody>
          <a:bodyPr/>
          <a:lstStyle/>
          <a:p>
            <a:r>
              <a:rPr lang="en-US" altLang="zh-TW" dirty="0"/>
              <a:t>10.1</a:t>
            </a:r>
            <a:r>
              <a:rPr lang="zh-TW" altLang="en-US" dirty="0"/>
              <a:t>資料庫系統基本概念 </a:t>
            </a:r>
          </a:p>
        </p:txBody>
      </p:sp>
      <p:sp>
        <p:nvSpPr>
          <p:cNvPr id="5" name="文字方塊 4"/>
          <p:cNvSpPr txBox="1"/>
          <p:nvPr/>
        </p:nvSpPr>
        <p:spPr>
          <a:xfrm>
            <a:off x="683568" y="3861048"/>
            <a:ext cx="7776864" cy="1569660"/>
          </a:xfrm>
          <a:prstGeom prst="rect">
            <a:avLst/>
          </a:prstGeom>
          <a:noFill/>
          <a:ln w="19050">
            <a:solidFill>
              <a:srgbClr val="FF0000"/>
            </a:solidFill>
          </a:ln>
        </p:spPr>
        <p:txBody>
          <a:bodyPr wrap="square" rtlCol="0">
            <a:spAutoFit/>
          </a:bodyPr>
          <a:lstStyle/>
          <a:p>
            <a:r>
              <a:rPr lang="zh-TW" altLang="en-US" sz="2400" dirty="0">
                <a:latin typeface="標楷體" pitchFamily="65" charset="-120"/>
                <a:ea typeface="標楷體" pitchFamily="65" charset="-120"/>
              </a:rPr>
              <a:t>在資料庫系統中，資料是有規劃且結構性的儲存在一起，資料的維護、新增與刪除都是由資料庫管理系統負責控制，因此，可減少資料重複儲存，避免不一致性，且</a:t>
            </a:r>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能透過適當的存取角色定義，確保資料存取的安全性。</a:t>
            </a:r>
          </a:p>
        </p:txBody>
      </p:sp>
    </p:spTree>
    <p:extLst>
      <p:ext uri="{BB962C8B-B14F-4D97-AF65-F5344CB8AC3E}">
        <p14:creationId xmlns:p14="http://schemas.microsoft.com/office/powerpoint/2010/main" val="163966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a:t>資料庫技術開始於 </a:t>
            </a:r>
            <a:r>
              <a:rPr lang="en-US" altLang="zh-TW" dirty="0"/>
              <a:t>20 </a:t>
            </a:r>
            <a:r>
              <a:rPr lang="zh-TW" altLang="en-US" dirty="0"/>
              <a:t>世紀 </a:t>
            </a:r>
            <a:r>
              <a:rPr lang="en-US" altLang="zh-TW" dirty="0"/>
              <a:t>60 </a:t>
            </a:r>
            <a:r>
              <a:rPr lang="zh-TW" altLang="en-US" dirty="0"/>
              <a:t>年代末期，其主要目的是有效地管理和存取大量的資料。</a:t>
            </a:r>
            <a:endParaRPr lang="en-US" altLang="zh-TW" dirty="0"/>
          </a:p>
          <a:p>
            <a:r>
              <a:rPr lang="zh-TW" altLang="en-US" dirty="0"/>
              <a:t>為了能有組織有效率的將我們需求的資料儲存於資料庫系統中，我們需要一種能將資料適當表示的方式，稱之為</a:t>
            </a:r>
            <a:r>
              <a:rPr lang="zh-TW" altLang="en-US" dirty="0">
                <a:solidFill>
                  <a:srgbClr val="0070C0"/>
                </a:solidFill>
              </a:rPr>
              <a:t>資料模型 </a:t>
            </a:r>
            <a:r>
              <a:rPr lang="en-US" altLang="zh-TW" dirty="0">
                <a:solidFill>
                  <a:srgbClr val="0070C0"/>
                </a:solidFill>
              </a:rPr>
              <a:t>(data model)</a:t>
            </a:r>
            <a:r>
              <a:rPr lang="zh-TW" altLang="en-US" dirty="0"/>
              <a:t>。</a:t>
            </a:r>
            <a:endParaRPr lang="en-US" altLang="zh-TW" dirty="0"/>
          </a:p>
          <a:p>
            <a:pPr lvl="1"/>
            <a:r>
              <a:rPr lang="zh-TW" altLang="en-US" dirty="0"/>
              <a:t>將現實世界的資料特徵抽象化，用於描述一組資料的概念和定義。</a:t>
            </a:r>
            <a:endParaRPr lang="en-US" altLang="zh-TW" dirty="0"/>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Tree>
    <p:extLst>
      <p:ext uri="{BB962C8B-B14F-4D97-AF65-F5344CB8AC3E}">
        <p14:creationId xmlns:p14="http://schemas.microsoft.com/office/powerpoint/2010/main" val="520434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solidFill>
                  <a:srgbClr val="0070C0"/>
                </a:solidFill>
              </a:rPr>
              <a:t>階層式資料模型 </a:t>
            </a:r>
            <a:r>
              <a:rPr lang="en-US" altLang="zh-TW" b="1" dirty="0">
                <a:solidFill>
                  <a:srgbClr val="0070C0"/>
                </a:solidFill>
              </a:rPr>
              <a:t>(hierarchical data model)</a:t>
            </a:r>
          </a:p>
          <a:p>
            <a:pPr lvl="1"/>
            <a:r>
              <a:rPr lang="zh-TW" altLang="en-US" dirty="0"/>
              <a:t>主要是將一筆一筆的</a:t>
            </a:r>
            <a:r>
              <a:rPr lang="zh-TW" altLang="en-US" dirty="0">
                <a:solidFill>
                  <a:srgbClr val="0070C0"/>
                </a:solidFill>
              </a:rPr>
              <a:t>紀錄 </a:t>
            </a:r>
            <a:r>
              <a:rPr lang="en-US" altLang="zh-TW" dirty="0">
                <a:solidFill>
                  <a:srgbClr val="0070C0"/>
                </a:solidFill>
              </a:rPr>
              <a:t>(record) </a:t>
            </a:r>
            <a:r>
              <a:rPr lang="zh-TW" altLang="en-US" dirty="0"/>
              <a:t>以樹狀結構的方式組織起來，由於樹狀結構的特性，這樣的方式非常適用於一對多的資料組成關係</a:t>
            </a:r>
            <a:endParaRPr lang="en-US" altLang="zh-TW" dirty="0"/>
          </a:p>
          <a:p>
            <a:pPr lvl="1"/>
            <a:r>
              <a:rPr lang="zh-TW" altLang="en-US" dirty="0"/>
              <a:t>由於樹狀結構並不能描述紀錄與紀錄之間的網路連結關係，所以網路式資料模式也被提出討論</a:t>
            </a:r>
            <a:endParaRPr lang="en-US" altLang="zh-TW" dirty="0"/>
          </a:p>
          <a:p>
            <a:r>
              <a:rPr lang="zh-TW" altLang="en-US" b="1" dirty="0">
                <a:solidFill>
                  <a:srgbClr val="0070C0"/>
                </a:solidFill>
              </a:rPr>
              <a:t>網路式資料模型 </a:t>
            </a:r>
            <a:r>
              <a:rPr lang="en-US" altLang="zh-TW" b="1" dirty="0">
                <a:solidFill>
                  <a:srgbClr val="0070C0"/>
                </a:solidFill>
              </a:rPr>
              <a:t>(network data model)</a:t>
            </a:r>
          </a:p>
          <a:p>
            <a:endParaRPr lang="en-US" altLang="zh-TW" dirty="0"/>
          </a:p>
          <a:p>
            <a:endParaRPr lang="zh-TW" altLang="en-US" dirty="0"/>
          </a:p>
          <a:p>
            <a:pPr marL="427038" lvl="1" indent="-342900">
              <a:buFont typeface="Wingdings" panose="05000000000000000000" pitchFamily="2" charset="2"/>
              <a:buChar char="Ø"/>
            </a:pPr>
            <a:endParaRPr lang="en-US" altLang="zh-TW" dirty="0"/>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
        <p:nvSpPr>
          <p:cNvPr id="9" name="文字方塊 8"/>
          <p:cNvSpPr txBox="1"/>
          <p:nvPr/>
        </p:nvSpPr>
        <p:spPr>
          <a:xfrm>
            <a:off x="323528" y="4365104"/>
            <a:ext cx="6552728" cy="1687641"/>
          </a:xfrm>
          <a:prstGeom prst="rect">
            <a:avLst/>
          </a:prstGeom>
          <a:solidFill>
            <a:schemeClr val="accent6">
              <a:lumMod val="20000"/>
              <a:lumOff val="80000"/>
            </a:schemeClr>
          </a:solidFill>
          <a:ln>
            <a:solidFill>
              <a:schemeClr val="tx1"/>
            </a:solidFill>
          </a:ln>
        </p:spPr>
        <p:txBody>
          <a:bodyPr wrap="square" rtlCol="0">
            <a:spAutoFit/>
          </a:bodyPr>
          <a:lstStyle/>
          <a:p>
            <a:pPr>
              <a:lnSpc>
                <a:spcPts val="2400"/>
              </a:lnSpc>
              <a:spcBef>
                <a:spcPts val="500"/>
              </a:spcBef>
            </a:pPr>
            <a:r>
              <a:rPr lang="zh-TW" altLang="en-US" dirty="0"/>
              <a:t>資料模型 </a:t>
            </a:r>
            <a:r>
              <a:rPr lang="en-US" altLang="zh-TW" dirty="0"/>
              <a:t>(data model):</a:t>
            </a:r>
            <a:r>
              <a:rPr lang="zh-TW" altLang="en-US" dirty="0"/>
              <a:t>將現實世界的資料特徵抽象化，用於描述一組資料的概念和定義。</a:t>
            </a:r>
            <a:endParaRPr lang="en-US" altLang="zh-TW" dirty="0"/>
          </a:p>
          <a:p>
            <a:pPr>
              <a:lnSpc>
                <a:spcPts val="2400"/>
              </a:lnSpc>
              <a:spcBef>
                <a:spcPts val="500"/>
              </a:spcBef>
            </a:pPr>
            <a:r>
              <a:rPr lang="zh-TW" altLang="en-US" dirty="0"/>
              <a:t>資料模型是資料庫中資料的存儲方式，也是資料庫技術的核心與基礎，因此，對資料庫系統發展階段的劃分，通常會以資料模型發展演變作為主要依據。</a:t>
            </a:r>
          </a:p>
        </p:txBody>
      </p:sp>
      <p:pic>
        <p:nvPicPr>
          <p:cNvPr id="5" name="圖片 4"/>
          <p:cNvPicPr>
            <a:picLocks noChangeAspect="1"/>
          </p:cNvPicPr>
          <p:nvPr/>
        </p:nvPicPr>
        <p:blipFill>
          <a:blip r:embed="rId2"/>
          <a:stretch>
            <a:fillRect/>
          </a:stretch>
        </p:blipFill>
        <p:spPr>
          <a:xfrm>
            <a:off x="7380312" y="3389587"/>
            <a:ext cx="1076908" cy="1076908"/>
          </a:xfrm>
          <a:prstGeom prst="rect">
            <a:avLst/>
          </a:prstGeom>
        </p:spPr>
      </p:pic>
      <p:pic>
        <p:nvPicPr>
          <p:cNvPr id="6" name="圖片 5"/>
          <p:cNvPicPr>
            <a:picLocks noChangeAspect="1"/>
          </p:cNvPicPr>
          <p:nvPr/>
        </p:nvPicPr>
        <p:blipFill>
          <a:blip r:embed="rId3"/>
          <a:stretch>
            <a:fillRect/>
          </a:stretch>
        </p:blipFill>
        <p:spPr>
          <a:xfrm>
            <a:off x="7164288" y="4797152"/>
            <a:ext cx="1538114" cy="594030"/>
          </a:xfrm>
          <a:prstGeom prst="rect">
            <a:avLst/>
          </a:prstGeom>
        </p:spPr>
      </p:pic>
      <p:pic>
        <p:nvPicPr>
          <p:cNvPr id="7" name="圖片 6"/>
          <p:cNvPicPr>
            <a:picLocks noChangeAspect="1"/>
          </p:cNvPicPr>
          <p:nvPr/>
        </p:nvPicPr>
        <p:blipFill>
          <a:blip r:embed="rId4"/>
          <a:stretch>
            <a:fillRect/>
          </a:stretch>
        </p:blipFill>
        <p:spPr>
          <a:xfrm>
            <a:off x="7308304" y="5373216"/>
            <a:ext cx="1226580" cy="1008112"/>
          </a:xfrm>
          <a:prstGeom prst="rect">
            <a:avLst/>
          </a:prstGeom>
        </p:spPr>
      </p:pic>
    </p:spTree>
    <p:extLst>
      <p:ext uri="{BB962C8B-B14F-4D97-AF65-F5344CB8AC3E}">
        <p14:creationId xmlns:p14="http://schemas.microsoft.com/office/powerpoint/2010/main" val="98581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solidFill>
                  <a:srgbClr val="0070C0"/>
                </a:solidFill>
              </a:rPr>
              <a:t>關聯式資料模型 </a:t>
            </a:r>
            <a:r>
              <a:rPr lang="en-US" altLang="zh-TW" b="1" dirty="0">
                <a:solidFill>
                  <a:srgbClr val="0070C0"/>
                </a:solidFill>
              </a:rPr>
              <a:t>(relational data model)</a:t>
            </a:r>
          </a:p>
          <a:p>
            <a:pPr lvl="1"/>
            <a:r>
              <a:rPr lang="zh-TW" altLang="en-US" dirty="0"/>
              <a:t>到了</a:t>
            </a:r>
            <a:r>
              <a:rPr lang="en-US" altLang="zh-TW" dirty="0"/>
              <a:t>1970 </a:t>
            </a:r>
            <a:r>
              <a:rPr lang="zh-TW" altLang="en-US" dirty="0"/>
              <a:t>年，</a:t>
            </a:r>
            <a:r>
              <a:rPr lang="en-US" altLang="zh-TW" dirty="0" err="1"/>
              <a:t>Codd</a:t>
            </a:r>
            <a:r>
              <a:rPr lang="en-US" altLang="zh-TW" dirty="0"/>
              <a:t> </a:t>
            </a:r>
            <a:r>
              <a:rPr lang="zh-TW" altLang="en-US" dirty="0"/>
              <a:t>博士提出關聯式資料模型 </a:t>
            </a:r>
            <a:r>
              <a:rPr lang="en-US" altLang="zh-TW" dirty="0"/>
              <a:t>(relational data model) </a:t>
            </a:r>
            <a:r>
              <a:rPr lang="zh-TW" altLang="en-US" dirty="0"/>
              <a:t>革新了整個資料庫領域，並大幅地取代了這些早期的模型</a:t>
            </a:r>
            <a:endParaRPr lang="en-US" altLang="zh-TW" b="1" dirty="0">
              <a:solidFill>
                <a:srgbClr val="0070C0"/>
              </a:solidFill>
            </a:endParaRPr>
          </a:p>
          <a:p>
            <a:r>
              <a:rPr lang="zh-TW" altLang="en-US" b="1" dirty="0">
                <a:solidFill>
                  <a:srgbClr val="0070C0"/>
                </a:solidFill>
              </a:rPr>
              <a:t>物件導向式資料庫 </a:t>
            </a:r>
            <a:r>
              <a:rPr lang="en-US" altLang="zh-TW" b="1" dirty="0">
                <a:solidFill>
                  <a:srgbClr val="0070C0"/>
                </a:solidFill>
              </a:rPr>
              <a:t>(object-oriented database)</a:t>
            </a:r>
          </a:p>
          <a:p>
            <a:pPr lvl="1"/>
            <a:r>
              <a:rPr lang="zh-TW" altLang="en-US" dirty="0"/>
              <a:t>以</a:t>
            </a:r>
            <a:r>
              <a:rPr lang="zh-TW" altLang="en-US" b="1" dirty="0"/>
              <a:t>物件 </a:t>
            </a:r>
            <a:r>
              <a:rPr lang="en-US" altLang="zh-TW" b="1" dirty="0"/>
              <a:t>(object) </a:t>
            </a:r>
            <a:r>
              <a:rPr lang="zh-TW" altLang="en-US" dirty="0"/>
              <a:t>為主的資料紀錄方式</a:t>
            </a:r>
            <a:endParaRPr lang="en-US" altLang="zh-TW" b="1" dirty="0">
              <a:solidFill>
                <a:srgbClr val="0070C0"/>
              </a:solidFill>
            </a:endParaRPr>
          </a:p>
          <a:p>
            <a:r>
              <a:rPr lang="zh-TW" altLang="en-US" b="1" dirty="0">
                <a:solidFill>
                  <a:srgbClr val="0070C0"/>
                </a:solidFill>
              </a:rPr>
              <a:t>物件關聯式資料庫 </a:t>
            </a:r>
            <a:r>
              <a:rPr lang="en-US" altLang="zh-TW" b="1" dirty="0">
                <a:solidFill>
                  <a:srgbClr val="0070C0"/>
                </a:solidFill>
              </a:rPr>
              <a:t>(object-relational database)</a:t>
            </a:r>
            <a:endParaRPr lang="zh-TW" altLang="en-US" b="1" dirty="0">
              <a:solidFill>
                <a:srgbClr val="0070C0"/>
              </a:solidFill>
            </a:endParaRPr>
          </a:p>
          <a:p>
            <a:r>
              <a:rPr lang="zh-TW" altLang="en-US" dirty="0"/>
              <a:t>目前最具影響力且廣為被商用資料庫所使用的資料模型仍然是</a:t>
            </a:r>
            <a:r>
              <a:rPr lang="zh-TW" altLang="en-US" b="1" dirty="0"/>
              <a:t>關聯式資料模型</a:t>
            </a:r>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Tree>
    <p:extLst>
      <p:ext uri="{BB962C8B-B14F-4D97-AF65-F5344CB8AC3E}">
        <p14:creationId xmlns:p14="http://schemas.microsoft.com/office/powerpoint/2010/main" val="367304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關聯式資料庫即是藉由分析欲儲存的</a:t>
            </a:r>
            <a:r>
              <a:rPr lang="zh-TW" altLang="en-US" dirty="0">
                <a:solidFill>
                  <a:srgbClr val="0070C0"/>
                </a:solidFill>
              </a:rPr>
              <a:t>實體 </a:t>
            </a:r>
            <a:r>
              <a:rPr lang="en-US" altLang="zh-TW" dirty="0">
                <a:solidFill>
                  <a:srgbClr val="0070C0"/>
                </a:solidFill>
              </a:rPr>
              <a:t>(entity) </a:t>
            </a:r>
            <a:r>
              <a:rPr lang="zh-TW" altLang="en-US" dirty="0"/>
              <a:t>彼此間的</a:t>
            </a:r>
            <a:r>
              <a:rPr lang="zh-TW" altLang="en-US" dirty="0">
                <a:solidFill>
                  <a:srgbClr val="0070C0"/>
                </a:solidFill>
              </a:rPr>
              <a:t>關係 </a:t>
            </a:r>
            <a:r>
              <a:rPr lang="en-US" altLang="zh-TW" dirty="0">
                <a:solidFill>
                  <a:srgbClr val="0070C0"/>
                </a:solidFill>
              </a:rPr>
              <a:t>(relation)</a:t>
            </a:r>
            <a:r>
              <a:rPr lang="zh-TW" altLang="en-US" dirty="0"/>
              <a:t>，進而建構儲存資料模型的方式。</a:t>
            </a:r>
            <a:endParaRPr lang="en-US" altLang="zh-TW" dirty="0"/>
          </a:p>
          <a:p>
            <a:pPr lvl="1"/>
            <a:r>
              <a:rPr lang="zh-TW" altLang="en-US" dirty="0"/>
              <a:t>常常會利用</a:t>
            </a:r>
            <a:r>
              <a:rPr lang="zh-TW" altLang="en-US" dirty="0">
                <a:solidFill>
                  <a:srgbClr val="0070C0"/>
                </a:solidFill>
              </a:rPr>
              <a:t>實體關聯圖 </a:t>
            </a:r>
            <a:r>
              <a:rPr lang="en-US" altLang="zh-TW" dirty="0">
                <a:solidFill>
                  <a:srgbClr val="0070C0"/>
                </a:solidFill>
              </a:rPr>
              <a:t>(Entity Relation Diagram, ER  Diagram) </a:t>
            </a:r>
            <a:r>
              <a:rPr lang="zh-TW" altLang="en-US" dirty="0"/>
              <a:t>的方式作為輔助設計的依據。</a:t>
            </a:r>
            <a:endParaRPr lang="en-US" altLang="zh-TW" dirty="0"/>
          </a:p>
          <a:p>
            <a:pPr lvl="1"/>
            <a:r>
              <a:rPr lang="zh-TW" altLang="en-US" dirty="0"/>
              <a:t>實體關聯圖是</a:t>
            </a:r>
            <a:r>
              <a:rPr lang="en-US" altLang="zh-TW" dirty="0"/>
              <a:t>Peter P.S Chen </a:t>
            </a:r>
            <a:r>
              <a:rPr lang="zh-TW" altLang="en-US" dirty="0"/>
              <a:t>博士於</a:t>
            </a:r>
            <a:r>
              <a:rPr lang="en-US" altLang="zh-TW" dirty="0"/>
              <a:t>1976</a:t>
            </a:r>
            <a:r>
              <a:rPr lang="zh-TW" altLang="en-US" dirty="0"/>
              <a:t>年提出的一套資料庫的設計工具。</a:t>
            </a:r>
            <a:endParaRPr lang="en-US" altLang="zh-TW" dirty="0"/>
          </a:p>
          <a:p>
            <a:pPr lvl="1"/>
            <a:r>
              <a:rPr lang="zh-TW" altLang="en-US" dirty="0"/>
              <a:t>運用真實世界中「事物」、「事物與事物間關係」的觀念，來解釋資料庫中的抽象資料架構。</a:t>
            </a:r>
            <a:endParaRPr lang="en-US" altLang="zh-TW" dirty="0"/>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Tree>
    <p:extLst>
      <p:ext uri="{BB962C8B-B14F-4D97-AF65-F5344CB8AC3E}">
        <p14:creationId xmlns:p14="http://schemas.microsoft.com/office/powerpoint/2010/main" val="1134379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一個選課系統中應該有開授的課程，修課的學生以及開課的老師，因此裡面應該包含了「課程」、「學生」以及「老師」這三個角色</a:t>
            </a:r>
            <a:endParaRPr lang="en-US" altLang="zh-TW" dirty="0"/>
          </a:p>
          <a:p>
            <a:pPr lvl="1"/>
            <a:r>
              <a:rPr lang="zh-TW" altLang="en-US" dirty="0"/>
              <a:t>在實體關聯圖的設計中，這些角色稱之為實體</a:t>
            </a:r>
            <a:endParaRPr lang="en-US" altLang="zh-TW" dirty="0"/>
          </a:p>
          <a:p>
            <a:pPr lvl="1"/>
            <a:r>
              <a:rPr lang="zh-TW" altLang="en-US" dirty="0"/>
              <a:t>同一類型且具有相同特性的物件集合</a:t>
            </a:r>
            <a:endParaRPr lang="en-US" altLang="zh-TW" dirty="0"/>
          </a:p>
          <a:p>
            <a:pPr lvl="1"/>
            <a:r>
              <a:rPr lang="zh-TW" altLang="en-US" dirty="0"/>
              <a:t>在實體關聯圖中，實體是以長形所表示，如圖</a:t>
            </a:r>
            <a:r>
              <a:rPr lang="en-US" altLang="zh-TW" dirty="0"/>
              <a:t>10.2 </a:t>
            </a:r>
            <a:r>
              <a:rPr lang="zh-TW" altLang="en-US" dirty="0"/>
              <a:t>所示。</a:t>
            </a:r>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437112"/>
            <a:ext cx="5659400"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912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每一個實體，我們將感興趣的特性一一列下</a:t>
            </a:r>
            <a:endParaRPr lang="en-US" altLang="zh-TW" dirty="0"/>
          </a:p>
          <a:p>
            <a:pPr lvl="1"/>
            <a:r>
              <a:rPr lang="zh-TW" altLang="en-US" dirty="0"/>
              <a:t>對於學生而言，學號、姓名、性別與系別等是該物件感興趣的特性，而我們會稱這些特性為學生實體的</a:t>
            </a:r>
            <a:r>
              <a:rPr lang="zh-TW" altLang="en-US" dirty="0">
                <a:solidFill>
                  <a:srgbClr val="0070C0"/>
                </a:solidFill>
              </a:rPr>
              <a:t>屬性 </a:t>
            </a:r>
            <a:r>
              <a:rPr lang="en-US" altLang="zh-TW" dirty="0">
                <a:solidFill>
                  <a:srgbClr val="0070C0"/>
                </a:solidFill>
              </a:rPr>
              <a:t>(attribute)</a:t>
            </a:r>
            <a:r>
              <a:rPr lang="zh-TW" altLang="en-US" dirty="0"/>
              <a:t>。</a:t>
            </a:r>
            <a:endParaRPr lang="en-US" altLang="zh-TW" dirty="0"/>
          </a:p>
          <a:p>
            <a:endParaRPr lang="en-US" altLang="zh-TW" dirty="0"/>
          </a:p>
          <a:p>
            <a:r>
              <a:rPr lang="zh-TW" altLang="en-US" dirty="0">
                <a:solidFill>
                  <a:srgbClr val="0070C0"/>
                </a:solidFill>
              </a:rPr>
              <a:t>實體的主鍵 </a:t>
            </a:r>
            <a:r>
              <a:rPr lang="en-US" altLang="zh-TW" dirty="0">
                <a:solidFill>
                  <a:srgbClr val="0070C0"/>
                </a:solidFill>
              </a:rPr>
              <a:t>(primary key)</a:t>
            </a:r>
          </a:p>
          <a:p>
            <a:pPr lvl="1"/>
            <a:r>
              <a:rPr lang="zh-TW" altLang="en-US" dirty="0"/>
              <a:t>由一個或一個以上的屬性所組成，其值組具有唯一性，亦即主鍵的值是不能重複的。</a:t>
            </a:r>
            <a:endParaRPr lang="en-US" altLang="zh-TW" dirty="0"/>
          </a:p>
          <a:p>
            <a:pPr lvl="1"/>
            <a:r>
              <a:rPr lang="zh-TW" altLang="en-US" dirty="0"/>
              <a:t>例如學號可以當成學生的主鍵。</a:t>
            </a:r>
            <a:endParaRPr lang="en-US" altLang="zh-TW" dirty="0"/>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Tree>
    <p:extLst>
      <p:ext uri="{BB962C8B-B14F-4D97-AF65-F5344CB8AC3E}">
        <p14:creationId xmlns:p14="http://schemas.microsoft.com/office/powerpoint/2010/main" val="555617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93" y="1340768"/>
            <a:ext cx="7467413"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6433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10.2</a:t>
            </a:r>
            <a:r>
              <a:rPr lang="zh-TW" altLang="en-US" dirty="0"/>
              <a:t>關聯式資料庫 </a:t>
            </a:r>
          </a:p>
        </p:txBody>
      </p:sp>
      <p:sp>
        <p:nvSpPr>
          <p:cNvPr id="3" name="內容版面配置區 2"/>
          <p:cNvSpPr>
            <a:spLocks noGrp="1"/>
          </p:cNvSpPr>
          <p:nvPr>
            <p:ph idx="1"/>
          </p:nvPr>
        </p:nvSpPr>
        <p:spPr>
          <a:xfrm>
            <a:off x="324000" y="979200"/>
            <a:ext cx="8435280" cy="5330120"/>
          </a:xfrm>
        </p:spPr>
        <p:txBody>
          <a:bodyPr>
            <a:normAutofit/>
          </a:bodyPr>
          <a:lstStyle/>
          <a:p>
            <a:r>
              <a:rPr lang="zh-TW" altLang="en-US" dirty="0"/>
              <a:t>關聯式資料庫即是藉由分析欲儲存的實體彼此間的</a:t>
            </a:r>
            <a:r>
              <a:rPr lang="zh-TW" altLang="en-US" b="1" dirty="0"/>
              <a:t>關係</a:t>
            </a:r>
            <a:endParaRPr lang="en-US" altLang="zh-TW" b="1" dirty="0"/>
          </a:p>
          <a:p>
            <a:pPr lvl="1"/>
            <a:r>
              <a:rPr lang="zh-TW" altLang="en-US" dirty="0">
                <a:solidFill>
                  <a:srgbClr val="0070C0"/>
                </a:solidFill>
              </a:rPr>
              <a:t>多對多 </a:t>
            </a:r>
            <a:r>
              <a:rPr lang="en-US" altLang="zh-TW" dirty="0">
                <a:solidFill>
                  <a:srgbClr val="0070C0"/>
                </a:solidFill>
              </a:rPr>
              <a:t>(many to many) </a:t>
            </a:r>
          </a:p>
          <a:p>
            <a:pPr lvl="2"/>
            <a:r>
              <a:rPr lang="zh-TW" altLang="en-US" dirty="0"/>
              <a:t>例如</a:t>
            </a:r>
            <a:r>
              <a:rPr lang="en-US" altLang="zh-TW" dirty="0"/>
              <a:t>:</a:t>
            </a:r>
            <a:r>
              <a:rPr lang="zh-TW" altLang="en-US" dirty="0"/>
              <a:t>學生與課程之間的關係，一個學生可以修習多門課程，一個課程也可以有多名學生修習</a:t>
            </a:r>
            <a:endParaRPr lang="en-US" altLang="zh-TW" dirty="0"/>
          </a:p>
          <a:p>
            <a:pPr lvl="1"/>
            <a:r>
              <a:rPr lang="zh-TW" altLang="en-US" dirty="0">
                <a:solidFill>
                  <a:srgbClr val="0070C0"/>
                </a:solidFill>
              </a:rPr>
              <a:t>一對多 </a:t>
            </a:r>
            <a:r>
              <a:rPr lang="en-US" altLang="zh-TW" dirty="0">
                <a:solidFill>
                  <a:srgbClr val="0070C0"/>
                </a:solidFill>
              </a:rPr>
              <a:t>(one to many)</a:t>
            </a:r>
          </a:p>
          <a:p>
            <a:pPr lvl="2"/>
            <a:r>
              <a:rPr lang="zh-TW" altLang="en-US" dirty="0"/>
              <a:t>例如</a:t>
            </a:r>
            <a:r>
              <a:rPr lang="en-US" altLang="zh-TW" dirty="0"/>
              <a:t>:</a:t>
            </a:r>
            <a:r>
              <a:rPr lang="zh-TW" altLang="en-US" dirty="0"/>
              <a:t>一個老師可以開設多門課程，但一門課程只能由一個老師開設</a:t>
            </a:r>
            <a:endParaRPr lang="en-US" altLang="zh-TW" dirty="0"/>
          </a:p>
          <a:p>
            <a:r>
              <a:rPr lang="zh-TW" altLang="en-US" dirty="0">
                <a:solidFill>
                  <a:srgbClr val="0070C0"/>
                </a:solidFill>
              </a:rPr>
              <a:t>多對一 </a:t>
            </a:r>
            <a:r>
              <a:rPr lang="en-US" altLang="zh-TW" dirty="0">
                <a:solidFill>
                  <a:srgbClr val="0070C0"/>
                </a:solidFill>
              </a:rPr>
              <a:t>(many to one)</a:t>
            </a:r>
          </a:p>
          <a:p>
            <a:pPr lvl="1"/>
            <a:r>
              <a:rPr lang="zh-TW" altLang="en-US" dirty="0"/>
              <a:t>課程與老師的關係是多對一關係的屬性</a:t>
            </a:r>
            <a:endParaRPr lang="en-US" altLang="zh-TW" dirty="0"/>
          </a:p>
          <a:p>
            <a:r>
              <a:rPr lang="zh-TW" altLang="en-US" dirty="0"/>
              <a:t>學生修習課程後會有學習成績，學習成績是因為修</a:t>
            </a:r>
            <a:r>
              <a:rPr lang="zh-TW" altLang="en-US" dirty="0">
                <a:uFill>
                  <a:solidFill>
                    <a:srgbClr val="0000CC"/>
                  </a:solidFill>
                </a:uFill>
              </a:rPr>
              <a:t>習</a:t>
            </a:r>
            <a:r>
              <a:rPr lang="zh-TW" altLang="en-US" dirty="0"/>
              <a:t>關係的成立而擁有的屬性。</a:t>
            </a:r>
          </a:p>
          <a:p>
            <a:pPr marL="630936" lvl="2" indent="0">
              <a:buNone/>
            </a:pPr>
            <a:endParaRPr lang="en-US" altLang="zh-TW" dirty="0"/>
          </a:p>
        </p:txBody>
      </p:sp>
    </p:spTree>
    <p:extLst>
      <p:ext uri="{BB962C8B-B14F-4D97-AF65-F5344CB8AC3E}">
        <p14:creationId xmlns:p14="http://schemas.microsoft.com/office/powerpoint/2010/main" val="2752733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980728"/>
            <a:ext cx="6379888"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字方塊 5"/>
          <p:cNvSpPr txBox="1"/>
          <p:nvPr/>
        </p:nvSpPr>
        <p:spPr>
          <a:xfrm>
            <a:off x="2843808" y="2708920"/>
            <a:ext cx="360040" cy="307777"/>
          </a:xfrm>
          <a:prstGeom prst="rect">
            <a:avLst/>
          </a:prstGeom>
          <a:solidFill>
            <a:srgbClr val="FFFFFF"/>
          </a:solidFill>
        </p:spPr>
        <p:txBody>
          <a:bodyPr wrap="square" rtlCol="0">
            <a:spAutoFit/>
          </a:bodyPr>
          <a:lstStyle/>
          <a:p>
            <a:r>
              <a:rPr lang="zh-TW" altLang="en-US" sz="1400" dirty="0"/>
              <a:t>１</a:t>
            </a:r>
          </a:p>
        </p:txBody>
      </p:sp>
    </p:spTree>
    <p:extLst>
      <p:ext uri="{BB962C8B-B14F-4D97-AF65-F5344CB8AC3E}">
        <p14:creationId xmlns:p14="http://schemas.microsoft.com/office/powerpoint/2010/main" val="1100012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在關聯式資料庫中，儲存這些資料的結構稱之為</a:t>
            </a:r>
            <a:r>
              <a:rPr lang="zh-TW" altLang="en-US" dirty="0">
                <a:solidFill>
                  <a:srgbClr val="0070C0"/>
                </a:solidFill>
              </a:rPr>
              <a:t>關聯 </a:t>
            </a:r>
            <a:r>
              <a:rPr lang="en-US" altLang="zh-TW" dirty="0">
                <a:solidFill>
                  <a:srgbClr val="0070C0"/>
                </a:solidFill>
              </a:rPr>
              <a:t>(relation)</a:t>
            </a:r>
            <a:r>
              <a:rPr lang="zh-TW" altLang="en-US" dirty="0"/>
              <a:t>，你可以將關聯想成是表格，而表格的欄位就是屬性。</a:t>
            </a:r>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924944"/>
            <a:ext cx="8712968" cy="2455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2976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透過上述的五個表格，就可以回答各式各樣的問題了。</a:t>
            </a:r>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412776"/>
            <a:ext cx="502984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2292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範例</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3789040"/>
            <a:ext cx="8569325" cy="2414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052736"/>
            <a:ext cx="502984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4427984" y="476672"/>
            <a:ext cx="4392488" cy="369332"/>
          </a:xfrm>
          <a:prstGeom prst="rect">
            <a:avLst/>
          </a:prstGeom>
          <a:solidFill>
            <a:schemeClr val="accent3">
              <a:lumMod val="20000"/>
              <a:lumOff val="80000"/>
            </a:schemeClr>
          </a:solidFill>
        </p:spPr>
        <p:txBody>
          <a:bodyPr wrap="square" rtlCol="0">
            <a:spAutoFit/>
          </a:bodyPr>
          <a:lstStyle/>
          <a:p>
            <a:r>
              <a:rPr lang="zh-TW" altLang="en-US" dirty="0"/>
              <a:t>找出修習計算機概論學生的姓名與系別</a:t>
            </a:r>
          </a:p>
        </p:txBody>
      </p:sp>
      <p:sp>
        <p:nvSpPr>
          <p:cNvPr id="6" name="圓角矩形 5"/>
          <p:cNvSpPr/>
          <p:nvPr/>
        </p:nvSpPr>
        <p:spPr>
          <a:xfrm>
            <a:off x="5273511" y="4725144"/>
            <a:ext cx="1008112"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p:cNvCxnSpPr/>
          <p:nvPr/>
        </p:nvCxnSpPr>
        <p:spPr>
          <a:xfrm flipH="1">
            <a:off x="7092280" y="4725144"/>
            <a:ext cx="216024" cy="144016"/>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4196289" y="2132856"/>
            <a:ext cx="216024" cy="144016"/>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H="1">
            <a:off x="4211960" y="2780928"/>
            <a:ext cx="216024" cy="144016"/>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4" name="圓角矩形 13"/>
          <p:cNvSpPr/>
          <p:nvPr/>
        </p:nvSpPr>
        <p:spPr>
          <a:xfrm>
            <a:off x="2555776" y="2708920"/>
            <a:ext cx="1008112"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圓角矩形 14"/>
          <p:cNvSpPr/>
          <p:nvPr/>
        </p:nvSpPr>
        <p:spPr>
          <a:xfrm>
            <a:off x="2555776" y="2060848"/>
            <a:ext cx="1008112" cy="2880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圓角矩形 15"/>
          <p:cNvSpPr/>
          <p:nvPr/>
        </p:nvSpPr>
        <p:spPr>
          <a:xfrm>
            <a:off x="3311860" y="4725144"/>
            <a:ext cx="1836204" cy="5040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單箭頭接點 16"/>
          <p:cNvCxnSpPr/>
          <p:nvPr/>
        </p:nvCxnSpPr>
        <p:spPr>
          <a:xfrm>
            <a:off x="2590642" y="4977172"/>
            <a:ext cx="215504" cy="180020"/>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2661108" y="4671138"/>
            <a:ext cx="210664" cy="252028"/>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039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資料庫內用的表格越多，在查詢處理時，要參考的表格也會變多。</a:t>
            </a:r>
            <a:endParaRPr lang="en-US" altLang="zh-TW" dirty="0"/>
          </a:p>
          <a:p>
            <a:r>
              <a:rPr lang="zh-TW" altLang="en-US" dirty="0"/>
              <a:t>如何在不影響資料表示能力的情形下，減少表格的個數</a:t>
            </a:r>
            <a:r>
              <a:rPr lang="en-US" altLang="zh-TW" dirty="0"/>
              <a:t>?</a:t>
            </a:r>
          </a:p>
          <a:p>
            <a:pPr lvl="1"/>
            <a:r>
              <a:rPr lang="zh-TW" altLang="en-US" dirty="0"/>
              <a:t>老師與課程的關係是一對多的關係</a:t>
            </a:r>
            <a:endParaRPr lang="en-US" altLang="zh-TW" dirty="0"/>
          </a:p>
          <a:p>
            <a:pPr lvl="2"/>
            <a:r>
              <a:rPr lang="zh-TW" altLang="en-US" dirty="0"/>
              <a:t>其中的課程代號不會重複出現的</a:t>
            </a:r>
            <a:endParaRPr lang="en-US" altLang="zh-TW" dirty="0"/>
          </a:p>
          <a:p>
            <a:pPr lvl="2"/>
            <a:r>
              <a:rPr lang="zh-TW" altLang="en-US" dirty="0"/>
              <a:t>只要將課程表格多加一個老師代號的欄位，即可表示該門課是由哪位老師開課，可以省去開設的表格！</a:t>
            </a:r>
            <a:endParaRPr lang="en-US" altLang="zh-TW" dirty="0"/>
          </a:p>
          <a:p>
            <a:pPr lvl="1"/>
            <a:r>
              <a:rPr lang="zh-TW" altLang="en-US" dirty="0"/>
              <a:t>只有在</a:t>
            </a:r>
            <a:r>
              <a:rPr lang="zh-TW" altLang="en-US" b="1" dirty="0"/>
              <a:t>一對多</a:t>
            </a:r>
            <a:r>
              <a:rPr lang="zh-TW" altLang="en-US" dirty="0"/>
              <a:t>或</a:t>
            </a:r>
            <a:r>
              <a:rPr lang="zh-TW" altLang="en-US" b="1" dirty="0"/>
              <a:t>一對一 </a:t>
            </a:r>
            <a:r>
              <a:rPr lang="zh-TW" altLang="en-US" dirty="0"/>
              <a:t>的情況下適用</a:t>
            </a:r>
            <a:endParaRPr lang="en-US" altLang="zh-TW" dirty="0"/>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spTree>
    <p:extLst>
      <p:ext uri="{BB962C8B-B14F-4D97-AF65-F5344CB8AC3E}">
        <p14:creationId xmlns:p14="http://schemas.microsoft.com/office/powerpoint/2010/main" val="728354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061" y="980728"/>
            <a:ext cx="5675877"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a:extLst>
              <a:ext uri="{FF2B5EF4-FFF2-40B4-BE49-F238E27FC236}">
                <a16:creationId xmlns:a16="http://schemas.microsoft.com/office/drawing/2014/main" id="{20788F26-BDED-C487-1263-ECB31041F5C8}"/>
              </a:ext>
            </a:extLst>
          </p:cNvPr>
          <p:cNvSpPr txBox="1"/>
          <p:nvPr/>
        </p:nvSpPr>
        <p:spPr>
          <a:xfrm>
            <a:off x="3851920" y="3321858"/>
            <a:ext cx="4586908" cy="646331"/>
          </a:xfrm>
          <a:prstGeom prst="rect">
            <a:avLst/>
          </a:prstGeom>
          <a:noFill/>
        </p:spPr>
        <p:txBody>
          <a:bodyPr wrap="square">
            <a:spAutoFit/>
          </a:bodyPr>
          <a:lstStyle/>
          <a:p>
            <a:r>
              <a:rPr lang="zh-TW" altLang="en-US" b="0" i="0" dirty="0">
                <a:solidFill>
                  <a:srgbClr val="1F1F1F"/>
                </a:solidFill>
                <a:effectLst/>
                <a:latin typeface="Arial" panose="020B0604020202020204" pitchFamily="34" charset="0"/>
              </a:rPr>
              <a:t>當做屬性以建立彼此的關聯，而這個屬性就是</a:t>
            </a:r>
            <a:r>
              <a:rPr lang="zh-TW" altLang="en-US" b="0" i="0" dirty="0">
                <a:solidFill>
                  <a:srgbClr val="040C28"/>
                </a:solidFill>
                <a:effectLst/>
                <a:latin typeface="Arial" panose="020B0604020202020204" pitchFamily="34" charset="0"/>
              </a:rPr>
              <a:t>外來鍵</a:t>
            </a:r>
            <a:endParaRPr lang="zh-TW" altLang="en-US" dirty="0"/>
          </a:p>
        </p:txBody>
      </p:sp>
    </p:spTree>
    <p:extLst>
      <p:ext uri="{BB962C8B-B14F-4D97-AF65-F5344CB8AC3E}">
        <p14:creationId xmlns:p14="http://schemas.microsoft.com/office/powerpoint/2010/main" val="1640519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通常為了簡化描述的方式，我們會以</a:t>
            </a:r>
            <a:r>
              <a:rPr lang="zh-TW" altLang="en-US" dirty="0">
                <a:solidFill>
                  <a:srgbClr val="0070C0"/>
                </a:solidFill>
              </a:rPr>
              <a:t>關聯表綱要 </a:t>
            </a:r>
            <a:r>
              <a:rPr lang="en-US" altLang="zh-TW" dirty="0">
                <a:solidFill>
                  <a:srgbClr val="0070C0"/>
                </a:solidFill>
              </a:rPr>
              <a:t>(relation schema) </a:t>
            </a:r>
            <a:r>
              <a:rPr lang="zh-TW" altLang="en-US" dirty="0"/>
              <a:t>的方式表示在資料庫中有哪些關聯。</a:t>
            </a:r>
          </a:p>
        </p:txBody>
      </p:sp>
      <p:sp>
        <p:nvSpPr>
          <p:cNvPr id="4" name="標題 3"/>
          <p:cNvSpPr>
            <a:spLocks noGrp="1"/>
          </p:cNvSpPr>
          <p:nvPr>
            <p:ph type="title"/>
          </p:nvPr>
        </p:nvSpPr>
        <p:spPr/>
        <p:txBody>
          <a:bodyPr/>
          <a:lstStyle/>
          <a:p>
            <a:r>
              <a:rPr lang="en-US" altLang="zh-TW" dirty="0"/>
              <a:t>10.2</a:t>
            </a:r>
            <a:r>
              <a:rPr lang="zh-TW" altLang="en-US" dirty="0"/>
              <a:t>關聯式資料庫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564904"/>
            <a:ext cx="7010156"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0390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標準的關聯式資料庫使用的查詢語言稱為</a:t>
            </a:r>
            <a:r>
              <a:rPr lang="zh-TW" altLang="en-US" dirty="0">
                <a:solidFill>
                  <a:srgbClr val="0070C0"/>
                </a:solidFill>
              </a:rPr>
              <a:t>結構化查詢語言  </a:t>
            </a:r>
            <a:r>
              <a:rPr lang="en-US" altLang="zh-TW" dirty="0">
                <a:solidFill>
                  <a:srgbClr val="0070C0"/>
                </a:solidFill>
              </a:rPr>
              <a:t>(Structured Query Language, SQL)</a:t>
            </a:r>
            <a:r>
              <a:rPr lang="zh-TW" altLang="en-US" dirty="0"/>
              <a:t>。</a:t>
            </a:r>
          </a:p>
        </p:txBody>
      </p:sp>
      <p:sp>
        <p:nvSpPr>
          <p:cNvPr id="4" name="標題 3"/>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010" y="2780927"/>
            <a:ext cx="5394598" cy="1845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9954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t>範例一 </a:t>
            </a:r>
            <a:endParaRPr lang="en-US" altLang="zh-TW" b="1" dirty="0"/>
          </a:p>
          <a:p>
            <a:r>
              <a:rPr lang="zh-TW" altLang="en-US" dirty="0"/>
              <a:t>在選課資料庫中，我想要找出所有資工系學生的姓名與性別，查詢語言要怎麼寫呢？</a:t>
            </a:r>
            <a:endParaRPr lang="en-US" altLang="zh-TW" dirty="0"/>
          </a:p>
          <a:p>
            <a:pPr lvl="1"/>
            <a:r>
              <a:rPr lang="zh-TW" altLang="en-US" dirty="0"/>
              <a:t>要展示的屬性是學生的姓名與性別</a:t>
            </a:r>
            <a:endParaRPr lang="en-US" altLang="zh-TW" dirty="0"/>
          </a:p>
          <a:p>
            <a:pPr lvl="1"/>
            <a:r>
              <a:rPr lang="zh-TW" altLang="en-US" dirty="0"/>
              <a:t>查詢條件是跟系別有關</a:t>
            </a:r>
            <a:endParaRPr lang="en-US" altLang="zh-TW" dirty="0"/>
          </a:p>
          <a:p>
            <a:pPr lvl="1"/>
            <a:r>
              <a:rPr lang="zh-TW" altLang="en-US" dirty="0"/>
              <a:t>查詢條件「系別 </a:t>
            </a:r>
            <a:r>
              <a:rPr lang="en-US" altLang="zh-TW" dirty="0"/>
              <a:t>= </a:t>
            </a:r>
            <a:r>
              <a:rPr lang="zh-TW" altLang="en-US" dirty="0"/>
              <a:t>資工」</a:t>
            </a:r>
          </a:p>
        </p:txBody>
      </p:sp>
      <p:sp>
        <p:nvSpPr>
          <p:cNvPr id="4" name="標題 3"/>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3933056"/>
            <a:ext cx="7194791" cy="2446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9475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052735"/>
            <a:ext cx="3914819" cy="21918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0743" y="3501008"/>
            <a:ext cx="3680788"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5411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標題 2"/>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288" y="1124744"/>
            <a:ext cx="8258176" cy="4681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809930" y="2996952"/>
            <a:ext cx="7632848" cy="25202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6182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23528" y="1267200"/>
            <a:ext cx="8568952" cy="5026563"/>
          </a:xfrm>
        </p:spPr>
        <p:txBody>
          <a:bodyPr>
            <a:normAutofit/>
          </a:bodyPr>
          <a:lstStyle/>
          <a:p>
            <a:pPr marL="109728" indent="0">
              <a:buNone/>
            </a:pPr>
            <a:r>
              <a:rPr lang="zh-TW" altLang="en-US" b="1" dirty="0"/>
              <a:t>範例二</a:t>
            </a:r>
            <a:endParaRPr lang="en-US" altLang="zh-TW" b="1" dirty="0"/>
          </a:p>
          <a:p>
            <a:r>
              <a:rPr lang="zh-TW" altLang="en-US" dirty="0"/>
              <a:t>我想要找出趙依老師開設的課程名稱，</a:t>
            </a:r>
            <a:r>
              <a:rPr lang="en-US" altLang="zh-TW" dirty="0"/>
              <a:t>SQL </a:t>
            </a:r>
            <a:r>
              <a:rPr lang="zh-TW" altLang="en-US" dirty="0"/>
              <a:t>該怎麼寫呢？</a:t>
            </a:r>
            <a:endParaRPr lang="en-US" altLang="zh-TW" dirty="0"/>
          </a:p>
          <a:p>
            <a:pPr lvl="1"/>
            <a:r>
              <a:rPr lang="zh-TW" altLang="en-US" dirty="0"/>
              <a:t>用到老師的姓名，以及課程名稱兩個欄位，而這些欄位分別屬於老師表格與課程表格。</a:t>
            </a:r>
            <a:endParaRPr lang="en-US" altLang="zh-TW" dirty="0"/>
          </a:p>
          <a:p>
            <a:pPr lvl="1"/>
            <a:r>
              <a:rPr lang="zh-TW" altLang="en-US" dirty="0"/>
              <a:t>查詢需求是趙依老師開設的課程名稱，因此查詢條件除了老師姓名要等於趙依之外，我們還須要加上「老師</a:t>
            </a:r>
            <a:r>
              <a:rPr lang="en-US" altLang="zh-TW" dirty="0"/>
              <a:t>.</a:t>
            </a:r>
            <a:r>
              <a:rPr lang="zh-TW" altLang="en-US" dirty="0"/>
              <a:t>老師代號 </a:t>
            </a:r>
            <a:r>
              <a:rPr lang="en-US" altLang="zh-TW" dirty="0"/>
              <a:t>= </a:t>
            </a:r>
            <a:r>
              <a:rPr lang="zh-TW" altLang="en-US" dirty="0"/>
              <a:t>課程</a:t>
            </a:r>
            <a:r>
              <a:rPr lang="en-US" altLang="zh-TW" dirty="0"/>
              <a:t>.</a:t>
            </a:r>
            <a:r>
              <a:rPr lang="zh-TW" altLang="en-US" dirty="0"/>
              <a:t>老師代號」條件</a:t>
            </a:r>
          </a:p>
        </p:txBody>
      </p:sp>
      <p:sp>
        <p:nvSpPr>
          <p:cNvPr id="4" name="標題 3"/>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437112"/>
            <a:ext cx="4944726" cy="2175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000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arn(inVertical)">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標題 2"/>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908720"/>
            <a:ext cx="7150190" cy="5531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331640" y="2414218"/>
            <a:ext cx="6696744" cy="36790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264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marL="109728" indent="0">
              <a:buNone/>
            </a:pPr>
            <a:r>
              <a:rPr lang="zh-TW" altLang="en-US" b="1" dirty="0"/>
              <a:t>範例三</a:t>
            </a:r>
            <a:endParaRPr lang="en-US" altLang="zh-TW" b="1" dirty="0"/>
          </a:p>
          <a:p>
            <a:r>
              <a:rPr lang="zh-TW" altLang="en-US" dirty="0"/>
              <a:t>我想要找出資工系學生的姓名以及其修習的課程名稱，請問 </a:t>
            </a:r>
            <a:r>
              <a:rPr lang="en-US" altLang="zh-TW" dirty="0"/>
              <a:t>SQL </a:t>
            </a:r>
            <a:r>
              <a:rPr lang="zh-TW" altLang="en-US" dirty="0"/>
              <a:t>該怎麼寫呢？</a:t>
            </a:r>
            <a:endParaRPr lang="en-US" altLang="zh-TW" dirty="0"/>
          </a:p>
          <a:p>
            <a:r>
              <a:rPr lang="zh-TW" altLang="en-US" dirty="0"/>
              <a:t>我們會用到學生的系別、姓名以及課程名稱等欄位</a:t>
            </a:r>
            <a:endParaRPr lang="en-US" altLang="zh-TW" dirty="0"/>
          </a:p>
          <a:p>
            <a:pPr lvl="1"/>
            <a:r>
              <a:rPr lang="zh-TW" altLang="en-US" dirty="0"/>
              <a:t>這些欄位分別屬於學生表格與課程表格</a:t>
            </a:r>
            <a:endParaRPr lang="en-US" altLang="zh-TW" dirty="0"/>
          </a:p>
          <a:p>
            <a:endParaRPr lang="zh-TW" altLang="en-US" dirty="0"/>
          </a:p>
        </p:txBody>
      </p:sp>
      <p:sp>
        <p:nvSpPr>
          <p:cNvPr id="4" name="標題 3"/>
          <p:cNvSpPr>
            <a:spLocks noGrp="1"/>
          </p:cNvSpPr>
          <p:nvPr>
            <p:ph type="title"/>
          </p:nvPr>
        </p:nvSpPr>
        <p:spPr/>
        <p:txBody>
          <a:bodyPr/>
          <a:lstStyle/>
          <a:p>
            <a:r>
              <a:rPr lang="en-US" altLang="zh-TW" dirty="0"/>
              <a:t>10.3</a:t>
            </a:r>
            <a:r>
              <a:rPr lang="zh-TW" altLang="en-US" dirty="0"/>
              <a:t>查詢語言 </a:t>
            </a:r>
            <a:r>
              <a:rPr lang="en-US" altLang="zh-TW" dirty="0"/>
              <a:t>SQL</a:t>
            </a:r>
            <a:endParaRPr lang="zh-TW"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3271" y="3501008"/>
            <a:ext cx="5153025"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102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6970" y="188640"/>
            <a:ext cx="6470978" cy="6574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331640" y="1412776"/>
            <a:ext cx="5904656" cy="51125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標題 3"/>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3317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zh-TW" dirty="0"/>
              <a:t>關聯式資料庫</a:t>
            </a:r>
            <a:endParaRPr lang="en-US" altLang="zh-TW" dirty="0"/>
          </a:p>
          <a:p>
            <a:pPr lvl="1"/>
            <a:r>
              <a:rPr lang="zh-TW" altLang="zh-TW" dirty="0"/>
              <a:t>資料讀寫時能嚴格的維持資料的一致性</a:t>
            </a:r>
            <a:endParaRPr lang="en-US" altLang="zh-TW" dirty="0"/>
          </a:p>
          <a:p>
            <a:pPr lvl="1"/>
            <a:r>
              <a:rPr lang="zh-TW" altLang="zh-TW" dirty="0"/>
              <a:t>這個特性使得關聯式資料庫在對一致性有絕對要求的系統中獲得了極大的應用</a:t>
            </a:r>
            <a:endParaRPr lang="en-US" altLang="zh-TW" dirty="0"/>
          </a:p>
          <a:p>
            <a:pPr lvl="2"/>
            <a:r>
              <a:rPr lang="zh-TW" altLang="zh-TW" dirty="0"/>
              <a:t>典型的銀行系統</a:t>
            </a:r>
            <a:endParaRPr lang="en-US" altLang="zh-TW" dirty="0"/>
          </a:p>
          <a:p>
            <a:r>
              <a:rPr lang="zh-TW" altLang="zh-TW" dirty="0"/>
              <a:t>隨著</a:t>
            </a:r>
            <a:r>
              <a:rPr lang="en-US" altLang="zh-TW" dirty="0"/>
              <a:t>web2.0</a:t>
            </a:r>
            <a:r>
              <a:rPr lang="zh-TW" altLang="zh-TW" dirty="0"/>
              <a:t>的蓬勃發展，帶動了分散式資料庫的需求</a:t>
            </a:r>
            <a:endParaRPr lang="en-US" altLang="zh-TW" dirty="0"/>
          </a:p>
          <a:p>
            <a:r>
              <a:rPr lang="en-US" altLang="zh-TW" dirty="0"/>
              <a:t>SNS</a:t>
            </a:r>
            <a:r>
              <a:rPr lang="zh-TW" altLang="zh-TW" dirty="0"/>
              <a:t>的應用</a:t>
            </a:r>
            <a:r>
              <a:rPr lang="zh-TW" altLang="en-US" dirty="0"/>
              <a:t>需求</a:t>
            </a:r>
            <a:r>
              <a:rPr lang="zh-TW" altLang="zh-TW" dirty="0"/>
              <a:t>是高速的同時讀寫能力，但對資料的即時一致性要求不高</a:t>
            </a:r>
            <a:endParaRPr lang="zh-TW" altLang="en-US" dirty="0"/>
          </a:p>
        </p:txBody>
      </p:sp>
      <p:sp>
        <p:nvSpPr>
          <p:cNvPr id="4" name="標題 3"/>
          <p:cNvSpPr>
            <a:spLocks noGrp="1"/>
          </p:cNvSpPr>
          <p:nvPr>
            <p:ph type="title"/>
          </p:nvPr>
        </p:nvSpPr>
        <p:spPr/>
        <p:txBody>
          <a:bodyPr/>
          <a:lstStyle/>
          <a:p>
            <a:r>
              <a:rPr lang="en-US" altLang="zh-TW" dirty="0"/>
              <a:t>10.4NoSQL</a:t>
            </a:r>
            <a:r>
              <a:rPr lang="zh-TW" altLang="en-US" dirty="0"/>
              <a:t>簡介</a:t>
            </a:r>
          </a:p>
        </p:txBody>
      </p:sp>
    </p:spTree>
    <p:extLst>
      <p:ext uri="{BB962C8B-B14F-4D97-AF65-F5344CB8AC3E}">
        <p14:creationId xmlns:p14="http://schemas.microsoft.com/office/powerpoint/2010/main" val="105995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23528" y="980728"/>
            <a:ext cx="8568952" cy="5688632"/>
          </a:xfrm>
        </p:spPr>
        <p:txBody>
          <a:bodyPr>
            <a:normAutofit/>
          </a:bodyPr>
          <a:lstStyle/>
          <a:p>
            <a:r>
              <a:rPr lang="en-US" altLang="zh-TW" dirty="0"/>
              <a:t>NoSQL</a:t>
            </a:r>
            <a:r>
              <a:rPr lang="zh-TW" altLang="zh-TW" dirty="0"/>
              <a:t>是對不同於關聯式資料庫管理系統的統稱</a:t>
            </a:r>
            <a:endParaRPr lang="en-US" altLang="zh-TW" dirty="0"/>
          </a:p>
          <a:p>
            <a:pPr lvl="1"/>
            <a:r>
              <a:rPr lang="zh-TW" altLang="zh-TW" dirty="0"/>
              <a:t>資料的儲存不需要固定的</a:t>
            </a:r>
            <a:r>
              <a:rPr lang="zh-TW" altLang="zh-TW" dirty="0">
                <a:solidFill>
                  <a:srgbClr val="0070C0"/>
                </a:solidFill>
              </a:rPr>
              <a:t>關聯表綱要</a:t>
            </a:r>
            <a:r>
              <a:rPr lang="en-US" altLang="zh-TW" dirty="0">
                <a:solidFill>
                  <a:srgbClr val="0070C0"/>
                </a:solidFill>
              </a:rPr>
              <a:t> (relation schema)</a:t>
            </a:r>
          </a:p>
          <a:p>
            <a:pPr lvl="2"/>
            <a:r>
              <a:rPr lang="zh-TW" altLang="zh-TW" dirty="0"/>
              <a:t> </a:t>
            </a:r>
            <a:r>
              <a:rPr lang="en-US" altLang="zh-TW" dirty="0"/>
              <a:t>NoSQL</a:t>
            </a:r>
            <a:r>
              <a:rPr lang="zh-TW" altLang="zh-TW" dirty="0"/>
              <a:t>資料庫無法支援標準的</a:t>
            </a:r>
            <a:r>
              <a:rPr lang="en-US" altLang="zh-TW" dirty="0"/>
              <a:t>SQL</a:t>
            </a:r>
            <a:r>
              <a:rPr lang="zh-TW" altLang="zh-TW" dirty="0"/>
              <a:t>語法來查找資料</a:t>
            </a:r>
            <a:endParaRPr lang="en-US" altLang="zh-TW" dirty="0"/>
          </a:p>
          <a:p>
            <a:pPr lvl="2"/>
            <a:r>
              <a:rPr lang="zh-TW" altLang="zh-TW" dirty="0"/>
              <a:t>大多是透過</a:t>
            </a:r>
            <a:r>
              <a:rPr lang="en-US" altLang="zh-TW" dirty="0"/>
              <a:t>API (Application Programming Interface</a:t>
            </a:r>
            <a:r>
              <a:rPr lang="zh-TW" altLang="zh-TW" dirty="0"/>
              <a:t>，應用程式介面</a:t>
            </a:r>
            <a:r>
              <a:rPr lang="en-US" altLang="zh-TW" dirty="0"/>
              <a:t>) </a:t>
            </a:r>
            <a:r>
              <a:rPr lang="zh-TW" altLang="zh-TW" dirty="0"/>
              <a:t>來存取資料</a:t>
            </a:r>
            <a:endParaRPr lang="en-US" altLang="zh-TW" dirty="0"/>
          </a:p>
          <a:p>
            <a:pPr lvl="2"/>
            <a:r>
              <a:rPr lang="zh-TW" altLang="zh-TW" dirty="0"/>
              <a:t>缺點</a:t>
            </a:r>
            <a:r>
              <a:rPr lang="en-US" altLang="zh-TW" dirty="0"/>
              <a:t>:</a:t>
            </a:r>
            <a:r>
              <a:rPr lang="zh-TW" altLang="zh-TW" dirty="0"/>
              <a:t>增加了程式設計者的負擔</a:t>
            </a:r>
            <a:endParaRPr lang="en-US" altLang="zh-TW" dirty="0"/>
          </a:p>
          <a:p>
            <a:pPr lvl="2"/>
            <a:r>
              <a:rPr lang="zh-TW" altLang="en-US" dirty="0"/>
              <a:t>優點</a:t>
            </a:r>
            <a:r>
              <a:rPr lang="en-US" altLang="zh-TW" dirty="0"/>
              <a:t>:</a:t>
            </a:r>
            <a:r>
              <a:rPr lang="zh-TW" altLang="zh-TW" dirty="0"/>
              <a:t>有極佳的擴展性</a:t>
            </a:r>
            <a:endParaRPr lang="en-US" altLang="zh-TW" dirty="0"/>
          </a:p>
          <a:p>
            <a:r>
              <a:rPr lang="zh-TW" altLang="zh-TW" dirty="0"/>
              <a:t>為了增加同時讀寫的效能，與傳統資料庫採取的資料即時一致性</a:t>
            </a:r>
            <a:r>
              <a:rPr lang="en-US" altLang="zh-TW" dirty="0"/>
              <a:t> (</a:t>
            </a:r>
            <a:r>
              <a:rPr lang="zh-TW" altLang="zh-TW" dirty="0"/>
              <a:t>強一致性</a:t>
            </a:r>
            <a:r>
              <a:rPr lang="en-US" altLang="zh-TW" dirty="0"/>
              <a:t>) </a:t>
            </a:r>
            <a:r>
              <a:rPr lang="zh-TW" altLang="zh-TW" dirty="0"/>
              <a:t>不同，</a:t>
            </a:r>
            <a:r>
              <a:rPr lang="en-US" altLang="zh-TW" dirty="0"/>
              <a:t>NoSQL</a:t>
            </a:r>
            <a:r>
              <a:rPr lang="zh-TW" altLang="zh-TW" dirty="0"/>
              <a:t>資料庫採取資料</a:t>
            </a:r>
            <a:r>
              <a:rPr lang="zh-TW" altLang="zh-TW" dirty="0">
                <a:solidFill>
                  <a:srgbClr val="0070C0"/>
                </a:solidFill>
              </a:rPr>
              <a:t>最終一致性</a:t>
            </a:r>
            <a:r>
              <a:rPr lang="en-US" altLang="zh-TW" dirty="0">
                <a:solidFill>
                  <a:srgbClr val="0070C0"/>
                </a:solidFill>
              </a:rPr>
              <a:t>(Eventually Consistency) </a:t>
            </a:r>
            <a:r>
              <a:rPr lang="zh-TW" altLang="zh-TW" dirty="0"/>
              <a:t>的做法。</a:t>
            </a:r>
            <a:endParaRPr lang="zh-TW" altLang="en-US" dirty="0"/>
          </a:p>
        </p:txBody>
      </p:sp>
      <p:sp>
        <p:nvSpPr>
          <p:cNvPr id="4" name="標題 3"/>
          <p:cNvSpPr>
            <a:spLocks noGrp="1"/>
          </p:cNvSpPr>
          <p:nvPr>
            <p:ph type="title"/>
          </p:nvPr>
        </p:nvSpPr>
        <p:spPr/>
        <p:txBody>
          <a:bodyPr/>
          <a:lstStyle/>
          <a:p>
            <a:r>
              <a:rPr lang="en-US" altLang="zh-TW" dirty="0"/>
              <a:t>10.4NoSQL</a:t>
            </a:r>
            <a:r>
              <a:rPr lang="zh-TW" altLang="en-US" dirty="0"/>
              <a:t>簡介</a:t>
            </a:r>
          </a:p>
        </p:txBody>
      </p:sp>
    </p:spTree>
    <p:extLst>
      <p:ext uri="{BB962C8B-B14F-4D97-AF65-F5344CB8AC3E}">
        <p14:creationId xmlns:p14="http://schemas.microsoft.com/office/powerpoint/2010/main" val="4018913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10.4NoSQL</a:t>
            </a:r>
            <a:r>
              <a:rPr lang="zh-TW" altLang="en-US" dirty="0"/>
              <a:t>簡介</a:t>
            </a:r>
          </a:p>
        </p:txBody>
      </p:sp>
      <p:sp>
        <p:nvSpPr>
          <p:cNvPr id="2" name="內容版面配置區 1"/>
          <p:cNvSpPr>
            <a:spLocks noGrp="1"/>
          </p:cNvSpPr>
          <p:nvPr>
            <p:ph idx="1"/>
          </p:nvPr>
        </p:nvSpPr>
        <p:spPr/>
        <p:txBody>
          <a:bodyPr/>
          <a:lstStyle/>
          <a:p>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96752"/>
            <a:ext cx="7632848" cy="518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4773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資料探勘就是在大量的資料中挖掘出有用的資訊的一門技術。</a:t>
            </a:r>
            <a:endParaRPr lang="en-US" altLang="zh-TW" dirty="0"/>
          </a:p>
          <a:p>
            <a:r>
              <a:rPr lang="zh-TW" altLang="en-US" dirty="0"/>
              <a:t>因為資料探勘的目的就是發現隱藏在大量資料中的知識，所以我們也會稱其為</a:t>
            </a:r>
            <a:r>
              <a:rPr lang="zh-TW" altLang="en-US" dirty="0">
                <a:solidFill>
                  <a:srgbClr val="0070C0"/>
                </a:solidFill>
              </a:rPr>
              <a:t>知識發現 </a:t>
            </a:r>
            <a:r>
              <a:rPr lang="en-US" altLang="zh-TW" dirty="0">
                <a:solidFill>
                  <a:srgbClr val="0070C0"/>
                </a:solidFill>
              </a:rPr>
              <a:t>(Knowledge Discovery</a:t>
            </a:r>
            <a:r>
              <a:rPr lang="zh-TW" altLang="en-US" dirty="0">
                <a:solidFill>
                  <a:srgbClr val="0070C0"/>
                </a:solidFill>
              </a:rPr>
              <a:t> </a:t>
            </a:r>
            <a:r>
              <a:rPr lang="en-US" altLang="zh-TW" dirty="0">
                <a:solidFill>
                  <a:srgbClr val="0070C0"/>
                </a:solidFill>
              </a:rPr>
              <a:t>in Database, KDD</a:t>
            </a:r>
            <a:r>
              <a:rPr lang="en-US" altLang="zh-TW" dirty="0"/>
              <a:t>)</a:t>
            </a:r>
            <a:r>
              <a:rPr lang="zh-TW" altLang="en-US" dirty="0"/>
              <a:t>。</a:t>
            </a:r>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32</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885" y="2852936"/>
            <a:ext cx="4708230" cy="3696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682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知識發現的過程可分為下面所列之五大步驟：</a:t>
            </a:r>
            <a:endParaRPr lang="en-US" altLang="zh-TW" dirty="0"/>
          </a:p>
          <a:p>
            <a:pPr marL="360000" indent="-288000">
              <a:buSzPct val="100000"/>
              <a:buFont typeface="+mj-lt"/>
              <a:buAutoNum type="arabicPeriod"/>
            </a:pPr>
            <a:r>
              <a:rPr lang="zh-TW" altLang="en-US" b="1" dirty="0">
                <a:solidFill>
                  <a:srgbClr val="FF6699"/>
                </a:solidFill>
              </a:rPr>
              <a:t>資料清理及整合 </a:t>
            </a:r>
            <a:r>
              <a:rPr lang="en-US" altLang="zh-TW" b="1" dirty="0">
                <a:solidFill>
                  <a:srgbClr val="FF6699"/>
                </a:solidFill>
              </a:rPr>
              <a:t>(data cleaning and integration)</a:t>
            </a:r>
            <a:r>
              <a:rPr lang="zh-TW" altLang="en-US" b="1" dirty="0">
                <a:solidFill>
                  <a:srgbClr val="FF6699"/>
                </a:solidFill>
              </a:rPr>
              <a:t>：</a:t>
            </a:r>
            <a:r>
              <a:rPr lang="zh-TW" altLang="en-US" dirty="0"/>
              <a:t>消除雜訊或不一致的資料，再將多種資料來源、型態、格式整合在一起，以供後續之探勘演算法使用。</a:t>
            </a:r>
            <a:endParaRPr lang="en-US" altLang="zh-TW" dirty="0"/>
          </a:p>
          <a:p>
            <a:pPr marL="360000" indent="-288000">
              <a:buSzPct val="100000"/>
              <a:buFont typeface="+mj-lt"/>
              <a:buAutoNum type="arabicPeriod"/>
            </a:pPr>
            <a:r>
              <a:rPr lang="zh-TW" altLang="en-US" b="1" dirty="0">
                <a:solidFill>
                  <a:srgbClr val="FF6699"/>
                </a:solidFill>
              </a:rPr>
              <a:t>資料選擇與轉換 </a:t>
            </a:r>
            <a:r>
              <a:rPr lang="en-US" altLang="zh-TW" b="1" dirty="0">
                <a:solidFill>
                  <a:srgbClr val="FF6699"/>
                </a:solidFill>
              </a:rPr>
              <a:t>(data selection and transformation)</a:t>
            </a:r>
            <a:r>
              <a:rPr lang="zh-TW" altLang="en-US" b="1" dirty="0">
                <a:solidFill>
                  <a:srgbClr val="FF6699"/>
                </a:solidFill>
              </a:rPr>
              <a:t>：</a:t>
            </a:r>
            <a:r>
              <a:rPr lang="zh-TW" altLang="en-US" dirty="0"/>
              <a:t>包含資料的</a:t>
            </a:r>
            <a:r>
              <a:rPr lang="zh-TW" altLang="en-US" dirty="0">
                <a:solidFill>
                  <a:srgbClr val="0070C0"/>
                </a:solidFill>
              </a:rPr>
              <a:t>淨化 </a:t>
            </a:r>
            <a:r>
              <a:rPr lang="en-US" altLang="zh-TW" dirty="0">
                <a:solidFill>
                  <a:srgbClr val="0070C0"/>
                </a:solidFill>
              </a:rPr>
              <a:t>(clean)</a:t>
            </a:r>
            <a:r>
              <a:rPr lang="zh-TW" altLang="en-US" dirty="0"/>
              <a:t>、格式的轉換以及資料</a:t>
            </a:r>
            <a:r>
              <a:rPr lang="zh-TW" altLang="en-US" dirty="0">
                <a:solidFill>
                  <a:srgbClr val="0070C0"/>
                </a:solidFill>
              </a:rPr>
              <a:t>正規化 </a:t>
            </a:r>
            <a:r>
              <a:rPr lang="en-US" altLang="zh-TW" dirty="0">
                <a:solidFill>
                  <a:srgbClr val="0070C0"/>
                </a:solidFill>
              </a:rPr>
              <a:t>(normalization)</a:t>
            </a:r>
            <a:r>
              <a:rPr lang="zh-TW" altLang="en-US" dirty="0"/>
              <a:t>，將資料轉換成適合探勘演算法的格式。</a:t>
            </a:r>
            <a:endParaRPr lang="en-US" altLang="zh-TW" dirty="0"/>
          </a:p>
          <a:p>
            <a:pPr marL="360000" indent="-288000">
              <a:buSzPct val="100000"/>
              <a:buFont typeface="+mj-lt"/>
              <a:buAutoNum type="arabicPeriod"/>
            </a:pPr>
            <a:r>
              <a:rPr lang="zh-TW" altLang="en-US" b="1" dirty="0">
                <a:solidFill>
                  <a:srgbClr val="FF6699"/>
                </a:solidFill>
              </a:rPr>
              <a:t>資料探勘 </a:t>
            </a:r>
            <a:r>
              <a:rPr lang="en-US" altLang="zh-TW" b="1" dirty="0">
                <a:solidFill>
                  <a:srgbClr val="FF6699"/>
                </a:solidFill>
              </a:rPr>
              <a:t>(data mining)</a:t>
            </a:r>
            <a:r>
              <a:rPr lang="zh-TW" altLang="en-US" b="1" dirty="0">
                <a:solidFill>
                  <a:srgbClr val="FF6699"/>
                </a:solidFill>
              </a:rPr>
              <a:t>：</a:t>
            </a:r>
            <a:r>
              <a:rPr lang="zh-TW" altLang="en-US" dirty="0"/>
              <a:t>根據應用以及目的，選擇適合的資料探勘演算法。將隱藏於上一步驟所完成的資料中，有用的資訊挖掘出來。這個過程對於資料探勘的應用成功與否有決定性的影響。</a:t>
            </a:r>
          </a:p>
          <a:p>
            <a:endParaRPr lang="en-US" altLang="zh-TW" dirty="0"/>
          </a:p>
          <a:p>
            <a:endParaRPr lang="zh-TW" altLang="en-US" dirty="0"/>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33</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spTree>
    <p:extLst>
      <p:ext uri="{BB962C8B-B14F-4D97-AF65-F5344CB8AC3E}">
        <p14:creationId xmlns:p14="http://schemas.microsoft.com/office/powerpoint/2010/main" val="3476187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360000" indent="-288000">
              <a:buSzPct val="100000"/>
              <a:buFont typeface="+mj-lt"/>
              <a:buAutoNum type="arabicPeriod" startAt="4"/>
            </a:pPr>
            <a:r>
              <a:rPr lang="zh-TW" altLang="en-US" b="1" dirty="0">
                <a:solidFill>
                  <a:srgbClr val="FF6699"/>
                </a:solidFill>
              </a:rPr>
              <a:t>分析及評估 </a:t>
            </a:r>
            <a:r>
              <a:rPr lang="en-US" altLang="zh-TW" b="1" dirty="0">
                <a:solidFill>
                  <a:srgbClr val="FF6699"/>
                </a:solidFill>
              </a:rPr>
              <a:t>(analysis and evaluation)</a:t>
            </a:r>
            <a:r>
              <a:rPr lang="zh-TW" altLang="en-US" b="1" dirty="0">
                <a:solidFill>
                  <a:srgbClr val="FF6699"/>
                </a:solidFill>
              </a:rPr>
              <a:t>：</a:t>
            </a:r>
            <a:r>
              <a:rPr lang="zh-TW" altLang="en-US" dirty="0"/>
              <a:t>分析及評估所挖掘出來的知識是否真的有價值，以便將資料探勘的結果去蕪存菁，過濾掉沒有用的資訊，將有價值的知識提供給使用者。 </a:t>
            </a:r>
            <a:endParaRPr lang="en-US" altLang="zh-TW" dirty="0"/>
          </a:p>
          <a:p>
            <a:pPr marL="360000" indent="-288000">
              <a:buSzPct val="100000"/>
              <a:buFont typeface="+mj-lt"/>
              <a:buAutoNum type="arabicPeriod" startAt="4"/>
            </a:pPr>
            <a:r>
              <a:rPr lang="zh-TW" altLang="en-US" b="1" dirty="0">
                <a:solidFill>
                  <a:srgbClr val="FF6699"/>
                </a:solidFill>
              </a:rPr>
              <a:t>知識呈現 </a:t>
            </a:r>
            <a:r>
              <a:rPr lang="en-US" altLang="zh-TW" b="1" dirty="0">
                <a:solidFill>
                  <a:srgbClr val="FF6699"/>
                </a:solidFill>
              </a:rPr>
              <a:t>(knowledge presentation)</a:t>
            </a:r>
            <a:r>
              <a:rPr lang="zh-TW" altLang="en-US" b="1" dirty="0">
                <a:solidFill>
                  <a:srgbClr val="FF6699"/>
                </a:solidFill>
              </a:rPr>
              <a:t>：</a:t>
            </a:r>
            <a:r>
              <a:rPr lang="zh-TW" altLang="en-US" dirty="0"/>
              <a:t>將複雜的資料探勘結果做一個淺顯易懂的呈現 </a:t>
            </a:r>
            <a:r>
              <a:rPr lang="en-US" altLang="zh-TW" dirty="0"/>
              <a:t>( </a:t>
            </a:r>
            <a:r>
              <a:rPr lang="zh-TW" altLang="en-US" dirty="0"/>
              <a:t>如圖形化介面 </a:t>
            </a:r>
            <a:r>
              <a:rPr lang="en-US" altLang="zh-TW" dirty="0"/>
              <a:t>)</a:t>
            </a:r>
            <a:r>
              <a:rPr lang="zh-TW" altLang="en-US" dirty="0"/>
              <a:t>，使得這些有趣的知識可以容易的被了解使用。</a:t>
            </a:r>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34</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spTree>
    <p:extLst>
      <p:ext uri="{BB962C8B-B14F-4D97-AF65-F5344CB8AC3E}">
        <p14:creationId xmlns:p14="http://schemas.microsoft.com/office/powerpoint/2010/main" val="1177196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dirty="0"/>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35</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453" y="836712"/>
            <a:ext cx="5822137" cy="5726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6333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marL="109728" indent="0">
              <a:buNone/>
            </a:pPr>
            <a:r>
              <a:rPr lang="zh-TW" altLang="en-US" b="1" dirty="0">
                <a:solidFill>
                  <a:schemeClr val="accent3"/>
                </a:solidFill>
              </a:rPr>
              <a:t>資料關聯分析</a:t>
            </a:r>
            <a:endParaRPr lang="en-US" altLang="zh-TW" b="1" dirty="0">
              <a:solidFill>
                <a:schemeClr val="accent3"/>
              </a:solidFill>
            </a:endParaRPr>
          </a:p>
          <a:p>
            <a:r>
              <a:rPr lang="zh-TW" altLang="en-US" dirty="0"/>
              <a:t>資料關聯主要的目的是找出項目與項目間的關聯性。</a:t>
            </a:r>
            <a:endParaRPr lang="en-US" altLang="zh-TW" dirty="0"/>
          </a:p>
          <a:p>
            <a:r>
              <a:rPr lang="zh-TW" altLang="en-US" dirty="0"/>
              <a:t>「麵包 </a:t>
            </a:r>
            <a:r>
              <a:rPr lang="en-US" altLang="zh-TW" dirty="0"/>
              <a:t>=&gt; </a:t>
            </a:r>
            <a:r>
              <a:rPr lang="zh-TW" altLang="en-US" dirty="0"/>
              <a:t>牛奶 </a:t>
            </a:r>
            <a:r>
              <a:rPr lang="en-US" altLang="zh-TW" dirty="0"/>
              <a:t>[10%, 70%]</a:t>
            </a:r>
            <a:r>
              <a:rPr lang="zh-TW" altLang="en-US" dirty="0"/>
              <a:t>」為一條關聯規則，代表的意思為</a:t>
            </a:r>
            <a:r>
              <a:rPr lang="en-US" altLang="zh-TW" dirty="0"/>
              <a:t>10% </a:t>
            </a:r>
            <a:r>
              <a:rPr lang="zh-TW" altLang="en-US" dirty="0"/>
              <a:t>的交易中麵包和牛奶會一起購買，而在購買了麵包的交易中，有</a:t>
            </a:r>
            <a:r>
              <a:rPr lang="en-US" altLang="zh-TW" dirty="0"/>
              <a:t>70% </a:t>
            </a:r>
            <a:r>
              <a:rPr lang="zh-TW" altLang="en-US" dirty="0"/>
              <a:t>的比例也會購買牛奶。這就是一個典型的關聯規則。</a:t>
            </a:r>
            <a:endParaRPr lang="en-US" altLang="zh-TW" dirty="0"/>
          </a:p>
          <a:p>
            <a:r>
              <a:rPr lang="zh-TW" altLang="en-US" dirty="0"/>
              <a:t>在本例中，</a:t>
            </a:r>
            <a:r>
              <a:rPr lang="en-US" altLang="zh-TW" dirty="0"/>
              <a:t>10% </a:t>
            </a:r>
            <a:r>
              <a:rPr lang="zh-TW" altLang="en-US" dirty="0"/>
              <a:t>稱為 </a:t>
            </a:r>
            <a:r>
              <a:rPr lang="en-US" altLang="zh-TW" dirty="0"/>
              <a:t>{</a:t>
            </a:r>
            <a:r>
              <a:rPr lang="zh-TW" altLang="en-US" dirty="0"/>
              <a:t>麵包，牛奶</a:t>
            </a:r>
            <a:r>
              <a:rPr lang="en-US" altLang="zh-TW" dirty="0"/>
              <a:t>} </a:t>
            </a:r>
            <a:r>
              <a:rPr lang="zh-TW" altLang="en-US" dirty="0"/>
              <a:t>這項目集的</a:t>
            </a:r>
            <a:r>
              <a:rPr lang="zh-TW" altLang="en-US" dirty="0">
                <a:solidFill>
                  <a:srgbClr val="0070C0"/>
                </a:solidFill>
              </a:rPr>
              <a:t>支持度 </a:t>
            </a:r>
            <a:r>
              <a:rPr lang="en-US" altLang="zh-TW" dirty="0">
                <a:solidFill>
                  <a:srgbClr val="0070C0"/>
                </a:solidFill>
              </a:rPr>
              <a:t>(support)</a:t>
            </a:r>
            <a:r>
              <a:rPr lang="zh-TW" altLang="en-US" dirty="0"/>
              <a:t>，代表的是包含這個項目集的交易個數占全部交易總數的比例。而 </a:t>
            </a:r>
            <a:r>
              <a:rPr lang="en-US" altLang="zh-TW" dirty="0"/>
              <a:t>70% </a:t>
            </a:r>
            <a:r>
              <a:rPr lang="zh-TW" altLang="en-US" dirty="0"/>
              <a:t>則代表著這關聯規則的</a:t>
            </a:r>
            <a:r>
              <a:rPr lang="zh-TW" altLang="en-US" dirty="0">
                <a:solidFill>
                  <a:srgbClr val="0070C0"/>
                </a:solidFill>
              </a:rPr>
              <a:t>信心度 </a:t>
            </a:r>
            <a:r>
              <a:rPr lang="en-US" altLang="zh-TW" dirty="0">
                <a:solidFill>
                  <a:srgbClr val="0070C0"/>
                </a:solidFill>
              </a:rPr>
              <a:t>(confidence)</a:t>
            </a:r>
            <a:r>
              <a:rPr lang="zh-TW" altLang="en-US" dirty="0"/>
              <a:t>，也就是在已知買麵包的交易當中，會一起購買牛奶的比例。</a:t>
            </a:r>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36</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spTree>
    <p:extLst>
      <p:ext uri="{BB962C8B-B14F-4D97-AF65-F5344CB8AC3E}">
        <p14:creationId xmlns:p14="http://schemas.microsoft.com/office/powerpoint/2010/main" val="1473927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標題 2"/>
          <p:cNvSpPr>
            <a:spLocks noGrp="1"/>
          </p:cNvSpPr>
          <p:nvPr>
            <p:ph type="title"/>
          </p:nvPr>
        </p:nvSpPr>
        <p:spPr/>
        <p:txBody>
          <a:bodyPr/>
          <a:lstStyle/>
          <a:p>
            <a:r>
              <a:rPr lang="en-US" altLang="zh-TW" dirty="0"/>
              <a:t>10.5</a:t>
            </a:r>
            <a:r>
              <a:rPr lang="zh-TW" altLang="en-US" dirty="0"/>
              <a:t>資料探勘</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132856"/>
            <a:ext cx="4654630" cy="297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698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23528" y="980728"/>
            <a:ext cx="8568952" cy="5688632"/>
          </a:xfrm>
        </p:spPr>
        <p:txBody>
          <a:bodyPr>
            <a:normAutofit fontScale="92500"/>
          </a:bodyPr>
          <a:lstStyle/>
          <a:p>
            <a:pPr marL="109728" indent="0">
              <a:buNone/>
            </a:pPr>
            <a:r>
              <a:rPr lang="zh-TW" altLang="en-US" b="1" dirty="0">
                <a:solidFill>
                  <a:schemeClr val="accent3"/>
                </a:solidFill>
              </a:rPr>
              <a:t>資料分類</a:t>
            </a:r>
            <a:endParaRPr lang="en-US" altLang="zh-TW" b="1" dirty="0">
              <a:solidFill>
                <a:schemeClr val="accent3"/>
              </a:solidFill>
            </a:endParaRPr>
          </a:p>
          <a:p>
            <a:r>
              <a:rPr lang="zh-TW" altLang="en-US" b="1" dirty="0">
                <a:solidFill>
                  <a:srgbClr val="0070C0"/>
                </a:solidFill>
              </a:rPr>
              <a:t>資料分類 </a:t>
            </a:r>
            <a:r>
              <a:rPr lang="en-US" altLang="zh-TW" b="1" dirty="0">
                <a:solidFill>
                  <a:srgbClr val="0070C0"/>
                </a:solidFill>
              </a:rPr>
              <a:t>(data classification) </a:t>
            </a:r>
            <a:r>
              <a:rPr lang="zh-TW" altLang="en-US" dirty="0"/>
              <a:t>是根據已知資料的相關</a:t>
            </a:r>
            <a:r>
              <a:rPr lang="zh-TW" altLang="en-US" dirty="0">
                <a:solidFill>
                  <a:srgbClr val="0070C0"/>
                </a:solidFill>
              </a:rPr>
              <a:t>屬性</a:t>
            </a:r>
            <a:r>
              <a:rPr lang="en-US" altLang="zh-TW" dirty="0">
                <a:solidFill>
                  <a:srgbClr val="0070C0"/>
                </a:solidFill>
              </a:rPr>
              <a:t>(attributes)</a:t>
            </a:r>
            <a:r>
              <a:rPr lang="en-US" altLang="zh-TW" dirty="0"/>
              <a:t> </a:t>
            </a:r>
            <a:r>
              <a:rPr lang="zh-TW" altLang="en-US" dirty="0"/>
              <a:t>以及該資料所屬之</a:t>
            </a:r>
            <a:r>
              <a:rPr lang="zh-TW" altLang="en-US" dirty="0">
                <a:solidFill>
                  <a:srgbClr val="0070C0"/>
                </a:solidFill>
              </a:rPr>
              <a:t>類別 </a:t>
            </a:r>
            <a:r>
              <a:rPr lang="en-US" altLang="zh-TW" dirty="0">
                <a:solidFill>
                  <a:srgbClr val="0070C0"/>
                </a:solidFill>
              </a:rPr>
              <a:t>(class label)</a:t>
            </a:r>
            <a:r>
              <a:rPr lang="zh-TW" altLang="en-US" dirty="0"/>
              <a:t>，建立資料的</a:t>
            </a:r>
            <a:r>
              <a:rPr lang="zh-TW" altLang="en-US" dirty="0">
                <a:solidFill>
                  <a:srgbClr val="0070C0"/>
                </a:solidFill>
              </a:rPr>
              <a:t>分類模型 </a:t>
            </a:r>
            <a:r>
              <a:rPr lang="en-US" altLang="zh-TW" dirty="0">
                <a:solidFill>
                  <a:srgbClr val="0070C0"/>
                </a:solidFill>
              </a:rPr>
              <a:t>(classification model)</a:t>
            </a:r>
            <a:r>
              <a:rPr lang="zh-TW" altLang="en-US" dirty="0"/>
              <a:t>，然後透過該模型來預測新進資料的類別歸屬。此分類法也可稱為</a:t>
            </a:r>
            <a:r>
              <a:rPr lang="zh-TW" altLang="en-US" dirty="0">
                <a:solidFill>
                  <a:srgbClr val="0070C0"/>
                </a:solidFill>
              </a:rPr>
              <a:t>監督式學習法 </a:t>
            </a:r>
            <a:r>
              <a:rPr lang="en-US" altLang="zh-TW" dirty="0">
                <a:solidFill>
                  <a:srgbClr val="0070C0"/>
                </a:solidFill>
              </a:rPr>
              <a:t>(supervised learning)</a:t>
            </a:r>
            <a:r>
              <a:rPr lang="zh-TW" altLang="en-US" dirty="0"/>
              <a:t>。</a:t>
            </a:r>
            <a:endParaRPr lang="en-US" altLang="zh-TW" dirty="0"/>
          </a:p>
          <a:p>
            <a:r>
              <a:rPr lang="zh-TW" altLang="en-US" dirty="0"/>
              <a:t>分類基本上可以分為二個階段：</a:t>
            </a:r>
            <a:endParaRPr lang="en-US" altLang="zh-TW" dirty="0"/>
          </a:p>
          <a:p>
            <a:pPr lvl="1"/>
            <a:r>
              <a:rPr lang="zh-TW" altLang="en-US" dirty="0"/>
              <a:t>第一階段為建立分類模型，也就是利用現有的資料將資料的分類規則找出來。</a:t>
            </a:r>
            <a:endParaRPr lang="en-US" altLang="zh-TW" dirty="0"/>
          </a:p>
          <a:p>
            <a:pPr lvl="1"/>
            <a:r>
              <a:rPr lang="zh-TW" altLang="en-US" dirty="0"/>
              <a:t>第二階段為評估分類模型的準確度，在一開始建立分類模型時會將現有的資料分成二組：一組為</a:t>
            </a:r>
            <a:r>
              <a:rPr lang="zh-TW" altLang="en-US" dirty="0">
                <a:solidFill>
                  <a:srgbClr val="0070C0"/>
                </a:solidFill>
              </a:rPr>
              <a:t>訓練樣本 </a:t>
            </a:r>
            <a:r>
              <a:rPr lang="en-US" altLang="zh-TW" dirty="0">
                <a:solidFill>
                  <a:srgbClr val="0070C0"/>
                </a:solidFill>
              </a:rPr>
              <a:t>(training dataset)</a:t>
            </a:r>
            <a:r>
              <a:rPr lang="zh-TW" altLang="en-US" dirty="0"/>
              <a:t>，另一組則為</a:t>
            </a:r>
            <a:r>
              <a:rPr lang="zh-TW" altLang="en-US" dirty="0">
                <a:solidFill>
                  <a:srgbClr val="0070C0"/>
                </a:solidFill>
              </a:rPr>
              <a:t>測試樣本 </a:t>
            </a:r>
            <a:r>
              <a:rPr lang="en-US" altLang="zh-TW" dirty="0">
                <a:solidFill>
                  <a:srgbClr val="0070C0"/>
                </a:solidFill>
              </a:rPr>
              <a:t>(testing dataset)</a:t>
            </a:r>
            <a:r>
              <a:rPr lang="zh-TW" altLang="en-US" dirty="0"/>
              <a:t>，訓練樣本是建立模型時使用的樣本，而測試樣本則用來評估分類模型的準確性。</a:t>
            </a:r>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38</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spTree>
    <p:extLst>
      <p:ext uri="{BB962C8B-B14F-4D97-AF65-F5344CB8AC3E}">
        <p14:creationId xmlns:p14="http://schemas.microsoft.com/office/powerpoint/2010/main" val="277849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39</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908720"/>
            <a:ext cx="6912768" cy="5591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6772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40</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96752"/>
            <a:ext cx="7623939"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5496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41</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628800"/>
            <a:ext cx="6912768" cy="408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721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marL="109728" indent="0">
              <a:buNone/>
            </a:pPr>
            <a:r>
              <a:rPr lang="zh-TW" altLang="en-US" b="1" dirty="0">
                <a:solidFill>
                  <a:schemeClr val="accent3"/>
                </a:solidFill>
              </a:rPr>
              <a:t>資料分群</a:t>
            </a:r>
            <a:endParaRPr lang="en-US" altLang="zh-TW" b="1" dirty="0">
              <a:solidFill>
                <a:schemeClr val="accent3"/>
              </a:solidFill>
            </a:endParaRPr>
          </a:p>
          <a:p>
            <a:r>
              <a:rPr lang="zh-TW" altLang="en-US" dirty="0">
                <a:solidFill>
                  <a:srgbClr val="0070C0"/>
                </a:solidFill>
              </a:rPr>
              <a:t>資料分群 </a:t>
            </a:r>
            <a:r>
              <a:rPr lang="en-US" altLang="zh-TW" dirty="0">
                <a:solidFill>
                  <a:srgbClr val="0070C0"/>
                </a:solidFill>
              </a:rPr>
              <a:t>(data clustering) </a:t>
            </a:r>
            <a:r>
              <a:rPr lang="zh-TW" altLang="en-US" dirty="0"/>
              <a:t>也稱之為群集分析。在群集的過程中沒有預先指定好的類別資訊，所以也稱為</a:t>
            </a:r>
            <a:r>
              <a:rPr lang="zh-TW" altLang="en-US" dirty="0">
                <a:solidFill>
                  <a:srgbClr val="0070C0"/>
                </a:solidFill>
              </a:rPr>
              <a:t>非監督式學習 </a:t>
            </a:r>
            <a:r>
              <a:rPr lang="en-US" altLang="zh-TW" dirty="0">
                <a:solidFill>
                  <a:srgbClr val="0070C0"/>
                </a:solidFill>
              </a:rPr>
              <a:t>(unsupervised</a:t>
            </a:r>
            <a:r>
              <a:rPr lang="zh-TW" altLang="en-US" dirty="0">
                <a:solidFill>
                  <a:srgbClr val="0070C0"/>
                </a:solidFill>
              </a:rPr>
              <a:t> </a:t>
            </a:r>
            <a:r>
              <a:rPr lang="en-US" altLang="zh-TW" dirty="0">
                <a:solidFill>
                  <a:srgbClr val="0070C0"/>
                </a:solidFill>
              </a:rPr>
              <a:t>learning)</a:t>
            </a:r>
            <a:r>
              <a:rPr lang="zh-TW" altLang="en-US" dirty="0"/>
              <a:t>。</a:t>
            </a:r>
            <a:endParaRPr lang="en-US" altLang="zh-TW" dirty="0"/>
          </a:p>
          <a:p>
            <a:r>
              <a:rPr lang="zh-TW" altLang="en-US" dirty="0"/>
              <a:t>群集分析的主要目的是分析資料彼此間的相似度，並根據資料間的相似度將資料分成數個</a:t>
            </a:r>
            <a:r>
              <a:rPr lang="zh-TW" altLang="en-US" dirty="0">
                <a:solidFill>
                  <a:srgbClr val="0070C0"/>
                </a:solidFill>
              </a:rPr>
              <a:t>群集 </a:t>
            </a:r>
            <a:r>
              <a:rPr lang="en-US" altLang="zh-TW" dirty="0">
                <a:solidFill>
                  <a:srgbClr val="0070C0"/>
                </a:solidFill>
              </a:rPr>
              <a:t>(cluster)</a:t>
            </a:r>
            <a:r>
              <a:rPr lang="zh-TW" altLang="en-US" dirty="0"/>
              <a:t>，使得同一群集內的資料彼此間有</a:t>
            </a:r>
            <a:r>
              <a:rPr lang="zh-TW" altLang="en-US" dirty="0">
                <a:solidFill>
                  <a:srgbClr val="0070C0"/>
                </a:solidFill>
              </a:rPr>
              <a:t>較高的相似度 </a:t>
            </a:r>
            <a:r>
              <a:rPr lang="en-US" altLang="zh-TW" dirty="0">
                <a:solidFill>
                  <a:srgbClr val="0070C0"/>
                </a:solidFill>
              </a:rPr>
              <a:t>(high intra cluster similarity)</a:t>
            </a:r>
            <a:r>
              <a:rPr lang="zh-TW" altLang="en-US" dirty="0"/>
              <a:t>，而不同群集的資料彼此間的</a:t>
            </a:r>
            <a:r>
              <a:rPr lang="zh-TW" altLang="en-US" dirty="0">
                <a:solidFill>
                  <a:srgbClr val="0070C0"/>
                </a:solidFill>
              </a:rPr>
              <a:t>相似度就較低 </a:t>
            </a:r>
            <a:r>
              <a:rPr lang="en-US" altLang="zh-TW" dirty="0">
                <a:solidFill>
                  <a:srgbClr val="0070C0"/>
                </a:solidFill>
              </a:rPr>
              <a:t>(low inter cluster similarity)</a:t>
            </a:r>
            <a:r>
              <a:rPr lang="zh-TW" altLang="en-US" dirty="0"/>
              <a:t>。</a:t>
            </a:r>
            <a:endParaRPr lang="en-US" altLang="zh-TW" dirty="0"/>
          </a:p>
        </p:txBody>
      </p:sp>
      <p:sp>
        <p:nvSpPr>
          <p:cNvPr id="3" name="投影片編號版面配置區 2"/>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42</a:t>
            </a:fld>
            <a:endParaRPr kumimoji="0" lang="en-US" sz="1600" dirty="0">
              <a:solidFill>
                <a:schemeClr val="tx2"/>
              </a:solidFill>
            </a:endParaRPr>
          </a:p>
        </p:txBody>
      </p:sp>
      <p:sp>
        <p:nvSpPr>
          <p:cNvPr id="4" name="標題 3"/>
          <p:cNvSpPr>
            <a:spLocks noGrp="1"/>
          </p:cNvSpPr>
          <p:nvPr>
            <p:ph type="title"/>
          </p:nvPr>
        </p:nvSpPr>
        <p:spPr/>
        <p:txBody>
          <a:bodyPr/>
          <a:lstStyle/>
          <a:p>
            <a:r>
              <a:rPr lang="en-US" altLang="zh-TW" dirty="0"/>
              <a:t>10.5</a:t>
            </a:r>
            <a:r>
              <a:rPr lang="zh-TW" altLang="en-US" dirty="0"/>
              <a:t>資料探勘</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8530" y="4509120"/>
            <a:ext cx="4032448" cy="218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1429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一般而言，群集分析有兩個用途，一為用於了解資料的分布特性，另一則為當作其他工具的前製處理工作，用以減少資料的量，增加效能。</a:t>
            </a:r>
          </a:p>
          <a:p>
            <a:endParaRPr lang="zh-TW" altLang="en-US" dirty="0"/>
          </a:p>
        </p:txBody>
      </p:sp>
      <p:sp>
        <p:nvSpPr>
          <p:cNvPr id="3" name="標題 2"/>
          <p:cNvSpPr>
            <a:spLocks noGrp="1"/>
          </p:cNvSpPr>
          <p:nvPr>
            <p:ph type="title"/>
          </p:nvPr>
        </p:nvSpPr>
        <p:spPr/>
        <p:txBody>
          <a:bodyPr/>
          <a:lstStyle/>
          <a:p>
            <a:r>
              <a:rPr lang="en-US" altLang="zh-TW" dirty="0"/>
              <a:t>10.5</a:t>
            </a:r>
            <a:r>
              <a:rPr lang="zh-TW" altLang="en-US" dirty="0"/>
              <a:t>資料探勘</a:t>
            </a:r>
          </a:p>
        </p:txBody>
      </p:sp>
    </p:spTree>
    <p:extLst>
      <p:ext uri="{BB962C8B-B14F-4D97-AF65-F5344CB8AC3E}">
        <p14:creationId xmlns:p14="http://schemas.microsoft.com/office/powerpoint/2010/main" val="4160800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27784" y="2204864"/>
            <a:ext cx="4293761" cy="2807717"/>
          </a:xfrm>
        </p:spPr>
      </p:pic>
      <p:sp>
        <p:nvSpPr>
          <p:cNvPr id="3" name="標題 2"/>
          <p:cNvSpPr>
            <a:spLocks noGrp="1"/>
          </p:cNvSpPr>
          <p:nvPr>
            <p:ph type="title"/>
          </p:nvPr>
        </p:nvSpPr>
        <p:spPr/>
        <p:txBody>
          <a:bodyPr/>
          <a:lstStyle/>
          <a:p>
            <a:r>
              <a:rPr lang="en-US" altLang="zh-TW" dirty="0"/>
              <a:t>THE END</a:t>
            </a:r>
            <a:endParaRPr lang="zh-TW" altLang="en-US" dirty="0"/>
          </a:p>
        </p:txBody>
      </p:sp>
    </p:spTree>
    <p:extLst>
      <p:ext uri="{BB962C8B-B14F-4D97-AF65-F5344CB8AC3E}">
        <p14:creationId xmlns:p14="http://schemas.microsoft.com/office/powerpoint/2010/main" val="25949129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匯合">
  <a:themeElements>
    <a:clrScheme name="匯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匯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匯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1636</TotalTime>
  <Words>2526</Words>
  <Application>Microsoft Macintosh PowerPoint</Application>
  <PresentationFormat>如螢幕大小 (4:3)</PresentationFormat>
  <Paragraphs>176</Paragraphs>
  <Slides>44</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44</vt:i4>
      </vt:variant>
    </vt:vector>
  </HeadingPairs>
  <TitlesOfParts>
    <vt:vector size="55" baseType="lpstr">
      <vt:lpstr>新細明體</vt:lpstr>
      <vt:lpstr>標楷體</vt:lpstr>
      <vt:lpstr>Arial</vt:lpstr>
      <vt:lpstr>Calibri</vt:lpstr>
      <vt:lpstr>Lucida Sans Unicode</vt:lpstr>
      <vt:lpstr>Times New Roman</vt:lpstr>
      <vt:lpstr>Verdana</vt:lpstr>
      <vt:lpstr>Wingdings</vt:lpstr>
      <vt:lpstr>Wingdings 2</vt:lpstr>
      <vt:lpstr>Wingdings 3</vt:lpstr>
      <vt:lpstr>匯合</vt:lpstr>
      <vt:lpstr>Ch10  資料庫與 資料探勘</vt:lpstr>
      <vt:lpstr>10.1資料庫系統基本概念 </vt:lpstr>
      <vt:lpstr>10.1資料庫系統基本概念 </vt:lpstr>
      <vt:lpstr>10.1資料庫系統基本概念 </vt:lpstr>
      <vt:lpstr>10.1資料庫系統基本概念 </vt:lpstr>
      <vt:lpstr>10.2關聯式資料庫 </vt:lpstr>
      <vt:lpstr>10.2關聯式資料庫 </vt:lpstr>
      <vt:lpstr>10.2關聯式資料庫 </vt:lpstr>
      <vt:lpstr>10.2關聯式資料庫 </vt:lpstr>
      <vt:lpstr>10.2關聯式資料庫 </vt:lpstr>
      <vt:lpstr>10.2關聯式資料庫 </vt:lpstr>
      <vt:lpstr>10.2關聯式資料庫 </vt:lpstr>
      <vt:lpstr>10.2關聯式資料庫 </vt:lpstr>
      <vt:lpstr>10.2關聯式資料庫 </vt:lpstr>
      <vt:lpstr>10.2關聯式資料庫 </vt:lpstr>
      <vt:lpstr>10.2關聯式資料庫 </vt:lpstr>
      <vt:lpstr>範例</vt:lpstr>
      <vt:lpstr>10.2關聯式資料庫 </vt:lpstr>
      <vt:lpstr>10.2關聯式資料庫 </vt:lpstr>
      <vt:lpstr>10.2關聯式資料庫 </vt:lpstr>
      <vt:lpstr>10.3查詢語言 SQL</vt:lpstr>
      <vt:lpstr>10.3查詢語言 SQL</vt:lpstr>
      <vt:lpstr>10.3查詢語言 SQL</vt:lpstr>
      <vt:lpstr>10.3查詢語言 SQL</vt:lpstr>
      <vt:lpstr>10.3查詢語言 SQL</vt:lpstr>
      <vt:lpstr>10.3查詢語言 SQL</vt:lpstr>
      <vt:lpstr>10.3查詢語言 SQL</vt:lpstr>
      <vt:lpstr>PowerPoint 簡報</vt:lpstr>
      <vt:lpstr>10.4NoSQL簡介</vt:lpstr>
      <vt:lpstr>10.4NoSQL簡介</vt:lpstr>
      <vt:lpstr>10.4NoSQL簡介</vt:lpstr>
      <vt:lpstr>10.5資料探勘</vt:lpstr>
      <vt:lpstr>10.5資料探勘</vt:lpstr>
      <vt:lpstr>10.5資料探勘</vt:lpstr>
      <vt:lpstr>10.5資料探勘</vt:lpstr>
      <vt:lpstr>10.5資料探勘</vt:lpstr>
      <vt:lpstr>10.5資料探勘</vt:lpstr>
      <vt:lpstr>10.5資料探勘</vt:lpstr>
      <vt:lpstr>10.5資料探勘</vt:lpstr>
      <vt:lpstr>10.5資料探勘</vt:lpstr>
      <vt:lpstr>10.5資料探勘</vt:lpstr>
      <vt:lpstr>10.5資料探勘</vt:lpstr>
      <vt:lpstr>10.5資料探勘</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電腦簡介</dc:title>
  <dc:creator>lobird</dc:creator>
  <cp:lastModifiedBy>Microsoft Office User</cp:lastModifiedBy>
  <cp:revision>176</cp:revision>
  <dcterms:created xsi:type="dcterms:W3CDTF">2014-07-06T07:33:00Z</dcterms:created>
  <dcterms:modified xsi:type="dcterms:W3CDTF">2024-11-27T05:40:15Z</dcterms:modified>
</cp:coreProperties>
</file>